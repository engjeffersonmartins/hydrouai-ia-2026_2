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0.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6.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7.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8.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19.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0706fdd35d241de" /><Relationship Type="http://schemas.openxmlformats.org/officeDocument/2006/relationships/extended-properties" Target="/docProps/app.xml" Id="Ra98c10d0a35548fb" /><Relationship Type="http://schemas.openxmlformats.org/officeDocument/2006/relationships/officeDocument" Target="/ppt/presentation.xml" Id="R66262b61bc1a4504" /></Relationships>
</file>

<file path=ppt/presentation.xml><?xml version="1.0" encoding="utf-8"?>
<p:presentation xmlns:p="http://schemas.openxmlformats.org/presentationml/2006/main">
  <p:sldMasterIdLst>
    <p:sldMasterId xmlns:r="http://schemas.openxmlformats.org/officeDocument/2006/relationships" id="2147483648" r:id="R3ea41012df87477c"/>
  </p:sldMasterIdLst>
  <p:notesMasterIdLst>
    <p:notesMasterId xmlns:r="http://schemas.openxmlformats.org/officeDocument/2006/relationships" r:id="R8d64ce4cc7ec4071"/>
  </p:notesMasterIdLst>
  <p:sldIdLst>
    <p:sldId xmlns:r="http://schemas.openxmlformats.org/officeDocument/2006/relationships" id="256" r:id="R7749d669613c4d02"/>
    <p:sldId xmlns:r="http://schemas.openxmlformats.org/officeDocument/2006/relationships" id="257" r:id="R8af7518dabd04d34"/>
    <p:sldId xmlns:r="http://schemas.openxmlformats.org/officeDocument/2006/relationships" id="258" r:id="Rfc4b6544bab842a8"/>
    <p:sldId xmlns:r="http://schemas.openxmlformats.org/officeDocument/2006/relationships" id="259" r:id="R44091364872d46b9"/>
    <p:sldId xmlns:r="http://schemas.openxmlformats.org/officeDocument/2006/relationships" id="260" r:id="R7e766ae37f7e4007"/>
    <p:sldId xmlns:r="http://schemas.openxmlformats.org/officeDocument/2006/relationships" id="261" r:id="R8e81de7fabf84306"/>
    <p:sldId xmlns:r="http://schemas.openxmlformats.org/officeDocument/2006/relationships" id="262" r:id="R16a43dd390fb4961"/>
    <p:sldId xmlns:r="http://schemas.openxmlformats.org/officeDocument/2006/relationships" id="263" r:id="Ree683bb915b645ed"/>
    <p:sldId xmlns:r="http://schemas.openxmlformats.org/officeDocument/2006/relationships" id="264" r:id="R3aa1694b6dfa4f6e"/>
    <p:sldId xmlns:r="http://schemas.openxmlformats.org/officeDocument/2006/relationships" id="265" r:id="Redc4bcd1a6fc435f"/>
    <p:sldId xmlns:r="http://schemas.openxmlformats.org/officeDocument/2006/relationships" id="266" r:id="Rae48e17e6d424cdc"/>
    <p:sldId xmlns:r="http://schemas.openxmlformats.org/officeDocument/2006/relationships" id="267" r:id="Ra57e72a19da44eea"/>
    <p:sldId xmlns:r="http://schemas.openxmlformats.org/officeDocument/2006/relationships" id="268" r:id="Re4d97519694b4b50"/>
    <p:sldId xmlns:r="http://schemas.openxmlformats.org/officeDocument/2006/relationships" id="269" r:id="R1f7e56483c9a4b53"/>
    <p:sldId xmlns:r="http://schemas.openxmlformats.org/officeDocument/2006/relationships" id="270" r:id="R39f5169c53d243c1"/>
    <p:sldId xmlns:r="http://schemas.openxmlformats.org/officeDocument/2006/relationships" id="271" r:id="R8601be78470c49b6"/>
    <p:sldId xmlns:r="http://schemas.openxmlformats.org/officeDocument/2006/relationships" id="272" r:id="R8599b3a5e3ad4979"/>
    <p:sldId xmlns:r="http://schemas.openxmlformats.org/officeDocument/2006/relationships" id="273" r:id="R2454636a51bc4b12"/>
    <p:sldId xmlns:r="http://schemas.openxmlformats.org/officeDocument/2006/relationships" id="274" r:id="R57b11d4bc7944d08"/>
    <p:sldId xmlns:r="http://schemas.openxmlformats.org/officeDocument/2006/relationships" id="275" r:id="Rcf25738aa4b04f11"/>
    <p:sldId xmlns:r="http://schemas.openxmlformats.org/officeDocument/2006/relationships" id="276" r:id="R82d990fcf08f4f17"/>
    <p:sldId xmlns:r="http://schemas.openxmlformats.org/officeDocument/2006/relationships" id="277" r:id="R88bb6cc2233642d8"/>
    <p:sldId xmlns:r="http://schemas.openxmlformats.org/officeDocument/2006/relationships" id="278" r:id="R66449132608949b2"/>
    <p:sldId xmlns:r="http://schemas.openxmlformats.org/officeDocument/2006/relationships" id="279" r:id="Rb9aba2b0c5ea42c4"/>
    <p:sldId xmlns:r="http://schemas.openxmlformats.org/officeDocument/2006/relationships" id="280" r:id="R24453e32d79240eb"/>
    <p:sldId xmlns:r="http://schemas.openxmlformats.org/officeDocument/2006/relationships" id="281" r:id="R19db5699f8c04b5c"/>
    <p:sldId xmlns:r="http://schemas.openxmlformats.org/officeDocument/2006/relationships" id="282" r:id="Rf202ffdd22a04110"/>
    <p:sldId xmlns:r="http://schemas.openxmlformats.org/officeDocument/2006/relationships" id="283" r:id="R8b96fd99b5e54250"/>
    <p:sldId xmlns:r="http://schemas.openxmlformats.org/officeDocument/2006/relationships" id="284" r:id="R057e2a2c6c8e499c"/>
    <p:sldId xmlns:r="http://schemas.openxmlformats.org/officeDocument/2006/relationships" id="285" r:id="Rd8cd3aaf078a4379"/>
    <p:sldId xmlns:r="http://schemas.openxmlformats.org/officeDocument/2006/relationships" id="286" r:id="R161111feaeab4054"/>
    <p:sldId xmlns:r="http://schemas.openxmlformats.org/officeDocument/2006/relationships" id="287" r:id="Rb1b93f1b8dce42a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ef19f0dadd74946" /><Relationship Type="http://schemas.openxmlformats.org/officeDocument/2006/relationships/slideMaster" Target="/ppt/slideMasters/slideMaster1.xml" Id="R3ea41012df87477c" /><Relationship Type="http://schemas.openxmlformats.org/officeDocument/2006/relationships/notesMaster" Target="/ppt/notesMasters/notesMaster1.xml" Id="R8d64ce4cc7ec4071" /><Relationship Type="http://schemas.openxmlformats.org/officeDocument/2006/relationships/presProps" Target="/ppt/presProps.xml" Id="Rd1cde61f0d874540" /><Relationship Type="http://schemas.openxmlformats.org/officeDocument/2006/relationships/viewProps" Target="/ppt/viewProps.xml" Id="Rcecf57a212184ea8" /><Relationship Type="http://schemas.openxmlformats.org/officeDocument/2006/relationships/tableStyles" Target="/ppt/tableStyles.xml" Id="Rc0f6de341436420e" /><Relationship Type="http://schemas.openxmlformats.org/officeDocument/2006/relationships/slide" Target="/ppt/slides/slide1.xml" Id="R7749d669613c4d02" /><Relationship Type="http://schemas.openxmlformats.org/officeDocument/2006/relationships/slide" Target="/ppt/slides/slide2.xml" Id="R8af7518dabd04d34" /><Relationship Type="http://schemas.openxmlformats.org/officeDocument/2006/relationships/slide" Target="/ppt/slides/slide3.xml" Id="Rfc4b6544bab842a8" /><Relationship Type="http://schemas.openxmlformats.org/officeDocument/2006/relationships/slide" Target="/ppt/slides/slide4.xml" Id="R44091364872d46b9" /><Relationship Type="http://schemas.openxmlformats.org/officeDocument/2006/relationships/slide" Target="/ppt/slides/slide5.xml" Id="R7e766ae37f7e4007" /><Relationship Type="http://schemas.openxmlformats.org/officeDocument/2006/relationships/slide" Target="/ppt/slides/slide6.xml" Id="R8e81de7fabf84306" /><Relationship Type="http://schemas.openxmlformats.org/officeDocument/2006/relationships/slide" Target="/ppt/slides/slide7.xml" Id="R16a43dd390fb4961" /><Relationship Type="http://schemas.openxmlformats.org/officeDocument/2006/relationships/slide" Target="/ppt/slides/slide8.xml" Id="Ree683bb915b645ed" /><Relationship Type="http://schemas.openxmlformats.org/officeDocument/2006/relationships/slide" Target="/ppt/slides/slide9.xml" Id="R3aa1694b6dfa4f6e" /><Relationship Type="http://schemas.openxmlformats.org/officeDocument/2006/relationships/slide" Target="/ppt/slides/slide10.xml" Id="Redc4bcd1a6fc435f" /><Relationship Type="http://schemas.openxmlformats.org/officeDocument/2006/relationships/slide" Target="/ppt/slides/slide11.xml" Id="Rae48e17e6d424cdc" /><Relationship Type="http://schemas.openxmlformats.org/officeDocument/2006/relationships/slide" Target="/ppt/slides/slide12.xml" Id="Ra57e72a19da44eea" /><Relationship Type="http://schemas.openxmlformats.org/officeDocument/2006/relationships/slide" Target="/ppt/slides/slide13.xml" Id="Re4d97519694b4b50" /><Relationship Type="http://schemas.openxmlformats.org/officeDocument/2006/relationships/slide" Target="/ppt/slides/slide14.xml" Id="R1f7e56483c9a4b53" /><Relationship Type="http://schemas.openxmlformats.org/officeDocument/2006/relationships/slide" Target="/ppt/slides/slide15.xml" Id="R39f5169c53d243c1" /><Relationship Type="http://schemas.openxmlformats.org/officeDocument/2006/relationships/slide" Target="/ppt/slides/slide16.xml" Id="R8601be78470c49b6" /><Relationship Type="http://schemas.openxmlformats.org/officeDocument/2006/relationships/slide" Target="/ppt/slides/slide17.xml" Id="R8599b3a5e3ad4979" /><Relationship Type="http://schemas.openxmlformats.org/officeDocument/2006/relationships/slide" Target="/ppt/slides/slide18.xml" Id="R2454636a51bc4b12" /><Relationship Type="http://schemas.openxmlformats.org/officeDocument/2006/relationships/slide" Target="/ppt/slides/slide19.xml" Id="R57b11d4bc7944d08" /><Relationship Type="http://schemas.openxmlformats.org/officeDocument/2006/relationships/slide" Target="/ppt/slides/slide20.xml" Id="Rcf25738aa4b04f11" /><Relationship Type="http://schemas.openxmlformats.org/officeDocument/2006/relationships/slide" Target="/ppt/slides/slide21.xml" Id="R82d990fcf08f4f17" /><Relationship Type="http://schemas.openxmlformats.org/officeDocument/2006/relationships/slide" Target="/ppt/slides/slide22.xml" Id="R88bb6cc2233642d8" /><Relationship Type="http://schemas.openxmlformats.org/officeDocument/2006/relationships/slide" Target="/ppt/slides/slide23.xml" Id="R66449132608949b2" /><Relationship Type="http://schemas.openxmlformats.org/officeDocument/2006/relationships/slide" Target="/ppt/slides/slide24.xml" Id="Rb9aba2b0c5ea42c4" /><Relationship Type="http://schemas.openxmlformats.org/officeDocument/2006/relationships/slide" Target="/ppt/slides/slide25.xml" Id="R24453e32d79240eb" /><Relationship Type="http://schemas.openxmlformats.org/officeDocument/2006/relationships/slide" Target="/ppt/slides/slide26.xml" Id="R19db5699f8c04b5c" /><Relationship Type="http://schemas.openxmlformats.org/officeDocument/2006/relationships/slide" Target="/ppt/slides/slide27.xml" Id="Rf202ffdd22a04110" /><Relationship Type="http://schemas.openxmlformats.org/officeDocument/2006/relationships/slide" Target="/ppt/slides/slide28.xml" Id="R8b96fd99b5e54250" /><Relationship Type="http://schemas.openxmlformats.org/officeDocument/2006/relationships/slide" Target="/ppt/slides/slide29.xml" Id="R057e2a2c6c8e499c" /><Relationship Type="http://schemas.openxmlformats.org/officeDocument/2006/relationships/slide" Target="/ppt/slides/slide30.xml" Id="Rd8cd3aaf078a4379" /><Relationship Type="http://schemas.openxmlformats.org/officeDocument/2006/relationships/slide" Target="/ppt/slides/slide31.xml" Id="R161111feaeab4054" /><Relationship Type="http://schemas.openxmlformats.org/officeDocument/2006/relationships/slide" Target="/ppt/slides/slide32.xml" Id="Rb1b93f1b8dce42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7954e4d0cb4d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546b8c2fff4131" /><Relationship Type="http://schemas.openxmlformats.org/officeDocument/2006/relationships/notesMaster" Target="/ppt/notesMasters/notesMaster1.xml" Id="Rf74e154c1a5d46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f8d7fb64fb4295" /><Relationship Type="http://schemas.openxmlformats.org/officeDocument/2006/relationships/notesMaster" Target="/ppt/notesMasters/notesMaster1.xml" Id="R8e875b1c0b6646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8c8aa305084ec9" /><Relationship Type="http://schemas.openxmlformats.org/officeDocument/2006/relationships/notesMaster" Target="/ppt/notesMasters/notesMaster1.xml" Id="R8bba3d2e12d94b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b9e24fe2b44d03" /><Relationship Type="http://schemas.openxmlformats.org/officeDocument/2006/relationships/notesMaster" Target="/ppt/notesMasters/notesMaster1.xml" Id="R8e4052dd718047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2d5fe73bdf4351" /><Relationship Type="http://schemas.openxmlformats.org/officeDocument/2006/relationships/notesMaster" Target="/ppt/notesMasters/notesMaster1.xml" Id="R3e846cc6974c41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0a1d7d6fd44310" /><Relationship Type="http://schemas.openxmlformats.org/officeDocument/2006/relationships/notesMaster" Target="/ppt/notesMasters/notesMaster1.xml" Id="Ra6d319c56cd143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48b958af3744cb" /><Relationship Type="http://schemas.openxmlformats.org/officeDocument/2006/relationships/notesMaster" Target="/ppt/notesMasters/notesMaster1.xml" Id="R6aef63d687004e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8caffed4b34f35" /><Relationship Type="http://schemas.openxmlformats.org/officeDocument/2006/relationships/notesMaster" Target="/ppt/notesMasters/notesMaster1.xml" Id="R91df6835468140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45628a951a4560" /><Relationship Type="http://schemas.openxmlformats.org/officeDocument/2006/relationships/notesMaster" Target="/ppt/notesMasters/notesMaster1.xml" Id="Rc9406c2f18ca44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57966d39b44b94" /><Relationship Type="http://schemas.openxmlformats.org/officeDocument/2006/relationships/notesMaster" Target="/ppt/notesMasters/notesMaster1.xml" Id="R1a1e563d85b04b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a5c5162959415c" /><Relationship Type="http://schemas.openxmlformats.org/officeDocument/2006/relationships/notesMaster" Target="/ppt/notesMasters/notesMaster1.xml" Id="R779287c58cd74b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5ac5d17c4746a5" /><Relationship Type="http://schemas.openxmlformats.org/officeDocument/2006/relationships/notesMaster" Target="/ppt/notesMasters/notesMaster1.xml" Id="R60517fc5df4842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49736c05064785" /><Relationship Type="http://schemas.openxmlformats.org/officeDocument/2006/relationships/notesMaster" Target="/ppt/notesMasters/notesMaster1.xml" Id="Re815bc47d53644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e5f96fe68a4548" /><Relationship Type="http://schemas.openxmlformats.org/officeDocument/2006/relationships/notesMaster" Target="/ppt/notesMasters/notesMaster1.xml" Id="Rb13ed405f60641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5f9d56b31f4ea0" /><Relationship Type="http://schemas.openxmlformats.org/officeDocument/2006/relationships/notesMaster" Target="/ppt/notesMasters/notesMaster1.xml" Id="Rd2a2119fe84f4a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ed9a5a2de94911" /><Relationship Type="http://schemas.openxmlformats.org/officeDocument/2006/relationships/notesMaster" Target="/ppt/notesMasters/notesMaster1.xml" Id="R025d2318df904c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129d0607084443" /><Relationship Type="http://schemas.openxmlformats.org/officeDocument/2006/relationships/notesMaster" Target="/ppt/notesMasters/notesMaster1.xml" Id="Re53bbede66b14d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533841f7594dc7" /><Relationship Type="http://schemas.openxmlformats.org/officeDocument/2006/relationships/notesMaster" Target="/ppt/notesMasters/notesMaster1.xml" Id="R699e87634f684e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ad2471806b48cf" /><Relationship Type="http://schemas.openxmlformats.org/officeDocument/2006/relationships/notesMaster" Target="/ppt/notesMasters/notesMaster1.xml" Id="R6b261cf2f9f9470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5f25a4b4f154fd2" /><Relationship Type="http://schemas.openxmlformats.org/officeDocument/2006/relationships/notesMaster" Target="/ppt/notesMasters/notesMaster1.xml" Id="R47fff22846bd4a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3f9bcfef7494952" /><Relationship Type="http://schemas.openxmlformats.org/officeDocument/2006/relationships/notesMaster" Target="/ppt/notesMasters/notesMaster1.xml" Id="R822d22904b3d40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0cf38d2e9f4ecb" /><Relationship Type="http://schemas.openxmlformats.org/officeDocument/2006/relationships/notesMaster" Target="/ppt/notesMasters/notesMaster1.xml" Id="Rdedd6c4843f147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6e9763a8fe43db" /><Relationship Type="http://schemas.openxmlformats.org/officeDocument/2006/relationships/notesMaster" Target="/ppt/notesMasters/notesMaster1.xml" Id="R7db583a307824f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c9bcd615624b12" /><Relationship Type="http://schemas.openxmlformats.org/officeDocument/2006/relationships/notesMaster" Target="/ppt/notesMasters/notesMaster1.xml" Id="R4e127063916c4b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8c661adfaf64289" /><Relationship Type="http://schemas.openxmlformats.org/officeDocument/2006/relationships/notesMaster" Target="/ppt/notesMasters/notesMaster1.xml" Id="R800419b2acff45d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79f71c5c324020" /><Relationship Type="http://schemas.openxmlformats.org/officeDocument/2006/relationships/notesMaster" Target="/ppt/notesMasters/notesMaster1.xml" Id="R8f6b0adb1dec489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1244ddd32454bab" /><Relationship Type="http://schemas.openxmlformats.org/officeDocument/2006/relationships/notesMaster" Target="/ppt/notesMasters/notesMaster1.xml" Id="R7177f6c3b37345c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059581c7db4d39" /><Relationship Type="http://schemas.openxmlformats.org/officeDocument/2006/relationships/notesMaster" Target="/ppt/notesMasters/notesMaster1.xml" Id="Rdb2edef18c0e45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09d15d58aae4f50" /><Relationship Type="http://schemas.openxmlformats.org/officeDocument/2006/relationships/notesMaster" Target="/ppt/notesMasters/notesMaster1.xml" Id="R74835203a487439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d3f2ac38ef649ad" /><Relationship Type="http://schemas.openxmlformats.org/officeDocument/2006/relationships/notesMaster" Target="/ppt/notesMasters/notesMaster1.xml" Id="R2591a08bc12a415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8c724af1fda4da4" /><Relationship Type="http://schemas.openxmlformats.org/officeDocument/2006/relationships/notesMaster" Target="/ppt/notesMasters/notesMaster1.xml" Id="Ra3b93f9797dd455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1ab46848fe840e7" /><Relationship Type="http://schemas.openxmlformats.org/officeDocument/2006/relationships/notesMaster" Target="/ppt/notesMasters/notesMaster1.xml" Id="Rf2c85db5663549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Apresentar os fundamentos de redes neurais e a aplicação à hidrologia.</a:t>
            </a:r>
          </a:p>
          <a:p xmlns:a="http://schemas.openxmlformats.org/drawingml/2006/main">
            <a:r>
              <a:t/>
            </a:r>
          </a:p>
          <a:p xmlns:a="http://schemas.openxmlformats.org/drawingml/2006/main">
            <a:r>
              <a:t>Condução: Apresente o tema e situe a MLP como uma função aprendida a partir de dados. A aula privilegia exemplos pequenos antes de uma aplicação hidrológica. Ajuste a profundidade da matemática ao público.</a:t>
            </a:r>
          </a:p>
          <a:p xmlns:a="http://schemas.openxmlformats.org/drawingml/2006/main">
            <a:r>
              <a:t/>
            </a:r>
          </a:p>
          <a:p xmlns:a="http://schemas.openxmlformats.org/drawingml/2006/main">
            <a:r>
              <a:t>Pergunta à turma: Que variável hidrológica você gostaria de prever?</a:t>
            </a:r>
          </a:p>
          <a:p xmlns:a="http://schemas.openxmlformats.org/drawingml/2006/main">
            <a:r>
              <a:t/>
            </a:r>
          </a:p>
          <a:p xmlns:a="http://schemas.openxmlformats.org/drawingml/2006/main">
            <a:r>
              <a:t>Resposta esperada: Exemplos possíveis: vazão, nível, demanda ou uma variável de qualidade da água.</a:t>
            </a:r>
          </a:p>
          <a:p xmlns:a="http://schemas.openxmlformats.org/drawingml/2006/main">
            <a:r>
              <a:t/>
            </a:r>
          </a:p>
          <a:p xmlns:a="http://schemas.openxmlformats.org/drawingml/2006/main">
            <a:r>
              <a:t>Detalhes: Percurso sugerido: conceitos e representação, cálculo da previsão, cálculo do gradiente, validação e aplicação. Os slides 17 a 20 formam um exemplo contínuo. Atividades e respostas aparecem nas notas dos slides 30 e 31.</a:t>
            </a:r>
          </a:p>
          <a:p xmlns:a="http://schemas.openxmlformats.org/drawingml/2006/main">
            <a:r>
              <a:t/>
            </a:r>
          </a:p>
          <a:p xmlns:a="http://schemas.openxmlformats.org/drawingml/2006/main">
            <a:r>
              <a:t>Base da aula: Aula_RNA_Hydro-UAI.pptx fornecida pelo usuário.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Mostrar o caminho da aula.</a:t>
            </a:r>
          </a:p>
          <a:p xmlns:a="http://schemas.openxmlformats.org/drawingml/2006/main">
            <a:r>
              <a:t/>
            </a:r>
          </a:p>
          <a:p xmlns:a="http://schemas.openxmlformats.org/drawingml/2006/main">
            <a:r>
              <a:t>Condução: Antecipe que as mesmas operações serão vistas como figura, equação e cálculo. Faça uma pausa curta após XOR e antes de validação.</a:t>
            </a:r>
          </a:p>
          <a:p xmlns:a="http://schemas.openxmlformats.org/drawingml/2006/main">
            <a:r>
              <a:t/>
            </a:r>
          </a:p>
          <a:p xmlns:a="http://schemas.openxmlformats.org/drawingml/2006/main">
            <a:r>
              <a:t>Pergunta à turma: Qual a diferença entre explicar como a rede calcula e explicar como ela aprende?</a:t>
            </a:r>
          </a:p>
          <a:p xmlns:a="http://schemas.openxmlformats.org/drawingml/2006/main">
            <a:r>
              <a:t/>
            </a:r>
          </a:p>
          <a:p xmlns:a="http://schemas.openxmlformats.org/drawingml/2006/main">
            <a:r>
              <a:t>Resposta esperada: O cálculo usa parâmetros fixos. O aprendizado ajusta esses parâmetros a partir dos erros.</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Relacionar a rede a tarefas hidrológicas.</a:t>
            </a:r>
          </a:p>
          <a:p xmlns:a="http://schemas.openxmlformats.org/drawingml/2006/main">
            <a:r>
              <a:t/>
            </a:r>
          </a:p>
          <a:p xmlns:a="http://schemas.openxmlformats.org/drawingml/2006/main">
            <a:r>
              <a:t>Condução: Use a bacia como contexto, sem atribuir a ela valores ou características de um estudo de caso. Dê um exemplo de cada tarefa.</a:t>
            </a:r>
          </a:p>
          <a:p xmlns:a="http://schemas.openxmlformats.org/drawingml/2006/main">
            <a:r>
              <a:t/>
            </a:r>
          </a:p>
          <a:p xmlns:a="http://schemas.openxmlformats.org/drawingml/2006/main">
            <a:r>
              <a:t>Pergunta à turma: Uma boa previsão de vazão garante conservação de massa?</a:t>
            </a:r>
          </a:p>
          <a:p xmlns:a="http://schemas.openxmlformats.org/drawingml/2006/main">
            <a:r>
              <a:t/>
            </a:r>
          </a:p>
          <a:p xmlns:a="http://schemas.openxmlformats.org/drawingml/2006/main">
            <a:r>
              <a:t>Resposta esperada: A conservação exige verificação ou restrições explícitas na modelagem. Uma rede convencional pode violar balanços físicos.</a:t>
            </a:r>
          </a:p>
          <a:p xmlns:a="http://schemas.openxmlformats.org/drawingml/2006/main">
            <a:r>
              <a:t/>
            </a:r>
          </a:p>
          <a:p xmlns:a="http://schemas.openxmlformats.org/drawingml/2006/main">
            <a:r>
              <a:t>Detalhes: Ilustração conceitual original gerada com imagegen para esta aula, em transparência e na paleta Hydro-UAI. A figura não representa uma bacia identificada nem um resultado empírico.</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https://www.tensorflow.org/tutorials/structured_data/time_series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Definir o horizonte e impedir uso de informações futuras.</a:t>
            </a:r>
          </a:p>
          <a:p xmlns:a="http://schemas.openxmlformats.org/drawingml/2006/main">
            <a:r>
              <a:t/>
            </a:r>
          </a:p>
          <a:p xmlns:a="http://schemas.openxmlformats.org/drawingml/2006/main">
            <a:r>
              <a:t>Condução: Explique que t é o momento de emissão. Considere P(t) como a chuva acumulada já medida até esse momento. Use a linha do tempo antes da tabela.</a:t>
            </a:r>
          </a:p>
          <a:p xmlns:a="http://schemas.openxmlformats.org/drawingml/2006/main">
            <a:r>
              <a:t/>
            </a:r>
          </a:p>
          <a:p xmlns:a="http://schemas.openxmlformats.org/drawingml/2006/main">
            <a:r>
              <a:t>Pergunta à turma: P(t + 1) observado pode entrar nessa previsão?</a:t>
            </a:r>
          </a:p>
          <a:p xmlns:a="http://schemas.openxmlformats.org/drawingml/2006/main">
            <a:r>
              <a:t/>
            </a:r>
          </a:p>
          <a:p xmlns:a="http://schemas.openxmlformats.org/drawingml/2006/main">
            <a:r>
              <a:t>Resposta esperada: A chuva futura observada só existe depois. Uma previsão meteorológica emitida até t poderia entrar, identificada como previsão.</a:t>
            </a:r>
          </a:p>
          <a:p xmlns:a="http://schemas.openxmlformats.org/drawingml/2006/main">
            <a:r>
              <a:t/>
            </a:r>
          </a:p>
          <a:p xmlns:a="http://schemas.openxmlformats.org/drawingml/2006/main">
            <a:r>
              <a:t>Detalhes: A escolha de um dia é didática. Outros horizontes exigem redefinir entradas, rótulos e disponibilidade. Q(t) também precisa estar disponível no momento de emissão.</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https://www.tensorflow.org/tutorials/structured_data/time_series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Construir pares de treinamento sem confundir entrada e alvo.</a:t>
            </a:r>
          </a:p>
          <a:p xmlns:a="http://schemas.openxmlformats.org/drawingml/2006/main">
            <a:r>
              <a:t/>
            </a:r>
          </a:p>
          <a:p xmlns:a="http://schemas.openxmlformats.org/drawingml/2006/main">
            <a:r>
              <a:t>Condução: Leia a segunda linha em voz alta. As vazões em dias sucessivos respeitam os deslocamentos da série. Explique que o valor do alvo só aparece após t + 1, mas será conhecido no histórico de treino.</a:t>
            </a:r>
          </a:p>
          <a:p xmlns:a="http://schemas.openxmlformats.org/drawingml/2006/main">
            <a:r>
              <a:t/>
            </a:r>
          </a:p>
          <a:p xmlns:a="http://schemas.openxmlformats.org/drawingml/2006/main">
            <a:r>
              <a:t>Pergunta à turma: O que muda se a previsão for para dois dias à frente?</a:t>
            </a:r>
          </a:p>
          <a:p xmlns:a="http://schemas.openxmlformats.org/drawingml/2006/main">
            <a:r>
              <a:t/>
            </a:r>
          </a:p>
          <a:p xmlns:a="http://schemas.openxmlformats.org/drawingml/2006/main">
            <a:r>
              <a:t>Resposta esperada: O alvo passa a Q(t + 2). A disponibilidade das entradas continua limitada ao momento de emissão.</a:t>
            </a:r>
          </a:p>
          <a:p xmlns:a="http://schemas.openxmlformats.org/drawingml/2006/main">
            <a:r>
              <a:t/>
            </a:r>
          </a:p>
          <a:p xmlns:a="http://schemas.openxmlformats.org/drawingml/2006/main">
            <a:r>
              <a:t>Detalhes: Os dados desta tabela foram construídos apenas para o exemplo. Não são observações de uma estação. Variáveis de entrada não precisam ser estatisticamente independentes.</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https://www.tensorflow.org/tutorials/structured_data/time_series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soma ponderada, viés e ativação.</a:t>
            </a:r>
          </a:p>
          <a:p xmlns:a="http://schemas.openxmlformats.org/drawingml/2006/main">
            <a:r>
              <a:t/>
            </a:r>
          </a:p>
          <a:p xmlns:a="http://schemas.openxmlformats.org/drawingml/2006/main">
            <a:r>
              <a:t>Condução: Percorra as conexões da esquerda para a direita. Diferencie a pré-ativação z da saída h. Uma unidade da camada de saída pode fornecer ŷ.</a:t>
            </a:r>
          </a:p>
          <a:p xmlns:a="http://schemas.openxmlformats.org/drawingml/2006/main">
            <a:r>
              <a:t/>
            </a:r>
          </a:p>
          <a:p xmlns:a="http://schemas.openxmlformats.org/drawingml/2006/main">
            <a:r>
              <a:t>Pergunta à turma: Qual o papel do viés?</a:t>
            </a:r>
          </a:p>
          <a:p xmlns:a="http://schemas.openxmlformats.org/drawingml/2006/main">
            <a:r>
              <a:t/>
            </a:r>
          </a:p>
          <a:p xmlns:a="http://schemas.openxmlformats.org/drawingml/2006/main">
            <a:r>
              <a:t>Resposta esperada: Deslocar a pré-ativação mesmo quando todas as entradas são zero.</a:t>
            </a:r>
          </a:p>
          <a:p xmlns:a="http://schemas.openxmlformats.org/drawingml/2006/main">
            <a:r>
              <a:t/>
            </a:r>
          </a:p>
          <a:p xmlns:a="http://schemas.openxmlformats.org/drawingml/2006/main">
            <a:r>
              <a:t>Detalhes: O esquema é uma unidade computacional, não uma reprodução do neurônio biológico. Cada conexão tem seu próprio peso.</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https://www.deeplearningbook.org/contents/mlp.html</a:t>
            </a:r>
          </a:p>
          <a:p xmlns:a="http://schemas.openxmlformats.org/drawingml/2006/main">
            <a:r>
              <a:t/>
            </a:r>
          </a:p>
          <a:p xmlns:a="http://schemas.openxmlformats.org/drawingml/2006/main">
            <a:r>
              <a:t>Referência: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Mostrar como sinais e magnitudes dos pesos alteram a soma.</a:t>
            </a:r>
          </a:p>
          <a:p xmlns:a="http://schemas.openxmlformats.org/drawingml/2006/main">
            <a:r>
              <a:t/>
            </a:r>
          </a:p>
          <a:p xmlns:a="http://schemas.openxmlformats.org/drawingml/2006/main">
            <a:r>
              <a:t>Condução: Peça que os alunos calculem cada produto antes da soma. Revele a soma verbalmente depois de ouvir uma resposta.</a:t>
            </a:r>
          </a:p>
          <a:p xmlns:a="http://schemas.openxmlformats.org/drawingml/2006/main">
            <a:r>
              <a:t/>
            </a:r>
          </a:p>
          <a:p xmlns:a="http://schemas.openxmlformats.org/drawingml/2006/main">
            <a:r>
              <a:t>Pergunta à turma: Um peso negativo sempre produz uma contribuição negativa?</a:t>
            </a:r>
          </a:p>
          <a:p xmlns:a="http://schemas.openxmlformats.org/drawingml/2006/main">
            <a:r>
              <a:t/>
            </a:r>
          </a:p>
          <a:p xmlns:a="http://schemas.openxmlformats.org/drawingml/2006/main">
            <a:r>
              <a:t>Resposta esperada: A contribuição depende do sinal de w e de x. Neste exemplo x₃ é positivo, então o produto é negativo.</a:t>
            </a:r>
          </a:p>
          <a:p xmlns:a="http://schemas.openxmlformats.org/drawingml/2006/main">
            <a:r>
              <a:t/>
            </a:r>
          </a:p>
          <a:p xmlns:a="http://schemas.openxmlformats.org/drawingml/2006/main">
            <a:r>
              <a:t>Detalhes: Entradas e saída são adimensionais no exemplo. Se φ=ReLU, h=max(0,1.2)=1.2. O termo b tem a unidade da pré-ativação.</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https://www.deeplearningbook.org/contents/mlp.html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Relacionar o neurônio linear a um modelo conhecido.</a:t>
            </a:r>
          </a:p>
          <a:p xmlns:a="http://schemas.openxmlformats.org/drawingml/2006/main">
            <a:r>
              <a:t/>
            </a:r>
          </a:p>
          <a:p xmlns:a="http://schemas.openxmlformats.org/drawingml/2006/main">
            <a:r>
              <a:t>Condução: Identifique w como inclinação e b como intercepto. Reforce que a linha representa previsões e os pontos são respostas observadas.</a:t>
            </a:r>
          </a:p>
          <a:p xmlns:a="http://schemas.openxmlformats.org/drawingml/2006/main">
            <a:r>
              <a:t/>
            </a:r>
          </a:p>
          <a:p xmlns:a="http://schemas.openxmlformats.org/drawingml/2006/main">
            <a:r>
              <a:t>Pergunta à turma: A previsão passa necessariamente por todos os pontos?</a:t>
            </a:r>
          </a:p>
          <a:p xmlns:a="http://schemas.openxmlformats.org/drawingml/2006/main">
            <a:r>
              <a:t/>
            </a:r>
          </a:p>
          <a:p xmlns:a="http://schemas.openxmlformats.org/drawingml/2006/main">
            <a:r>
              <a:t>Resposta esperada: O modelo ajusta a relação global. As diferenças de cada ponto são os resíduos.</a:t>
            </a:r>
          </a:p>
          <a:p xmlns:a="http://schemas.openxmlformats.org/drawingml/2006/main">
            <a:r>
              <a:t/>
            </a:r>
          </a:p>
          <a:p xmlns:a="http://schemas.openxmlformats.org/drawingml/2006/main">
            <a:r>
              <a:t>Detalhes: Os valores y=[3,6,5,10,11] para x=[1,2,3,4,5] têm reta de mínimos quadrados ŷ=2x+1. Isso não implica que uma relação hidrológica seja linear.</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Interpretar sinal e magnitude do erro.</a:t>
            </a:r>
          </a:p>
          <a:p xmlns:a="http://schemas.openxmlformats.org/drawingml/2006/main">
            <a:r>
              <a:t/>
            </a:r>
          </a:p>
          <a:p xmlns:a="http://schemas.openxmlformats.org/drawingml/2006/main">
            <a:r>
              <a:t>Condução: Conecte a barra de x=3 ao ponto y=5 e à previsão ŷ=7. Compare com x=2: y=6 e ŷ=5.</a:t>
            </a:r>
          </a:p>
          <a:p xmlns:a="http://schemas.openxmlformats.org/drawingml/2006/main">
            <a:r>
              <a:t/>
            </a:r>
          </a:p>
          <a:p xmlns:a="http://schemas.openxmlformats.org/drawingml/2006/main">
            <a:r>
              <a:t>Pergunta à turma: A soma dos resíduos representa bem a qualidade deste ajuste?</a:t>
            </a:r>
          </a:p>
          <a:p xmlns:a="http://schemas.openxmlformats.org/drawingml/2006/main">
            <a:r>
              <a:t/>
            </a:r>
          </a:p>
          <a:p xmlns:a="http://schemas.openxmlformats.org/drawingml/2006/main">
            <a:r>
              <a:t>Resposta esperada: Ela é zero aqui, embora existam erros. Resíduos de sinais opostos podem se cancelar.</a:t>
            </a:r>
          </a:p>
          <a:p xmlns:a="http://schemas.openxmlformats.org/drawingml/2006/main">
            <a:r>
              <a:t/>
            </a:r>
          </a:p>
          <a:p xmlns:a="http://schemas.openxmlformats.org/drawingml/2006/main">
            <a:r>
              <a:t>Detalhes: Resíduos [0,1,-2,1,0]. O MSE evita o cancelamento pela soma dos quadrados. Toda derivação a seguir usa a mesma convenção e=y−ŷ.</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https://cs231n.github.io/optimization-2/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Calcular a perda e explicar a penalização quadrática.</a:t>
            </a:r>
          </a:p>
          <a:p xmlns:a="http://schemas.openxmlformats.org/drawingml/2006/main">
            <a:r>
              <a:t/>
            </a:r>
          </a:p>
          <a:p xmlns:a="http://schemas.openxmlformats.org/drawingml/2006/main">
            <a:r>
              <a:t>Condução: Some as cinco barras e divida por N=5. Distingua a perda usada para treinamento das métricas usadas na avaliação.</a:t>
            </a:r>
          </a:p>
          <a:p xmlns:a="http://schemas.openxmlformats.org/drawingml/2006/main">
            <a:r>
              <a:t/>
            </a:r>
          </a:p>
          <a:p xmlns:a="http://schemas.openxmlformats.org/drawingml/2006/main">
            <a:r>
              <a:t>Pergunta à turma: Qual a unidade da raiz do MSE para vazão?</a:t>
            </a:r>
          </a:p>
          <a:p xmlns:a="http://schemas.openxmlformats.org/drawingml/2006/main">
            <a:r>
              <a:t/>
            </a:r>
          </a:p>
          <a:p xmlns:a="http://schemas.openxmlformats.org/drawingml/2006/main">
            <a:r>
              <a:t>Resposta esperada: A RMSE volta à unidade m³/s.</a:t>
            </a:r>
          </a:p>
          <a:p xmlns:a="http://schemas.openxmlformats.org/drawingml/2006/main">
            <a:r>
              <a:t/>
            </a:r>
          </a:p>
          <a:p xmlns:a="http://schemas.openxmlformats.org/drawingml/2006/main">
            <a:r>
              <a:t>Detalhes: L e MSE serão usados conforme a agregação: no exemplo de um único par, L=(y−ŷ)². Alguns programas usam 1/(2N), que muda o fator 2 do gradiente, sem alterar o ponto de mínimo da perda não regularizada.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https://cs231n.github.io/optimization-2/</a:t>
            </a:r>
          </a:p>
          <a:p xmlns:a="http://schemas.openxmlformats.org/drawingml/2006/main">
            <a:r>
              <a:t/>
            </a:r>
          </a:p>
          <a:p xmlns:a="http://schemas.openxmlformats.org/drawingml/2006/main">
            <a:r>
              <a:t>Referência: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Identificar a transformação de cada ativação.</a:t>
            </a:r>
          </a:p>
          <a:p xmlns:a="http://schemas.openxmlformats.org/drawingml/2006/main">
            <a:r>
              <a:t/>
            </a:r>
          </a:p>
          <a:p xmlns:a="http://schemas.openxmlformats.org/drawingml/2006/main">
            <a:r>
              <a:t>Condução: Escolha z=-2,0,2 e peça leituras qualitativas das saídas. As três curvas têm limites verticais diferentes, coerentes com suas funções.</a:t>
            </a:r>
          </a:p>
          <a:p xmlns:a="http://schemas.openxmlformats.org/drawingml/2006/main">
            <a:r>
              <a:t/>
            </a:r>
          </a:p>
          <a:p xmlns:a="http://schemas.openxmlformats.org/drawingml/2006/main">
            <a:r>
              <a:t>Pergunta à turma: Qual destas saídas pode ser negativa?</a:t>
            </a:r>
          </a:p>
          <a:p xmlns:a="http://schemas.openxmlformats.org/drawingml/2006/main">
            <a:r>
              <a:t/>
            </a:r>
          </a:p>
          <a:p xmlns:a="http://schemas.openxmlformats.org/drawingml/2006/main">
            <a:r>
              <a:t>Resposta esperada: tanh. ReLU é não negativa e sigmoide fica entre zero e um.</a:t>
            </a:r>
          </a:p>
          <a:p xmlns:a="http://schemas.openxmlformats.org/drawingml/2006/main">
            <a:r>
              <a:t/>
            </a:r>
          </a:p>
          <a:p xmlns:a="http://schemas.openxmlformats.org/drawingml/2006/main">
            <a:r>
              <a:t>Detalhes: Para z=0, ReLU=0, sigmoide=0.5 e tanh=0. Para z≠0, ReLU tem derivada 0 à esquerda e 1 à direita. Em zero, implementações escolhem uma subderivada. Saturação pode produzir gradientes pequenos.</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https://scikit-learn.org/stable/modules/neural_networks_supervised.html</a:t>
            </a:r>
          </a:p>
          <a:p xmlns:a="http://schemas.openxmlformats.org/drawingml/2006/main">
            <a:r>
              <a:t/>
            </a:r>
          </a:p>
          <a:p xmlns:a="http://schemas.openxmlformats.org/drawingml/2006/main">
            <a:r>
              <a:t>Referência: https://www.deeplearningbook.org/contents/mlp.html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por que uma camada adicional precisa de não linearidade.</a:t>
            </a:r>
          </a:p>
          <a:p xmlns:a="http://schemas.openxmlformats.org/drawingml/2006/main">
            <a:r>
              <a:t/>
            </a:r>
          </a:p>
          <a:p xmlns:a="http://schemas.openxmlformats.org/drawingml/2006/main">
            <a:r>
              <a:t>Condução: Expanda o produto para mostrar Wₑ=W₂W₁ e bₑ=W₂b₁+b₂. Aplique a ideia a escalares se a turma não conhecer matrizes.</a:t>
            </a:r>
          </a:p>
          <a:p xmlns:a="http://schemas.openxmlformats.org/drawingml/2006/main">
            <a:r>
              <a:t/>
            </a:r>
          </a:p>
          <a:p xmlns:a="http://schemas.openxmlformats.org/drawingml/2006/main">
            <a:r>
              <a:t>Pergunta à turma: Adicionar cinco camadas lineares amplia a classe de funções representadas?</a:t>
            </a:r>
          </a:p>
          <a:p xmlns:a="http://schemas.openxmlformats.org/drawingml/2006/main">
            <a:r>
              <a:t/>
            </a:r>
          </a:p>
          <a:p xmlns:a="http://schemas.openxmlformats.org/drawingml/2006/main">
            <a:r>
              <a:t>Resposta esperada: A composição ainda é afim. A parametrização muda, mas a família de funções continua afim.</a:t>
            </a:r>
          </a:p>
          <a:p xmlns:a="http://schemas.openxmlformats.org/drawingml/2006/main">
            <a:r>
              <a:t/>
            </a:r>
          </a:p>
          <a:p xmlns:a="http://schemas.openxmlformats.org/drawingml/2006/main">
            <a:r>
              <a:t>Detalhes: A afirmação se refere à expressividade da função de entrada para saída. A função de perda em relação aos fatores W₁ e W₂ pode ser não convexa mesmo nessa rede linear.</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https://www.deeplearningbook.org/contents/mlp.html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Mostrar uma classificação com fronteira linear.</a:t>
            </a:r>
          </a:p>
          <a:p xmlns:a="http://schemas.openxmlformats.org/drawingml/2006/main">
            <a:r>
              <a:t/>
            </a:r>
          </a:p>
          <a:p xmlns:a="http://schemas.openxmlformats.org/drawingml/2006/main">
            <a:r>
              <a:t>Condução: Leia as quatro entradas Booleanas. Calcule z em (1,1) e em (1,0). Diferencie este degrau das ativações usadas na regressão.</a:t>
            </a:r>
          </a:p>
          <a:p xmlns:a="http://schemas.openxmlformats.org/drawingml/2006/main">
            <a:r>
              <a:t/>
            </a:r>
          </a:p>
          <a:p xmlns:a="http://schemas.openxmlformats.org/drawingml/2006/main">
            <a:r>
              <a:t>Pergunta à turma: Qual saída resulta de x₁=x₂=1?</a:t>
            </a:r>
          </a:p>
          <a:p xmlns:a="http://schemas.openxmlformats.org/drawingml/2006/main">
            <a:r>
              <a:t/>
            </a:r>
          </a:p>
          <a:p xmlns:a="http://schemas.openxmlformats.org/drawingml/2006/main">
            <a:r>
              <a:t>Resposta esperada: z=0.5 e ŷ=1. Nas outras combinações ŷ=0.</a:t>
            </a:r>
          </a:p>
          <a:p xmlns:a="http://schemas.openxmlformats.org/drawingml/2006/main">
            <a:r>
              <a:t/>
            </a:r>
          </a:p>
          <a:p xmlns:a="http://schemas.openxmlformats.org/drawingml/2006/main">
            <a:r>
              <a:t>Detalhes: A fronteira x₁+x₂=1.5 forma o segmento laranja. O gráfico contém apenas os quatro pontos da tabela verdade de AND. O degrau não tem a derivada usual necessária ao treinamento padrão por backpropagation, por isso foi historicamente treinado por outra regra.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https://www.deeplearningbook.org/contents/mlp.html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Expor a limitação de uma única fronteira linear.</a:t>
            </a:r>
          </a:p>
          <a:p xmlns:a="http://schemas.openxmlformats.org/drawingml/2006/main">
            <a:r>
              <a:t/>
            </a:r>
          </a:p>
          <a:p xmlns:a="http://schemas.openxmlformats.org/drawingml/2006/main">
            <a:r>
              <a:t>Condução: Peça que um aluno imagine uma reta para separar os pares da mesma cor. Use as diagonais para mostrar o conflito.</a:t>
            </a:r>
          </a:p>
          <a:p xmlns:a="http://schemas.openxmlformats.org/drawingml/2006/main">
            <a:r>
              <a:t/>
            </a:r>
          </a:p>
          <a:p xmlns:a="http://schemas.openxmlformats.org/drawingml/2006/main">
            <a:r>
              <a:t>Pergunta à turma: Qual mudança na representação poderia ajudar?</a:t>
            </a:r>
          </a:p>
          <a:p xmlns:a="http://schemas.openxmlformats.org/drawingml/2006/main">
            <a:r>
              <a:t/>
            </a:r>
          </a:p>
          <a:p xmlns:a="http://schemas.openxmlformats.org/drawingml/2006/main">
            <a:r>
              <a:t>Resposta esperada: Combinar neurônios com ativações não lineares em uma camada oculta.</a:t>
            </a:r>
          </a:p>
          <a:p xmlns:a="http://schemas.openxmlformats.org/drawingml/2006/main">
            <a:r>
              <a:t/>
            </a:r>
          </a:p>
          <a:p xmlns:a="http://schemas.openxmlformats.org/drawingml/2006/main">
            <a:r>
              <a:t>Detalhes: XOR significa um ou outro, excluindo ambos. A classe positiva ocorre quando as entradas Booleanas diferem. Não extrapole esta tabela a uma definição de probabilidade contínua.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https://www.deeplearningbook.org/contents/mlp.html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Resolver XOR com uma representação não linear concreta.</a:t>
            </a:r>
          </a:p>
          <a:p xmlns:a="http://schemas.openxmlformats.org/drawingml/2006/main">
            <a:r>
              <a:t/>
            </a:r>
          </a:p>
          <a:p xmlns:a="http://schemas.openxmlformats.org/drawingml/2006/main">
            <a:r>
              <a:t>Condução: Calcule as duas ativações para (0,1) e (1,1). Pesos da saída são 1 e os três vieses são zero.</a:t>
            </a:r>
          </a:p>
          <a:p xmlns:a="http://schemas.openxmlformats.org/drawingml/2006/main">
            <a:r>
              <a:t/>
            </a:r>
          </a:p>
          <a:p xmlns:a="http://schemas.openxmlformats.org/drawingml/2006/main">
            <a:r>
              <a:t>Pergunta à turma: O que cada neurônio oculto detecta?</a:t>
            </a:r>
          </a:p>
          <a:p xmlns:a="http://schemas.openxmlformats.org/drawingml/2006/main">
            <a:r>
              <a:t/>
            </a:r>
          </a:p>
          <a:p xmlns:a="http://schemas.openxmlformats.org/drawingml/2006/main">
            <a:r>
              <a:t>Resposta esperada: h₁ detecta x₁ maior que x₂. h₂ detecta x₂ maior que x₁. Para entradas Booleanas, a soma é XOR.</a:t>
            </a:r>
          </a:p>
          <a:p xmlns:a="http://schemas.openxmlformats.org/drawingml/2006/main">
            <a:r>
              <a:t/>
            </a:r>
          </a:p>
          <a:p xmlns:a="http://schemas.openxmlformats.org/drawingml/2006/main">
            <a:r>
              <a:t>Detalhes: Este é um exemplo construído com pesos definidos, não o resultado de um treinamento. Na figura: x₁→h₁=+1, x₂→h₁=−1, x₁→h₂=−1, x₂→h₂=+1. Para entradas reais a função é |x₁−x₂|, não uma probabilidade de classe.</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https://www.deeplearningbook.org/contents/mlp.html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Identificar camadas e contar parâmetros.</a:t>
            </a:r>
          </a:p>
          <a:p xmlns:a="http://schemas.openxmlformats.org/drawingml/2006/main">
            <a:r>
              <a:t/>
            </a:r>
          </a:p>
          <a:p xmlns:a="http://schemas.openxmlformats.org/drawingml/2006/main">
            <a:r>
              <a:t>Condução: Associe as entradas às variáveis da previsão. Conte as conexões e depois os vieses. Na saída de uma regressão usual a ativação pode ser identidade.</a:t>
            </a:r>
          </a:p>
          <a:p xmlns:a="http://schemas.openxmlformats.org/drawingml/2006/main">
            <a:r>
              <a:t/>
            </a:r>
          </a:p>
          <a:p xmlns:a="http://schemas.openxmlformats.org/drawingml/2006/main">
            <a:r>
              <a:t>Pergunta à turma: O desenho possui 21 neurônios?</a:t>
            </a:r>
          </a:p>
          <a:p xmlns:a="http://schemas.openxmlformats.org/drawingml/2006/main">
            <a:r>
              <a:t/>
            </a:r>
          </a:p>
          <a:p xmlns:a="http://schemas.openxmlformats.org/drawingml/2006/main">
            <a:r>
              <a:t>Resposta esperada: Não. Possui 4 unidades ocultas e 1 saída. O número 21 conta pesos e vieses.</a:t>
            </a:r>
          </a:p>
          <a:p xmlns:a="http://schemas.openxmlformats.org/drawingml/2006/main">
            <a:r>
              <a:t/>
            </a:r>
          </a:p>
          <a:p xmlns:a="http://schemas.openxmlformats.org/drawingml/2006/main">
            <a:r>
              <a:t>Detalhes: Com ativação adequada e capacidade suficiente, redes feedforward podem aproximar funções contínuas em um domínio compacto. A existência da aproximação não garante aprender os parâmetros com dados finitos nem generalizar para fora do domínio. Uma saída identidade pode produzir vazões negativas, exigindo tratamento físico ou outra parametrização na aplicação.</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https://scikit-learn.org/stable/modules/neural_networks_supervised.html</a:t>
            </a:r>
          </a:p>
          <a:p xmlns:a="http://schemas.openxmlformats.org/drawingml/2006/main">
            <a:r>
              <a:t/>
            </a:r>
          </a:p>
          <a:p xmlns:a="http://schemas.openxmlformats.org/drawingml/2006/main">
            <a:r>
              <a:t>Referência: https://www.deeplearningbook.org/contents/mlp.html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Calcular uma rede pequena de ponta a ponta.</a:t>
            </a:r>
          </a:p>
          <a:p xmlns:a="http://schemas.openxmlformats.org/drawingml/2006/main">
            <a:r>
              <a:t/>
            </a:r>
          </a:p>
          <a:p xmlns:a="http://schemas.openxmlformats.org/drawingml/2006/main">
            <a:r>
              <a:t>Condução: Use o exemplo em quatro etapas. Calcule z=0.5×2−0.2=0.8. A ReLU mantém 0.8. Então ŷ=2×0.8+0.4=2. Peça o resíduo e a perda.</a:t>
            </a:r>
          </a:p>
          <a:p xmlns:a="http://schemas.openxmlformats.org/drawingml/2006/main">
            <a:r>
              <a:t/>
            </a:r>
          </a:p>
          <a:p xmlns:a="http://schemas.openxmlformats.org/drawingml/2006/main">
            <a:r>
              <a:t>Pergunta à turma: Qual saída da ReLU aparece se z for negativo?</a:t>
            </a:r>
          </a:p>
          <a:p xmlns:a="http://schemas.openxmlformats.org/drawingml/2006/main">
            <a:r>
              <a:t/>
            </a:r>
          </a:p>
          <a:p xmlns:a="http://schemas.openxmlformats.org/drawingml/2006/main">
            <a:r>
              <a:t>Resposta esperada: Zero. Neste exemplo z é positivo, então h=z.</a:t>
            </a:r>
          </a:p>
          <a:p xmlns:a="http://schemas.openxmlformats.org/drawingml/2006/main">
            <a:r>
              <a:t/>
            </a:r>
          </a:p>
          <a:p xmlns:a="http://schemas.openxmlformats.org/drawingml/2006/main">
            <a:r>
              <a:t>Detalhes: Exemplo didático adimensional com uma entrada, uma unidade oculta e saída identidade. Os parâmetros u,bₕ,v,bₒ são definidos para o exemplo. Mantenha esses valores nos slides 19 e 20.</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https://cs231n.github.io/optimization-2/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Distinguir as quatro operações do treinamento.</a:t>
            </a:r>
          </a:p>
          <a:p xmlns:a="http://schemas.openxmlformats.org/drawingml/2006/main">
            <a:r>
              <a:t/>
            </a:r>
          </a:p>
          <a:p xmlns:a="http://schemas.openxmlformats.org/drawingml/2006/main">
            <a:r>
              <a:t>Condução: Volte ao exemplo anterior e diga o que cada etapa acrescenta. Backpropagation calcula derivadas. O otimizador usa as derivadas para atualizar parâmetros.</a:t>
            </a:r>
          </a:p>
          <a:p xmlns:a="http://schemas.openxmlformats.org/drawingml/2006/main">
            <a:r>
              <a:t/>
            </a:r>
          </a:p>
          <a:p xmlns:a="http://schemas.openxmlformats.org/drawingml/2006/main">
            <a:r>
              <a:t>Pergunta à turma: Uma época é a atualização de um único peso?</a:t>
            </a:r>
          </a:p>
          <a:p xmlns:a="http://schemas.openxmlformats.org/drawingml/2006/main">
            <a:r>
              <a:t/>
            </a:r>
          </a:p>
          <a:p xmlns:a="http://schemas.openxmlformats.org/drawingml/2006/main">
            <a:r>
              <a:t>Resposta esperada: Uma época corresponde a uma passagem pelo conjunto de treinamento. Pode conter vários lotes e várias atualizações.</a:t>
            </a:r>
          </a:p>
          <a:p xmlns:a="http://schemas.openxmlformats.org/drawingml/2006/main">
            <a:r>
              <a:t/>
            </a:r>
          </a:p>
          <a:p xmlns:a="http://schemas.openxmlformats.org/drawingml/2006/main">
            <a:r>
              <a:t>Detalhes: No treino em mini-batches a perda e o gradiente usam o lote atual. A trajetória tem variabilidade. Adam adapta as atualizações a partir dos momentos dos gradientes. Aqui a atualização numérica usará gradiente descendente simples.</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https://scikit-learn.org/stable/modules/neural_networks_supervised.html</a:t>
            </a:r>
          </a:p>
          <a:p xmlns:a="http://schemas.openxmlformats.org/drawingml/2006/main">
            <a:r>
              <a:t/>
            </a:r>
          </a:p>
          <a:p xmlns:a="http://schemas.openxmlformats.org/drawingml/2006/main">
            <a:r>
              <a:t>Referência: https://cs231n.github.io/optimization-2/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Obter o gradiente de um peso oculto com sinal coerente.</a:t>
            </a:r>
          </a:p>
          <a:p xmlns:a="http://schemas.openxmlformats.org/drawingml/2006/main">
            <a:r>
              <a:t/>
            </a:r>
          </a:p>
          <a:p xmlns:a="http://schemas.openxmlformats.org/drawingml/2006/main">
            <a:r>
              <a:t>Condução: Siga as setas de L para u. Multiplique as derivadas locais. Como z=0.8, a derivada da ReLU é 1. O gradiente negativo significa que aumentar u um pouco tende a reduzir a perda localmente.</a:t>
            </a:r>
          </a:p>
          <a:p xmlns:a="http://schemas.openxmlformats.org/drawingml/2006/main">
            <a:r>
              <a:t/>
            </a:r>
          </a:p>
          <a:p xmlns:a="http://schemas.openxmlformats.org/drawingml/2006/main">
            <a:r>
              <a:t>Pergunta à turma: A retropropagação já altera u?</a:t>
            </a:r>
          </a:p>
          <a:p xmlns:a="http://schemas.openxmlformats.org/drawingml/2006/main">
            <a:r>
              <a:t/>
            </a:r>
          </a:p>
          <a:p xmlns:a="http://schemas.openxmlformats.org/drawingml/2006/main">
            <a:r>
              <a:t>Resposta esperada: Ela calcula ∂L/∂u. O otimizador faz a alteração na etapa seguinte.</a:t>
            </a:r>
          </a:p>
          <a:p xmlns:a="http://schemas.openxmlformats.org/drawingml/2006/main">
            <a:r>
              <a:t/>
            </a:r>
          </a:p>
          <a:p xmlns:a="http://schemas.openxmlformats.org/drawingml/2006/main">
            <a:r>
              <a:t>Detalhes: Fórmula geral com a convenção eᵢ=yᵢ−ŷᵢ: ∂MSE/∂θ=−(2/N)∑ᵢ eᵢ(∂ŷᵢ/∂θ). A fórmula positiva do material anterior não era coerente com essa convenção. No exemplo: gradientes de u,bₕ,v,bₒ são −8,−4,−1.6,−2.</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https://cs231n.github.io/optimization-2/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Executar uma atualização e verificar seu efeito.</a:t>
            </a:r>
          </a:p>
          <a:p xmlns:a="http://schemas.openxmlformats.org/drawingml/2006/main">
            <a:r>
              <a:t/>
            </a:r>
          </a:p>
          <a:p xmlns:a="http://schemas.openxmlformats.org/drawingml/2006/main">
            <a:r>
              <a:t>Condução: Atualize todos os parâmetros com os gradientes calculados na mesma passagem. Recalcule a propagação direta. O exemplo confirma redução da perda para esse passo.</a:t>
            </a:r>
          </a:p>
          <a:p xmlns:a="http://schemas.openxmlformats.org/drawingml/2006/main">
            <a:r>
              <a:t/>
            </a:r>
          </a:p>
          <a:p xmlns:a="http://schemas.openxmlformats.org/drawingml/2006/main">
            <a:r>
              <a:t>Pergunta à turma: O viés também recebe atualização?</a:t>
            </a:r>
          </a:p>
          <a:p xmlns:a="http://schemas.openxmlformats.org/drawingml/2006/main">
            <a:r>
              <a:t/>
            </a:r>
          </a:p>
          <a:p xmlns:a="http://schemas.openxmlformats.org/drawingml/2006/main">
            <a:r>
              <a:t>Resposta esperada: Sim. Cada viés tem seu próprio gradiente, como mostram bₕ e bₒ.</a:t>
            </a:r>
          </a:p>
          <a:p xmlns:a="http://schemas.openxmlformats.org/drawingml/2006/main">
            <a:r>
              <a:t/>
            </a:r>
          </a:p>
          <a:p xmlns:a="http://schemas.openxmlformats.org/drawingml/2006/main">
            <a:r>
              <a:t>Detalhes: Novos valores: u=.58,bₕ=−.16,v=2.016,bₒ=.42. z=1, h=1, ŷ=2.436 e L=(3−2.436)²=.318096. Esta redução é específica do exemplo e de η=.01. Em geral uma taxa elevada ou o gradiente de um lote pode aumentar a perda.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https://cs231n.github.io/optimization-2/</a:t>
            </a:r>
          </a:p>
          <a:p xmlns:a="http://schemas.openxmlformats.org/drawingml/2006/main">
            <a:r>
              <a:t/>
            </a:r>
          </a:p>
          <a:p xmlns:a="http://schemas.openxmlformats.org/drawingml/2006/main">
            <a:r>
              <a:t>Referência: https://www.deeplearningbook.org/contents/optimization.html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Mostrar que a taxa controla o tamanho do passo.</a:t>
            </a:r>
          </a:p>
          <a:p xmlns:a="http://schemas.openxmlformats.org/drawingml/2006/main">
            <a:r>
              <a:t/>
            </a:r>
          </a:p>
          <a:p xmlns:a="http://schemas.openxmlformats.org/drawingml/2006/main">
            <a:r>
              <a:t>Condução: Todas as curvas começam com a mesma perda. A curva laranja cresce, embora use a direção do gradiente negativo a cada passo.</a:t>
            </a:r>
          </a:p>
          <a:p xmlns:a="http://schemas.openxmlformats.org/drawingml/2006/main">
            <a:r>
              <a:t/>
            </a:r>
          </a:p>
          <a:p xmlns:a="http://schemas.openxmlformats.org/drawingml/2006/main">
            <a:r>
              <a:t>Pergunta à turma: Uma taxa maior sempre acelera o treinamento?</a:t>
            </a:r>
          </a:p>
          <a:p xmlns:a="http://schemas.openxmlformats.org/drawingml/2006/main">
            <a:r>
              <a:t/>
            </a:r>
          </a:p>
          <a:p xmlns:a="http://schemas.openxmlformats.org/drawingml/2006/main">
            <a:r>
              <a:t>Resposta esperada: Uma taxa excessiva pode provocar oscilação e divergência.</a:t>
            </a:r>
          </a:p>
          <a:p xmlns:a="http://schemas.openxmlformats.org/drawingml/2006/main">
            <a:r>
              <a:t/>
            </a:r>
          </a:p>
          <a:p xmlns:a="http://schemas.openxmlformats.org/drawingml/2006/main">
            <a:r>
              <a:t>Detalhes: Neste exemplo, wₖ−2=(1−2η)ᵏ(w₀−2). A razão de perdas é (1−2η)²ᵏ. Para η entre 0 e 1 há convergência nessa quadrática. A estabilidade em redes depende da curvatura e de outros detalhes.</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https://www.deeplearningbook.org/contents/optimization.html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Reconhecer a não convexidade sem prometer um mínimo global.</a:t>
            </a:r>
          </a:p>
          <a:p xmlns:a="http://schemas.openxmlformats.org/drawingml/2006/main">
            <a:r>
              <a:t/>
            </a:r>
          </a:p>
          <a:p xmlns:a="http://schemas.openxmlformats.org/drawingml/2006/main">
            <a:r>
              <a:t>Condução: Aponte os dois mínimos do exemplo e diga que um é mais baixo. Esclareça que a figura é uma função escalar construída, não a superfície de uma RNA treinada.</a:t>
            </a:r>
          </a:p>
          <a:p xmlns:a="http://schemas.openxmlformats.org/drawingml/2006/main">
            <a:r>
              <a:t/>
            </a:r>
          </a:p>
          <a:p xmlns:a="http://schemas.openxmlformats.org/drawingml/2006/main">
            <a:r>
              <a:t>Pergunta à turma: A menor perda de treino sempre corresponde à melhor previsão futura?</a:t>
            </a:r>
          </a:p>
          <a:p xmlns:a="http://schemas.openxmlformats.org/drawingml/2006/main">
            <a:r>
              <a:t/>
            </a:r>
          </a:p>
          <a:p xmlns:a="http://schemas.openxmlformats.org/drawingml/2006/main">
            <a:r>
              <a:t>Resposta esperada: A seleção deve considerar a validação. Minimizar a perda de treino não assegura generalização.</a:t>
            </a:r>
          </a:p>
          <a:p xmlns:a="http://schemas.openxmlformats.org/drawingml/2006/main">
            <a:r>
              <a:t/>
            </a:r>
          </a:p>
          <a:p xmlns:a="http://schemas.openxmlformats.org/drawingml/2006/main">
            <a:r>
              <a:t>Detalhes: Além de mínimos locais, há regiões planas, pontos de sela e mau condicionamento em problemas multidimensionais. A figura ilustra apenas dois vales em um corte escalar. Várias inicializações devem ser comparadas na validação, sem selecionar pelo teste.</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https://www.deeplearningbook.org/contents/optimization.html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Relacionar flexibilidade e generalização.</a:t>
            </a:r>
          </a:p>
          <a:p xmlns:a="http://schemas.openxmlformats.org/drawingml/2006/main">
            <a:r>
              <a:t/>
            </a:r>
          </a:p>
          <a:p xmlns:a="http://schemas.openxmlformats.org/drawingml/2006/main">
            <a:r>
              <a:t>Condução: Os painéis usam os mesmos 18 pontos. A avaliação usa 121 outros pontos com ruído independente. Compare os MSE de treino e validação.</a:t>
            </a:r>
          </a:p>
          <a:p xmlns:a="http://schemas.openxmlformats.org/drawingml/2006/main">
            <a:r>
              <a:t/>
            </a:r>
          </a:p>
          <a:p xmlns:a="http://schemas.openxmlformats.org/drawingml/2006/main">
            <a:r>
              <a:t>Pergunta à turma: Qual modelo tem o menor erro de treino? Isso basta para escolhê-lo?</a:t>
            </a:r>
          </a:p>
          <a:p xmlns:a="http://schemas.openxmlformats.org/drawingml/2006/main">
            <a:r>
              <a:t/>
            </a:r>
          </a:p>
          <a:p xmlns:a="http://schemas.openxmlformats.org/drawingml/2006/main">
            <a:r>
              <a:t>Resposta esperada: O grau 12 tem o menor erro de treino. O grau 2 tem o menor erro na validação deste exemplo.</a:t>
            </a:r>
          </a:p>
          <a:p xmlns:a="http://schemas.openxmlformats.org/drawingml/2006/main">
            <a:r>
              <a:t/>
            </a:r>
          </a:p>
          <a:p xmlns:a="http://schemas.openxmlformats.org/drawingml/2006/main">
            <a:r>
              <a:t>Detalhes: A função geradora é .4+2.4(x−.5)² com ruído normal de desvio .07. As curvas são ajustes polinomiais reais por mínimos quadrados, não RNAs treinadas. A analogia explica capacidade sem atribuir esses resultados a uma arquitetura neural específica.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https://www.deeplearningbook.org/contents/optimization.html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Separar ajuste, seleção e avaliação final.</a:t>
            </a:r>
          </a:p>
          <a:p xmlns:a="http://schemas.openxmlformats.org/drawingml/2006/main">
            <a:r>
              <a:t/>
            </a:r>
          </a:p>
          <a:p xmlns:a="http://schemas.openxmlformats.org/drawingml/2006/main">
            <a:r>
              <a:t>Condução: Os blocos seguem a ordem temporal. Escolha datas que incluam regimes relevantes e uma quantidade adequada de eventos.</a:t>
            </a:r>
          </a:p>
          <a:p xmlns:a="http://schemas.openxmlformats.org/drawingml/2006/main">
            <a:r>
              <a:t/>
            </a:r>
          </a:p>
          <a:p xmlns:a="http://schemas.openxmlformats.org/drawingml/2006/main">
            <a:r>
              <a:t>Pergunta à turma: A padronização pode usar a média do período de teste?</a:t>
            </a:r>
          </a:p>
          <a:p xmlns:a="http://schemas.openxmlformats.org/drawingml/2006/main">
            <a:r>
              <a:t/>
            </a:r>
          </a:p>
          <a:p xmlns:a="http://schemas.openxmlformats.org/drawingml/2006/main">
            <a:r>
              <a:t>Resposta esperada: Os parâmetros da transformação devem usar somente o treino.</a:t>
            </a:r>
          </a:p>
          <a:p xmlns:a="http://schemas.openxmlformats.org/drawingml/2006/main">
            <a:r>
              <a:t/>
            </a:r>
          </a:p>
          <a:p xmlns:a="http://schemas.openxmlformats.org/drawingml/2006/main">
            <a:r>
              <a:t>Detalhes: O conjunto de teste não participa da escolha da arquitetura, da taxa, da época ou da inicialização. Na construção de janelas, impeça que alvos de treino ultrapassem a fronteira. Para horizontes múltiplos pode ser necessário um intervalo de exclusão. Janelas de entrada podem usar passado disponível, inclusive dados anteriores à fronteira.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https://www.tensorflow.org/tutorials/structured_data/time_series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Calcular e aplicar a escala corretamente.</a:t>
            </a:r>
          </a:p>
          <a:p xmlns:a="http://schemas.openxmlformats.org/drawingml/2006/main">
            <a:r>
              <a:t/>
            </a:r>
          </a:p>
          <a:p xmlns:a="http://schemas.openxmlformats.org/drawingml/2006/main">
            <a:r>
              <a:t>Condução: Use P para mostrar (30−10)/20=1. Depois compare magnitudes originais e escalas padronizadas.</a:t>
            </a:r>
          </a:p>
          <a:p xmlns:a="http://schemas.openxmlformats.org/drawingml/2006/main">
            <a:r>
              <a:t/>
            </a:r>
          </a:p>
          <a:p xmlns:a="http://schemas.openxmlformats.org/drawingml/2006/main">
            <a:r>
              <a:t>Pergunta à turma: Por que não recalcular μ e s em cada conjunto?</a:t>
            </a:r>
          </a:p>
          <a:p xmlns:a="http://schemas.openxmlformats.org/drawingml/2006/main">
            <a:r>
              <a:t/>
            </a:r>
          </a:p>
          <a:p xmlns:a="http://schemas.openxmlformats.org/drawingml/2006/main">
            <a:r>
              <a:t>Resposta esperada: O modelo precisa receber entradas na mesma transformação ajustada no treino. Recalcular as escalas altera a representação e pode vazar informações.</a:t>
            </a:r>
          </a:p>
          <a:p xmlns:a="http://schemas.openxmlformats.org/drawingml/2006/main">
            <a:r>
              <a:t/>
            </a:r>
          </a:p>
          <a:p xmlns:a="http://schemas.openxmlformats.org/drawingml/2006/main">
            <a:r>
              <a:t>Detalhes: s é o desvio padrão. Trate variáveis constantes e valores ausentes adequadamente. Se y também for padronizado, desfaça sua escala antes de calcular métricas em m³/s. Em aplicações futuras, transformações também devem respeitar o momento do ajuste.</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https://www.tensorflow.org/tutorials/structured_data/time_series</a:t>
            </a:r>
          </a:p>
          <a:p xmlns:a="http://schemas.openxmlformats.org/drawingml/2006/main">
            <a:r>
              <a:t/>
            </a:r>
          </a:p>
          <a:p xmlns:a="http://schemas.openxmlformats.org/drawingml/2006/main">
            <a:r>
              <a:t>Referência: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Ler as curvas e explicar checkpoint e paciência.</a:t>
            </a:r>
          </a:p>
          <a:p xmlns:a="http://schemas.openxmlformats.org/drawingml/2006/main">
            <a:r>
              <a:t/>
            </a:r>
          </a:p>
          <a:p xmlns:a="http://schemas.openxmlformats.org/drawingml/2006/main">
            <a:r>
              <a:t>Condução: Mostre que a curva de treino continua caindo, enquanto a validação piora depois de seu mínimo. Neste exemplo min_delta=0 e paciência=6.</a:t>
            </a:r>
          </a:p>
          <a:p xmlns:a="http://schemas.openxmlformats.org/drawingml/2006/main">
            <a:r>
              <a:t/>
            </a:r>
          </a:p>
          <a:p xmlns:a="http://schemas.openxmlformats.org/drawingml/2006/main">
            <a:r>
              <a:t>Pergunta à turma: Por que guardar os pesos da melhor época?</a:t>
            </a:r>
          </a:p>
          <a:p xmlns:a="http://schemas.openxmlformats.org/drawingml/2006/main">
            <a:r>
              <a:t/>
            </a:r>
          </a:p>
          <a:p xmlns:a="http://schemas.openxmlformats.org/drawingml/2006/main">
            <a:r>
              <a:t>Resposta esperada: Os pesos da última época podem ter desempenho pior na validação.</a:t>
            </a:r>
          </a:p>
          <a:p xmlns:a="http://schemas.openxmlformats.org/drawingml/2006/main">
            <a:r>
              <a:t/>
            </a:r>
          </a:p>
          <a:p xmlns:a="http://schemas.openxmlformats.org/drawingml/2006/main">
            <a:r>
              <a:t>Detalhes: A época de menor perda na curva construída é 29. Seis épocas seguidas sem novo mínimo terminam na época 35. O exemplo exige restauração explícita dos melhores pesos. Em Keras use restore_best_weights=True, monitor=val_loss e mode=min. Defaults e critérios exatos variam por biblioteca.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https://keras.io/api/callbacks/early_stopping/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regularização como mudança no objetivo de treino.</a:t>
            </a:r>
          </a:p>
          <a:p xmlns:a="http://schemas.openxmlformats.org/drawingml/2006/main">
            <a:r>
              <a:t/>
            </a:r>
          </a:p>
          <a:p xmlns:a="http://schemas.openxmlformats.org/drawingml/2006/main">
            <a:r>
              <a:t>Condução: O gráfico mostra apenas a penalização, não a perda total. Compare um peso zero com um peso 2. A decisão sobre λ deve vir da validação.</a:t>
            </a:r>
          </a:p>
          <a:p xmlns:a="http://schemas.openxmlformats.org/drawingml/2006/main">
            <a:r>
              <a:t/>
            </a:r>
          </a:p>
          <a:p xmlns:a="http://schemas.openxmlformats.org/drawingml/2006/main">
            <a:r>
              <a:t>Pergunta à turma: Penalizar mais sempre melhora a generalização?</a:t>
            </a:r>
          </a:p>
          <a:p xmlns:a="http://schemas.openxmlformats.org/drawingml/2006/main">
            <a:r>
              <a:t/>
            </a:r>
          </a:p>
          <a:p xmlns:a="http://schemas.openxmlformats.org/drawingml/2006/main">
            <a:r>
              <a:t>Resposta esperada: Uma penalização excessiva pode limitar o ajuste e aumentar o viés.</a:t>
            </a:r>
          </a:p>
          <a:p xmlns:a="http://schemas.openxmlformats.org/drawingml/2006/main">
            <a:r>
              <a:t/>
            </a:r>
          </a:p>
          <a:p xmlns:a="http://schemas.openxmlformats.org/drawingml/2006/main">
            <a:r>
              <a:t>Detalhes: A convenção de λ e o fator de normalização variam entre implementações. Nem sempre os vieses são penalizados. Outras medidas incluem escolher capacidade adequada, melhorar a representatividade dos dados e aplicar early stopping. Dropout é outra opção, mas não é necessário introduzi-lo nesta aula básica.</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Avaliar uma previsão com métricas e comportamento temporal.</a:t>
            </a:r>
          </a:p>
          <a:p xmlns:a="http://schemas.openxmlformats.org/drawingml/2006/main">
            <a:r>
              <a:t/>
            </a:r>
          </a:p>
          <a:p xmlns:a="http://schemas.openxmlformats.org/drawingml/2006/main">
            <a:r>
              <a:t>Condução: Peça que a turma localize o pico. A RNA hipotética subestima a maior vazão e tem um pico atrasado, apesar do NSE global elevado. Compare com persistência.</a:t>
            </a:r>
          </a:p>
          <a:p xmlns:a="http://schemas.openxmlformats.org/drawingml/2006/main">
            <a:r>
              <a:t/>
            </a:r>
          </a:p>
          <a:p xmlns:a="http://schemas.openxmlformats.org/drawingml/2006/main">
            <a:r>
              <a:t>Pergunta à turma: NSE alto garante acerto do pico?</a:t>
            </a:r>
          </a:p>
          <a:p xmlns:a="http://schemas.openxmlformats.org/drawingml/2006/main">
            <a:r>
              <a:t/>
            </a:r>
          </a:p>
          <a:p xmlns:a="http://schemas.openxmlformats.org/drawingml/2006/main">
            <a:r>
              <a:t>Resposta esperada: A métrica agrega todo o período. A avaliação precisa examinar eventos, tempos de pico e erros nos regimes relevantes.</a:t>
            </a:r>
          </a:p>
          <a:p xmlns:a="http://schemas.openxmlformats.org/drawingml/2006/main">
            <a:r>
              <a:t/>
            </a:r>
          </a:p>
          <a:p xmlns:a="http://schemas.openxmlformats.org/drawingml/2006/main">
            <a:r>
              <a:t>Detalhes: MAE=média|Q−Q̂|. RMSE=raiz da média dos quadrados. NSE=1−∑(Q−Q̂)²/∑(Q−Q̄)². NSE=1 é perfeito, NSE=0 equivale à média das observações como referência nessa métrica, e NSE&lt;0 é pior. Esta avaliação não é resultado de treinamento real. O dia anterior ao primeiro ponto tem Q=37 m³/s para calcular a persistência. Em aplicação, devolva previsões à unidade física e use o período de teste sem seleção posterior de modelos.</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https://doi.org/10.1016/0022-1694(70)90255-6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Integrar os conceitos em um experimento reproduzível.</a:t>
            </a:r>
          </a:p>
          <a:p xmlns:a="http://schemas.openxmlformats.org/drawingml/2006/main">
            <a:r>
              <a:t/>
            </a:r>
          </a:p>
          <a:p xmlns:a="http://schemas.openxmlformats.org/drawingml/2006/main">
            <a:r>
              <a:t>Condução: Retome a previsão Q(t+1). Insista que toda transformação com parâmetros precisa ser ajustada no treino e aplicada aos outros conjuntos.</a:t>
            </a:r>
          </a:p>
          <a:p xmlns:a="http://schemas.openxmlformats.org/drawingml/2006/main">
            <a:r>
              <a:t/>
            </a:r>
          </a:p>
          <a:p xmlns:a="http://schemas.openxmlformats.org/drawingml/2006/main">
            <a:r>
              <a:t>Pergunta à turma: Em qual etapa se escolhe o número de neurônios?</a:t>
            </a:r>
          </a:p>
          <a:p xmlns:a="http://schemas.openxmlformats.org/drawingml/2006/main">
            <a:r>
              <a:t/>
            </a:r>
          </a:p>
          <a:p xmlns:a="http://schemas.openxmlformats.org/drawingml/2006/main">
            <a:r>
              <a:t>Resposta esperada: Durante a seleção com a validação, depois do ajuste dos pesos no treino.</a:t>
            </a:r>
          </a:p>
          <a:p xmlns:a="http://schemas.openxmlformats.org/drawingml/2006/main">
            <a:r>
              <a:t/>
            </a:r>
          </a:p>
          <a:p xmlns:a="http://schemas.openxmlformats.org/drawingml/2006/main">
            <a:r>
              <a:t>Detalhes: Se o treinamento usar um critério automático de validação aleatória, ele pode desrespeitar o desenho temporal. Configure uma rotina com o bloco de validação definido, checkpoint e paciência adequados. Guarde sementes e versões. A comparação com persistência usa exatamente os mesmos timestamps e alvos.</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https://www.tensorflow.org/tutorials/structured_data/time_series</a:t>
            </a:r>
          </a:p>
          <a:p xmlns:a="http://schemas.openxmlformats.org/drawingml/2006/main">
            <a:r>
              <a:t/>
            </a:r>
          </a:p>
          <a:p xmlns:a="http://schemas.openxmlformats.org/drawingml/2006/main">
            <a:r>
              <a:t>Referência: 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Praticar previsão, gradiente e atualização.</a:t>
            </a:r>
          </a:p>
          <a:p xmlns:a="http://schemas.openxmlformats.org/drawingml/2006/main">
            <a:r>
              <a:t/>
            </a:r>
          </a:p>
          <a:p xmlns:a="http://schemas.openxmlformats.org/drawingml/2006/main">
            <a:r>
              <a:t>Condução: Dê de três a cinco minutos. Permita duplas e peça que mostrem o sinal do gradiente antes de calcular o novo peso. Mantenha as respostas nas notas até a discussão.</a:t>
            </a:r>
          </a:p>
          <a:p xmlns:a="http://schemas.openxmlformats.org/drawingml/2006/main">
            <a:r>
              <a:t/>
            </a:r>
          </a:p>
          <a:p xmlns:a="http://schemas.openxmlformats.org/drawingml/2006/main">
            <a:r>
              <a:t>Pergunta à turma: Por que o novo peso aumenta?</a:t>
            </a:r>
          </a:p>
          <a:p xmlns:a="http://schemas.openxmlformats.org/drawingml/2006/main">
            <a:r>
              <a:t/>
            </a:r>
          </a:p>
          <a:p xmlns:a="http://schemas.openxmlformats.org/drawingml/2006/main">
            <a:r>
              <a:t>Resposta esperada: O gradiente de w é negativo, então subtrair η vezes esse gradiente aumenta w.</a:t>
            </a:r>
          </a:p>
          <a:p xmlns:a="http://schemas.openxmlformats.org/drawingml/2006/main">
            <a:r>
              <a:t/>
            </a:r>
          </a:p>
          <a:p xmlns:a="http://schemas.openxmlformats.org/drawingml/2006/main">
            <a:r>
              <a:t>Detalhes: Respostas: ŷ=1×2+1=3, e=6−3=3, L=9. ∂L/∂w=2(ŷ−y)x=−12 e ∂L/∂b=2(ŷ−y)=−6. w novo=1−.05(−12)=1.6, b novo=1−.05(−6)=1.3. Previsão nova=1.6×2+1.3=4.5, perda nova=(6−4.5)²=2.25. Atualize os dois parâmetros usando a mesma previsão inicial.</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https://cs231n.github.io/optimization-2/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Usar a validação como critério de seleção.</a:t>
            </a:r>
          </a:p>
          <a:p xmlns:a="http://schemas.openxmlformats.org/drawingml/2006/main">
            <a:r>
              <a:t/>
            </a:r>
          </a:p>
          <a:p xmlns:a="http://schemas.openxmlformats.org/drawingml/2006/main">
            <a:r>
              <a:t>Condução: Peça uma decisão e uma justificativa. Discuta que os valores são comparáveis porque tarefa, transformação e conjuntos são os mesmos.</a:t>
            </a:r>
          </a:p>
          <a:p xmlns:a="http://schemas.openxmlformats.org/drawingml/2006/main">
            <a:r>
              <a:t/>
            </a:r>
          </a:p>
          <a:p xmlns:a="http://schemas.openxmlformats.org/drawingml/2006/main">
            <a:r>
              <a:t>Pergunta à turma: Qual modelo e qual conjunto reservado?</a:t>
            </a:r>
          </a:p>
          <a:p xmlns:a="http://schemas.openxmlformats.org/drawingml/2006/main">
            <a:r>
              <a:t/>
            </a:r>
          </a:p>
          <a:p xmlns:a="http://schemas.openxmlformats.org/drawingml/2006/main">
            <a:r>
              <a:t>Resposta esperada: Modelo B tem menor MSE na validação. O teste fica reservado para a avaliação final.</a:t>
            </a:r>
          </a:p>
          <a:p xmlns:a="http://schemas.openxmlformats.org/drawingml/2006/main">
            <a:r>
              <a:t/>
            </a:r>
          </a:p>
          <a:p xmlns:a="http://schemas.openxmlformats.org/drawingml/2006/main">
            <a:r>
              <a:t>Detalhes: A apresenta um grande intervalo entre treino e validação, compatível com overfitting, mas esse padrão sozinho não prova a causa. Mudança de distribuição, vazamento e diferenças de representatividade também exigem investigação. O teste não deve orientar a decisão entre A e B.</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https://www.deeplearningbook.org/contents/optimization.html</a:t>
            </a:r>
          </a:p>
          <a:p xmlns:a="http://schemas.openxmlformats.org/drawingml/2006/main">
            <a:r>
              <a:t/>
            </a:r>
          </a:p>
          <a:p xmlns:a="http://schemas.openxmlformats.org/drawingml/2006/main">
            <a:r>
              <a:t>Referência: https://www.tensorflow.org/tutorials/structured_data/time_series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Consolidar as relações fundamentais da aula.</a:t>
            </a:r>
          </a:p>
          <a:p xmlns:a="http://schemas.openxmlformats.org/drawingml/2006/main">
            <a:r>
              <a:t/>
            </a:r>
          </a:p>
          <a:p xmlns:a="http://schemas.openxmlformats.org/drawingml/2006/main">
            <a:r>
              <a:t>Condução: Peça que um aluno explique em voz alta o caminho de uma entrada até a previsão e de um erro até a atualização. Relembre o problema hidrológico inicial.</a:t>
            </a:r>
          </a:p>
          <a:p xmlns:a="http://schemas.openxmlformats.org/drawingml/2006/main">
            <a:r>
              <a:t/>
            </a:r>
          </a:p>
          <a:p xmlns:a="http://schemas.openxmlformats.org/drawingml/2006/main">
            <a:r>
              <a:t>Pergunta à turma: Que decisão deve preceder a escolha da arquitetura?</a:t>
            </a:r>
          </a:p>
          <a:p xmlns:a="http://schemas.openxmlformats.org/drawingml/2006/main">
            <a:r>
              <a:t/>
            </a:r>
          </a:p>
          <a:p xmlns:a="http://schemas.openxmlformats.org/drawingml/2006/main">
            <a:r>
              <a:t>Resposta esperada: Definir a variável-alvo, o horizonte de previsão, as informações disponíveis e o desenho da avaliação.</a:t>
            </a:r>
          </a:p>
          <a:p xmlns:a="http://schemas.openxmlformats.org/drawingml/2006/main">
            <a:r>
              <a:t/>
            </a:r>
          </a:p>
          <a:p xmlns:a="http://schemas.openxmlformats.org/drawingml/2006/main">
            <a:r>
              <a:t>Base da aula: Aula_RNA_Hydro-UAI.pptx fornecida pelo usuário.</a:t>
            </a:r>
          </a:p>
          <a:p xmlns:a="http://schemas.openxmlformats.org/drawingml/2006/main">
            <a:r>
              <a:t/>
            </a:r>
          </a:p>
          <a:p xmlns:a="http://schemas.openxmlformats.org/drawingml/2006/main">
            <a:r>
              <a:t>Referência: https://scikit-learn.org/stable/modules/neural_networks_supervised.html</a:t>
            </a:r>
          </a:p>
          <a:p xmlns:a="http://schemas.openxmlformats.org/drawingml/2006/main">
            <a:r>
              <a:t/>
            </a:r>
          </a:p>
          <a:p xmlns:a="http://schemas.openxmlformats.org/drawingml/2006/main">
            <a:r>
              <a:t>Referência: https://www.tensorflow.org/tutorials/structured_data/time_series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7c3c85227e4e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62b885af6742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2943f61c344c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e6295e92d547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126a85b37f48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9e4109935c4c1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99155b1a2e245a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4868e0029e342d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d6fe23064d048b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f6c7267774240d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126c586a89f45c3" /></Relationships>
</file>

<file path=ppt/slideLayouts/slideLayout1.xml><?xml version="1.0" encoding="utf-8"?>
<p:sldLayout xmlns:p="http://schemas.openxmlformats.org/presentationml/2006/main" type="title" preserve="1">
  <p:cSld name="Slide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11BB454-8679-D779-91CD-901E65671285}"/>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Clique para editar o título Mestre</a:t>
            </a:r>
            <a:endParaRPr/>
          </a:p>
        </p:txBody>
      </p:sp>
      <p:sp>
        <p:nvSpPr>
          <p:cNvPr id="3" name="Subtítulo 2">
            <a:extLst xmlns:a="http://schemas.openxmlformats.org/drawingml/2006/main">
              <a:ext uri="{FF2B5EF4-FFF2-40B4-BE49-F238E27FC236}">
                <a16:creationId xmlns:a16="http://schemas.microsoft.com/office/drawing/2014/main" id="{00A0B855-82A6-73F3-ADAE-C145294CF551}"/>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Clique para editar o estilo do subtítulo Mestre</a:t>
            </a:r>
            <a:endParaRPr/>
          </a:p>
        </p:txBody>
      </p:sp>
      <p:sp>
        <p:nvSpPr>
          <p:cNvPr id="4" name="Espaço Reservado para Data 3">
            <a:extLst xmlns:a="http://schemas.openxmlformats.org/drawingml/2006/main">
              <a:ext uri="{FF2B5EF4-FFF2-40B4-BE49-F238E27FC236}">
                <a16:creationId xmlns:a16="http://schemas.microsoft.com/office/drawing/2014/main" id="{20558CA8-42E6-5BD9-D627-A3789914B2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C09D1132-49C2-9933-73CE-0C476DDA01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DC7B3DBD-80A4-9994-908D-07D68CC94D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2.xml><?xml version="1.0" encoding="utf-8"?>
<p:sldLayout xmlns:p="http://schemas.openxmlformats.org/presentationml/2006/main" type="obj" preserve="1">
  <p:cSld name="Título e Conteúd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FA0E026-F824-9DB1-FE69-7D3514C623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Conteúdo 2">
            <a:extLst xmlns:a="http://schemas.openxmlformats.org/drawingml/2006/main">
              <a:ext uri="{FF2B5EF4-FFF2-40B4-BE49-F238E27FC236}">
                <a16:creationId xmlns:a16="http://schemas.microsoft.com/office/drawing/2014/main" id="{EC3B507B-5DAE-5152-E1AD-EE68A64B5EF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14B70DB5-447D-DB44-9AF1-C0BAACC9A6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8E9A6542-33C6-4E8A-955A-FFF9456B91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97DEB9CC-0C72-DEF6-E0FD-F769BDB2AF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3.xml><?xml version="1.0" encoding="utf-8"?>
<p:sldLayout xmlns:p="http://schemas.openxmlformats.org/presentationml/2006/main" type="secHead" preserve="1">
  <p:cSld name="Cabeçalho da Seçã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95D848F-D36E-1918-5D9C-23455336D3B1}"/>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Clique para editar o título Mestre</a:t>
            </a:r>
            <a:endParaRPr/>
          </a:p>
        </p:txBody>
      </p:sp>
      <p:sp>
        <p:nvSpPr>
          <p:cNvPr id="3" name="Espaço Reservado para Texto 2">
            <a:extLst xmlns:a="http://schemas.openxmlformats.org/drawingml/2006/main">
              <a:ext uri="{FF2B5EF4-FFF2-40B4-BE49-F238E27FC236}">
                <a16:creationId xmlns:a16="http://schemas.microsoft.com/office/drawing/2014/main" id="{E36679D2-71E9-3160-A846-5ADD7544C200}"/>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Clique para editar os estilos de texto Mestres</a:t>
            </a:r>
          </a:p>
        </p:txBody>
      </p:sp>
      <p:sp>
        <p:nvSpPr>
          <p:cNvPr id="4" name="Espaço Reservado para Data 3">
            <a:extLst xmlns:a="http://schemas.openxmlformats.org/drawingml/2006/main">
              <a:ext uri="{FF2B5EF4-FFF2-40B4-BE49-F238E27FC236}">
                <a16:creationId xmlns:a16="http://schemas.microsoft.com/office/drawing/2014/main" id="{5537D26F-9630-40B2-0B39-EEF280B28F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413F4993-24E1-9D36-0A74-207423F413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C195F4AE-DC88-EE3B-B261-373A24D74D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4.xml><?xml version="1.0" encoding="utf-8"?>
<p:sldLayout xmlns:p="http://schemas.openxmlformats.org/presentationml/2006/main" type="twoObj" preserve="1">
  <p:cSld name="Duas Partes de Conteúd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0ECB9B22-BE19-D53D-6BFE-7EE67D4BCF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Conteúdo 2">
            <a:extLst xmlns:a="http://schemas.openxmlformats.org/drawingml/2006/main">
              <a:ext uri="{FF2B5EF4-FFF2-40B4-BE49-F238E27FC236}">
                <a16:creationId xmlns:a16="http://schemas.microsoft.com/office/drawing/2014/main" id="{7F52B350-C854-D597-1369-1251896D2E6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Conteúdo 3">
            <a:extLst xmlns:a="http://schemas.openxmlformats.org/drawingml/2006/main">
              <a:ext uri="{FF2B5EF4-FFF2-40B4-BE49-F238E27FC236}">
                <a16:creationId xmlns:a16="http://schemas.microsoft.com/office/drawing/2014/main" id="{F89E7523-364F-92D4-B857-4BE49AE299DB}"/>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Espaço Reservado para Data 4">
            <a:extLst xmlns:a="http://schemas.openxmlformats.org/drawingml/2006/main">
              <a:ext uri="{FF2B5EF4-FFF2-40B4-BE49-F238E27FC236}">
                <a16:creationId xmlns:a16="http://schemas.microsoft.com/office/drawing/2014/main" id="{1CF1DC5B-BDD2-F986-8102-B2DB2F7E6A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6" name="Espaço Reservado para Rodapé 5">
            <a:extLst xmlns:a="http://schemas.openxmlformats.org/drawingml/2006/main">
              <a:ext uri="{FF2B5EF4-FFF2-40B4-BE49-F238E27FC236}">
                <a16:creationId xmlns:a16="http://schemas.microsoft.com/office/drawing/2014/main" id="{D0DE4E83-F323-43DB-E264-DAF50F3BC6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Espaço Reservado para Número de Slide 6">
            <a:extLst xmlns:a="http://schemas.openxmlformats.org/drawingml/2006/main">
              <a:ext uri="{FF2B5EF4-FFF2-40B4-BE49-F238E27FC236}">
                <a16:creationId xmlns:a16="http://schemas.microsoft.com/office/drawing/2014/main" id="{0DADBB9A-EC0E-B450-3B25-7247EB2659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5.xml><?xml version="1.0" encoding="utf-8"?>
<p:sldLayout xmlns:p="http://schemas.openxmlformats.org/presentationml/2006/main" type="twoTxTwoObj" preserve="1">
  <p:cSld name="Comparaçã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837B58BD-5541-A732-72E6-D8AC31C873B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Texto 2">
            <a:extLst xmlns:a="http://schemas.openxmlformats.org/drawingml/2006/main">
              <a:ext uri="{FF2B5EF4-FFF2-40B4-BE49-F238E27FC236}">
                <a16:creationId xmlns:a16="http://schemas.microsoft.com/office/drawing/2014/main" id="{753C9DEB-CBF7-5347-F1E9-1F132805E988}"/>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Clique para editar os estilos de texto Mestres</a:t>
            </a:r>
          </a:p>
        </p:txBody>
      </p:sp>
      <p:sp>
        <p:nvSpPr>
          <p:cNvPr id="4" name="Espaço Reservado para Conteúdo 3">
            <a:extLst xmlns:a="http://schemas.openxmlformats.org/drawingml/2006/main">
              <a:ext uri="{FF2B5EF4-FFF2-40B4-BE49-F238E27FC236}">
                <a16:creationId xmlns:a16="http://schemas.microsoft.com/office/drawing/2014/main" id="{D8F4E0D4-0CC5-938D-5CD7-10F9CD06A6D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Espaço Reservado para Texto 4">
            <a:extLst xmlns:a="http://schemas.openxmlformats.org/drawingml/2006/main">
              <a:ext uri="{FF2B5EF4-FFF2-40B4-BE49-F238E27FC236}">
                <a16:creationId xmlns:a16="http://schemas.microsoft.com/office/drawing/2014/main" id="{C1F902CE-1195-FB85-7320-3FD03B83F65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Clique para editar os estilos de texto Mestres</a:t>
            </a:r>
          </a:p>
        </p:txBody>
      </p:sp>
      <p:sp>
        <p:nvSpPr>
          <p:cNvPr id="6" name="Espaço Reservado para Conteúdo 5">
            <a:extLst xmlns:a="http://schemas.openxmlformats.org/drawingml/2006/main">
              <a:ext uri="{FF2B5EF4-FFF2-40B4-BE49-F238E27FC236}">
                <a16:creationId xmlns:a16="http://schemas.microsoft.com/office/drawing/2014/main" id="{E503EAA7-461E-E2A3-2CFC-3973368F53E2}"/>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7" name="Espaço Reservado para Data 6">
            <a:extLst xmlns:a="http://schemas.openxmlformats.org/drawingml/2006/main">
              <a:ext uri="{FF2B5EF4-FFF2-40B4-BE49-F238E27FC236}">
                <a16:creationId xmlns:a16="http://schemas.microsoft.com/office/drawing/2014/main" id="{74063CC9-A056-14E6-E6BF-737C16A0E9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8" name="Espaço Reservado para Rodapé 7">
            <a:extLst xmlns:a="http://schemas.openxmlformats.org/drawingml/2006/main">
              <a:ext uri="{FF2B5EF4-FFF2-40B4-BE49-F238E27FC236}">
                <a16:creationId xmlns:a16="http://schemas.microsoft.com/office/drawing/2014/main" id="{B85B70EF-9748-A8DF-3DDF-22F7845980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Espaço Reservado para Número de Slide 8">
            <a:extLst xmlns:a="http://schemas.openxmlformats.org/drawingml/2006/main">
              <a:ext uri="{FF2B5EF4-FFF2-40B4-BE49-F238E27FC236}">
                <a16:creationId xmlns:a16="http://schemas.microsoft.com/office/drawing/2014/main" id="{D96794A7-C9A0-350B-BBA7-F66657F5EB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6.xml><?xml version="1.0" encoding="utf-8"?>
<p:sldLayout xmlns:p="http://schemas.openxmlformats.org/presentationml/2006/main" type="titleOnly" preserve="1">
  <p:cSld name="Soment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9A235169-EBAF-2969-78DC-BD432CA630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Data 2">
            <a:extLst xmlns:a="http://schemas.openxmlformats.org/drawingml/2006/main">
              <a:ext uri="{FF2B5EF4-FFF2-40B4-BE49-F238E27FC236}">
                <a16:creationId xmlns:a16="http://schemas.microsoft.com/office/drawing/2014/main" id="{E9B3E13C-6B25-EF21-F69D-8A5414F3FC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4" name="Espaço Reservado para Rodapé 3">
            <a:extLst xmlns:a="http://schemas.openxmlformats.org/drawingml/2006/main">
              <a:ext uri="{FF2B5EF4-FFF2-40B4-BE49-F238E27FC236}">
                <a16:creationId xmlns:a16="http://schemas.microsoft.com/office/drawing/2014/main" id="{51F925A9-9B8D-DAF3-BAD5-7892B3D1EA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ço Reservado para Número de Slide 4">
            <a:extLst xmlns:a="http://schemas.openxmlformats.org/drawingml/2006/main">
              <a:ext uri="{FF2B5EF4-FFF2-40B4-BE49-F238E27FC236}">
                <a16:creationId xmlns:a16="http://schemas.microsoft.com/office/drawing/2014/main" id="{FE20F86F-47CC-667E-85F1-096ACBD0E3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7.xml><?xml version="1.0" encoding="utf-8"?>
<p:sldLayout xmlns:p="http://schemas.openxmlformats.org/presentationml/2006/main" type="blank" preserve="1">
  <p:cSld name="Em Branco">
    <p:spTree>
      <p:nvGrpSpPr>
        <p:cNvPr id="1" name=""/>
        <p:cNvGrpSpPr/>
        <p:nvPr/>
      </p:nvGrpSpPr>
      <p:grpSpPr>
        <a:xfrm xmlns:a="http://schemas.openxmlformats.org/drawingml/2006/main"/>
      </p:grpSpPr>
      <p:sp>
        <p:nvSpPr>
          <p:cNvPr id="2" name="Espaço Reservado para Data 1">
            <a:extLst xmlns:a="http://schemas.openxmlformats.org/drawingml/2006/main">
              <a:ext uri="{FF2B5EF4-FFF2-40B4-BE49-F238E27FC236}">
                <a16:creationId xmlns:a16="http://schemas.microsoft.com/office/drawing/2014/main" id="{53E002A8-D20C-06ED-45F5-08417C2D62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3" name="Espaço Reservado para Rodapé 2">
            <a:extLst xmlns:a="http://schemas.openxmlformats.org/drawingml/2006/main">
              <a:ext uri="{FF2B5EF4-FFF2-40B4-BE49-F238E27FC236}">
                <a16:creationId xmlns:a16="http://schemas.microsoft.com/office/drawing/2014/main" id="{D5DEE1B6-CC94-A030-BEEC-7CCABF5AF8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Espaço Reservado para Número de Slide 3">
            <a:extLst xmlns:a="http://schemas.openxmlformats.org/drawingml/2006/main">
              <a:ext uri="{FF2B5EF4-FFF2-40B4-BE49-F238E27FC236}">
                <a16:creationId xmlns:a16="http://schemas.microsoft.com/office/drawing/2014/main" id="{B3FEDB54-2E2A-FEC7-9ECE-88957B0DDF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8.xml><?xml version="1.0" encoding="utf-8"?>
<p:sldLayout xmlns:p="http://schemas.openxmlformats.org/presentationml/2006/main" type="objTx" preserve="1">
  <p:cSld name="Conteúdo com Legenda">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C18163C-452A-E993-953A-BD421689029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Clique para editar o título Mestre</a:t>
            </a:r>
            <a:endParaRPr/>
          </a:p>
        </p:txBody>
      </p:sp>
      <p:sp>
        <p:nvSpPr>
          <p:cNvPr id="3" name="Espaço Reservado para Conteúdo 2">
            <a:extLst xmlns:a="http://schemas.openxmlformats.org/drawingml/2006/main">
              <a:ext uri="{FF2B5EF4-FFF2-40B4-BE49-F238E27FC236}">
                <a16:creationId xmlns:a16="http://schemas.microsoft.com/office/drawing/2014/main" id="{05B76F12-7527-69D0-8C96-25FB246DBA02}"/>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Texto 3">
            <a:extLst xmlns:a="http://schemas.openxmlformats.org/drawingml/2006/main">
              <a:ext uri="{FF2B5EF4-FFF2-40B4-BE49-F238E27FC236}">
                <a16:creationId xmlns:a16="http://schemas.microsoft.com/office/drawing/2014/main" id="{901A367E-080A-7768-8B36-FF18F750E3C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Clique para editar os estilos de texto Mestres</a:t>
            </a:r>
          </a:p>
        </p:txBody>
      </p:sp>
      <p:sp>
        <p:nvSpPr>
          <p:cNvPr id="5" name="Espaço Reservado para Data 4">
            <a:extLst xmlns:a="http://schemas.openxmlformats.org/drawingml/2006/main">
              <a:ext uri="{FF2B5EF4-FFF2-40B4-BE49-F238E27FC236}">
                <a16:creationId xmlns:a16="http://schemas.microsoft.com/office/drawing/2014/main" id="{DD46E5A0-2775-2458-F8CA-8618054BE5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6" name="Espaço Reservado para Rodapé 5">
            <a:extLst xmlns:a="http://schemas.openxmlformats.org/drawingml/2006/main">
              <a:ext uri="{FF2B5EF4-FFF2-40B4-BE49-F238E27FC236}">
                <a16:creationId xmlns:a16="http://schemas.microsoft.com/office/drawing/2014/main" id="{7E011452-E5BC-9116-D5C9-62CE8EA3E9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Espaço Reservado para Número de Slide 6">
            <a:extLst xmlns:a="http://schemas.openxmlformats.org/drawingml/2006/main">
              <a:ext uri="{FF2B5EF4-FFF2-40B4-BE49-F238E27FC236}">
                <a16:creationId xmlns:a16="http://schemas.microsoft.com/office/drawing/2014/main" id="{1FAA2280-2F9B-CD21-76FE-9B687CC4F1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9.xml><?xml version="1.0" encoding="utf-8"?>
<p:sldLayout xmlns:p="http://schemas.openxmlformats.org/presentationml/2006/main" type="picTx" preserve="1">
  <p:cSld name="Imagem com Legenda">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5A584B22-0037-D779-B31E-0CBD5D9590A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Clique para editar o título Mestre</a:t>
            </a:r>
            <a:endParaRPr/>
          </a:p>
        </p:txBody>
      </p:sp>
      <p:sp>
        <p:nvSpPr>
          <p:cNvPr id="3" name="Espaço Reservado para Imagem 2">
            <a:extLst xmlns:a="http://schemas.openxmlformats.org/drawingml/2006/main">
              <a:ext uri="{FF2B5EF4-FFF2-40B4-BE49-F238E27FC236}">
                <a16:creationId xmlns:a16="http://schemas.microsoft.com/office/drawing/2014/main" id="{63D9A5A8-522F-7442-423C-FF960A2172B0}"/>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Espaço Reservado para Texto 3">
            <a:extLst xmlns:a="http://schemas.openxmlformats.org/drawingml/2006/main">
              <a:ext uri="{FF2B5EF4-FFF2-40B4-BE49-F238E27FC236}">
                <a16:creationId xmlns:a16="http://schemas.microsoft.com/office/drawing/2014/main" id="{2CF14AF1-770E-87EA-708A-C58DFCD1690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Clique para editar os estilos de texto Mestres</a:t>
            </a:r>
          </a:p>
        </p:txBody>
      </p:sp>
      <p:sp>
        <p:nvSpPr>
          <p:cNvPr id="5" name="Espaço Reservado para Data 4">
            <a:extLst xmlns:a="http://schemas.openxmlformats.org/drawingml/2006/main">
              <a:ext uri="{FF2B5EF4-FFF2-40B4-BE49-F238E27FC236}">
                <a16:creationId xmlns:a16="http://schemas.microsoft.com/office/drawing/2014/main" id="{56FB4D3B-09A8-A617-C314-9B55A788B5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6" name="Espaço Reservado para Rodapé 5">
            <a:extLst xmlns:a="http://schemas.openxmlformats.org/drawingml/2006/main">
              <a:ext uri="{FF2B5EF4-FFF2-40B4-BE49-F238E27FC236}">
                <a16:creationId xmlns:a16="http://schemas.microsoft.com/office/drawing/2014/main" id="{7AA8C1D2-73FA-FB37-E0C4-450AB6B88E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Espaço Reservado para Número de Slide 6">
            <a:extLst xmlns:a="http://schemas.openxmlformats.org/drawingml/2006/main">
              <a:ext uri="{FF2B5EF4-FFF2-40B4-BE49-F238E27FC236}">
                <a16:creationId xmlns:a16="http://schemas.microsoft.com/office/drawing/2014/main" id="{4F0F63AE-5C5C-7FB9-D135-73B43C1CD4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10.xml><?xml version="1.0" encoding="utf-8"?>
<p:sldLayout xmlns:p="http://schemas.openxmlformats.org/presentationml/2006/main" type="vertTx" preserve="1">
  <p:cSld name="Título e Texto Vertical">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53D6BE3-10E2-6CD8-0769-71190CE3F27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Espaço Reservado para Texto Vertical 2">
            <a:extLst xmlns:a="http://schemas.openxmlformats.org/drawingml/2006/main">
              <a:ext uri="{FF2B5EF4-FFF2-40B4-BE49-F238E27FC236}">
                <a16:creationId xmlns:a16="http://schemas.microsoft.com/office/drawing/2014/main" id="{3DA5C966-7F5A-6880-8665-CEE849BC291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52E76C36-04BE-58DF-EF8D-5A7F366F4B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AB0FC24D-5B3A-704C-DFDF-8E866088A7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A18A054C-500B-9D07-AD5D-40EC067468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Layouts/slideLayout11.xml><?xml version="1.0" encoding="utf-8"?>
<p:sldLayout xmlns:p="http://schemas.openxmlformats.org/presentationml/2006/main" type="vertTitleAndTx" preserve="1">
  <p:cSld name="Texto e Título Vertical">
    <p:spTree>
      <p:nvGrpSpPr>
        <p:cNvPr id="1" name=""/>
        <p:cNvGrpSpPr/>
        <p:nvPr/>
      </p:nvGrpSpPr>
      <p:grpSpPr>
        <a:xfrm xmlns:a="http://schemas.openxmlformats.org/drawingml/2006/main"/>
      </p:grpSpPr>
      <p:sp>
        <p:nvSpPr>
          <p:cNvPr id="2" name="Título Vertical 1">
            <a:extLst xmlns:a="http://schemas.openxmlformats.org/drawingml/2006/main">
              <a:ext uri="{FF2B5EF4-FFF2-40B4-BE49-F238E27FC236}">
                <a16:creationId xmlns:a16="http://schemas.microsoft.com/office/drawing/2014/main" id="{B6D4F47A-3228-1470-F934-DD8291D7D8C5}"/>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Clique para editar o título Mestre</a:t>
            </a:r>
            <a:endParaRPr/>
          </a:p>
        </p:txBody>
      </p:sp>
      <p:sp>
        <p:nvSpPr>
          <p:cNvPr id="3" name="Espaço Reservado para Texto Vertical 2">
            <a:extLst xmlns:a="http://schemas.openxmlformats.org/drawingml/2006/main">
              <a:ext uri="{FF2B5EF4-FFF2-40B4-BE49-F238E27FC236}">
                <a16:creationId xmlns:a16="http://schemas.microsoft.com/office/drawing/2014/main" id="{15A5D2FF-F483-A3D2-DB8D-50C574FAE04C}"/>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B9970E35-3EDF-6C25-6972-B74A1B64AB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F4EFB325-6C23-AB9E-812A-C96962039F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73F99347-9D35-5119-B481-C2D0DE24CC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9D46433-43F6-4FA7-8C7B-D8B9997CD431}"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2e2a71db694d49" /><Relationship Type="http://schemas.openxmlformats.org/officeDocument/2006/relationships/slideLayout" Target="/ppt/slideLayouts/slideLayout1.xml" Id="R8130c6f5bd514e98" /><Relationship Type="http://schemas.openxmlformats.org/officeDocument/2006/relationships/slideLayout" Target="/ppt/slideLayouts/slideLayout2.xml" Id="R89417b08409e4af4" /><Relationship Type="http://schemas.openxmlformats.org/officeDocument/2006/relationships/slideLayout" Target="/ppt/slideLayouts/slideLayout3.xml" Id="R92cb1a245d44448d" /><Relationship Type="http://schemas.openxmlformats.org/officeDocument/2006/relationships/slideLayout" Target="/ppt/slideLayouts/slideLayout4.xml" Id="R8aa405d5278f403e" /><Relationship Type="http://schemas.openxmlformats.org/officeDocument/2006/relationships/slideLayout" Target="/ppt/slideLayouts/slideLayout5.xml" Id="R1795a3660bdf4173" /><Relationship Type="http://schemas.openxmlformats.org/officeDocument/2006/relationships/slideLayout" Target="/ppt/slideLayouts/slideLayout6.xml" Id="Rd5bfd6a73eba4d83" /><Relationship Type="http://schemas.openxmlformats.org/officeDocument/2006/relationships/slideLayout" Target="/ppt/slideLayouts/slideLayout7.xml" Id="R18d33c96ebaa42d9" /><Relationship Type="http://schemas.openxmlformats.org/officeDocument/2006/relationships/slideLayout" Target="/ppt/slideLayouts/slideLayout8.xml" Id="R33100031b45d4199" /><Relationship Type="http://schemas.openxmlformats.org/officeDocument/2006/relationships/slideLayout" Target="/ppt/slideLayouts/slideLayout9.xml" Id="R2572cc52eebf426f" /><Relationship Type="http://schemas.openxmlformats.org/officeDocument/2006/relationships/slideLayout" Target="/ppt/slideLayouts/slideLayout10.xml" Id="Rc27c252404ec4bc2" /><Relationship Type="http://schemas.openxmlformats.org/officeDocument/2006/relationships/slideLayout" Target="/ppt/slideLayouts/slideLayout11.xml" Id="Re6917cc254124a8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Espaço Reservado para Título 1">
            <a:extLst xmlns:a="http://schemas.openxmlformats.org/drawingml/2006/main">
              <a:ext uri="{FF2B5EF4-FFF2-40B4-BE49-F238E27FC236}">
                <a16:creationId xmlns:a16="http://schemas.microsoft.com/office/drawing/2014/main" id="{D2D640A0-A006-56DE-BB11-892018C9016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Clique para editar o título Mestre</a:t>
            </a:r>
            <a:endParaRPr/>
          </a:p>
        </p:txBody>
      </p:sp>
      <p:sp>
        <p:nvSpPr>
          <p:cNvPr id="3" name="Espaço Reservado para Texto 2">
            <a:extLst xmlns:a="http://schemas.openxmlformats.org/drawingml/2006/main">
              <a:ext uri="{FF2B5EF4-FFF2-40B4-BE49-F238E27FC236}">
                <a16:creationId xmlns:a16="http://schemas.microsoft.com/office/drawing/2014/main" id="{5D37E2E5-7A2E-EB81-A941-9FB8B7603C3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Clique para editar os estilos de texto Mestres</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Espaço Reservado para Data 3">
            <a:extLst xmlns:a="http://schemas.openxmlformats.org/drawingml/2006/main">
              <a:ext uri="{FF2B5EF4-FFF2-40B4-BE49-F238E27FC236}">
                <a16:creationId xmlns:a16="http://schemas.microsoft.com/office/drawing/2014/main" id="{35E9C82A-E612-2AFA-6FF2-370208C7C51D}"/>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0F98861F-14F1-4638-96F3-2EC3397B8A64}" type="datetimeFigureOut">
              <a:t>10/1/2026</a:t>
            </a:fld>
            <a:endParaRPr/>
          </a:p>
        </p:txBody>
      </p:sp>
      <p:sp>
        <p:nvSpPr>
          <p:cNvPr id="5" name="Espaço Reservado para Rodapé 4">
            <a:extLst xmlns:a="http://schemas.openxmlformats.org/drawingml/2006/main">
              <a:ext uri="{FF2B5EF4-FFF2-40B4-BE49-F238E27FC236}">
                <a16:creationId xmlns:a16="http://schemas.microsoft.com/office/drawing/2014/main" id="{2D627157-860F-B582-10C9-905A776EC2DA}"/>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Espaço Reservado para Número de Slide 5">
            <a:extLst xmlns:a="http://schemas.openxmlformats.org/drawingml/2006/main">
              <a:ext uri="{FF2B5EF4-FFF2-40B4-BE49-F238E27FC236}">
                <a16:creationId xmlns:a16="http://schemas.microsoft.com/office/drawing/2014/main" id="{E68955E3-4119-E011-F308-641E09FF92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E9D46433-43F6-4FA7-8C7B-D8B9997CD431}"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30c6f5bd514e98"/>
    <p:sldLayoutId xmlns:r="http://schemas.openxmlformats.org/officeDocument/2006/relationships" id="2147483650" r:id="R89417b08409e4af4"/>
    <p:sldLayoutId xmlns:r="http://schemas.openxmlformats.org/officeDocument/2006/relationships" id="2147483651" r:id="R92cb1a245d44448d"/>
    <p:sldLayoutId xmlns:r="http://schemas.openxmlformats.org/officeDocument/2006/relationships" id="2147483652" r:id="R8aa405d5278f403e"/>
    <p:sldLayoutId xmlns:r="http://schemas.openxmlformats.org/officeDocument/2006/relationships" id="2147483653" r:id="R1795a3660bdf4173"/>
    <p:sldLayoutId xmlns:r="http://schemas.openxmlformats.org/officeDocument/2006/relationships" id="2147483654" r:id="Rd5bfd6a73eba4d83"/>
    <p:sldLayoutId xmlns:r="http://schemas.openxmlformats.org/officeDocument/2006/relationships" id="2147483655" r:id="R18d33c96ebaa42d9"/>
    <p:sldLayoutId xmlns:r="http://schemas.openxmlformats.org/officeDocument/2006/relationships" id="2147483656" r:id="R33100031b45d4199"/>
    <p:sldLayoutId xmlns:r="http://schemas.openxmlformats.org/officeDocument/2006/relationships" id="2147483657" r:id="R2572cc52eebf426f"/>
    <p:sldLayoutId xmlns:r="http://schemas.openxmlformats.org/officeDocument/2006/relationships" id="2147483658" r:id="Rc27c252404ec4bc2"/>
    <p:sldLayoutId xmlns:r="http://schemas.openxmlformats.org/officeDocument/2006/relationships" id="2147483659" r:id="Re6917cc254124a83"/>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b51751ef4d4f0d" /><Relationship Type="http://schemas.openxmlformats.org/officeDocument/2006/relationships/image" Target="/ppt/media/image.png" Id="R2ecd1c034e864f66" /><Relationship Type="http://schemas.openxmlformats.org/officeDocument/2006/relationships/image" Target="/ppt/media/image2.png" Id="Rc76b8b1469c641a7" /><Relationship Type="http://schemas.openxmlformats.org/officeDocument/2006/relationships/image" Target="/ppt/media/image3.png" Id="Raac0bf7d4f794759" /><Relationship Type="http://schemas.openxmlformats.org/officeDocument/2006/relationships/notesSlide" Target="/ppt/notesSlides/notesSlide1.xml" Id="R7b6b9e901db247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6e72c948bf44c5" /><Relationship Type="http://schemas.openxmlformats.org/officeDocument/2006/relationships/image" Target="/ppt/media/image2.png" Id="R9755c9cf0f794a5a" /><Relationship Type="http://schemas.openxmlformats.org/officeDocument/2006/relationships/notesSlide" Target="/ppt/notesSlides/notesSlide2.xml" Id="R4f5f25bb1b914d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42d2d899ff4c74" /><Relationship Type="http://schemas.openxmlformats.org/officeDocument/2006/relationships/image" Target="/ppt/media/image2.png" Id="R7a6066e4c5094e62" /><Relationship Type="http://schemas.openxmlformats.org/officeDocument/2006/relationships/image" Target="/ppt/media/image4.png" Id="Re54f344165fa4488" /><Relationship Type="http://schemas.openxmlformats.org/officeDocument/2006/relationships/notesSlide" Target="/ppt/notesSlides/notesSlide3.xml" Id="Rf657d62788fc4d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80e51b461941fb" /><Relationship Type="http://schemas.openxmlformats.org/officeDocument/2006/relationships/image" Target="/ppt/media/image2.png" Id="Rbabdaad233aa41d9" /><Relationship Type="http://schemas.openxmlformats.org/officeDocument/2006/relationships/notesSlide" Target="/ppt/notesSlides/notesSlide4.xml" Id="R557ebd9326a54c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f51bdbe765415e" /><Relationship Type="http://schemas.openxmlformats.org/officeDocument/2006/relationships/image" Target="/ppt/media/image2.png" Id="R06c94a2c16c94ca9" /><Relationship Type="http://schemas.openxmlformats.org/officeDocument/2006/relationships/notesSlide" Target="/ppt/notesSlides/notesSlide5.xml" Id="R4905b6f069474c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9bc20de1e9474a" /><Relationship Type="http://schemas.openxmlformats.org/officeDocument/2006/relationships/image" Target="/ppt/media/image2.png" Id="R138396a3dce547e9" /><Relationship Type="http://schemas.openxmlformats.org/officeDocument/2006/relationships/notesSlide" Target="/ppt/notesSlides/notesSlide6.xml" Id="Rbde15aabb09544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112447ce414369" /><Relationship Type="http://schemas.openxmlformats.org/officeDocument/2006/relationships/image" Target="/ppt/media/image2.png" Id="R180bd89a89414db5" /><Relationship Type="http://schemas.openxmlformats.org/officeDocument/2006/relationships/chart" Target="/ppt/slides/charts/chart1.xml" Id="R9814e2057f6e403a" /><Relationship Type="http://schemas.openxmlformats.org/officeDocument/2006/relationships/notesSlide" Target="/ppt/notesSlides/notesSlide7.xml" Id="Rb320c0aab74e47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62e8fc0ca64e6e" /><Relationship Type="http://schemas.openxmlformats.org/officeDocument/2006/relationships/image" Target="/ppt/media/image2.png" Id="Ra6ae879498e7497c" /><Relationship Type="http://schemas.openxmlformats.org/officeDocument/2006/relationships/chart" Target="/ppt/slides/charts/chart2.xml" Id="R5d53cd4f85404134" /><Relationship Type="http://schemas.openxmlformats.org/officeDocument/2006/relationships/notesSlide" Target="/ppt/notesSlides/notesSlide8.xml" Id="Rcf868001f59e4a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3e5041b3f64201" /><Relationship Type="http://schemas.openxmlformats.org/officeDocument/2006/relationships/image" Target="/ppt/media/image2.png" Id="Ra146809dee234da7" /><Relationship Type="http://schemas.openxmlformats.org/officeDocument/2006/relationships/chart" Target="/ppt/slides/charts/chart3.xml" Id="R62c05555c7e249fa" /><Relationship Type="http://schemas.openxmlformats.org/officeDocument/2006/relationships/notesSlide" Target="/ppt/notesSlides/notesSlide9.xml" Id="Rfb29b00b2ed447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da6e1e53794b3b" /><Relationship Type="http://schemas.openxmlformats.org/officeDocument/2006/relationships/image" Target="/ppt/media/image2.png" Id="R48c6cb593a554f70" /><Relationship Type="http://schemas.openxmlformats.org/officeDocument/2006/relationships/chart" Target="/ppt/slides/charts/chart4.xml" Id="Rd6dcf09c962e44a7" /><Relationship Type="http://schemas.openxmlformats.org/officeDocument/2006/relationships/notesSlide" Target="/ppt/notesSlides/notesSlide10.xml" Id="R4b988994876744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d1ce050249490b" /><Relationship Type="http://schemas.openxmlformats.org/officeDocument/2006/relationships/image" Target="/ppt/media/image2.png" Id="Rc856f3e1752e45a6" /><Relationship Type="http://schemas.openxmlformats.org/officeDocument/2006/relationships/chart" Target="/ppt/slides/charts/chart5.xml" Id="R7a5003cf1a334bcb" /><Relationship Type="http://schemas.openxmlformats.org/officeDocument/2006/relationships/chart" Target="/ppt/slides/charts/chart6.xml" Id="R32c708e62b5b4f91" /><Relationship Type="http://schemas.openxmlformats.org/officeDocument/2006/relationships/chart" Target="/ppt/slides/charts/chart7.xml" Id="Re0e6dec41e464a16" /><Relationship Type="http://schemas.openxmlformats.org/officeDocument/2006/relationships/notesSlide" Target="/ppt/notesSlides/notesSlide11.xml" Id="Rf2facd8ad8a34c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8218c4bc5b45c4" /><Relationship Type="http://schemas.openxmlformats.org/officeDocument/2006/relationships/image" Target="/ppt/media/image2.png" Id="R1f9947c5daef4711" /><Relationship Type="http://schemas.openxmlformats.org/officeDocument/2006/relationships/notesSlide" Target="/ppt/notesSlides/notesSlide12.xml" Id="Re870ca978b9f42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cd21f95d6e47b5" /><Relationship Type="http://schemas.openxmlformats.org/officeDocument/2006/relationships/image" Target="/ppt/media/image2.png" Id="R9dd124643b554e69" /><Relationship Type="http://schemas.openxmlformats.org/officeDocument/2006/relationships/chart" Target="/ppt/slides/charts/chart8.xml" Id="Rc14391d7cae44f13" /><Relationship Type="http://schemas.openxmlformats.org/officeDocument/2006/relationships/notesSlide" Target="/ppt/notesSlides/notesSlide13.xml" Id="R7e4aab1f8f974a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7cb37154f045ca" /><Relationship Type="http://schemas.openxmlformats.org/officeDocument/2006/relationships/image" Target="/ppt/media/image2.png" Id="R4a35e78354fc4c2a" /><Relationship Type="http://schemas.openxmlformats.org/officeDocument/2006/relationships/chart" Target="/ppt/slides/charts/chart9.xml" Id="Rfc8ce2732018438a" /><Relationship Type="http://schemas.openxmlformats.org/officeDocument/2006/relationships/notesSlide" Target="/ppt/notesSlides/notesSlide14.xml" Id="Rda9aaacb974640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3242d29279b4b31" /><Relationship Type="http://schemas.openxmlformats.org/officeDocument/2006/relationships/image" Target="/ppt/media/image2.png" Id="R4aa84ffd6fff4bb2" /><Relationship Type="http://schemas.openxmlformats.org/officeDocument/2006/relationships/notesSlide" Target="/ppt/notesSlides/notesSlide15.xml" Id="R908d55a8411a44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5f6faf66034a68" /><Relationship Type="http://schemas.openxmlformats.org/officeDocument/2006/relationships/image" Target="/ppt/media/image2.png" Id="Rf9019c4f21b44fbf" /><Relationship Type="http://schemas.openxmlformats.org/officeDocument/2006/relationships/notesSlide" Target="/ppt/notesSlides/notesSlide16.xml" Id="R8f1512ba1d1e48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ab2fe02d1f402e" /><Relationship Type="http://schemas.openxmlformats.org/officeDocument/2006/relationships/image" Target="/ppt/media/image2.png" Id="Rff33954f10da4468" /><Relationship Type="http://schemas.openxmlformats.org/officeDocument/2006/relationships/notesSlide" Target="/ppt/notesSlides/notesSlide17.xml" Id="Rfb03e93cf70145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dd3512f92d449e0" /><Relationship Type="http://schemas.openxmlformats.org/officeDocument/2006/relationships/image" Target="/ppt/media/image2.png" Id="R40a333f1a99041ce" /><Relationship Type="http://schemas.openxmlformats.org/officeDocument/2006/relationships/notesSlide" Target="/ppt/notesSlides/notesSlide18.xml" Id="R7fcb6426006244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4c8478ebe5b4def" /><Relationship Type="http://schemas.openxmlformats.org/officeDocument/2006/relationships/image" Target="/ppt/media/image2.png" Id="R1ddb148f113f4ae0" /><Relationship Type="http://schemas.openxmlformats.org/officeDocument/2006/relationships/notesSlide" Target="/ppt/notesSlides/notesSlide19.xml" Id="R7c25583ddcbb4b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e5c67c8d194270" /><Relationship Type="http://schemas.openxmlformats.org/officeDocument/2006/relationships/image" Target="/ppt/media/image2.png" Id="R29a12fcff7ff42e3" /><Relationship Type="http://schemas.openxmlformats.org/officeDocument/2006/relationships/chart" Target="/ppt/slides/charts/chart10.xml" Id="Re0e6fe2fa2084d15" /><Relationship Type="http://schemas.openxmlformats.org/officeDocument/2006/relationships/notesSlide" Target="/ppt/notesSlides/notesSlide20.xml" Id="R74da4d8d53da47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6c064a77344f75" /><Relationship Type="http://schemas.openxmlformats.org/officeDocument/2006/relationships/image" Target="/ppt/media/image2.png" Id="R06071dd7631d43fb" /><Relationship Type="http://schemas.openxmlformats.org/officeDocument/2006/relationships/chart" Target="/ppt/slides/charts/chart11.xml" Id="R73fb951e94bd4ba7" /><Relationship Type="http://schemas.openxmlformats.org/officeDocument/2006/relationships/notesSlide" Target="/ppt/notesSlides/notesSlide21.xml" Id="R09f8ae7b35b1404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c38fbd56d734083" /><Relationship Type="http://schemas.openxmlformats.org/officeDocument/2006/relationships/image" Target="/ppt/media/image2.png" Id="R1ce6d203e43848c1" /><Relationship Type="http://schemas.openxmlformats.org/officeDocument/2006/relationships/chart" Target="/ppt/slides/charts/chart12.xml" Id="R6430170413cc467d" /><Relationship Type="http://schemas.openxmlformats.org/officeDocument/2006/relationships/notesSlide" Target="/ppt/notesSlides/notesSlide22.xml" Id="R159fe03eb49a4f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0c76a8f2a78436c" /><Relationship Type="http://schemas.openxmlformats.org/officeDocument/2006/relationships/image" Target="/ppt/media/image2.png" Id="R37c2427983a24293" /><Relationship Type="http://schemas.openxmlformats.org/officeDocument/2006/relationships/chart" Target="/ppt/slides/charts/chart13.xml" Id="R9733a71f36c0489c" /><Relationship Type="http://schemas.openxmlformats.org/officeDocument/2006/relationships/chart" Target="/ppt/slides/charts/chart14.xml" Id="R4df267e724dd4b9a" /><Relationship Type="http://schemas.openxmlformats.org/officeDocument/2006/relationships/chart" Target="/ppt/slides/charts/chart15.xml" Id="R9b9914d7c2b6409d" /><Relationship Type="http://schemas.openxmlformats.org/officeDocument/2006/relationships/notesSlide" Target="/ppt/notesSlides/notesSlide23.xml" Id="Rf49b25d716dc4a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a844911562a46ec" /><Relationship Type="http://schemas.openxmlformats.org/officeDocument/2006/relationships/image" Target="/ppt/media/image2.png" Id="Ra2b9812a4d72468d" /><Relationship Type="http://schemas.openxmlformats.org/officeDocument/2006/relationships/notesSlide" Target="/ppt/notesSlides/notesSlide24.xml" Id="R7cd1243200fc47c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43ef0fde5334429" /><Relationship Type="http://schemas.openxmlformats.org/officeDocument/2006/relationships/image" Target="/ppt/media/image2.png" Id="R30d638fbdfa247cb" /><Relationship Type="http://schemas.openxmlformats.org/officeDocument/2006/relationships/notesSlide" Target="/ppt/notesSlides/notesSlide25.xml" Id="Rf68c1f2e31114d2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3a545ce0cc545d6" /><Relationship Type="http://schemas.openxmlformats.org/officeDocument/2006/relationships/image" Target="/ppt/media/image2.png" Id="Rc927c8ad22844035" /><Relationship Type="http://schemas.openxmlformats.org/officeDocument/2006/relationships/chart" Target="/ppt/slides/charts/chart16.xml" Id="R494c32381ee94159" /><Relationship Type="http://schemas.openxmlformats.org/officeDocument/2006/relationships/notesSlide" Target="/ppt/notesSlides/notesSlide26.xml" Id="R612ec15111a649e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ce823309f074346" /><Relationship Type="http://schemas.openxmlformats.org/officeDocument/2006/relationships/image" Target="/ppt/media/image2.png" Id="Rb5c92326181247a0" /><Relationship Type="http://schemas.openxmlformats.org/officeDocument/2006/relationships/chart" Target="/ppt/slides/charts/chart17.xml" Id="Rf7633ffed5f04d04" /><Relationship Type="http://schemas.openxmlformats.org/officeDocument/2006/relationships/notesSlide" Target="/ppt/notesSlides/notesSlide27.xml" Id="R719ad150b0464be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5c5b0b2623c48c9" /><Relationship Type="http://schemas.openxmlformats.org/officeDocument/2006/relationships/image" Target="/ppt/media/image2.png" Id="Re29cfbebb91b4bf1" /><Relationship Type="http://schemas.openxmlformats.org/officeDocument/2006/relationships/chart" Target="/ppt/slides/charts/chart18.xml" Id="R5839e41626b94694" /><Relationship Type="http://schemas.openxmlformats.org/officeDocument/2006/relationships/notesSlide" Target="/ppt/notesSlides/notesSlide28.xml" Id="Rd3b39b16c9ec44a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d815f543d054279" /><Relationship Type="http://schemas.openxmlformats.org/officeDocument/2006/relationships/image" Target="/ppt/media/image2.png" Id="R3e76fefd676d4e5d" /><Relationship Type="http://schemas.openxmlformats.org/officeDocument/2006/relationships/notesSlide" Target="/ppt/notesSlides/notesSlide29.xml" Id="R84174de7bce34ac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465884740ec494f" /><Relationship Type="http://schemas.openxmlformats.org/officeDocument/2006/relationships/image" Target="/ppt/media/image2.png" Id="R5551cb98008c427e" /><Relationship Type="http://schemas.openxmlformats.org/officeDocument/2006/relationships/notesSlide" Target="/ppt/notesSlides/notesSlide30.xml" Id="R3852164b58b74d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5d45f7c198745cf" /><Relationship Type="http://schemas.openxmlformats.org/officeDocument/2006/relationships/image" Target="/ppt/media/image2.png" Id="R946ce38dc1dd41ae" /><Relationship Type="http://schemas.openxmlformats.org/officeDocument/2006/relationships/chart" Target="/ppt/slides/charts/chart19.xml" Id="R1b47002a264144ba" /><Relationship Type="http://schemas.openxmlformats.org/officeDocument/2006/relationships/notesSlide" Target="/ppt/notesSlides/notesSlide31.xml" Id="R12f7dacd4db349f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d266f9649c34121" /><Relationship Type="http://schemas.openxmlformats.org/officeDocument/2006/relationships/image" Target="/ppt/media/image2.png" Id="Rd73b3a932c1a4a6f" /><Relationship Type="http://schemas.openxmlformats.org/officeDocument/2006/relationships/notesSlide" Target="/ppt/notesSlides/notesSlide32.xml" Id="R946003885eac42d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Contribuição</c:v>
          </c:tx>
          <c:spPr>
            <a:solidFill xmlns:a="http://schemas.openxmlformats.org/drawingml/2006/main">
              <a:srgbClr val="83DFFF"/>
            </a:solidFill>
          </c:spPr>
          <c:invertIfNegative val="0"/>
          <c:dPt>
            <c:idx val="2"/>
            <c:invertIfNegative val="0"/>
            <c:spPr>
              <a:solidFill xmlns:a="http://schemas.openxmlformats.org/drawingml/2006/main">
                <a:srgbClr val="FFAD62"/>
              </a:solidFill>
            </c:spPr>
          </c:dPt>
          <c:cat>
            <c:strRef>
              <c:f>'Chart Data'!$A$2:$A$5</c:f>
              <c:strCache>
                <c:ptCount val="4"/>
                <c:pt idx="0">
                  <c:v>w₁x₁</c:v>
                </c:pt>
                <c:pt idx="1">
                  <c:v>w₂x₂</c:v>
                </c:pt>
                <c:pt idx="2">
                  <c:v>w₃x₃</c:v>
                </c:pt>
                <c:pt idx="3">
                  <c:v>b</c:v>
                </c:pt>
              </c:strCache>
            </c:strRef>
          </c:cat>
          <c:val>
            <c:numRef>
              <c:f>'Chart Data'!$B$2:$B$5</c:f>
              <c:numCache>
                <c:formatCode>0.0</c:formatCode>
                <c:ptCount val="4"/>
                <c:pt idx="0">
                  <c:v>1</c:v>
                </c:pt>
                <c:pt idx="1">
                  <c:v>1.2</c:v>
                </c:pt>
                <c:pt idx="2">
                  <c:v>-1.2</c:v>
                </c:pt>
                <c:pt idx="3">
                  <c:v>0.2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catAx>
      <c:valAx>
        <c:axId val="48672768"/>
        <c:scaling>
          <c:orientation val="minMax"/>
          <c:max val="2"/>
          <c:min val="-2"/>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Contribuição a z</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crossBetween val="between"/>
        <c:majorUnit val="1"/>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Observações</c:v>
          </c:tx>
          <c:spPr>
            <a:solidFill xmlns:a="http://schemas.openxmlformats.org/drawingml/2006/main">
              <a:srgbClr val="91A4BD"/>
            </a:solidFill>
            <a:ln xmlns:a="http://schemas.openxmlformats.org/drawingml/2006/main" w="0">
              <a:noFill/>
            </a:ln>
          </c:spPr>
          <c:marker>
            <c:symbol val="circle"/>
            <c:size val="7"/>
            <c:spPr>
              <a:solidFill xmlns:a="http://schemas.openxmlformats.org/drawingml/2006/main">
                <a:srgbClr val="91A4BD"/>
              </a:solidFill>
              <ns0:ln xmlns:ns0="http://schemas.openxmlformats.org/drawingml/2006/main" w="0">
                <ns0:noFill/>
              </ns0:ln>
            </c:spPr>
          </c:marker>
          <c:xVal>
            <c:numRef>
              <c:f>'Chart Data'!$A$2:$A$6</c:f>
              <c:numCache>
                <c:formatCode>General</c:formatCode>
                <c:ptCount val="5"/>
                <c:pt idx="0">
                  <c:v>1</c:v>
                </c:pt>
                <c:pt idx="1">
                  <c:v>2</c:v>
                </c:pt>
                <c:pt idx="2">
                  <c:v>3</c:v>
                </c:pt>
                <c:pt idx="3">
                  <c:v>4</c:v>
                </c:pt>
                <c:pt idx="4">
                  <c:v>5</c:v>
                </c:pt>
              </c:numCache>
            </c:numRef>
          </c:xVal>
          <c:yVal>
            <c:numRef>
              <c:f>'Chart Data'!$B$2:$B$6</c:f>
              <c:numCache>
                <c:formatCode>0.0</c:formatCode>
                <c:ptCount val="5"/>
                <c:pt idx="0">
                  <c:v>3</c:v>
                </c:pt>
                <c:pt idx="1">
                  <c:v>6</c:v>
                </c:pt>
                <c:pt idx="2">
                  <c:v>5</c:v>
                </c:pt>
                <c:pt idx="3">
                  <c:v>10</c:v>
                </c:pt>
                <c:pt idx="4">
                  <c:v>11</c:v>
                </c:pt>
              </c:numCache>
            </c:numRef>
          </c:yVal>
          <c:smooth val="0"/>
        </c:ser>
        <c:ser>
          <c:idx val="1"/>
          <c:order val="1"/>
          <c:tx>
            <c:v>Previsão</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Data'!$C$2:$C$6</c:f>
              <c:numCache>
                <c:formatCode>General</c:formatCode>
                <c:ptCount val="5"/>
                <c:pt idx="0">
                  <c:v>0</c:v>
                </c:pt>
                <c:pt idx="1">
                  <c:v>6</c:v>
                </c:pt>
                <c:pt idx="2">
                  <c:v>6</c:v>
                </c:pt>
                <c:pt idx="3">
                  <c:v>6</c:v>
                </c:pt>
                <c:pt idx="4">
                  <c:v>6</c:v>
                </c:pt>
              </c:numCache>
            </c:numRef>
          </c:xVal>
          <c:yVal>
            <c:numRef>
              <c:f>'Chart Data'!$D$2:$D$6</c:f>
              <c:numCache>
                <c:formatCode>0.0</c:formatCode>
                <c:ptCount val="5"/>
                <c:pt idx="0">
                  <c:v>1</c:v>
                </c:pt>
                <c:pt idx="1">
                  <c:v>13</c:v>
                </c:pt>
                <c:pt idx="2">
                  <c:v>13</c:v>
                </c:pt>
                <c:pt idx="3">
                  <c:v>13</c:v>
                </c:pt>
                <c:pt idx="4">
                  <c:v>13</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y</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6"/>
          <c:min val="0"/>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majorUnit val="1"/>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 = y − ŷ</c:v>
          </c:tx>
          <c:spPr>
            <a:solidFill xmlns:a="http://schemas.openxmlformats.org/drawingml/2006/main">
              <a:srgbClr val="83DFFF"/>
            </a:solidFill>
          </c:spPr>
          <c:invertIfNegative val="0"/>
          <c:dPt>
            <c:idx val="2"/>
            <c:invertIfNegative val="0"/>
            <c:spPr>
              <a:solidFill xmlns:a="http://schemas.openxmlformats.org/drawingml/2006/main">
                <a:srgbClr val="FFAD62"/>
              </a:solidFill>
            </c:spPr>
          </c:dPt>
          <c:cat>
            <c:numRef>
              <c:f>'Chart Data'!$A$2:$A$6</c:f>
              <c:numCache>
                <c:formatCode>0</c:formatCode>
                <c:ptCount val="5"/>
                <c:pt idx="0">
                  <c:v>1</c:v>
                </c:pt>
                <c:pt idx="1">
                  <c:v>2</c:v>
                </c:pt>
                <c:pt idx="2">
                  <c:v>3</c:v>
                </c:pt>
                <c:pt idx="3">
                  <c:v>4</c:v>
                </c:pt>
                <c:pt idx="4">
                  <c:v>5</c:v>
                </c:pt>
              </c:numCache>
            </c:numRef>
          </c:cat>
          <c:val>
            <c:numRef>
              <c:f>'Chart Data'!$B$2:$B$6</c:f>
              <c:numCache>
                <c:formatCode>0.0</c:formatCode>
                <c:ptCount val="5"/>
                <c:pt idx="0">
                  <c:v>0</c:v>
                </c:pt>
                <c:pt idx="1">
                  <c:v>1</c:v>
                </c:pt>
                <c:pt idx="2">
                  <c:v>-2</c:v>
                </c:pt>
                <c:pt idx="3">
                  <c:v>1</c:v>
                </c:pt>
                <c:pt idx="4">
                  <c:v>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catAx>
      <c:valAx>
        <c:axId val="48672768"/>
        <c:scaling>
          <c:orientation val="minMax"/>
          <c:max val="3"/>
          <c:min val="-3"/>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Resíduo e</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crossBetween val="between"/>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e²</c:v>
          </c:tx>
          <c:spPr>
            <a:solidFill xmlns:a="http://schemas.openxmlformats.org/drawingml/2006/main">
              <a:srgbClr val="83DFFF"/>
            </a:solidFill>
          </c:spPr>
          <c:dPt>
            <c:idx val="2"/>
            <c:invertIfNegative val="0"/>
            <c:spPr>
              <a:solidFill xmlns:a="http://schemas.openxmlformats.org/drawingml/2006/main">
                <a:srgbClr val="FFAD62"/>
              </a:solidFill>
            </c:spPr>
          </c:dPt>
          <c:cat>
            <c:numRef>
              <c:f>'Chart Data'!$A$2:$A$6</c:f>
              <c:numCache>
                <c:formatCode>0</c:formatCode>
                <c:ptCount val="5"/>
                <c:pt idx="0">
                  <c:v>1</c:v>
                </c:pt>
                <c:pt idx="1">
                  <c:v>2</c:v>
                </c:pt>
                <c:pt idx="2">
                  <c:v>3</c:v>
                </c:pt>
                <c:pt idx="3">
                  <c:v>4</c:v>
                </c:pt>
                <c:pt idx="4">
                  <c:v>5</c:v>
                </c:pt>
              </c:numCache>
            </c:numRef>
          </c:cat>
          <c:val>
            <c:numRef>
              <c:f>'Chart Data'!$B$2:$B$6</c:f>
              <c:numCache>
                <c:formatCode>0.0</c:formatCode>
                <c:ptCount val="5"/>
                <c:pt idx="0">
                  <c:v>0</c:v>
                </c:pt>
                <c:pt idx="1">
                  <c:v>1</c:v>
                </c:pt>
                <c:pt idx="2">
                  <c:v>4</c:v>
                </c:pt>
                <c:pt idx="3">
                  <c:v>1</c:v>
                </c:pt>
                <c:pt idx="4">
                  <c:v>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catAx>
      <c:valAx>
        <c:axId val="48672768"/>
        <c:scaling>
          <c:orientation val="minMax"/>
          <c:max val="5"/>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Erro ao quadrado</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crossBetween val="between"/>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ReLU</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Data'!$A$2:$A$82</c:f>
              <c:numCache>
                <c:formatCode>General</c:formatCode>
                <c:ptCount val="8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pt idx="71">
                  <c:v>3.1</c:v>
                </c:pt>
                <c:pt idx="72">
                  <c:v>3.2</c:v>
                </c:pt>
                <c:pt idx="73">
                  <c:v>3.3</c:v>
                </c:pt>
                <c:pt idx="74">
                  <c:v>3.4</c:v>
                </c:pt>
                <c:pt idx="75">
                  <c:v>3.5</c:v>
                </c:pt>
                <c:pt idx="76">
                  <c:v>3.6</c:v>
                </c:pt>
                <c:pt idx="77">
                  <c:v>3.7</c:v>
                </c:pt>
                <c:pt idx="78">
                  <c:v>3.8</c:v>
                </c:pt>
                <c:pt idx="79">
                  <c:v>3.9</c:v>
                </c:pt>
                <c:pt idx="80">
                  <c:v>4</c:v>
                </c:pt>
              </c:numCache>
            </c:numRef>
          </c:xVal>
          <c:yVal>
            <c:numRef>
              <c:f>'Chart Data'!$B$2:$B$82</c:f>
              <c:numCache>
                <c:formatCode>0.0</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pt idx="71">
                  <c:v>3.1</c:v>
                </c:pt>
                <c:pt idx="72">
                  <c:v>3.2</c:v>
                </c:pt>
                <c:pt idx="73">
                  <c:v>3.3</c:v>
                </c:pt>
                <c:pt idx="74">
                  <c:v>3.4</c:v>
                </c:pt>
                <c:pt idx="75">
                  <c:v>3.5</c:v>
                </c:pt>
                <c:pt idx="76">
                  <c:v>3.6</c:v>
                </c:pt>
                <c:pt idx="77">
                  <c:v>3.7</c:v>
                </c:pt>
                <c:pt idx="78">
                  <c:v>3.8</c:v>
                </c:pt>
                <c:pt idx="79">
                  <c:v>3.9</c:v>
                </c:pt>
                <c:pt idx="80">
                  <c:v>4</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φ(z)</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4"/>
          <c:min val="-4"/>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z</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Sigmoide</c:v>
          </c:tx>
          <c:spPr>
            <a:solidFill xmlns:a="http://schemas.openxmlformats.org/drawingml/2006/main">
              <a:srgbClr val="71E7BD"/>
            </a:solidFill>
            <a:ln xmlns:a="http://schemas.openxmlformats.org/drawingml/2006/main" w="23813">
              <a:solidFill>
                <a:srgbClr val="71E7BD"/>
              </a:solidFill>
              <a:prstDash val="solid"/>
            </a:ln>
          </c:spPr>
          <c:marker>
            <c:symbol val="none"/>
            <c:size val="2"/>
          </c:marker>
          <c:xVal>
            <c:numRef>
              <c:f>'Chart Data'!$A$2:$A$82</c:f>
              <c:numCache>
                <c:formatCode>General</c:formatCode>
                <c:ptCount val="8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pt idx="71">
                  <c:v>3.1</c:v>
                </c:pt>
                <c:pt idx="72">
                  <c:v>3.2</c:v>
                </c:pt>
                <c:pt idx="73">
                  <c:v>3.3</c:v>
                </c:pt>
                <c:pt idx="74">
                  <c:v>3.4</c:v>
                </c:pt>
                <c:pt idx="75">
                  <c:v>3.5</c:v>
                </c:pt>
                <c:pt idx="76">
                  <c:v>3.6</c:v>
                </c:pt>
                <c:pt idx="77">
                  <c:v>3.7</c:v>
                </c:pt>
                <c:pt idx="78">
                  <c:v>3.8</c:v>
                </c:pt>
                <c:pt idx="79">
                  <c:v>3.9</c:v>
                </c:pt>
                <c:pt idx="80">
                  <c:v>4</c:v>
                </c:pt>
              </c:numCache>
            </c:numRef>
          </c:xVal>
          <c:yVal>
            <c:numRef>
              <c:f>'Chart Data'!$B$2:$B$82</c:f>
              <c:numCache>
                <c:formatCode>0.0</c:formatCode>
                <c:ptCount val="81"/>
                <c:pt idx="0">
                  <c:v>0.0179862099621</c:v>
                </c:pt>
                <c:pt idx="1">
                  <c:v>0.0198403057341</c:v>
                </c:pt>
                <c:pt idx="2">
                  <c:v>0.0218812709361</c:v>
                </c:pt>
                <c:pt idx="3">
                  <c:v>0.0241270214177</c:v>
                </c:pt>
                <c:pt idx="4">
                  <c:v>0.0265969935769</c:v>
                </c:pt>
                <c:pt idx="5">
                  <c:v>0.0293122307514</c:v>
                </c:pt>
                <c:pt idx="6">
                  <c:v>0.0322954646985</c:v>
                </c:pt>
                <c:pt idx="7">
                  <c:v>0.0355711892726</c:v>
                </c:pt>
                <c:pt idx="8">
                  <c:v>0.0391657227968</c:v>
                </c:pt>
                <c:pt idx="9">
                  <c:v>0.0431072549411</c:v>
                </c:pt>
                <c:pt idx="10">
                  <c:v>0.0474258731776</c:v>
                </c:pt>
                <c:pt idx="11">
                  <c:v>0.0521535630784</c:v>
                </c:pt>
                <c:pt idx="12">
                  <c:v>0.0573241758989</c:v>
                </c:pt>
                <c:pt idx="13">
                  <c:v>0.062973356057</c:v>
                </c:pt>
                <c:pt idx="14">
                  <c:v>0.0691384203433</c:v>
                </c:pt>
                <c:pt idx="15">
                  <c:v>0.0758581800212</c:v>
                </c:pt>
                <c:pt idx="16">
                  <c:v>0.0831726964939</c:v>
                </c:pt>
                <c:pt idx="17">
                  <c:v>0.0911229610149</c:v>
                </c:pt>
                <c:pt idx="18">
                  <c:v>0.0997504891197</c:v>
                </c:pt>
                <c:pt idx="19">
                  <c:v>0.109096821196</c:v>
                </c:pt>
                <c:pt idx="20">
                  <c:v>0.119202922022</c:v>
                </c:pt>
                <c:pt idx="21">
                  <c:v>0.130108474363</c:v>
                </c:pt>
                <c:pt idx="22">
                  <c:v>0.1418510649</c:v>
                </c:pt>
                <c:pt idx="23">
                  <c:v>0.154465265084</c:v>
                </c:pt>
                <c:pt idx="24">
                  <c:v>0.167981614866</c:v>
                </c:pt>
                <c:pt idx="25">
                  <c:v>0.182425523806</c:v>
                </c:pt>
                <c:pt idx="26">
                  <c:v>0.197816111441</c:v>
                </c:pt>
                <c:pt idx="27">
                  <c:v>0.214165016957</c:v>
                </c:pt>
                <c:pt idx="28">
                  <c:v>0.231475216501</c:v>
                </c:pt>
                <c:pt idx="29">
                  <c:v>0.249739894405</c:v>
                </c:pt>
                <c:pt idx="30">
                  <c:v>0.26894142137</c:v>
                </c:pt>
                <c:pt idx="31">
                  <c:v>0.289050497375</c:v>
                </c:pt>
                <c:pt idx="32">
                  <c:v>0.310025518872</c:v>
                </c:pt>
                <c:pt idx="33">
                  <c:v>0.331812227832</c:v>
                </c:pt>
                <c:pt idx="34">
                  <c:v>0.354343693774</c:v>
                </c:pt>
                <c:pt idx="35">
                  <c:v>0.377540668798</c:v>
                </c:pt>
                <c:pt idx="36">
                  <c:v>0.401312339888</c:v>
                </c:pt>
                <c:pt idx="37">
                  <c:v>0.425557483188</c:v>
                </c:pt>
                <c:pt idx="38">
                  <c:v>0.450166002688</c:v>
                </c:pt>
                <c:pt idx="39">
                  <c:v>0.475020812521</c:v>
                </c:pt>
                <c:pt idx="40">
                  <c:v>0.5</c:v>
                </c:pt>
                <c:pt idx="41">
                  <c:v>0.524979187479</c:v>
                </c:pt>
                <c:pt idx="42">
                  <c:v>0.549833997312</c:v>
                </c:pt>
                <c:pt idx="43">
                  <c:v>0.574442516812</c:v>
                </c:pt>
                <c:pt idx="44">
                  <c:v>0.598687660112</c:v>
                </c:pt>
                <c:pt idx="45">
                  <c:v>0.622459331202</c:v>
                </c:pt>
                <c:pt idx="46">
                  <c:v>0.645656306226</c:v>
                </c:pt>
                <c:pt idx="47">
                  <c:v>0.668187772168</c:v>
                </c:pt>
                <c:pt idx="48">
                  <c:v>0.689974481128</c:v>
                </c:pt>
                <c:pt idx="49">
                  <c:v>0.710949502625</c:v>
                </c:pt>
                <c:pt idx="50">
                  <c:v>0.73105857863</c:v>
                </c:pt>
                <c:pt idx="51">
                  <c:v>0.750260105595</c:v>
                </c:pt>
                <c:pt idx="52">
                  <c:v>0.768524783499</c:v>
                </c:pt>
                <c:pt idx="53">
                  <c:v>0.785834983043</c:v>
                </c:pt>
                <c:pt idx="54">
                  <c:v>0.802183888559</c:v>
                </c:pt>
                <c:pt idx="55">
                  <c:v>0.817574476194</c:v>
                </c:pt>
                <c:pt idx="56">
                  <c:v>0.832018385134</c:v>
                </c:pt>
                <c:pt idx="57">
                  <c:v>0.845534734916</c:v>
                </c:pt>
                <c:pt idx="58">
                  <c:v>0.8581489351</c:v>
                </c:pt>
                <c:pt idx="59">
                  <c:v>0.869891525637</c:v>
                </c:pt>
                <c:pt idx="60">
                  <c:v>0.880797077978</c:v>
                </c:pt>
                <c:pt idx="61">
                  <c:v>0.890903178804</c:v>
                </c:pt>
                <c:pt idx="62">
                  <c:v>0.90024951088</c:v>
                </c:pt>
                <c:pt idx="63">
                  <c:v>0.908877038985</c:v>
                </c:pt>
                <c:pt idx="64">
                  <c:v>0.916827303506</c:v>
                </c:pt>
                <c:pt idx="65">
                  <c:v>0.924141819979</c:v>
                </c:pt>
                <c:pt idx="66">
                  <c:v>0.930861579657</c:v>
                </c:pt>
                <c:pt idx="67">
                  <c:v>0.937026643943</c:v>
                </c:pt>
                <c:pt idx="68">
                  <c:v>0.942675824101</c:v>
                </c:pt>
                <c:pt idx="69">
                  <c:v>0.947846436922</c:v>
                </c:pt>
                <c:pt idx="70">
                  <c:v>0.952574126822</c:v>
                </c:pt>
                <c:pt idx="71">
                  <c:v>0.956892745059</c:v>
                </c:pt>
                <c:pt idx="72">
                  <c:v>0.960834277203</c:v>
                </c:pt>
                <c:pt idx="73">
                  <c:v>0.964428810727</c:v>
                </c:pt>
                <c:pt idx="74">
                  <c:v>0.967704535302</c:v>
                </c:pt>
                <c:pt idx="75">
                  <c:v>0.970687769249</c:v>
                </c:pt>
                <c:pt idx="76">
                  <c:v>0.973403006423</c:v>
                </c:pt>
                <c:pt idx="77">
                  <c:v>0.975872978582</c:v>
                </c:pt>
                <c:pt idx="78">
                  <c:v>0.978118729064</c:v>
                </c:pt>
                <c:pt idx="79">
                  <c:v>0.980159694266</c:v>
                </c:pt>
                <c:pt idx="80">
                  <c:v>0.982013790038</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φ(z)</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4"/>
          <c:min val="-4"/>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z</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tanh</c:v>
          </c:tx>
          <c:spPr>
            <a:solidFill xmlns:a="http://schemas.openxmlformats.org/drawingml/2006/main">
              <a:srgbClr val="FFAD62"/>
            </a:solidFill>
            <a:ln xmlns:a="http://schemas.openxmlformats.org/drawingml/2006/main" w="23813">
              <a:solidFill>
                <a:srgbClr val="FFAD62"/>
              </a:solidFill>
              <a:prstDash val="solid"/>
            </a:ln>
          </c:spPr>
          <c:marker>
            <c:symbol val="none"/>
            <c:size val="2"/>
          </c:marker>
          <c:xVal>
            <c:numRef>
              <c:f>'Chart Data'!$A$2:$A$82</c:f>
              <c:numCache>
                <c:formatCode>General</c:formatCode>
                <c:ptCount val="8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pt idx="71">
                  <c:v>3.1</c:v>
                </c:pt>
                <c:pt idx="72">
                  <c:v>3.2</c:v>
                </c:pt>
                <c:pt idx="73">
                  <c:v>3.3</c:v>
                </c:pt>
                <c:pt idx="74">
                  <c:v>3.4</c:v>
                </c:pt>
                <c:pt idx="75">
                  <c:v>3.5</c:v>
                </c:pt>
                <c:pt idx="76">
                  <c:v>3.6</c:v>
                </c:pt>
                <c:pt idx="77">
                  <c:v>3.7</c:v>
                </c:pt>
                <c:pt idx="78">
                  <c:v>3.8</c:v>
                </c:pt>
                <c:pt idx="79">
                  <c:v>3.9</c:v>
                </c:pt>
                <c:pt idx="80">
                  <c:v>4</c:v>
                </c:pt>
              </c:numCache>
            </c:numRef>
          </c:xVal>
          <c:yVal>
            <c:numRef>
              <c:f>'Chart Data'!$B$2:$B$82</c:f>
              <c:numCache>
                <c:formatCode>0.0</c:formatCode>
                <c:ptCount val="81"/>
                <c:pt idx="0">
                  <c:v>-0.999329299739</c:v>
                </c:pt>
                <c:pt idx="1">
                  <c:v>-0.99918086567</c:v>
                </c:pt>
                <c:pt idx="2">
                  <c:v>-0.998999597786</c:v>
                </c:pt>
                <c:pt idx="3">
                  <c:v>-0.998778241281</c:v>
                </c:pt>
                <c:pt idx="4">
                  <c:v>-0.998507942332</c:v>
                </c:pt>
                <c:pt idx="5">
                  <c:v>-0.998177897611</c:v>
                </c:pt>
                <c:pt idx="6">
                  <c:v>-0.997774927934</c:v>
                </c:pt>
                <c:pt idx="7">
                  <c:v>-0.997282960099</c:v>
                </c:pt>
                <c:pt idx="8">
                  <c:v>-0.99668239784</c:v>
                </c:pt>
                <c:pt idx="9">
                  <c:v>-0.995949359222</c:v>
                </c:pt>
                <c:pt idx="10">
                  <c:v>-0.995054753687</c:v>
                </c:pt>
                <c:pt idx="11">
                  <c:v>-0.993963167351</c:v>
                </c:pt>
                <c:pt idx="12">
                  <c:v>-0.992631520201</c:v>
                </c:pt>
                <c:pt idx="13">
                  <c:v>-0.991007453678</c:v>
                </c:pt>
                <c:pt idx="14">
                  <c:v>-0.989027402201</c:v>
                </c:pt>
                <c:pt idx="15">
                  <c:v>-0.986614298151</c:v>
                </c:pt>
                <c:pt idx="16">
                  <c:v>-0.983674857694</c:v>
                </c:pt>
                <c:pt idx="17">
                  <c:v>-0.980096396266</c:v>
                </c:pt>
                <c:pt idx="18">
                  <c:v>-0.975743130031</c:v>
                </c:pt>
                <c:pt idx="19">
                  <c:v>-0.970451936613</c:v>
                </c:pt>
                <c:pt idx="20">
                  <c:v>-0.964027580076</c:v>
                </c:pt>
                <c:pt idx="21">
                  <c:v>-0.956237458128</c:v>
                </c:pt>
                <c:pt idx="22">
                  <c:v>-0.946806012846</c:v>
                </c:pt>
                <c:pt idx="23">
                  <c:v>-0.935409070603</c:v>
                </c:pt>
                <c:pt idx="24">
                  <c:v>-0.921668554406</c:v>
                </c:pt>
                <c:pt idx="25">
                  <c:v>-0.905148253645</c:v>
                </c:pt>
                <c:pt idx="26">
                  <c:v>-0.885351648202</c:v>
                </c:pt>
                <c:pt idx="27">
                  <c:v>-0.861723159313</c:v>
                </c:pt>
                <c:pt idx="28">
                  <c:v>-0.833654607012</c:v>
                </c:pt>
                <c:pt idx="29">
                  <c:v>-0.800499021761</c:v>
                </c:pt>
                <c:pt idx="30">
                  <c:v>-0.761594155956</c:v>
                </c:pt>
                <c:pt idx="31">
                  <c:v>-0.716297870199</c:v>
                </c:pt>
                <c:pt idx="32">
                  <c:v>-0.664036770268</c:v>
                </c:pt>
                <c:pt idx="33">
                  <c:v>-0.604367777117</c:v>
                </c:pt>
                <c:pt idx="34">
                  <c:v>-0.537049566998</c:v>
                </c:pt>
                <c:pt idx="35">
                  <c:v>-0.46211715726</c:v>
                </c:pt>
                <c:pt idx="36">
                  <c:v>-0.379948962255</c:v>
                </c:pt>
                <c:pt idx="37">
                  <c:v>-0.291312612452</c:v>
                </c:pt>
                <c:pt idx="38">
                  <c:v>-0.197375320225</c:v>
                </c:pt>
                <c:pt idx="39">
                  <c:v>-0.099667994625</c:v>
                </c:pt>
                <c:pt idx="40">
                  <c:v>0</c:v>
                </c:pt>
                <c:pt idx="41">
                  <c:v>0.099667994625</c:v>
                </c:pt>
                <c:pt idx="42">
                  <c:v>0.197375320225</c:v>
                </c:pt>
                <c:pt idx="43">
                  <c:v>0.291312612452</c:v>
                </c:pt>
                <c:pt idx="44">
                  <c:v>0.379948962255</c:v>
                </c:pt>
                <c:pt idx="45">
                  <c:v>0.46211715726</c:v>
                </c:pt>
                <c:pt idx="46">
                  <c:v>0.537049566998</c:v>
                </c:pt>
                <c:pt idx="47">
                  <c:v>0.604367777117</c:v>
                </c:pt>
                <c:pt idx="48">
                  <c:v>0.664036770268</c:v>
                </c:pt>
                <c:pt idx="49">
                  <c:v>0.716297870199</c:v>
                </c:pt>
                <c:pt idx="50">
                  <c:v>0.761594155956</c:v>
                </c:pt>
                <c:pt idx="51">
                  <c:v>0.800499021761</c:v>
                </c:pt>
                <c:pt idx="52">
                  <c:v>0.833654607012</c:v>
                </c:pt>
                <c:pt idx="53">
                  <c:v>0.861723159313</c:v>
                </c:pt>
                <c:pt idx="54">
                  <c:v>0.885351648202</c:v>
                </c:pt>
                <c:pt idx="55">
                  <c:v>0.905148253645</c:v>
                </c:pt>
                <c:pt idx="56">
                  <c:v>0.921668554406</c:v>
                </c:pt>
                <c:pt idx="57">
                  <c:v>0.935409070603</c:v>
                </c:pt>
                <c:pt idx="58">
                  <c:v>0.946806012846</c:v>
                </c:pt>
                <c:pt idx="59">
                  <c:v>0.956237458128</c:v>
                </c:pt>
                <c:pt idx="60">
                  <c:v>0.964027580076</c:v>
                </c:pt>
                <c:pt idx="61">
                  <c:v>0.970451936613</c:v>
                </c:pt>
                <c:pt idx="62">
                  <c:v>0.975743130031</c:v>
                </c:pt>
                <c:pt idx="63">
                  <c:v>0.980096396266</c:v>
                </c:pt>
                <c:pt idx="64">
                  <c:v>0.983674857694</c:v>
                </c:pt>
                <c:pt idx="65">
                  <c:v>0.986614298151</c:v>
                </c:pt>
                <c:pt idx="66">
                  <c:v>0.989027402201</c:v>
                </c:pt>
                <c:pt idx="67">
                  <c:v>0.991007453678</c:v>
                </c:pt>
                <c:pt idx="68">
                  <c:v>0.992631520201</c:v>
                </c:pt>
                <c:pt idx="69">
                  <c:v>0.993963167351</c:v>
                </c:pt>
                <c:pt idx="70">
                  <c:v>0.995054753687</c:v>
                </c:pt>
                <c:pt idx="71">
                  <c:v>0.995949359222</c:v>
                </c:pt>
                <c:pt idx="72">
                  <c:v>0.99668239784</c:v>
                </c:pt>
                <c:pt idx="73">
                  <c:v>0.997282960099</c:v>
                </c:pt>
                <c:pt idx="74">
                  <c:v>0.997774927934</c:v>
                </c:pt>
                <c:pt idx="75">
                  <c:v>0.998177897611</c:v>
                </c:pt>
                <c:pt idx="76">
                  <c:v>0.998507942332</c:v>
                </c:pt>
                <c:pt idx="77">
                  <c:v>0.998778241281</c:v>
                </c:pt>
                <c:pt idx="78">
                  <c:v>0.998999597786</c:v>
                </c:pt>
                <c:pt idx="79">
                  <c:v>0.99918086567</c:v>
                </c:pt>
                <c:pt idx="80">
                  <c:v>0.999329299739</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1"/>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φ(z)</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4"/>
          <c:min val="-4"/>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z</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Marker"/>
        <c:ser>
          <c:idx val="0"/>
          <c:order val="0"/>
          <c:tx>
            <c:v>Classe 0</c:v>
          </c:tx>
          <c:spPr>
            <a:solidFill xmlns:a="http://schemas.openxmlformats.org/drawingml/2006/main">
              <a:srgbClr val="91A4BD"/>
            </a:solidFill>
            <a:ln xmlns:a="http://schemas.openxmlformats.org/drawingml/2006/main" w="0">
              <a:noFill/>
            </a:ln>
          </c:spPr>
          <c:marker>
            <c:symbol val="circle"/>
            <c:size val="11"/>
            <c:spPr>
              <a:solidFill xmlns:a="http://schemas.openxmlformats.org/drawingml/2006/main">
                <a:srgbClr val="91A4BD"/>
              </a:solidFill>
              <ns0:ln xmlns:ns0="http://schemas.openxmlformats.org/drawingml/2006/main" w="0">
                <ns0:noFill/>
              </ns0:ln>
            </c:spPr>
          </c:marker>
          <c:xVal>
            <c:numRef>
              <c:f>'Chart Data'!$A$2:$A$4</c:f>
              <c:numCache>
                <c:formatCode>General</c:formatCode>
                <c:ptCount val="3"/>
                <c:pt idx="0">
                  <c:v>0</c:v>
                </c:pt>
                <c:pt idx="1">
                  <c:v>0</c:v>
                </c:pt>
                <c:pt idx="2">
                  <c:v>1</c:v>
                </c:pt>
              </c:numCache>
            </c:numRef>
          </c:xVal>
          <c:yVal>
            <c:numRef>
              <c:f>'Chart Data'!$B$2:$B$4</c:f>
              <c:numCache>
                <c:formatCode>0.0</c:formatCode>
                <c:ptCount val="3"/>
                <c:pt idx="0">
                  <c:v>0</c:v>
                </c:pt>
                <c:pt idx="1">
                  <c:v>1</c:v>
                </c:pt>
                <c:pt idx="2">
                  <c:v>0</c:v>
                </c:pt>
              </c:numCache>
            </c:numRef>
          </c:yVal>
          <c:smooth val="0"/>
        </c:ser>
        <c:ser>
          <c:idx val="1"/>
          <c:order val="1"/>
          <c:tx>
            <c:v>Classe 1</c:v>
          </c:tx>
          <c:spPr>
            <a:solidFill xmlns:a="http://schemas.openxmlformats.org/drawingml/2006/main">
              <a:srgbClr val="83DFFF"/>
            </a:solidFill>
            <a:ln xmlns:a="http://schemas.openxmlformats.org/drawingml/2006/main" w="0">
              <a:noFill/>
            </a:ln>
          </c:spPr>
          <c:marker>
            <c:symbol val="circle"/>
            <c:size val="11"/>
            <c:spPr>
              <a:solidFill xmlns:a="http://schemas.openxmlformats.org/drawingml/2006/main">
                <a:srgbClr val="83DFFF"/>
              </a:solidFill>
              <ns1:ln xmlns:ns1="http://schemas.openxmlformats.org/drawingml/2006/main" w="0">
                <ns1:noFill/>
              </ns1:ln>
            </c:spPr>
          </c:marker>
          <c:xVal>
            <c:numRef>
              <c:f>'Chart Data'!$C$2:$C$4</c:f>
              <c:numCache>
                <c:formatCode>General</c:formatCode>
                <c:ptCount val="3"/>
                <c:pt idx="0">
                  <c:v>1</c:v>
                </c:pt>
                <c:pt idx="1">
                  <c:v>1</c:v>
                </c:pt>
                <c:pt idx="2">
                  <c:v>1</c:v>
                </c:pt>
              </c:numCache>
            </c:numRef>
          </c:xVal>
          <c:yVal>
            <c:numRef>
              <c:f>'Chart Data'!$D$2:$D$4</c:f>
              <c:numCache>
                <c:formatCode>0.0</c:formatCode>
                <c:ptCount val="3"/>
                <c:pt idx="0">
                  <c:v>1</c:v>
                </c:pt>
                <c:pt idx="1">
                  <c:v>1</c:v>
                </c:pt>
                <c:pt idx="2">
                  <c:v>1</c:v>
                </c:pt>
              </c:numCache>
            </c:numRef>
          </c:yVal>
          <c:smooth val="0"/>
        </c:ser>
        <c:ser>
          <c:idx val="2"/>
          <c:order val="2"/>
          <c:tx>
            <c:v>Fronteira</c:v>
          </c:tx>
          <c:spPr>
            <a:solidFill xmlns:a="http://schemas.openxmlformats.org/drawingml/2006/main">
              <a:srgbClr val="FFAD62"/>
            </a:solidFill>
            <a:ln xmlns:a="http://schemas.openxmlformats.org/drawingml/2006/main" w="23813">
              <a:solidFill>
                <a:srgbClr val="FFAD62"/>
              </a:solidFill>
              <a:prstDash val="dash"/>
            </a:ln>
          </c:spPr>
          <c:marker>
            <c:symbol val="none"/>
            <c:size val="2"/>
          </c:marker>
          <c:xVal>
            <c:numRef>
              <c:f>'Chart Data'!$E$2:$E$4</c:f>
              <c:numCache>
                <c:formatCode>General</c:formatCode>
                <c:ptCount val="3"/>
                <c:pt idx="0">
                  <c:v>0.3</c:v>
                </c:pt>
                <c:pt idx="1">
                  <c:v>1.2</c:v>
                </c:pt>
                <c:pt idx="2">
                  <c:v>1.2</c:v>
                </c:pt>
              </c:numCache>
            </c:numRef>
          </c:xVal>
          <c:yVal>
            <c:numRef>
              <c:f>'Chart Data'!$F$2:$F$4</c:f>
              <c:numCache>
                <c:formatCode>0.0</c:formatCode>
                <c:ptCount val="3"/>
                <c:pt idx="0">
                  <c:v>1.2</c:v>
                </c:pt>
                <c:pt idx="1">
                  <c:v>0.3</c:v>
                </c:pt>
                <c:pt idx="2">
                  <c:v>0.3</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2"/>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x₂</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majorUnit val="0.2"/>
      </c:valAx>
      <c:valAx>
        <c:axId val="48650112"/>
        <c:scaling>
          <c:orientation val="minMax"/>
          <c:max val="1.2"/>
          <c:min val="-0.2"/>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x₁</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majorUnit val="0.2"/>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marker"/>
        <c:ser>
          <c:idx val="0"/>
          <c:order val="0"/>
          <c:tx>
            <c:v>Classe 0</c:v>
          </c:tx>
          <c:spPr>
            <a:solidFill xmlns:a="http://schemas.openxmlformats.org/drawingml/2006/main">
              <a:srgbClr val="91A4BD"/>
            </a:solidFill>
            <a:ln xmlns:a="http://schemas.openxmlformats.org/drawingml/2006/main" w="0">
              <a:noFill/>
            </a:ln>
          </c:spPr>
          <c:marker>
            <c:symbol val="circle"/>
            <c:size val="12"/>
            <c:spPr>
              <a:solidFill xmlns:a="http://schemas.openxmlformats.org/drawingml/2006/main">
                <a:srgbClr val="91A4BD"/>
              </a:solidFill>
              <ns0:ln xmlns:ns0="http://schemas.openxmlformats.org/drawingml/2006/main" w="0">
                <ns0:noFill/>
              </ns0:ln>
            </c:spPr>
          </c:marker>
          <c:xVal>
            <c:numRef>
              <c:f>'Chart Data'!$A$2:$A$3</c:f>
              <c:numCache>
                <c:formatCode>General</c:formatCode>
                <c:ptCount val="2"/>
                <c:pt idx="0">
                  <c:v>0</c:v>
                </c:pt>
                <c:pt idx="1">
                  <c:v>1</c:v>
                </c:pt>
              </c:numCache>
            </c:numRef>
          </c:xVal>
          <c:yVal>
            <c:numRef>
              <c:f>'Chart Data'!$B$2:$B$3</c:f>
              <c:numCache>
                <c:formatCode>0.0</c:formatCode>
                <c:ptCount val="2"/>
                <c:pt idx="0">
                  <c:v>0</c:v>
                </c:pt>
                <c:pt idx="1">
                  <c:v>1</c:v>
                </c:pt>
              </c:numCache>
            </c:numRef>
          </c:yVal>
          <c:smooth val="0"/>
        </c:ser>
        <c:ser>
          <c:idx val="1"/>
          <c:order val="1"/>
          <c:tx>
            <c:v>Classe 1</c:v>
          </c:tx>
          <c:spPr>
            <a:solidFill xmlns:a="http://schemas.openxmlformats.org/drawingml/2006/main">
              <a:srgbClr val="83DFFF"/>
            </a:solidFill>
            <a:ln xmlns:a="http://schemas.openxmlformats.org/drawingml/2006/main" w="0">
              <a:noFill/>
            </a:ln>
          </c:spPr>
          <c:marker>
            <c:symbol val="circle"/>
            <c:size val="12"/>
            <c:spPr>
              <a:solidFill xmlns:a="http://schemas.openxmlformats.org/drawingml/2006/main">
                <a:srgbClr val="83DFFF"/>
              </a:solidFill>
              <ns1:ln xmlns:ns1="http://schemas.openxmlformats.org/drawingml/2006/main" w="0">
                <ns1:noFill/>
              </ns1:ln>
            </c:spPr>
          </c:marker>
          <c:xVal>
            <c:numRef>
              <c:f>'Chart Data'!$C$2:$C$3</c:f>
              <c:numCache>
                <c:formatCode>General</c:formatCode>
                <c:ptCount val="2"/>
                <c:pt idx="0">
                  <c:v>0</c:v>
                </c:pt>
                <c:pt idx="1">
                  <c:v>1</c:v>
                </c:pt>
              </c:numCache>
            </c:numRef>
          </c:xVal>
          <c:yVal>
            <c:numRef>
              <c:f>'Chart Data'!$D$2:$D$3</c:f>
              <c:numCache>
                <c:formatCode>0.0</c:formatCode>
                <c:ptCount val="2"/>
                <c:pt idx="0">
                  <c:v>1</c:v>
                </c:pt>
                <c:pt idx="1">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2"/>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x₂</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majorUnit val="0.2"/>
      </c:valAx>
      <c:valAx>
        <c:axId val="48650112"/>
        <c:scaling>
          <c:orientation val="minMax"/>
          <c:max val="1.2"/>
          <c:min val="-0.2"/>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x₁</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majorUnit val="0.2"/>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Perda L</c:v>
          </c:tx>
          <c:spPr>
            <a:solidFill xmlns:a="http://schemas.openxmlformats.org/drawingml/2006/main">
              <a:srgbClr val="83DFFF"/>
            </a:solidFill>
          </c:spPr>
          <c:dPt>
            <c:idx val="1"/>
            <c:invertIfNegative val="0"/>
            <c:spPr>
              <a:solidFill xmlns:a="http://schemas.openxmlformats.org/drawingml/2006/main">
                <a:srgbClr val="71E7BD"/>
              </a:solidFill>
            </c:spPr>
          </c:dPt>
          <c:cat>
            <c:strRef>
              <c:f>'Chart Data'!$A$2:$A$3</c:f>
              <c:strCache>
                <c:ptCount val="2"/>
                <c:pt idx="0">
                  <c:v>Antes</c:v>
                </c:pt>
                <c:pt idx="1">
                  <c:v>Depois</c:v>
                </c:pt>
              </c:strCache>
            </c:strRef>
          </c:cat>
          <c:val>
            <c:numRef>
              <c:f>'Chart Data'!$B$2:$B$3</c:f>
              <c:numCache>
                <c:formatCode>0.0</c:formatCode>
                <c:ptCount val="2"/>
                <c:pt idx="0">
                  <c:v>1</c:v>
                </c:pt>
                <c:pt idx="1">
                  <c:v>0.318096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catAx>
      <c:valAx>
        <c:axId val="48672768"/>
        <c:scaling>
          <c:orientation val="minMax"/>
          <c:max val="1.2"/>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Perda L</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crossBetween val="between"/>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Marker"/>
        <c:ser>
          <c:idx val="0"/>
          <c:order val="0"/>
          <c:tx>
            <c:v>η = 0,05</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Data'!$A$2:$A$10</c:f>
              <c:numCache>
                <c:formatCode>General</c:formatCode>
                <c:ptCount val="9"/>
                <c:pt idx="0">
                  <c:v>0</c:v>
                </c:pt>
                <c:pt idx="1">
                  <c:v>1</c:v>
                </c:pt>
                <c:pt idx="2">
                  <c:v>2</c:v>
                </c:pt>
                <c:pt idx="3">
                  <c:v>3</c:v>
                </c:pt>
                <c:pt idx="4">
                  <c:v>4</c:v>
                </c:pt>
                <c:pt idx="5">
                  <c:v>5</c:v>
                </c:pt>
                <c:pt idx="6">
                  <c:v>6</c:v>
                </c:pt>
                <c:pt idx="7">
                  <c:v>7</c:v>
                </c:pt>
                <c:pt idx="8">
                  <c:v>8</c:v>
                </c:pt>
              </c:numCache>
            </c:numRef>
          </c:xVal>
          <c:yVal>
            <c:numRef>
              <c:f>'Chart Data'!$B$2:$B$10</c:f>
              <c:numCache>
                <c:formatCode>0.0</c:formatCode>
                <c:ptCount val="9"/>
                <c:pt idx="0">
                  <c:v>1</c:v>
                </c:pt>
                <c:pt idx="1">
                  <c:v>0.81</c:v>
                </c:pt>
                <c:pt idx="2">
                  <c:v>0.6561</c:v>
                </c:pt>
                <c:pt idx="3">
                  <c:v>0.531441</c:v>
                </c:pt>
                <c:pt idx="4">
                  <c:v>0.43046721</c:v>
                </c:pt>
                <c:pt idx="5">
                  <c:v>0.3486784401</c:v>
                </c:pt>
                <c:pt idx="6">
                  <c:v>0.282429536481</c:v>
                </c:pt>
                <c:pt idx="7">
                  <c:v>0.22876792455</c:v>
                </c:pt>
                <c:pt idx="8">
                  <c:v>0.185302018885</c:v>
                </c:pt>
              </c:numCache>
            </c:numRef>
          </c:yVal>
          <c:smooth val="0"/>
        </c:ser>
        <c:ser>
          <c:idx val="1"/>
          <c:order val="1"/>
          <c:tx>
            <c:v>η = 0,40</c:v>
          </c:tx>
          <c:spPr>
            <a:solidFill xmlns:a="http://schemas.openxmlformats.org/drawingml/2006/main">
              <a:srgbClr val="71E7BD"/>
            </a:solidFill>
            <a:ln xmlns:a="http://schemas.openxmlformats.org/drawingml/2006/main" w="23813">
              <a:solidFill>
                <a:srgbClr val="71E7BD"/>
              </a:solidFill>
              <a:prstDash val="solid"/>
            </a:ln>
          </c:spPr>
          <c:marker>
            <c:symbol val="none"/>
            <c:size val="2"/>
          </c:marker>
          <c:xVal>
            <c:numRef>
              <c:f>'Chart Data'!$C$2:$C$10</c:f>
              <c:numCache>
                <c:formatCode>General</c:formatCode>
                <c:ptCount val="9"/>
                <c:pt idx="0">
                  <c:v>0</c:v>
                </c:pt>
                <c:pt idx="1">
                  <c:v>1</c:v>
                </c:pt>
                <c:pt idx="2">
                  <c:v>2</c:v>
                </c:pt>
                <c:pt idx="3">
                  <c:v>3</c:v>
                </c:pt>
                <c:pt idx="4">
                  <c:v>4</c:v>
                </c:pt>
                <c:pt idx="5">
                  <c:v>5</c:v>
                </c:pt>
                <c:pt idx="6">
                  <c:v>6</c:v>
                </c:pt>
                <c:pt idx="7">
                  <c:v>7</c:v>
                </c:pt>
                <c:pt idx="8">
                  <c:v>8</c:v>
                </c:pt>
              </c:numCache>
            </c:numRef>
          </c:xVal>
          <c:yVal>
            <c:numRef>
              <c:f>'Chart Data'!$D$2:$D$10</c:f>
              <c:numCache>
                <c:formatCode>0.0</c:formatCode>
                <c:ptCount val="9"/>
                <c:pt idx="0">
                  <c:v>1</c:v>
                </c:pt>
                <c:pt idx="1">
                  <c:v>0.04</c:v>
                </c:pt>
                <c:pt idx="2">
                  <c:v>0.0016</c:v>
                </c:pt>
                <c:pt idx="3">
                  <c:v>6.4E-05</c:v>
                </c:pt>
                <c:pt idx="4">
                  <c:v>2.56E-06</c:v>
                </c:pt>
                <c:pt idx="5">
                  <c:v>1.024E-07</c:v>
                </c:pt>
                <c:pt idx="6">
                  <c:v>4.096E-09</c:v>
                </c:pt>
                <c:pt idx="7">
                  <c:v>1.6384E-10</c:v>
                </c:pt>
                <c:pt idx="8">
                  <c:v>6.5536E-12</c:v>
                </c:pt>
              </c:numCache>
            </c:numRef>
          </c:yVal>
          <c:smooth val="0"/>
        </c:ser>
        <c:ser>
          <c:idx val="2"/>
          <c:order val="2"/>
          <c:tx>
            <c:v>η = 1,05</c:v>
          </c:tx>
          <c:spPr>
            <a:solidFill xmlns:a="http://schemas.openxmlformats.org/drawingml/2006/main">
              <a:srgbClr val="FFAD62"/>
            </a:solidFill>
            <a:ln xmlns:a="http://schemas.openxmlformats.org/drawingml/2006/main" w="23813">
              <a:solidFill>
                <a:srgbClr val="FFAD62"/>
              </a:solidFill>
              <a:prstDash val="solid"/>
            </a:ln>
          </c:spPr>
          <c:marker>
            <c:symbol val="none"/>
            <c:size val="2"/>
          </c:marker>
          <c:xVal>
            <c:numRef>
              <c:f>'Chart Data'!$E$2:$E$10</c:f>
              <c:numCache>
                <c:formatCode>General</c:formatCode>
                <c:ptCount val="9"/>
                <c:pt idx="0">
                  <c:v>0</c:v>
                </c:pt>
                <c:pt idx="1">
                  <c:v>1</c:v>
                </c:pt>
                <c:pt idx="2">
                  <c:v>2</c:v>
                </c:pt>
                <c:pt idx="3">
                  <c:v>3</c:v>
                </c:pt>
                <c:pt idx="4">
                  <c:v>4</c:v>
                </c:pt>
                <c:pt idx="5">
                  <c:v>5</c:v>
                </c:pt>
                <c:pt idx="6">
                  <c:v>6</c:v>
                </c:pt>
                <c:pt idx="7">
                  <c:v>7</c:v>
                </c:pt>
                <c:pt idx="8">
                  <c:v>8</c:v>
                </c:pt>
              </c:numCache>
            </c:numRef>
          </c:xVal>
          <c:yVal>
            <c:numRef>
              <c:f>'Chart Data'!$F$2:$F$10</c:f>
              <c:numCache>
                <c:formatCode>0.0</c:formatCode>
                <c:ptCount val="9"/>
                <c:pt idx="0">
                  <c:v>1</c:v>
                </c:pt>
                <c:pt idx="1">
                  <c:v>1.21</c:v>
                </c:pt>
                <c:pt idx="2">
                  <c:v>1.4641</c:v>
                </c:pt>
                <c:pt idx="3">
                  <c:v>1.771561</c:v>
                </c:pt>
                <c:pt idx="4">
                  <c:v>2.14358881</c:v>
                </c:pt>
                <c:pt idx="5">
                  <c:v>2.5937424601</c:v>
                </c:pt>
                <c:pt idx="6">
                  <c:v>3.13842837672</c:v>
                </c:pt>
                <c:pt idx="7">
                  <c:v>3.79749833583</c:v>
                </c:pt>
                <c:pt idx="8">
                  <c:v>4.59497298636</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L(k)/L(0)</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majorUnit val="1"/>
      </c:valAx>
      <c:valAx>
        <c:axId val="48650112"/>
        <c:scaling>
          <c:orientation val="minMax"/>
          <c:max val="8"/>
          <c:min val="0"/>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Atualização k</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majorUnit val="2"/>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scatterChart>
        <c:scatterStyle val="lineMarker"/>
        <c:ser>
          <c:idx val="0"/>
          <c:order val="0"/>
          <c:tx>
            <c:v>L(w)</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Data'!$A$2:$A$182</c:f>
              <c:numCache>
                <c:formatCode>General</c:formatCode>
                <c:ptCount val="181"/>
                <c:pt idx="0">
                  <c:v>-1.8</c:v>
                </c:pt>
                <c:pt idx="1">
                  <c:v>-1.78</c:v>
                </c:pt>
                <c:pt idx="2">
                  <c:v>-1.76</c:v>
                </c:pt>
                <c:pt idx="3">
                  <c:v>-1.74</c:v>
                </c:pt>
                <c:pt idx="4">
                  <c:v>-1.72</c:v>
                </c:pt>
                <c:pt idx="5">
                  <c:v>-1.7</c:v>
                </c:pt>
                <c:pt idx="6">
                  <c:v>-1.68</c:v>
                </c:pt>
                <c:pt idx="7">
                  <c:v>-1.66</c:v>
                </c:pt>
                <c:pt idx="8">
                  <c:v>-1.64</c:v>
                </c:pt>
                <c:pt idx="9">
                  <c:v>-1.62</c:v>
                </c:pt>
                <c:pt idx="10">
                  <c:v>-1.6</c:v>
                </c:pt>
                <c:pt idx="11">
                  <c:v>-1.58</c:v>
                </c:pt>
                <c:pt idx="12">
                  <c:v>-1.56</c:v>
                </c:pt>
                <c:pt idx="13">
                  <c:v>-1.54</c:v>
                </c:pt>
                <c:pt idx="14">
                  <c:v>-1.52</c:v>
                </c:pt>
                <c:pt idx="15">
                  <c:v>-1.5</c:v>
                </c:pt>
                <c:pt idx="16">
                  <c:v>-1.48</c:v>
                </c:pt>
                <c:pt idx="17">
                  <c:v>-1.46</c:v>
                </c:pt>
                <c:pt idx="18">
                  <c:v>-1.44</c:v>
                </c:pt>
                <c:pt idx="19">
                  <c:v>-1.42</c:v>
                </c:pt>
                <c:pt idx="20">
                  <c:v>-1.4</c:v>
                </c:pt>
                <c:pt idx="21">
                  <c:v>-1.38</c:v>
                </c:pt>
                <c:pt idx="22">
                  <c:v>-1.36</c:v>
                </c:pt>
                <c:pt idx="23">
                  <c:v>-1.34</c:v>
                </c:pt>
                <c:pt idx="24">
                  <c:v>-1.32</c:v>
                </c:pt>
                <c:pt idx="25">
                  <c:v>-1.3</c:v>
                </c:pt>
                <c:pt idx="26">
                  <c:v>-1.28</c:v>
                </c:pt>
                <c:pt idx="27">
                  <c:v>-1.26</c:v>
                </c:pt>
                <c:pt idx="28">
                  <c:v>-1.24</c:v>
                </c:pt>
                <c:pt idx="29">
                  <c:v>-1.22</c:v>
                </c:pt>
                <c:pt idx="30">
                  <c:v>-1.2</c:v>
                </c:pt>
                <c:pt idx="31">
                  <c:v>-1.18</c:v>
                </c:pt>
                <c:pt idx="32">
                  <c:v>-1.16</c:v>
                </c:pt>
                <c:pt idx="33">
                  <c:v>-1.14</c:v>
                </c:pt>
                <c:pt idx="34">
                  <c:v>-1.12</c:v>
                </c:pt>
                <c:pt idx="35">
                  <c:v>-1.1</c:v>
                </c:pt>
                <c:pt idx="36">
                  <c:v>-1.08</c:v>
                </c:pt>
                <c:pt idx="37">
                  <c:v>-1.06</c:v>
                </c:pt>
                <c:pt idx="38">
                  <c:v>-1.04</c:v>
                </c:pt>
                <c:pt idx="39">
                  <c:v>-1.02</c:v>
                </c:pt>
                <c:pt idx="40">
                  <c:v>-1</c:v>
                </c:pt>
                <c:pt idx="41">
                  <c:v>-0.98</c:v>
                </c:pt>
                <c:pt idx="42">
                  <c:v>-0.96</c:v>
                </c:pt>
                <c:pt idx="43">
                  <c:v>-0.94</c:v>
                </c:pt>
                <c:pt idx="44">
                  <c:v>-0.92</c:v>
                </c:pt>
                <c:pt idx="45">
                  <c:v>-0.9</c:v>
                </c:pt>
                <c:pt idx="46">
                  <c:v>-0.88</c:v>
                </c:pt>
                <c:pt idx="47">
                  <c:v>-0.86</c:v>
                </c:pt>
                <c:pt idx="48">
                  <c:v>-0.84</c:v>
                </c:pt>
                <c:pt idx="49">
                  <c:v>-0.82</c:v>
                </c:pt>
                <c:pt idx="50">
                  <c:v>-0.8</c:v>
                </c:pt>
                <c:pt idx="51">
                  <c:v>-0.78</c:v>
                </c:pt>
                <c:pt idx="52">
                  <c:v>-0.76</c:v>
                </c:pt>
                <c:pt idx="53">
                  <c:v>-0.74</c:v>
                </c:pt>
                <c:pt idx="54">
                  <c:v>-0.72</c:v>
                </c:pt>
                <c:pt idx="55">
                  <c:v>-0.7</c:v>
                </c:pt>
                <c:pt idx="56">
                  <c:v>-0.68</c:v>
                </c:pt>
                <c:pt idx="57">
                  <c:v>-0.66</c:v>
                </c:pt>
                <c:pt idx="58">
                  <c:v>-0.64</c:v>
                </c:pt>
                <c:pt idx="59">
                  <c:v>-0.62</c:v>
                </c:pt>
                <c:pt idx="60">
                  <c:v>-0.6</c:v>
                </c:pt>
                <c:pt idx="61">
                  <c:v>-0.58</c:v>
                </c:pt>
                <c:pt idx="62">
                  <c:v>-0.56</c:v>
                </c:pt>
                <c:pt idx="63">
                  <c:v>-0.54</c:v>
                </c:pt>
                <c:pt idx="64">
                  <c:v>-0.52</c:v>
                </c:pt>
                <c:pt idx="65">
                  <c:v>-0.5</c:v>
                </c:pt>
                <c:pt idx="66">
                  <c:v>-0.48</c:v>
                </c:pt>
                <c:pt idx="67">
                  <c:v>-0.46</c:v>
                </c:pt>
                <c:pt idx="68">
                  <c:v>-0.44</c:v>
                </c:pt>
                <c:pt idx="69">
                  <c:v>-0.42</c:v>
                </c:pt>
                <c:pt idx="70">
                  <c:v>-0.4</c:v>
                </c:pt>
                <c:pt idx="71">
                  <c:v>-0.38</c:v>
                </c:pt>
                <c:pt idx="72">
                  <c:v>-0.36</c:v>
                </c:pt>
                <c:pt idx="73">
                  <c:v>-0.34</c:v>
                </c:pt>
                <c:pt idx="74">
                  <c:v>-0.32</c:v>
                </c:pt>
                <c:pt idx="75">
                  <c:v>-0.3</c:v>
                </c:pt>
                <c:pt idx="76">
                  <c:v>-0.28</c:v>
                </c:pt>
                <c:pt idx="77">
                  <c:v>-0.26</c:v>
                </c:pt>
                <c:pt idx="78">
                  <c:v>-0.24</c:v>
                </c:pt>
                <c:pt idx="79">
                  <c:v>-0.22</c:v>
                </c:pt>
                <c:pt idx="80">
                  <c:v>-0.2</c:v>
                </c:pt>
                <c:pt idx="81">
                  <c:v>-0.18</c:v>
                </c:pt>
                <c:pt idx="82">
                  <c:v>-0.16</c:v>
                </c:pt>
                <c:pt idx="83">
                  <c:v>-0.14</c:v>
                </c:pt>
                <c:pt idx="84">
                  <c:v>-0.12</c:v>
                </c:pt>
                <c:pt idx="85">
                  <c:v>-0.1</c:v>
                </c:pt>
                <c:pt idx="86">
                  <c:v>-0.08</c:v>
                </c:pt>
                <c:pt idx="87">
                  <c:v>-0.06</c:v>
                </c:pt>
                <c:pt idx="88">
                  <c:v>-0.04</c:v>
                </c:pt>
                <c:pt idx="89">
                  <c:v>-0.02</c:v>
                </c:pt>
                <c:pt idx="90">
                  <c:v>0</c:v>
                </c:pt>
                <c:pt idx="91">
                  <c:v>0.02</c:v>
                </c:pt>
                <c:pt idx="92">
                  <c:v>0.04</c:v>
                </c:pt>
                <c:pt idx="93">
                  <c:v>0.06</c:v>
                </c:pt>
                <c:pt idx="94">
                  <c:v>0.08</c:v>
                </c:pt>
                <c:pt idx="95">
                  <c:v>0.1</c:v>
                </c:pt>
                <c:pt idx="96">
                  <c:v>0.12</c:v>
                </c:pt>
                <c:pt idx="97">
                  <c:v>0.14</c:v>
                </c:pt>
                <c:pt idx="98">
                  <c:v>0.16</c:v>
                </c:pt>
                <c:pt idx="99">
                  <c:v>0.18</c:v>
                </c:pt>
                <c:pt idx="100">
                  <c:v>0.2</c:v>
                </c:pt>
                <c:pt idx="101">
                  <c:v>0.22</c:v>
                </c:pt>
                <c:pt idx="102">
                  <c:v>0.24</c:v>
                </c:pt>
                <c:pt idx="103">
                  <c:v>0.26</c:v>
                </c:pt>
                <c:pt idx="104">
                  <c:v>0.28</c:v>
                </c:pt>
                <c:pt idx="105">
                  <c:v>0.3</c:v>
                </c:pt>
                <c:pt idx="106">
                  <c:v>0.32</c:v>
                </c:pt>
                <c:pt idx="107">
                  <c:v>0.34</c:v>
                </c:pt>
                <c:pt idx="108">
                  <c:v>0.36</c:v>
                </c:pt>
                <c:pt idx="109">
                  <c:v>0.38</c:v>
                </c:pt>
                <c:pt idx="110">
                  <c:v>0.4</c:v>
                </c:pt>
                <c:pt idx="111">
                  <c:v>0.42</c:v>
                </c:pt>
                <c:pt idx="112">
                  <c:v>0.44</c:v>
                </c:pt>
                <c:pt idx="113">
                  <c:v>0.46</c:v>
                </c:pt>
                <c:pt idx="114">
                  <c:v>0.48</c:v>
                </c:pt>
                <c:pt idx="115">
                  <c:v>0.5</c:v>
                </c:pt>
                <c:pt idx="116">
                  <c:v>0.52</c:v>
                </c:pt>
                <c:pt idx="117">
                  <c:v>0.54</c:v>
                </c:pt>
                <c:pt idx="118">
                  <c:v>0.56</c:v>
                </c:pt>
                <c:pt idx="119">
                  <c:v>0.58</c:v>
                </c:pt>
                <c:pt idx="120">
                  <c:v>0.6</c:v>
                </c:pt>
                <c:pt idx="121">
                  <c:v>0.62</c:v>
                </c:pt>
                <c:pt idx="122">
                  <c:v>0.64</c:v>
                </c:pt>
                <c:pt idx="123">
                  <c:v>0.66</c:v>
                </c:pt>
                <c:pt idx="124">
                  <c:v>0.68</c:v>
                </c:pt>
                <c:pt idx="125">
                  <c:v>0.7</c:v>
                </c:pt>
                <c:pt idx="126">
                  <c:v>0.72</c:v>
                </c:pt>
                <c:pt idx="127">
                  <c:v>0.74</c:v>
                </c:pt>
                <c:pt idx="128">
                  <c:v>0.76</c:v>
                </c:pt>
                <c:pt idx="129">
                  <c:v>0.78</c:v>
                </c:pt>
                <c:pt idx="130">
                  <c:v>0.8</c:v>
                </c:pt>
                <c:pt idx="131">
                  <c:v>0.82</c:v>
                </c:pt>
                <c:pt idx="132">
                  <c:v>0.84</c:v>
                </c:pt>
                <c:pt idx="133">
                  <c:v>0.86</c:v>
                </c:pt>
                <c:pt idx="134">
                  <c:v>0.88</c:v>
                </c:pt>
                <c:pt idx="135">
                  <c:v>0.9</c:v>
                </c:pt>
                <c:pt idx="136">
                  <c:v>0.92</c:v>
                </c:pt>
                <c:pt idx="137">
                  <c:v>0.94</c:v>
                </c:pt>
                <c:pt idx="138">
                  <c:v>0.96</c:v>
                </c:pt>
                <c:pt idx="139">
                  <c:v>0.98</c:v>
                </c:pt>
                <c:pt idx="140">
                  <c:v>1</c:v>
                </c:pt>
                <c:pt idx="141">
                  <c:v>1.02</c:v>
                </c:pt>
                <c:pt idx="142">
                  <c:v>1.04</c:v>
                </c:pt>
                <c:pt idx="143">
                  <c:v>1.06</c:v>
                </c:pt>
                <c:pt idx="144">
                  <c:v>1.08</c:v>
                </c:pt>
                <c:pt idx="145">
                  <c:v>1.1</c:v>
                </c:pt>
                <c:pt idx="146">
                  <c:v>1.12</c:v>
                </c:pt>
                <c:pt idx="147">
                  <c:v>1.14</c:v>
                </c:pt>
                <c:pt idx="148">
                  <c:v>1.16</c:v>
                </c:pt>
                <c:pt idx="149">
                  <c:v>1.18</c:v>
                </c:pt>
                <c:pt idx="150">
                  <c:v>1.2</c:v>
                </c:pt>
                <c:pt idx="151">
                  <c:v>1.22</c:v>
                </c:pt>
                <c:pt idx="152">
                  <c:v>1.24</c:v>
                </c:pt>
                <c:pt idx="153">
                  <c:v>1.26</c:v>
                </c:pt>
                <c:pt idx="154">
                  <c:v>1.28</c:v>
                </c:pt>
                <c:pt idx="155">
                  <c:v>1.3</c:v>
                </c:pt>
                <c:pt idx="156">
                  <c:v>1.32</c:v>
                </c:pt>
                <c:pt idx="157">
                  <c:v>1.34</c:v>
                </c:pt>
                <c:pt idx="158">
                  <c:v>1.36</c:v>
                </c:pt>
                <c:pt idx="159">
                  <c:v>1.38</c:v>
                </c:pt>
                <c:pt idx="160">
                  <c:v>1.4</c:v>
                </c:pt>
                <c:pt idx="161">
                  <c:v>1.42</c:v>
                </c:pt>
                <c:pt idx="162">
                  <c:v>1.44</c:v>
                </c:pt>
                <c:pt idx="163">
                  <c:v>1.46</c:v>
                </c:pt>
                <c:pt idx="164">
                  <c:v>1.48</c:v>
                </c:pt>
                <c:pt idx="165">
                  <c:v>1.5</c:v>
                </c:pt>
                <c:pt idx="166">
                  <c:v>1.52</c:v>
                </c:pt>
                <c:pt idx="167">
                  <c:v>1.54</c:v>
                </c:pt>
                <c:pt idx="168">
                  <c:v>1.56</c:v>
                </c:pt>
                <c:pt idx="169">
                  <c:v>1.58</c:v>
                </c:pt>
                <c:pt idx="170">
                  <c:v>1.6</c:v>
                </c:pt>
                <c:pt idx="171">
                  <c:v>1.62</c:v>
                </c:pt>
                <c:pt idx="172">
                  <c:v>1.64</c:v>
                </c:pt>
                <c:pt idx="173">
                  <c:v>1.66</c:v>
                </c:pt>
                <c:pt idx="174">
                  <c:v>1.68</c:v>
                </c:pt>
                <c:pt idx="175">
                  <c:v>1.7</c:v>
                </c:pt>
                <c:pt idx="176">
                  <c:v>1.72</c:v>
                </c:pt>
                <c:pt idx="177">
                  <c:v>1.74</c:v>
                </c:pt>
                <c:pt idx="178">
                  <c:v>1.76</c:v>
                </c:pt>
                <c:pt idx="179">
                  <c:v>1.78</c:v>
                </c:pt>
                <c:pt idx="180">
                  <c:v>1.8</c:v>
                </c:pt>
              </c:numCache>
            </c:numRef>
          </c:xVal>
          <c:yVal>
            <c:numRef>
              <c:f>'Chart Data'!$B$2:$B$182</c:f>
              <c:numCache>
                <c:formatCode>0.0</c:formatCode>
                <c:ptCount val="181"/>
                <c:pt idx="0">
                  <c:v>5.0676</c:v>
                </c:pt>
                <c:pt idx="1">
                  <c:v>4.75695856</c:v>
                </c:pt>
                <c:pt idx="2">
                  <c:v>4.45992576</c:v>
                </c:pt>
                <c:pt idx="3">
                  <c:v>4.17616176</c:v>
                </c:pt>
                <c:pt idx="4">
                  <c:v>3.90533056</c:v>
                </c:pt>
                <c:pt idx="5">
                  <c:v>3.6471</c:v>
                </c:pt>
                <c:pt idx="6">
                  <c:v>3.40114176</c:v>
                </c:pt>
                <c:pt idx="7">
                  <c:v>3.16713136</c:v>
                </c:pt>
                <c:pt idx="8">
                  <c:v>2.94474816</c:v>
                </c:pt>
                <c:pt idx="9">
                  <c:v>2.73367536</c:v>
                </c:pt>
                <c:pt idx="10">
                  <c:v>2.5336</c:v>
                </c:pt>
                <c:pt idx="11">
                  <c:v>2.34421296</c:v>
                </c:pt>
                <c:pt idx="12">
                  <c:v>2.16520896</c:v>
                </c:pt>
                <c:pt idx="13">
                  <c:v>1.99628656</c:v>
                </c:pt>
                <c:pt idx="14">
                  <c:v>1.83714816</c:v>
                </c:pt>
                <c:pt idx="15">
                  <c:v>1.6875</c:v>
                </c:pt>
                <c:pt idx="16">
                  <c:v>1.54705216</c:v>
                </c:pt>
                <c:pt idx="17">
                  <c:v>1.41551856</c:v>
                </c:pt>
                <c:pt idx="18">
                  <c:v>1.29261696</c:v>
                </c:pt>
                <c:pt idx="19">
                  <c:v>1.17806896</c:v>
                </c:pt>
                <c:pt idx="20">
                  <c:v>1.0716</c:v>
                </c:pt>
                <c:pt idx="21">
                  <c:v>0.97293936</c:v>
                </c:pt>
                <c:pt idx="22">
                  <c:v>0.88182016</c:v>
                </c:pt>
                <c:pt idx="23">
                  <c:v>0.79797936</c:v>
                </c:pt>
                <c:pt idx="24">
                  <c:v>0.72115776</c:v>
                </c:pt>
                <c:pt idx="25">
                  <c:v>0.6511</c:v>
                </c:pt>
                <c:pt idx="26">
                  <c:v>0.58755456</c:v>
                </c:pt>
                <c:pt idx="27">
                  <c:v>0.53027376</c:v>
                </c:pt>
                <c:pt idx="28">
                  <c:v>0.47901376</c:v>
                </c:pt>
                <c:pt idx="29">
                  <c:v>0.43353456</c:v>
                </c:pt>
                <c:pt idx="30">
                  <c:v>0.3936</c:v>
                </c:pt>
                <c:pt idx="31">
                  <c:v>0.35897776</c:v>
                </c:pt>
                <c:pt idx="32">
                  <c:v>0.32943936</c:v>
                </c:pt>
                <c:pt idx="33">
                  <c:v>0.30476016</c:v>
                </c:pt>
                <c:pt idx="34">
                  <c:v>0.28471936</c:v>
                </c:pt>
                <c:pt idx="35">
                  <c:v>0.2691</c:v>
                </c:pt>
                <c:pt idx="36">
                  <c:v>0.25768896</c:v>
                </c:pt>
                <c:pt idx="37">
                  <c:v>0.25027696</c:v>
                </c:pt>
                <c:pt idx="38">
                  <c:v>0.24665856</c:v>
                </c:pt>
                <c:pt idx="39">
                  <c:v>0.24663216</c:v>
                </c:pt>
                <c:pt idx="40">
                  <c:v>0.25</c:v>
                </c:pt>
                <c:pt idx="41">
                  <c:v>0.25656816</c:v>
                </c:pt>
                <c:pt idx="42">
                  <c:v>0.26614656</c:v>
                </c:pt>
                <c:pt idx="43">
                  <c:v>0.27854896</c:v>
                </c:pt>
                <c:pt idx="44">
                  <c:v>0.29359296</c:v>
                </c:pt>
                <c:pt idx="45">
                  <c:v>0.3111</c:v>
                </c:pt>
                <c:pt idx="46">
                  <c:v>0.33089536</c:v>
                </c:pt>
                <c:pt idx="47">
                  <c:v>0.35280816</c:v>
                </c:pt>
                <c:pt idx="48">
                  <c:v>0.37667136</c:v>
                </c:pt>
                <c:pt idx="49">
                  <c:v>0.40232176</c:v>
                </c:pt>
                <c:pt idx="50">
                  <c:v>0.4296</c:v>
                </c:pt>
                <c:pt idx="51">
                  <c:v>0.45835056</c:v>
                </c:pt>
                <c:pt idx="52">
                  <c:v>0.48842176</c:v>
                </c:pt>
                <c:pt idx="53">
                  <c:v>0.51966576</c:v>
                </c:pt>
                <c:pt idx="54">
                  <c:v>0.55193856</c:v>
                </c:pt>
                <c:pt idx="55">
                  <c:v>0.5851</c:v>
                </c:pt>
                <c:pt idx="56">
                  <c:v>0.61901376</c:v>
                </c:pt>
                <c:pt idx="57">
                  <c:v>0.65354736</c:v>
                </c:pt>
                <c:pt idx="58">
                  <c:v>0.68857216</c:v>
                </c:pt>
                <c:pt idx="59">
                  <c:v>0.72396336</c:v>
                </c:pt>
                <c:pt idx="60">
                  <c:v>0.7596</c:v>
                </c:pt>
                <c:pt idx="61">
                  <c:v>0.79536496</c:v>
                </c:pt>
                <c:pt idx="62">
                  <c:v>0.83114496</c:v>
                </c:pt>
                <c:pt idx="63">
                  <c:v>0.86683056</c:v>
                </c:pt>
                <c:pt idx="64">
                  <c:v>0.90231616</c:v>
                </c:pt>
                <c:pt idx="65">
                  <c:v>0.9375</c:v>
                </c:pt>
                <c:pt idx="66">
                  <c:v>0.97228416</c:v>
                </c:pt>
                <c:pt idx="67">
                  <c:v>1.00657456</c:v>
                </c:pt>
                <c:pt idx="68">
                  <c:v>1.04028096</c:v>
                </c:pt>
                <c:pt idx="69">
                  <c:v>1.07331696</c:v>
                </c:pt>
                <c:pt idx="70">
                  <c:v>1.1056</c:v>
                </c:pt>
                <c:pt idx="71">
                  <c:v>1.13705136</c:v>
                </c:pt>
                <c:pt idx="72">
                  <c:v>1.16759616</c:v>
                </c:pt>
                <c:pt idx="73">
                  <c:v>1.19716336</c:v>
                </c:pt>
                <c:pt idx="74">
                  <c:v>1.22568576</c:v>
                </c:pt>
                <c:pt idx="75">
                  <c:v>1.2531</c:v>
                </c:pt>
                <c:pt idx="76">
                  <c:v>1.27934656</c:v>
                </c:pt>
                <c:pt idx="77">
                  <c:v>1.30436976</c:v>
                </c:pt>
                <c:pt idx="78">
                  <c:v>1.32811776</c:v>
                </c:pt>
                <c:pt idx="79">
                  <c:v>1.35054256</c:v>
                </c:pt>
                <c:pt idx="80">
                  <c:v>1.3716</c:v>
                </c:pt>
                <c:pt idx="81">
                  <c:v>1.39124976</c:v>
                </c:pt>
                <c:pt idx="82">
                  <c:v>1.40945536</c:v>
                </c:pt>
                <c:pt idx="83">
                  <c:v>1.42618416</c:v>
                </c:pt>
                <c:pt idx="84">
                  <c:v>1.44140736</c:v>
                </c:pt>
                <c:pt idx="85">
                  <c:v>1.4551</c:v>
                </c:pt>
                <c:pt idx="86">
                  <c:v>1.46724096</c:v>
                </c:pt>
                <c:pt idx="87">
                  <c:v>1.47781296</c:v>
                </c:pt>
                <c:pt idx="88">
                  <c:v>1.48680256</c:v>
                </c:pt>
                <c:pt idx="89">
                  <c:v>1.49420016</c:v>
                </c:pt>
                <c:pt idx="90">
                  <c:v>1.5</c:v>
                </c:pt>
                <c:pt idx="91">
                  <c:v>1.50420016</c:v>
                </c:pt>
                <c:pt idx="92">
                  <c:v>1.50680256</c:v>
                </c:pt>
                <c:pt idx="93">
                  <c:v>1.50781296</c:v>
                </c:pt>
                <c:pt idx="94">
                  <c:v>1.50724096</c:v>
                </c:pt>
                <c:pt idx="95">
                  <c:v>1.5051</c:v>
                </c:pt>
                <c:pt idx="96">
                  <c:v>1.50140736</c:v>
                </c:pt>
                <c:pt idx="97">
                  <c:v>1.49618416</c:v>
                </c:pt>
                <c:pt idx="98">
                  <c:v>1.48945536</c:v>
                </c:pt>
                <c:pt idx="99">
                  <c:v>1.48124976</c:v>
                </c:pt>
                <c:pt idx="100">
                  <c:v>1.4716</c:v>
                </c:pt>
                <c:pt idx="101">
                  <c:v>1.46054256</c:v>
                </c:pt>
                <c:pt idx="102">
                  <c:v>1.44811776</c:v>
                </c:pt>
                <c:pt idx="103">
                  <c:v>1.43436976</c:v>
                </c:pt>
                <c:pt idx="104">
                  <c:v>1.41934656</c:v>
                </c:pt>
                <c:pt idx="105">
                  <c:v>1.4031</c:v>
                </c:pt>
                <c:pt idx="106">
                  <c:v>1.38568576</c:v>
                </c:pt>
                <c:pt idx="107">
                  <c:v>1.36716336</c:v>
                </c:pt>
                <c:pt idx="108">
                  <c:v>1.34759616</c:v>
                </c:pt>
                <c:pt idx="109">
                  <c:v>1.32705136</c:v>
                </c:pt>
                <c:pt idx="110">
                  <c:v>1.3056</c:v>
                </c:pt>
                <c:pt idx="111">
                  <c:v>1.28331696</c:v>
                </c:pt>
                <c:pt idx="112">
                  <c:v>1.26028096</c:v>
                </c:pt>
                <c:pt idx="113">
                  <c:v>1.23657456</c:v>
                </c:pt>
                <c:pt idx="114">
                  <c:v>1.21228416</c:v>
                </c:pt>
                <c:pt idx="115">
                  <c:v>1.1875</c:v>
                </c:pt>
                <c:pt idx="116">
                  <c:v>1.16231616</c:v>
                </c:pt>
                <c:pt idx="117">
                  <c:v>1.13683056</c:v>
                </c:pt>
                <c:pt idx="118">
                  <c:v>1.11114496</c:v>
                </c:pt>
                <c:pt idx="119">
                  <c:v>1.08536496</c:v>
                </c:pt>
                <c:pt idx="120">
                  <c:v>1.0596</c:v>
                </c:pt>
                <c:pt idx="121">
                  <c:v>1.03396336</c:v>
                </c:pt>
                <c:pt idx="122">
                  <c:v>1.00857216</c:v>
                </c:pt>
                <c:pt idx="123">
                  <c:v>0.98354736</c:v>
                </c:pt>
                <c:pt idx="124">
                  <c:v>0.95901376</c:v>
                </c:pt>
                <c:pt idx="125">
                  <c:v>0.9351</c:v>
                </c:pt>
                <c:pt idx="126">
                  <c:v>0.91193856</c:v>
                </c:pt>
                <c:pt idx="127">
                  <c:v>0.88966576</c:v>
                </c:pt>
                <c:pt idx="128">
                  <c:v>0.86842176</c:v>
                </c:pt>
                <c:pt idx="129">
                  <c:v>0.84835056</c:v>
                </c:pt>
                <c:pt idx="130">
                  <c:v>0.8296</c:v>
                </c:pt>
                <c:pt idx="131">
                  <c:v>0.81232176</c:v>
                </c:pt>
                <c:pt idx="132">
                  <c:v>0.79667136</c:v>
                </c:pt>
                <c:pt idx="133">
                  <c:v>0.78280816</c:v>
                </c:pt>
                <c:pt idx="134">
                  <c:v>0.77089536</c:v>
                </c:pt>
                <c:pt idx="135">
                  <c:v>0.7611</c:v>
                </c:pt>
                <c:pt idx="136">
                  <c:v>0.75359296</c:v>
                </c:pt>
                <c:pt idx="137">
                  <c:v>0.74854896</c:v>
                </c:pt>
                <c:pt idx="138">
                  <c:v>0.74614656</c:v>
                </c:pt>
                <c:pt idx="139">
                  <c:v>0.74656816</c:v>
                </c:pt>
                <c:pt idx="140">
                  <c:v>0.75</c:v>
                </c:pt>
                <c:pt idx="141">
                  <c:v>0.75663216</c:v>
                </c:pt>
                <c:pt idx="142">
                  <c:v>0.76665856</c:v>
                </c:pt>
                <c:pt idx="143">
                  <c:v>0.78027696</c:v>
                </c:pt>
                <c:pt idx="144">
                  <c:v>0.79768896</c:v>
                </c:pt>
                <c:pt idx="145">
                  <c:v>0.8191</c:v>
                </c:pt>
                <c:pt idx="146">
                  <c:v>0.84471936</c:v>
                </c:pt>
                <c:pt idx="147">
                  <c:v>0.87476016</c:v>
                </c:pt>
                <c:pt idx="148">
                  <c:v>0.90943936</c:v>
                </c:pt>
                <c:pt idx="149">
                  <c:v>0.94897776</c:v>
                </c:pt>
                <c:pt idx="150">
                  <c:v>0.9936</c:v>
                </c:pt>
                <c:pt idx="151">
                  <c:v>1.04353456</c:v>
                </c:pt>
                <c:pt idx="152">
                  <c:v>1.09901376</c:v>
                </c:pt>
                <c:pt idx="153">
                  <c:v>1.16027376</c:v>
                </c:pt>
                <c:pt idx="154">
                  <c:v>1.22755456</c:v>
                </c:pt>
                <c:pt idx="155">
                  <c:v>1.3011</c:v>
                </c:pt>
                <c:pt idx="156">
                  <c:v>1.38115776</c:v>
                </c:pt>
                <c:pt idx="157">
                  <c:v>1.46797936</c:v>
                </c:pt>
                <c:pt idx="158">
                  <c:v>1.56182016</c:v>
                </c:pt>
                <c:pt idx="159">
                  <c:v>1.66293936</c:v>
                </c:pt>
                <c:pt idx="160">
                  <c:v>1.7716</c:v>
                </c:pt>
                <c:pt idx="161">
                  <c:v>1.88806896</c:v>
                </c:pt>
                <c:pt idx="162">
                  <c:v>2.01261696</c:v>
                </c:pt>
                <c:pt idx="163">
                  <c:v>2.14551856</c:v>
                </c:pt>
                <c:pt idx="164">
                  <c:v>2.28705216</c:v>
                </c:pt>
                <c:pt idx="165">
                  <c:v>2.4375</c:v>
                </c:pt>
                <c:pt idx="166">
                  <c:v>2.59714816</c:v>
                </c:pt>
                <c:pt idx="167">
                  <c:v>2.76628656</c:v>
                </c:pt>
                <c:pt idx="168">
                  <c:v>2.94520896</c:v>
                </c:pt>
                <c:pt idx="169">
                  <c:v>3.13421296</c:v>
                </c:pt>
                <c:pt idx="170">
                  <c:v>3.3336</c:v>
                </c:pt>
                <c:pt idx="171">
                  <c:v>3.54367536</c:v>
                </c:pt>
                <c:pt idx="172">
                  <c:v>3.76474816</c:v>
                </c:pt>
                <c:pt idx="173">
                  <c:v>3.99713136</c:v>
                </c:pt>
                <c:pt idx="174">
                  <c:v>4.24114176</c:v>
                </c:pt>
                <c:pt idx="175">
                  <c:v>4.4971</c:v>
                </c:pt>
                <c:pt idx="176">
                  <c:v>4.76533056</c:v>
                </c:pt>
                <c:pt idx="177">
                  <c:v>5.04616176</c:v>
                </c:pt>
                <c:pt idx="178">
                  <c:v>5.33992576</c:v>
                </c:pt>
                <c:pt idx="179">
                  <c:v>5.64695856</c:v>
                </c:pt>
                <c:pt idx="180">
                  <c:v>5.9676</c:v>
                </c:pt>
              </c:numCache>
            </c:numRef>
          </c:yVal>
          <c:smooth val="0"/>
        </c:ser>
        <c:ser>
          <c:idx val="1"/>
          <c:order val="1"/>
          <c:tx>
            <c:v>Mínimo esquerdo</c:v>
          </c:tx>
          <c:spPr>
            <a:solidFill xmlns:a="http://schemas.openxmlformats.org/drawingml/2006/main">
              <a:srgbClr val="71E7BD"/>
            </a:solidFill>
            <a:ln xmlns:a="http://schemas.openxmlformats.org/drawingml/2006/main" w="0">
              <a:noFill/>
            </a:ln>
          </c:spPr>
          <c:marker>
            <c:symbol val="circle"/>
            <c:size val="11"/>
            <c:spPr>
              <a:solidFill xmlns:a="http://schemas.openxmlformats.org/drawingml/2006/main">
                <a:srgbClr val="71E7BD"/>
              </a:solidFill>
              <ns0:ln xmlns:ns0="http://schemas.openxmlformats.org/drawingml/2006/main" w="0">
                <ns0:noFill/>
              </ns0:ln>
            </c:spPr>
          </c:marker>
          <c:xVal>
            <c:numRef>
              <c:f>'Chart Data'!$C$2:$C$182</c:f>
              <c:numCache>
                <c:formatCode>General</c:formatCode>
                <c:ptCount val="181"/>
                <c:pt idx="0">
                  <c:v>-1.02989598505</c:v>
                </c:pt>
                <c:pt idx="1">
                  <c:v>-1.02989598505</c:v>
                </c:pt>
                <c:pt idx="2">
                  <c:v>-1.02989598505</c:v>
                </c:pt>
                <c:pt idx="3">
                  <c:v>-1.02989598505</c:v>
                </c:pt>
                <c:pt idx="4">
                  <c:v>-1.02989598505</c:v>
                </c:pt>
                <c:pt idx="5">
                  <c:v>-1.02989598505</c:v>
                </c:pt>
                <c:pt idx="6">
                  <c:v>-1.02989598505</c:v>
                </c:pt>
                <c:pt idx="7">
                  <c:v>-1.02989598505</c:v>
                </c:pt>
                <c:pt idx="8">
                  <c:v>-1.02989598505</c:v>
                </c:pt>
                <c:pt idx="9">
                  <c:v>-1.02989598505</c:v>
                </c:pt>
                <c:pt idx="10">
                  <c:v>-1.02989598505</c:v>
                </c:pt>
                <c:pt idx="11">
                  <c:v>-1.02989598505</c:v>
                </c:pt>
                <c:pt idx="12">
                  <c:v>-1.02989598505</c:v>
                </c:pt>
                <c:pt idx="13">
                  <c:v>-1.02989598505</c:v>
                </c:pt>
                <c:pt idx="14">
                  <c:v>-1.02989598505</c:v>
                </c:pt>
                <c:pt idx="15">
                  <c:v>-1.02989598505</c:v>
                </c:pt>
                <c:pt idx="16">
                  <c:v>-1.02989598505</c:v>
                </c:pt>
                <c:pt idx="17">
                  <c:v>-1.02989598505</c:v>
                </c:pt>
                <c:pt idx="18">
                  <c:v>-1.02989598505</c:v>
                </c:pt>
                <c:pt idx="19">
                  <c:v>-1.02989598505</c:v>
                </c:pt>
                <c:pt idx="20">
                  <c:v>-1.02989598505</c:v>
                </c:pt>
                <c:pt idx="21">
                  <c:v>-1.02989598505</c:v>
                </c:pt>
                <c:pt idx="22">
                  <c:v>-1.02989598505</c:v>
                </c:pt>
                <c:pt idx="23">
                  <c:v>-1.02989598505</c:v>
                </c:pt>
                <c:pt idx="24">
                  <c:v>-1.02989598505</c:v>
                </c:pt>
                <c:pt idx="25">
                  <c:v>-1.02989598505</c:v>
                </c:pt>
                <c:pt idx="26">
                  <c:v>-1.02989598505</c:v>
                </c:pt>
                <c:pt idx="27">
                  <c:v>-1.02989598505</c:v>
                </c:pt>
                <c:pt idx="28">
                  <c:v>-1.02989598505</c:v>
                </c:pt>
                <c:pt idx="29">
                  <c:v>-1.02989598505</c:v>
                </c:pt>
                <c:pt idx="30">
                  <c:v>-1.02989598505</c:v>
                </c:pt>
                <c:pt idx="31">
                  <c:v>-1.02989598505</c:v>
                </c:pt>
                <c:pt idx="32">
                  <c:v>-1.02989598505</c:v>
                </c:pt>
                <c:pt idx="33">
                  <c:v>-1.02989598505</c:v>
                </c:pt>
                <c:pt idx="34">
                  <c:v>-1.02989598505</c:v>
                </c:pt>
                <c:pt idx="35">
                  <c:v>-1.02989598505</c:v>
                </c:pt>
                <c:pt idx="36">
                  <c:v>-1.02989598505</c:v>
                </c:pt>
                <c:pt idx="37">
                  <c:v>-1.02989598505</c:v>
                </c:pt>
                <c:pt idx="38">
                  <c:v>-1.02989598505</c:v>
                </c:pt>
                <c:pt idx="39">
                  <c:v>-1.02989598505</c:v>
                </c:pt>
                <c:pt idx="40">
                  <c:v>-1.02989598505</c:v>
                </c:pt>
                <c:pt idx="41">
                  <c:v>-1.02989598505</c:v>
                </c:pt>
                <c:pt idx="42">
                  <c:v>-1.02989598505</c:v>
                </c:pt>
                <c:pt idx="43">
                  <c:v>-1.02989598505</c:v>
                </c:pt>
                <c:pt idx="44">
                  <c:v>-1.02989598505</c:v>
                </c:pt>
                <c:pt idx="45">
                  <c:v>-1.02989598505</c:v>
                </c:pt>
                <c:pt idx="46">
                  <c:v>-1.02989598505</c:v>
                </c:pt>
                <c:pt idx="47">
                  <c:v>-1.02989598505</c:v>
                </c:pt>
                <c:pt idx="48">
                  <c:v>-1.02989598505</c:v>
                </c:pt>
                <c:pt idx="49">
                  <c:v>-1.02989598505</c:v>
                </c:pt>
                <c:pt idx="50">
                  <c:v>-1.02989598505</c:v>
                </c:pt>
                <c:pt idx="51">
                  <c:v>-1.02989598505</c:v>
                </c:pt>
                <c:pt idx="52">
                  <c:v>-1.02989598505</c:v>
                </c:pt>
                <c:pt idx="53">
                  <c:v>-1.02989598505</c:v>
                </c:pt>
                <c:pt idx="54">
                  <c:v>-1.02989598505</c:v>
                </c:pt>
                <c:pt idx="55">
                  <c:v>-1.02989598505</c:v>
                </c:pt>
                <c:pt idx="56">
                  <c:v>-1.02989598505</c:v>
                </c:pt>
                <c:pt idx="57">
                  <c:v>-1.02989598505</c:v>
                </c:pt>
                <c:pt idx="58">
                  <c:v>-1.02989598505</c:v>
                </c:pt>
                <c:pt idx="59">
                  <c:v>-1.02989598505</c:v>
                </c:pt>
                <c:pt idx="60">
                  <c:v>-1.02989598505</c:v>
                </c:pt>
                <c:pt idx="61">
                  <c:v>-1.02989598505</c:v>
                </c:pt>
                <c:pt idx="62">
                  <c:v>-1.02989598505</c:v>
                </c:pt>
                <c:pt idx="63">
                  <c:v>-1.02989598505</c:v>
                </c:pt>
                <c:pt idx="64">
                  <c:v>-1.02989598505</c:v>
                </c:pt>
                <c:pt idx="65">
                  <c:v>-1.02989598505</c:v>
                </c:pt>
                <c:pt idx="66">
                  <c:v>-1.02989598505</c:v>
                </c:pt>
                <c:pt idx="67">
                  <c:v>-1.02989598505</c:v>
                </c:pt>
                <c:pt idx="68">
                  <c:v>-1.02989598505</c:v>
                </c:pt>
                <c:pt idx="69">
                  <c:v>-1.02989598505</c:v>
                </c:pt>
                <c:pt idx="70">
                  <c:v>-1.02989598505</c:v>
                </c:pt>
                <c:pt idx="71">
                  <c:v>-1.02989598505</c:v>
                </c:pt>
                <c:pt idx="72">
                  <c:v>-1.02989598505</c:v>
                </c:pt>
                <c:pt idx="73">
                  <c:v>-1.02989598505</c:v>
                </c:pt>
                <c:pt idx="74">
                  <c:v>-1.02989598505</c:v>
                </c:pt>
                <c:pt idx="75">
                  <c:v>-1.02989598505</c:v>
                </c:pt>
                <c:pt idx="76">
                  <c:v>-1.02989598505</c:v>
                </c:pt>
                <c:pt idx="77">
                  <c:v>-1.02989598505</c:v>
                </c:pt>
                <c:pt idx="78">
                  <c:v>-1.02989598505</c:v>
                </c:pt>
                <c:pt idx="79">
                  <c:v>-1.02989598505</c:v>
                </c:pt>
                <c:pt idx="80">
                  <c:v>-1.02989598505</c:v>
                </c:pt>
                <c:pt idx="81">
                  <c:v>-1.02989598505</c:v>
                </c:pt>
                <c:pt idx="82">
                  <c:v>-1.02989598505</c:v>
                </c:pt>
                <c:pt idx="83">
                  <c:v>-1.02989598505</c:v>
                </c:pt>
                <c:pt idx="84">
                  <c:v>-1.02989598505</c:v>
                </c:pt>
                <c:pt idx="85">
                  <c:v>-1.02989598505</c:v>
                </c:pt>
                <c:pt idx="86">
                  <c:v>-1.02989598505</c:v>
                </c:pt>
                <c:pt idx="87">
                  <c:v>-1.02989598505</c:v>
                </c:pt>
                <c:pt idx="88">
                  <c:v>-1.02989598505</c:v>
                </c:pt>
                <c:pt idx="89">
                  <c:v>-1.02989598505</c:v>
                </c:pt>
                <c:pt idx="90">
                  <c:v>-1.02989598505</c:v>
                </c:pt>
                <c:pt idx="91">
                  <c:v>-1.02989598505</c:v>
                </c:pt>
                <c:pt idx="92">
                  <c:v>-1.02989598505</c:v>
                </c:pt>
                <c:pt idx="93">
                  <c:v>-1.02989598505</c:v>
                </c:pt>
                <c:pt idx="94">
                  <c:v>-1.02989598505</c:v>
                </c:pt>
                <c:pt idx="95">
                  <c:v>-1.02989598505</c:v>
                </c:pt>
                <c:pt idx="96">
                  <c:v>-1.02989598505</c:v>
                </c:pt>
                <c:pt idx="97">
                  <c:v>-1.02989598505</c:v>
                </c:pt>
                <c:pt idx="98">
                  <c:v>-1.02989598505</c:v>
                </c:pt>
                <c:pt idx="99">
                  <c:v>-1.02989598505</c:v>
                </c:pt>
                <c:pt idx="100">
                  <c:v>-1.02989598505</c:v>
                </c:pt>
                <c:pt idx="101">
                  <c:v>-1.02989598505</c:v>
                </c:pt>
                <c:pt idx="102">
                  <c:v>-1.02989598505</c:v>
                </c:pt>
                <c:pt idx="103">
                  <c:v>-1.02989598505</c:v>
                </c:pt>
                <c:pt idx="104">
                  <c:v>-1.02989598505</c:v>
                </c:pt>
                <c:pt idx="105">
                  <c:v>-1.02989598505</c:v>
                </c:pt>
                <c:pt idx="106">
                  <c:v>-1.02989598505</c:v>
                </c:pt>
                <c:pt idx="107">
                  <c:v>-1.02989598505</c:v>
                </c:pt>
                <c:pt idx="108">
                  <c:v>-1.02989598505</c:v>
                </c:pt>
                <c:pt idx="109">
                  <c:v>-1.02989598505</c:v>
                </c:pt>
                <c:pt idx="110">
                  <c:v>-1.02989598505</c:v>
                </c:pt>
                <c:pt idx="111">
                  <c:v>-1.02989598505</c:v>
                </c:pt>
                <c:pt idx="112">
                  <c:v>-1.02989598505</c:v>
                </c:pt>
                <c:pt idx="113">
                  <c:v>-1.02989598505</c:v>
                </c:pt>
                <c:pt idx="114">
                  <c:v>-1.02989598505</c:v>
                </c:pt>
                <c:pt idx="115">
                  <c:v>-1.02989598505</c:v>
                </c:pt>
                <c:pt idx="116">
                  <c:v>-1.02989598505</c:v>
                </c:pt>
                <c:pt idx="117">
                  <c:v>-1.02989598505</c:v>
                </c:pt>
                <c:pt idx="118">
                  <c:v>-1.02989598505</c:v>
                </c:pt>
                <c:pt idx="119">
                  <c:v>-1.02989598505</c:v>
                </c:pt>
                <c:pt idx="120">
                  <c:v>-1.02989598505</c:v>
                </c:pt>
                <c:pt idx="121">
                  <c:v>-1.02989598505</c:v>
                </c:pt>
                <c:pt idx="122">
                  <c:v>-1.02989598505</c:v>
                </c:pt>
                <c:pt idx="123">
                  <c:v>-1.02989598505</c:v>
                </c:pt>
                <c:pt idx="124">
                  <c:v>-1.02989598505</c:v>
                </c:pt>
                <c:pt idx="125">
                  <c:v>-1.02989598505</c:v>
                </c:pt>
                <c:pt idx="126">
                  <c:v>-1.02989598505</c:v>
                </c:pt>
                <c:pt idx="127">
                  <c:v>-1.02989598505</c:v>
                </c:pt>
                <c:pt idx="128">
                  <c:v>-1.02989598505</c:v>
                </c:pt>
                <c:pt idx="129">
                  <c:v>-1.02989598505</c:v>
                </c:pt>
                <c:pt idx="130">
                  <c:v>-1.02989598505</c:v>
                </c:pt>
                <c:pt idx="131">
                  <c:v>-1.02989598505</c:v>
                </c:pt>
                <c:pt idx="132">
                  <c:v>-1.02989598505</c:v>
                </c:pt>
                <c:pt idx="133">
                  <c:v>-1.02989598505</c:v>
                </c:pt>
                <c:pt idx="134">
                  <c:v>-1.02989598505</c:v>
                </c:pt>
                <c:pt idx="135">
                  <c:v>-1.02989598505</c:v>
                </c:pt>
                <c:pt idx="136">
                  <c:v>-1.02989598505</c:v>
                </c:pt>
                <c:pt idx="137">
                  <c:v>-1.02989598505</c:v>
                </c:pt>
                <c:pt idx="138">
                  <c:v>-1.02989598505</c:v>
                </c:pt>
                <c:pt idx="139">
                  <c:v>-1.02989598505</c:v>
                </c:pt>
                <c:pt idx="140">
                  <c:v>-1.02989598505</c:v>
                </c:pt>
                <c:pt idx="141">
                  <c:v>-1.02989598505</c:v>
                </c:pt>
                <c:pt idx="142">
                  <c:v>-1.02989598505</c:v>
                </c:pt>
                <c:pt idx="143">
                  <c:v>-1.02989598505</c:v>
                </c:pt>
                <c:pt idx="144">
                  <c:v>-1.02989598505</c:v>
                </c:pt>
                <c:pt idx="145">
                  <c:v>-1.02989598505</c:v>
                </c:pt>
                <c:pt idx="146">
                  <c:v>-1.02989598505</c:v>
                </c:pt>
                <c:pt idx="147">
                  <c:v>-1.02989598505</c:v>
                </c:pt>
                <c:pt idx="148">
                  <c:v>-1.02989598505</c:v>
                </c:pt>
                <c:pt idx="149">
                  <c:v>-1.02989598505</c:v>
                </c:pt>
                <c:pt idx="150">
                  <c:v>-1.02989598505</c:v>
                </c:pt>
                <c:pt idx="151">
                  <c:v>-1.02989598505</c:v>
                </c:pt>
                <c:pt idx="152">
                  <c:v>-1.02989598505</c:v>
                </c:pt>
                <c:pt idx="153">
                  <c:v>-1.02989598505</c:v>
                </c:pt>
                <c:pt idx="154">
                  <c:v>-1.02989598505</c:v>
                </c:pt>
                <c:pt idx="155">
                  <c:v>-1.02989598505</c:v>
                </c:pt>
                <c:pt idx="156">
                  <c:v>-1.02989598505</c:v>
                </c:pt>
                <c:pt idx="157">
                  <c:v>-1.02989598505</c:v>
                </c:pt>
                <c:pt idx="158">
                  <c:v>-1.02989598505</c:v>
                </c:pt>
                <c:pt idx="159">
                  <c:v>-1.02989598505</c:v>
                </c:pt>
                <c:pt idx="160">
                  <c:v>-1.02989598505</c:v>
                </c:pt>
                <c:pt idx="161">
                  <c:v>-1.02989598505</c:v>
                </c:pt>
                <c:pt idx="162">
                  <c:v>-1.02989598505</c:v>
                </c:pt>
                <c:pt idx="163">
                  <c:v>-1.02989598505</c:v>
                </c:pt>
                <c:pt idx="164">
                  <c:v>-1.02989598505</c:v>
                </c:pt>
                <c:pt idx="165">
                  <c:v>-1.02989598505</c:v>
                </c:pt>
                <c:pt idx="166">
                  <c:v>-1.02989598505</c:v>
                </c:pt>
                <c:pt idx="167">
                  <c:v>-1.02989598505</c:v>
                </c:pt>
                <c:pt idx="168">
                  <c:v>-1.02989598505</c:v>
                </c:pt>
                <c:pt idx="169">
                  <c:v>-1.02989598505</c:v>
                </c:pt>
                <c:pt idx="170">
                  <c:v>-1.02989598505</c:v>
                </c:pt>
                <c:pt idx="171">
                  <c:v>-1.02989598505</c:v>
                </c:pt>
                <c:pt idx="172">
                  <c:v>-1.02989598505</c:v>
                </c:pt>
                <c:pt idx="173">
                  <c:v>-1.02989598505</c:v>
                </c:pt>
                <c:pt idx="174">
                  <c:v>-1.02989598505</c:v>
                </c:pt>
                <c:pt idx="175">
                  <c:v>-1.02989598505</c:v>
                </c:pt>
                <c:pt idx="176">
                  <c:v>-1.02989598505</c:v>
                </c:pt>
                <c:pt idx="177">
                  <c:v>-1.02989598505</c:v>
                </c:pt>
                <c:pt idx="178">
                  <c:v>-1.02989598505</c:v>
                </c:pt>
                <c:pt idx="179">
                  <c:v>-1.02989598505</c:v>
                </c:pt>
                <c:pt idx="180">
                  <c:v>-1.02989598505</c:v>
                </c:pt>
              </c:numCache>
            </c:numRef>
          </c:xVal>
          <c:yVal>
            <c:numRef>
              <c:f>'Chart Data'!$D$2:$D$182</c:f>
              <c:numCache>
                <c:formatCode>0.0</c:formatCode>
                <c:ptCount val="181"/>
                <c:pt idx="0">
                  <c:v>0.24620876278</c:v>
                </c:pt>
                <c:pt idx="1">
                  <c:v>0.24620876278</c:v>
                </c:pt>
                <c:pt idx="2">
                  <c:v>0.24620876278</c:v>
                </c:pt>
                <c:pt idx="3">
                  <c:v>0.24620876278</c:v>
                </c:pt>
                <c:pt idx="4">
                  <c:v>0.24620876278</c:v>
                </c:pt>
                <c:pt idx="5">
                  <c:v>0.24620876278</c:v>
                </c:pt>
                <c:pt idx="6">
                  <c:v>0.24620876278</c:v>
                </c:pt>
                <c:pt idx="7">
                  <c:v>0.24620876278</c:v>
                </c:pt>
                <c:pt idx="8">
                  <c:v>0.24620876278</c:v>
                </c:pt>
                <c:pt idx="9">
                  <c:v>0.24620876278</c:v>
                </c:pt>
                <c:pt idx="10">
                  <c:v>0.24620876278</c:v>
                </c:pt>
                <c:pt idx="11">
                  <c:v>0.24620876278</c:v>
                </c:pt>
                <c:pt idx="12">
                  <c:v>0.24620876278</c:v>
                </c:pt>
                <c:pt idx="13">
                  <c:v>0.24620876278</c:v>
                </c:pt>
                <c:pt idx="14">
                  <c:v>0.24620876278</c:v>
                </c:pt>
                <c:pt idx="15">
                  <c:v>0.24620876278</c:v>
                </c:pt>
                <c:pt idx="16">
                  <c:v>0.24620876278</c:v>
                </c:pt>
                <c:pt idx="17">
                  <c:v>0.24620876278</c:v>
                </c:pt>
                <c:pt idx="18">
                  <c:v>0.24620876278</c:v>
                </c:pt>
                <c:pt idx="19">
                  <c:v>0.24620876278</c:v>
                </c:pt>
                <c:pt idx="20">
                  <c:v>0.24620876278</c:v>
                </c:pt>
                <c:pt idx="21">
                  <c:v>0.24620876278</c:v>
                </c:pt>
                <c:pt idx="22">
                  <c:v>0.24620876278</c:v>
                </c:pt>
                <c:pt idx="23">
                  <c:v>0.24620876278</c:v>
                </c:pt>
                <c:pt idx="24">
                  <c:v>0.24620876278</c:v>
                </c:pt>
                <c:pt idx="25">
                  <c:v>0.24620876278</c:v>
                </c:pt>
                <c:pt idx="26">
                  <c:v>0.24620876278</c:v>
                </c:pt>
                <c:pt idx="27">
                  <c:v>0.24620876278</c:v>
                </c:pt>
                <c:pt idx="28">
                  <c:v>0.24620876278</c:v>
                </c:pt>
                <c:pt idx="29">
                  <c:v>0.24620876278</c:v>
                </c:pt>
                <c:pt idx="30">
                  <c:v>0.24620876278</c:v>
                </c:pt>
                <c:pt idx="31">
                  <c:v>0.24620876278</c:v>
                </c:pt>
                <c:pt idx="32">
                  <c:v>0.24620876278</c:v>
                </c:pt>
                <c:pt idx="33">
                  <c:v>0.24620876278</c:v>
                </c:pt>
                <c:pt idx="34">
                  <c:v>0.24620876278</c:v>
                </c:pt>
                <c:pt idx="35">
                  <c:v>0.24620876278</c:v>
                </c:pt>
                <c:pt idx="36">
                  <c:v>0.24620876278</c:v>
                </c:pt>
                <c:pt idx="37">
                  <c:v>0.24620876278</c:v>
                </c:pt>
                <c:pt idx="38">
                  <c:v>0.24620876278</c:v>
                </c:pt>
                <c:pt idx="39">
                  <c:v>0.24620876278</c:v>
                </c:pt>
                <c:pt idx="40">
                  <c:v>0.24620876278</c:v>
                </c:pt>
                <c:pt idx="41">
                  <c:v>0.24620876278</c:v>
                </c:pt>
                <c:pt idx="42">
                  <c:v>0.24620876278</c:v>
                </c:pt>
                <c:pt idx="43">
                  <c:v>0.24620876278</c:v>
                </c:pt>
                <c:pt idx="44">
                  <c:v>0.24620876278</c:v>
                </c:pt>
                <c:pt idx="45">
                  <c:v>0.24620876278</c:v>
                </c:pt>
                <c:pt idx="46">
                  <c:v>0.24620876278</c:v>
                </c:pt>
                <c:pt idx="47">
                  <c:v>0.24620876278</c:v>
                </c:pt>
                <c:pt idx="48">
                  <c:v>0.24620876278</c:v>
                </c:pt>
                <c:pt idx="49">
                  <c:v>0.24620876278</c:v>
                </c:pt>
                <c:pt idx="50">
                  <c:v>0.24620876278</c:v>
                </c:pt>
                <c:pt idx="51">
                  <c:v>0.24620876278</c:v>
                </c:pt>
                <c:pt idx="52">
                  <c:v>0.24620876278</c:v>
                </c:pt>
                <c:pt idx="53">
                  <c:v>0.24620876278</c:v>
                </c:pt>
                <c:pt idx="54">
                  <c:v>0.24620876278</c:v>
                </c:pt>
                <c:pt idx="55">
                  <c:v>0.24620876278</c:v>
                </c:pt>
                <c:pt idx="56">
                  <c:v>0.24620876278</c:v>
                </c:pt>
                <c:pt idx="57">
                  <c:v>0.24620876278</c:v>
                </c:pt>
                <c:pt idx="58">
                  <c:v>0.24620876278</c:v>
                </c:pt>
                <c:pt idx="59">
                  <c:v>0.24620876278</c:v>
                </c:pt>
                <c:pt idx="60">
                  <c:v>0.24620876278</c:v>
                </c:pt>
                <c:pt idx="61">
                  <c:v>0.24620876278</c:v>
                </c:pt>
                <c:pt idx="62">
                  <c:v>0.24620876278</c:v>
                </c:pt>
                <c:pt idx="63">
                  <c:v>0.24620876278</c:v>
                </c:pt>
                <c:pt idx="64">
                  <c:v>0.24620876278</c:v>
                </c:pt>
                <c:pt idx="65">
                  <c:v>0.24620876278</c:v>
                </c:pt>
                <c:pt idx="66">
                  <c:v>0.24620876278</c:v>
                </c:pt>
                <c:pt idx="67">
                  <c:v>0.24620876278</c:v>
                </c:pt>
                <c:pt idx="68">
                  <c:v>0.24620876278</c:v>
                </c:pt>
                <c:pt idx="69">
                  <c:v>0.24620876278</c:v>
                </c:pt>
                <c:pt idx="70">
                  <c:v>0.24620876278</c:v>
                </c:pt>
                <c:pt idx="71">
                  <c:v>0.24620876278</c:v>
                </c:pt>
                <c:pt idx="72">
                  <c:v>0.24620876278</c:v>
                </c:pt>
                <c:pt idx="73">
                  <c:v>0.24620876278</c:v>
                </c:pt>
                <c:pt idx="74">
                  <c:v>0.24620876278</c:v>
                </c:pt>
                <c:pt idx="75">
                  <c:v>0.24620876278</c:v>
                </c:pt>
                <c:pt idx="76">
                  <c:v>0.24620876278</c:v>
                </c:pt>
                <c:pt idx="77">
                  <c:v>0.24620876278</c:v>
                </c:pt>
                <c:pt idx="78">
                  <c:v>0.24620876278</c:v>
                </c:pt>
                <c:pt idx="79">
                  <c:v>0.24620876278</c:v>
                </c:pt>
                <c:pt idx="80">
                  <c:v>0.24620876278</c:v>
                </c:pt>
                <c:pt idx="81">
                  <c:v>0.24620876278</c:v>
                </c:pt>
                <c:pt idx="82">
                  <c:v>0.24620876278</c:v>
                </c:pt>
                <c:pt idx="83">
                  <c:v>0.24620876278</c:v>
                </c:pt>
                <c:pt idx="84">
                  <c:v>0.24620876278</c:v>
                </c:pt>
                <c:pt idx="85">
                  <c:v>0.24620876278</c:v>
                </c:pt>
                <c:pt idx="86">
                  <c:v>0.24620876278</c:v>
                </c:pt>
                <c:pt idx="87">
                  <c:v>0.24620876278</c:v>
                </c:pt>
                <c:pt idx="88">
                  <c:v>0.24620876278</c:v>
                </c:pt>
                <c:pt idx="89">
                  <c:v>0.24620876278</c:v>
                </c:pt>
                <c:pt idx="90">
                  <c:v>0.24620876278</c:v>
                </c:pt>
                <c:pt idx="91">
                  <c:v>0.24620876278</c:v>
                </c:pt>
                <c:pt idx="92">
                  <c:v>0.24620876278</c:v>
                </c:pt>
                <c:pt idx="93">
                  <c:v>0.24620876278</c:v>
                </c:pt>
                <c:pt idx="94">
                  <c:v>0.24620876278</c:v>
                </c:pt>
                <c:pt idx="95">
                  <c:v>0.24620876278</c:v>
                </c:pt>
                <c:pt idx="96">
                  <c:v>0.24620876278</c:v>
                </c:pt>
                <c:pt idx="97">
                  <c:v>0.24620876278</c:v>
                </c:pt>
                <c:pt idx="98">
                  <c:v>0.24620876278</c:v>
                </c:pt>
                <c:pt idx="99">
                  <c:v>0.24620876278</c:v>
                </c:pt>
                <c:pt idx="100">
                  <c:v>0.24620876278</c:v>
                </c:pt>
                <c:pt idx="101">
                  <c:v>0.24620876278</c:v>
                </c:pt>
                <c:pt idx="102">
                  <c:v>0.24620876278</c:v>
                </c:pt>
                <c:pt idx="103">
                  <c:v>0.24620876278</c:v>
                </c:pt>
                <c:pt idx="104">
                  <c:v>0.24620876278</c:v>
                </c:pt>
                <c:pt idx="105">
                  <c:v>0.24620876278</c:v>
                </c:pt>
                <c:pt idx="106">
                  <c:v>0.24620876278</c:v>
                </c:pt>
                <c:pt idx="107">
                  <c:v>0.24620876278</c:v>
                </c:pt>
                <c:pt idx="108">
                  <c:v>0.24620876278</c:v>
                </c:pt>
                <c:pt idx="109">
                  <c:v>0.24620876278</c:v>
                </c:pt>
                <c:pt idx="110">
                  <c:v>0.24620876278</c:v>
                </c:pt>
                <c:pt idx="111">
                  <c:v>0.24620876278</c:v>
                </c:pt>
                <c:pt idx="112">
                  <c:v>0.24620876278</c:v>
                </c:pt>
                <c:pt idx="113">
                  <c:v>0.24620876278</c:v>
                </c:pt>
                <c:pt idx="114">
                  <c:v>0.24620876278</c:v>
                </c:pt>
                <c:pt idx="115">
                  <c:v>0.24620876278</c:v>
                </c:pt>
                <c:pt idx="116">
                  <c:v>0.24620876278</c:v>
                </c:pt>
                <c:pt idx="117">
                  <c:v>0.24620876278</c:v>
                </c:pt>
                <c:pt idx="118">
                  <c:v>0.24620876278</c:v>
                </c:pt>
                <c:pt idx="119">
                  <c:v>0.24620876278</c:v>
                </c:pt>
                <c:pt idx="120">
                  <c:v>0.24620876278</c:v>
                </c:pt>
                <c:pt idx="121">
                  <c:v>0.24620876278</c:v>
                </c:pt>
                <c:pt idx="122">
                  <c:v>0.24620876278</c:v>
                </c:pt>
                <c:pt idx="123">
                  <c:v>0.24620876278</c:v>
                </c:pt>
                <c:pt idx="124">
                  <c:v>0.24620876278</c:v>
                </c:pt>
                <c:pt idx="125">
                  <c:v>0.24620876278</c:v>
                </c:pt>
                <c:pt idx="126">
                  <c:v>0.24620876278</c:v>
                </c:pt>
                <c:pt idx="127">
                  <c:v>0.24620876278</c:v>
                </c:pt>
                <c:pt idx="128">
                  <c:v>0.24620876278</c:v>
                </c:pt>
                <c:pt idx="129">
                  <c:v>0.24620876278</c:v>
                </c:pt>
                <c:pt idx="130">
                  <c:v>0.24620876278</c:v>
                </c:pt>
                <c:pt idx="131">
                  <c:v>0.24620876278</c:v>
                </c:pt>
                <c:pt idx="132">
                  <c:v>0.24620876278</c:v>
                </c:pt>
                <c:pt idx="133">
                  <c:v>0.24620876278</c:v>
                </c:pt>
                <c:pt idx="134">
                  <c:v>0.24620876278</c:v>
                </c:pt>
                <c:pt idx="135">
                  <c:v>0.24620876278</c:v>
                </c:pt>
                <c:pt idx="136">
                  <c:v>0.24620876278</c:v>
                </c:pt>
                <c:pt idx="137">
                  <c:v>0.24620876278</c:v>
                </c:pt>
                <c:pt idx="138">
                  <c:v>0.24620876278</c:v>
                </c:pt>
                <c:pt idx="139">
                  <c:v>0.24620876278</c:v>
                </c:pt>
                <c:pt idx="140">
                  <c:v>0.24620876278</c:v>
                </c:pt>
                <c:pt idx="141">
                  <c:v>0.24620876278</c:v>
                </c:pt>
                <c:pt idx="142">
                  <c:v>0.24620876278</c:v>
                </c:pt>
                <c:pt idx="143">
                  <c:v>0.24620876278</c:v>
                </c:pt>
                <c:pt idx="144">
                  <c:v>0.24620876278</c:v>
                </c:pt>
                <c:pt idx="145">
                  <c:v>0.24620876278</c:v>
                </c:pt>
                <c:pt idx="146">
                  <c:v>0.24620876278</c:v>
                </c:pt>
                <c:pt idx="147">
                  <c:v>0.24620876278</c:v>
                </c:pt>
                <c:pt idx="148">
                  <c:v>0.24620876278</c:v>
                </c:pt>
                <c:pt idx="149">
                  <c:v>0.24620876278</c:v>
                </c:pt>
                <c:pt idx="150">
                  <c:v>0.24620876278</c:v>
                </c:pt>
                <c:pt idx="151">
                  <c:v>0.24620876278</c:v>
                </c:pt>
                <c:pt idx="152">
                  <c:v>0.24620876278</c:v>
                </c:pt>
                <c:pt idx="153">
                  <c:v>0.24620876278</c:v>
                </c:pt>
                <c:pt idx="154">
                  <c:v>0.24620876278</c:v>
                </c:pt>
                <c:pt idx="155">
                  <c:v>0.24620876278</c:v>
                </c:pt>
                <c:pt idx="156">
                  <c:v>0.24620876278</c:v>
                </c:pt>
                <c:pt idx="157">
                  <c:v>0.24620876278</c:v>
                </c:pt>
                <c:pt idx="158">
                  <c:v>0.24620876278</c:v>
                </c:pt>
                <c:pt idx="159">
                  <c:v>0.24620876278</c:v>
                </c:pt>
                <c:pt idx="160">
                  <c:v>0.24620876278</c:v>
                </c:pt>
                <c:pt idx="161">
                  <c:v>0.24620876278</c:v>
                </c:pt>
                <c:pt idx="162">
                  <c:v>0.24620876278</c:v>
                </c:pt>
                <c:pt idx="163">
                  <c:v>0.24620876278</c:v>
                </c:pt>
                <c:pt idx="164">
                  <c:v>0.24620876278</c:v>
                </c:pt>
                <c:pt idx="165">
                  <c:v>0.24620876278</c:v>
                </c:pt>
                <c:pt idx="166">
                  <c:v>0.24620876278</c:v>
                </c:pt>
                <c:pt idx="167">
                  <c:v>0.24620876278</c:v>
                </c:pt>
                <c:pt idx="168">
                  <c:v>0.24620876278</c:v>
                </c:pt>
                <c:pt idx="169">
                  <c:v>0.24620876278</c:v>
                </c:pt>
                <c:pt idx="170">
                  <c:v>0.24620876278</c:v>
                </c:pt>
                <c:pt idx="171">
                  <c:v>0.24620876278</c:v>
                </c:pt>
                <c:pt idx="172">
                  <c:v>0.24620876278</c:v>
                </c:pt>
                <c:pt idx="173">
                  <c:v>0.24620876278</c:v>
                </c:pt>
                <c:pt idx="174">
                  <c:v>0.24620876278</c:v>
                </c:pt>
                <c:pt idx="175">
                  <c:v>0.24620876278</c:v>
                </c:pt>
                <c:pt idx="176">
                  <c:v>0.24620876278</c:v>
                </c:pt>
                <c:pt idx="177">
                  <c:v>0.24620876278</c:v>
                </c:pt>
                <c:pt idx="178">
                  <c:v>0.24620876278</c:v>
                </c:pt>
                <c:pt idx="179">
                  <c:v>0.24620876278</c:v>
                </c:pt>
                <c:pt idx="180">
                  <c:v>0.24620876278</c:v>
                </c:pt>
              </c:numCache>
            </c:numRef>
          </c:yVal>
          <c:smooth val="0"/>
        </c:ser>
        <c:ser>
          <c:idx val="2"/>
          <c:order val="2"/>
          <c:tx>
            <c:v>Mínimo direito</c:v>
          </c:tx>
          <c:spPr>
            <a:solidFill xmlns:a="http://schemas.openxmlformats.org/drawingml/2006/main">
              <a:srgbClr val="FFAD62"/>
            </a:solidFill>
            <a:ln xmlns:a="http://schemas.openxmlformats.org/drawingml/2006/main" w="0">
              <a:noFill/>
            </a:ln>
          </c:spPr>
          <c:marker>
            <c:symbol val="circle"/>
            <c:size val="11"/>
            <c:spPr>
              <a:solidFill xmlns:a="http://schemas.openxmlformats.org/drawingml/2006/main">
                <a:srgbClr val="FFAD62"/>
              </a:solidFill>
              <ns1:ln xmlns:ns1="http://schemas.openxmlformats.org/drawingml/2006/main" w="0">
                <ns1:noFill/>
              </ns1:ln>
            </c:spPr>
          </c:marker>
          <c:xVal>
            <c:numRef>
              <c:f>'Chart Data'!$E$2:$E$182</c:f>
              <c:numCache>
                <c:formatCode>General</c:formatCode>
                <c:ptCount val="181"/>
                <c:pt idx="0">
                  <c:v>0.967148937883</c:v>
                </c:pt>
                <c:pt idx="1">
                  <c:v>0.967148937883</c:v>
                </c:pt>
                <c:pt idx="2">
                  <c:v>0.967148937883</c:v>
                </c:pt>
                <c:pt idx="3">
                  <c:v>0.967148937883</c:v>
                </c:pt>
                <c:pt idx="4">
                  <c:v>0.967148937883</c:v>
                </c:pt>
                <c:pt idx="5">
                  <c:v>0.967148937883</c:v>
                </c:pt>
                <c:pt idx="6">
                  <c:v>0.967148937883</c:v>
                </c:pt>
                <c:pt idx="7">
                  <c:v>0.967148937883</c:v>
                </c:pt>
                <c:pt idx="8">
                  <c:v>0.967148937883</c:v>
                </c:pt>
                <c:pt idx="9">
                  <c:v>0.967148937883</c:v>
                </c:pt>
                <c:pt idx="10">
                  <c:v>0.967148937883</c:v>
                </c:pt>
                <c:pt idx="11">
                  <c:v>0.967148937883</c:v>
                </c:pt>
                <c:pt idx="12">
                  <c:v>0.967148937883</c:v>
                </c:pt>
                <c:pt idx="13">
                  <c:v>0.967148937883</c:v>
                </c:pt>
                <c:pt idx="14">
                  <c:v>0.967148937883</c:v>
                </c:pt>
                <c:pt idx="15">
                  <c:v>0.967148937883</c:v>
                </c:pt>
                <c:pt idx="16">
                  <c:v>0.967148937883</c:v>
                </c:pt>
                <c:pt idx="17">
                  <c:v>0.967148937883</c:v>
                </c:pt>
                <c:pt idx="18">
                  <c:v>0.967148937883</c:v>
                </c:pt>
                <c:pt idx="19">
                  <c:v>0.967148937883</c:v>
                </c:pt>
                <c:pt idx="20">
                  <c:v>0.967148937883</c:v>
                </c:pt>
                <c:pt idx="21">
                  <c:v>0.967148937883</c:v>
                </c:pt>
                <c:pt idx="22">
                  <c:v>0.967148937883</c:v>
                </c:pt>
                <c:pt idx="23">
                  <c:v>0.967148937883</c:v>
                </c:pt>
                <c:pt idx="24">
                  <c:v>0.967148937883</c:v>
                </c:pt>
                <c:pt idx="25">
                  <c:v>0.967148937883</c:v>
                </c:pt>
                <c:pt idx="26">
                  <c:v>0.967148937883</c:v>
                </c:pt>
                <c:pt idx="27">
                  <c:v>0.967148937883</c:v>
                </c:pt>
                <c:pt idx="28">
                  <c:v>0.967148937883</c:v>
                </c:pt>
                <c:pt idx="29">
                  <c:v>0.967148937883</c:v>
                </c:pt>
                <c:pt idx="30">
                  <c:v>0.967148937883</c:v>
                </c:pt>
                <c:pt idx="31">
                  <c:v>0.967148937883</c:v>
                </c:pt>
                <c:pt idx="32">
                  <c:v>0.967148937883</c:v>
                </c:pt>
                <c:pt idx="33">
                  <c:v>0.967148937883</c:v>
                </c:pt>
                <c:pt idx="34">
                  <c:v>0.967148937883</c:v>
                </c:pt>
                <c:pt idx="35">
                  <c:v>0.967148937883</c:v>
                </c:pt>
                <c:pt idx="36">
                  <c:v>0.967148937883</c:v>
                </c:pt>
                <c:pt idx="37">
                  <c:v>0.967148937883</c:v>
                </c:pt>
                <c:pt idx="38">
                  <c:v>0.967148937883</c:v>
                </c:pt>
                <c:pt idx="39">
                  <c:v>0.967148937883</c:v>
                </c:pt>
                <c:pt idx="40">
                  <c:v>0.967148937883</c:v>
                </c:pt>
                <c:pt idx="41">
                  <c:v>0.967148937883</c:v>
                </c:pt>
                <c:pt idx="42">
                  <c:v>0.967148937883</c:v>
                </c:pt>
                <c:pt idx="43">
                  <c:v>0.967148937883</c:v>
                </c:pt>
                <c:pt idx="44">
                  <c:v>0.967148937883</c:v>
                </c:pt>
                <c:pt idx="45">
                  <c:v>0.967148937883</c:v>
                </c:pt>
                <c:pt idx="46">
                  <c:v>0.967148937883</c:v>
                </c:pt>
                <c:pt idx="47">
                  <c:v>0.967148937883</c:v>
                </c:pt>
                <c:pt idx="48">
                  <c:v>0.967148937883</c:v>
                </c:pt>
                <c:pt idx="49">
                  <c:v>0.967148937883</c:v>
                </c:pt>
                <c:pt idx="50">
                  <c:v>0.967148937883</c:v>
                </c:pt>
                <c:pt idx="51">
                  <c:v>0.967148937883</c:v>
                </c:pt>
                <c:pt idx="52">
                  <c:v>0.967148937883</c:v>
                </c:pt>
                <c:pt idx="53">
                  <c:v>0.967148937883</c:v>
                </c:pt>
                <c:pt idx="54">
                  <c:v>0.967148937883</c:v>
                </c:pt>
                <c:pt idx="55">
                  <c:v>0.967148937883</c:v>
                </c:pt>
                <c:pt idx="56">
                  <c:v>0.967148937883</c:v>
                </c:pt>
                <c:pt idx="57">
                  <c:v>0.967148937883</c:v>
                </c:pt>
                <c:pt idx="58">
                  <c:v>0.967148937883</c:v>
                </c:pt>
                <c:pt idx="59">
                  <c:v>0.967148937883</c:v>
                </c:pt>
                <c:pt idx="60">
                  <c:v>0.967148937883</c:v>
                </c:pt>
                <c:pt idx="61">
                  <c:v>0.967148937883</c:v>
                </c:pt>
                <c:pt idx="62">
                  <c:v>0.967148937883</c:v>
                </c:pt>
                <c:pt idx="63">
                  <c:v>0.967148937883</c:v>
                </c:pt>
                <c:pt idx="64">
                  <c:v>0.967148937883</c:v>
                </c:pt>
                <c:pt idx="65">
                  <c:v>0.967148937883</c:v>
                </c:pt>
                <c:pt idx="66">
                  <c:v>0.967148937883</c:v>
                </c:pt>
                <c:pt idx="67">
                  <c:v>0.967148937883</c:v>
                </c:pt>
                <c:pt idx="68">
                  <c:v>0.967148937883</c:v>
                </c:pt>
                <c:pt idx="69">
                  <c:v>0.967148937883</c:v>
                </c:pt>
                <c:pt idx="70">
                  <c:v>0.967148937883</c:v>
                </c:pt>
                <c:pt idx="71">
                  <c:v>0.967148937883</c:v>
                </c:pt>
                <c:pt idx="72">
                  <c:v>0.967148937883</c:v>
                </c:pt>
                <c:pt idx="73">
                  <c:v>0.967148937883</c:v>
                </c:pt>
                <c:pt idx="74">
                  <c:v>0.967148937883</c:v>
                </c:pt>
                <c:pt idx="75">
                  <c:v>0.967148937883</c:v>
                </c:pt>
                <c:pt idx="76">
                  <c:v>0.967148937883</c:v>
                </c:pt>
                <c:pt idx="77">
                  <c:v>0.967148937883</c:v>
                </c:pt>
                <c:pt idx="78">
                  <c:v>0.967148937883</c:v>
                </c:pt>
                <c:pt idx="79">
                  <c:v>0.967148937883</c:v>
                </c:pt>
                <c:pt idx="80">
                  <c:v>0.967148937883</c:v>
                </c:pt>
                <c:pt idx="81">
                  <c:v>0.967148937883</c:v>
                </c:pt>
                <c:pt idx="82">
                  <c:v>0.967148937883</c:v>
                </c:pt>
                <c:pt idx="83">
                  <c:v>0.967148937883</c:v>
                </c:pt>
                <c:pt idx="84">
                  <c:v>0.967148937883</c:v>
                </c:pt>
                <c:pt idx="85">
                  <c:v>0.967148937883</c:v>
                </c:pt>
                <c:pt idx="86">
                  <c:v>0.967148937883</c:v>
                </c:pt>
                <c:pt idx="87">
                  <c:v>0.967148937883</c:v>
                </c:pt>
                <c:pt idx="88">
                  <c:v>0.967148937883</c:v>
                </c:pt>
                <c:pt idx="89">
                  <c:v>0.967148937883</c:v>
                </c:pt>
                <c:pt idx="90">
                  <c:v>0.967148937883</c:v>
                </c:pt>
                <c:pt idx="91">
                  <c:v>0.967148937883</c:v>
                </c:pt>
                <c:pt idx="92">
                  <c:v>0.967148937883</c:v>
                </c:pt>
                <c:pt idx="93">
                  <c:v>0.967148937883</c:v>
                </c:pt>
                <c:pt idx="94">
                  <c:v>0.967148937883</c:v>
                </c:pt>
                <c:pt idx="95">
                  <c:v>0.967148937883</c:v>
                </c:pt>
                <c:pt idx="96">
                  <c:v>0.967148937883</c:v>
                </c:pt>
                <c:pt idx="97">
                  <c:v>0.967148937883</c:v>
                </c:pt>
                <c:pt idx="98">
                  <c:v>0.967148937883</c:v>
                </c:pt>
                <c:pt idx="99">
                  <c:v>0.967148937883</c:v>
                </c:pt>
                <c:pt idx="100">
                  <c:v>0.967148937883</c:v>
                </c:pt>
                <c:pt idx="101">
                  <c:v>0.967148937883</c:v>
                </c:pt>
                <c:pt idx="102">
                  <c:v>0.967148937883</c:v>
                </c:pt>
                <c:pt idx="103">
                  <c:v>0.967148937883</c:v>
                </c:pt>
                <c:pt idx="104">
                  <c:v>0.967148937883</c:v>
                </c:pt>
                <c:pt idx="105">
                  <c:v>0.967148937883</c:v>
                </c:pt>
                <c:pt idx="106">
                  <c:v>0.967148937883</c:v>
                </c:pt>
                <c:pt idx="107">
                  <c:v>0.967148937883</c:v>
                </c:pt>
                <c:pt idx="108">
                  <c:v>0.967148937883</c:v>
                </c:pt>
                <c:pt idx="109">
                  <c:v>0.967148937883</c:v>
                </c:pt>
                <c:pt idx="110">
                  <c:v>0.967148937883</c:v>
                </c:pt>
                <c:pt idx="111">
                  <c:v>0.967148937883</c:v>
                </c:pt>
                <c:pt idx="112">
                  <c:v>0.967148937883</c:v>
                </c:pt>
                <c:pt idx="113">
                  <c:v>0.967148937883</c:v>
                </c:pt>
                <c:pt idx="114">
                  <c:v>0.967148937883</c:v>
                </c:pt>
                <c:pt idx="115">
                  <c:v>0.967148937883</c:v>
                </c:pt>
                <c:pt idx="116">
                  <c:v>0.967148937883</c:v>
                </c:pt>
                <c:pt idx="117">
                  <c:v>0.967148937883</c:v>
                </c:pt>
                <c:pt idx="118">
                  <c:v>0.967148937883</c:v>
                </c:pt>
                <c:pt idx="119">
                  <c:v>0.967148937883</c:v>
                </c:pt>
                <c:pt idx="120">
                  <c:v>0.967148937883</c:v>
                </c:pt>
                <c:pt idx="121">
                  <c:v>0.967148937883</c:v>
                </c:pt>
                <c:pt idx="122">
                  <c:v>0.967148937883</c:v>
                </c:pt>
                <c:pt idx="123">
                  <c:v>0.967148937883</c:v>
                </c:pt>
                <c:pt idx="124">
                  <c:v>0.967148937883</c:v>
                </c:pt>
                <c:pt idx="125">
                  <c:v>0.967148937883</c:v>
                </c:pt>
                <c:pt idx="126">
                  <c:v>0.967148937883</c:v>
                </c:pt>
                <c:pt idx="127">
                  <c:v>0.967148937883</c:v>
                </c:pt>
                <c:pt idx="128">
                  <c:v>0.967148937883</c:v>
                </c:pt>
                <c:pt idx="129">
                  <c:v>0.967148937883</c:v>
                </c:pt>
                <c:pt idx="130">
                  <c:v>0.967148937883</c:v>
                </c:pt>
                <c:pt idx="131">
                  <c:v>0.967148937883</c:v>
                </c:pt>
                <c:pt idx="132">
                  <c:v>0.967148937883</c:v>
                </c:pt>
                <c:pt idx="133">
                  <c:v>0.967148937883</c:v>
                </c:pt>
                <c:pt idx="134">
                  <c:v>0.967148937883</c:v>
                </c:pt>
                <c:pt idx="135">
                  <c:v>0.967148937883</c:v>
                </c:pt>
                <c:pt idx="136">
                  <c:v>0.967148937883</c:v>
                </c:pt>
                <c:pt idx="137">
                  <c:v>0.967148937883</c:v>
                </c:pt>
                <c:pt idx="138">
                  <c:v>0.967148937883</c:v>
                </c:pt>
                <c:pt idx="139">
                  <c:v>0.967148937883</c:v>
                </c:pt>
                <c:pt idx="140">
                  <c:v>0.967148937883</c:v>
                </c:pt>
                <c:pt idx="141">
                  <c:v>0.967148937883</c:v>
                </c:pt>
                <c:pt idx="142">
                  <c:v>0.967148937883</c:v>
                </c:pt>
                <c:pt idx="143">
                  <c:v>0.967148937883</c:v>
                </c:pt>
                <c:pt idx="144">
                  <c:v>0.967148937883</c:v>
                </c:pt>
                <c:pt idx="145">
                  <c:v>0.967148937883</c:v>
                </c:pt>
                <c:pt idx="146">
                  <c:v>0.967148937883</c:v>
                </c:pt>
                <c:pt idx="147">
                  <c:v>0.967148937883</c:v>
                </c:pt>
                <c:pt idx="148">
                  <c:v>0.967148937883</c:v>
                </c:pt>
                <c:pt idx="149">
                  <c:v>0.967148937883</c:v>
                </c:pt>
                <c:pt idx="150">
                  <c:v>0.967148937883</c:v>
                </c:pt>
                <c:pt idx="151">
                  <c:v>0.967148937883</c:v>
                </c:pt>
                <c:pt idx="152">
                  <c:v>0.967148937883</c:v>
                </c:pt>
                <c:pt idx="153">
                  <c:v>0.967148937883</c:v>
                </c:pt>
                <c:pt idx="154">
                  <c:v>0.967148937883</c:v>
                </c:pt>
                <c:pt idx="155">
                  <c:v>0.967148937883</c:v>
                </c:pt>
                <c:pt idx="156">
                  <c:v>0.967148937883</c:v>
                </c:pt>
                <c:pt idx="157">
                  <c:v>0.967148937883</c:v>
                </c:pt>
                <c:pt idx="158">
                  <c:v>0.967148937883</c:v>
                </c:pt>
                <c:pt idx="159">
                  <c:v>0.967148937883</c:v>
                </c:pt>
                <c:pt idx="160">
                  <c:v>0.967148937883</c:v>
                </c:pt>
                <c:pt idx="161">
                  <c:v>0.967148937883</c:v>
                </c:pt>
                <c:pt idx="162">
                  <c:v>0.967148937883</c:v>
                </c:pt>
                <c:pt idx="163">
                  <c:v>0.967148937883</c:v>
                </c:pt>
                <c:pt idx="164">
                  <c:v>0.967148937883</c:v>
                </c:pt>
                <c:pt idx="165">
                  <c:v>0.967148937883</c:v>
                </c:pt>
                <c:pt idx="166">
                  <c:v>0.967148937883</c:v>
                </c:pt>
                <c:pt idx="167">
                  <c:v>0.967148937883</c:v>
                </c:pt>
                <c:pt idx="168">
                  <c:v>0.967148937883</c:v>
                </c:pt>
                <c:pt idx="169">
                  <c:v>0.967148937883</c:v>
                </c:pt>
                <c:pt idx="170">
                  <c:v>0.967148937883</c:v>
                </c:pt>
                <c:pt idx="171">
                  <c:v>0.967148937883</c:v>
                </c:pt>
                <c:pt idx="172">
                  <c:v>0.967148937883</c:v>
                </c:pt>
                <c:pt idx="173">
                  <c:v>0.967148937883</c:v>
                </c:pt>
                <c:pt idx="174">
                  <c:v>0.967148937883</c:v>
                </c:pt>
                <c:pt idx="175">
                  <c:v>0.967148937883</c:v>
                </c:pt>
                <c:pt idx="176">
                  <c:v>0.967148937883</c:v>
                </c:pt>
                <c:pt idx="177">
                  <c:v>0.967148937883</c:v>
                </c:pt>
                <c:pt idx="178">
                  <c:v>0.967148937883</c:v>
                </c:pt>
                <c:pt idx="179">
                  <c:v>0.967148937883</c:v>
                </c:pt>
                <c:pt idx="180">
                  <c:v>0.967148937883</c:v>
                </c:pt>
              </c:numCache>
            </c:numRef>
          </c:xVal>
          <c:yVal>
            <c:numRef>
              <c:f>'Chart Data'!$F$2:$F$182</c:f>
              <c:numCache>
                <c:formatCode>0.0</c:formatCode>
                <c:ptCount val="181"/>
                <c:pt idx="0">
                  <c:v>0.745963357805</c:v>
                </c:pt>
                <c:pt idx="1">
                  <c:v>0.745963357805</c:v>
                </c:pt>
                <c:pt idx="2">
                  <c:v>0.745963357805</c:v>
                </c:pt>
                <c:pt idx="3">
                  <c:v>0.745963357805</c:v>
                </c:pt>
                <c:pt idx="4">
                  <c:v>0.745963357805</c:v>
                </c:pt>
                <c:pt idx="5">
                  <c:v>0.745963357805</c:v>
                </c:pt>
                <c:pt idx="6">
                  <c:v>0.745963357805</c:v>
                </c:pt>
                <c:pt idx="7">
                  <c:v>0.745963357805</c:v>
                </c:pt>
                <c:pt idx="8">
                  <c:v>0.745963357805</c:v>
                </c:pt>
                <c:pt idx="9">
                  <c:v>0.745963357805</c:v>
                </c:pt>
                <c:pt idx="10">
                  <c:v>0.745963357805</c:v>
                </c:pt>
                <c:pt idx="11">
                  <c:v>0.745963357805</c:v>
                </c:pt>
                <c:pt idx="12">
                  <c:v>0.745963357805</c:v>
                </c:pt>
                <c:pt idx="13">
                  <c:v>0.745963357805</c:v>
                </c:pt>
                <c:pt idx="14">
                  <c:v>0.745963357805</c:v>
                </c:pt>
                <c:pt idx="15">
                  <c:v>0.745963357805</c:v>
                </c:pt>
                <c:pt idx="16">
                  <c:v>0.745963357805</c:v>
                </c:pt>
                <c:pt idx="17">
                  <c:v>0.745963357805</c:v>
                </c:pt>
                <c:pt idx="18">
                  <c:v>0.745963357805</c:v>
                </c:pt>
                <c:pt idx="19">
                  <c:v>0.745963357805</c:v>
                </c:pt>
                <c:pt idx="20">
                  <c:v>0.745963357805</c:v>
                </c:pt>
                <c:pt idx="21">
                  <c:v>0.745963357805</c:v>
                </c:pt>
                <c:pt idx="22">
                  <c:v>0.745963357805</c:v>
                </c:pt>
                <c:pt idx="23">
                  <c:v>0.745963357805</c:v>
                </c:pt>
                <c:pt idx="24">
                  <c:v>0.745963357805</c:v>
                </c:pt>
                <c:pt idx="25">
                  <c:v>0.745963357805</c:v>
                </c:pt>
                <c:pt idx="26">
                  <c:v>0.745963357805</c:v>
                </c:pt>
                <c:pt idx="27">
                  <c:v>0.745963357805</c:v>
                </c:pt>
                <c:pt idx="28">
                  <c:v>0.745963357805</c:v>
                </c:pt>
                <c:pt idx="29">
                  <c:v>0.745963357805</c:v>
                </c:pt>
                <c:pt idx="30">
                  <c:v>0.745963357805</c:v>
                </c:pt>
                <c:pt idx="31">
                  <c:v>0.745963357805</c:v>
                </c:pt>
                <c:pt idx="32">
                  <c:v>0.745963357805</c:v>
                </c:pt>
                <c:pt idx="33">
                  <c:v>0.745963357805</c:v>
                </c:pt>
                <c:pt idx="34">
                  <c:v>0.745963357805</c:v>
                </c:pt>
                <c:pt idx="35">
                  <c:v>0.745963357805</c:v>
                </c:pt>
                <c:pt idx="36">
                  <c:v>0.745963357805</c:v>
                </c:pt>
                <c:pt idx="37">
                  <c:v>0.745963357805</c:v>
                </c:pt>
                <c:pt idx="38">
                  <c:v>0.745963357805</c:v>
                </c:pt>
                <c:pt idx="39">
                  <c:v>0.745963357805</c:v>
                </c:pt>
                <c:pt idx="40">
                  <c:v>0.745963357805</c:v>
                </c:pt>
                <c:pt idx="41">
                  <c:v>0.745963357805</c:v>
                </c:pt>
                <c:pt idx="42">
                  <c:v>0.745963357805</c:v>
                </c:pt>
                <c:pt idx="43">
                  <c:v>0.745963357805</c:v>
                </c:pt>
                <c:pt idx="44">
                  <c:v>0.745963357805</c:v>
                </c:pt>
                <c:pt idx="45">
                  <c:v>0.745963357805</c:v>
                </c:pt>
                <c:pt idx="46">
                  <c:v>0.745963357805</c:v>
                </c:pt>
                <c:pt idx="47">
                  <c:v>0.745963357805</c:v>
                </c:pt>
                <c:pt idx="48">
                  <c:v>0.745963357805</c:v>
                </c:pt>
                <c:pt idx="49">
                  <c:v>0.745963357805</c:v>
                </c:pt>
                <c:pt idx="50">
                  <c:v>0.745963357805</c:v>
                </c:pt>
                <c:pt idx="51">
                  <c:v>0.745963357805</c:v>
                </c:pt>
                <c:pt idx="52">
                  <c:v>0.745963357805</c:v>
                </c:pt>
                <c:pt idx="53">
                  <c:v>0.745963357805</c:v>
                </c:pt>
                <c:pt idx="54">
                  <c:v>0.745963357805</c:v>
                </c:pt>
                <c:pt idx="55">
                  <c:v>0.745963357805</c:v>
                </c:pt>
                <c:pt idx="56">
                  <c:v>0.745963357805</c:v>
                </c:pt>
                <c:pt idx="57">
                  <c:v>0.745963357805</c:v>
                </c:pt>
                <c:pt idx="58">
                  <c:v>0.745963357805</c:v>
                </c:pt>
                <c:pt idx="59">
                  <c:v>0.745963357805</c:v>
                </c:pt>
                <c:pt idx="60">
                  <c:v>0.745963357805</c:v>
                </c:pt>
                <c:pt idx="61">
                  <c:v>0.745963357805</c:v>
                </c:pt>
                <c:pt idx="62">
                  <c:v>0.745963357805</c:v>
                </c:pt>
                <c:pt idx="63">
                  <c:v>0.745963357805</c:v>
                </c:pt>
                <c:pt idx="64">
                  <c:v>0.745963357805</c:v>
                </c:pt>
                <c:pt idx="65">
                  <c:v>0.745963357805</c:v>
                </c:pt>
                <c:pt idx="66">
                  <c:v>0.745963357805</c:v>
                </c:pt>
                <c:pt idx="67">
                  <c:v>0.745963357805</c:v>
                </c:pt>
                <c:pt idx="68">
                  <c:v>0.745963357805</c:v>
                </c:pt>
                <c:pt idx="69">
                  <c:v>0.745963357805</c:v>
                </c:pt>
                <c:pt idx="70">
                  <c:v>0.745963357805</c:v>
                </c:pt>
                <c:pt idx="71">
                  <c:v>0.745963357805</c:v>
                </c:pt>
                <c:pt idx="72">
                  <c:v>0.745963357805</c:v>
                </c:pt>
                <c:pt idx="73">
                  <c:v>0.745963357805</c:v>
                </c:pt>
                <c:pt idx="74">
                  <c:v>0.745963357805</c:v>
                </c:pt>
                <c:pt idx="75">
                  <c:v>0.745963357805</c:v>
                </c:pt>
                <c:pt idx="76">
                  <c:v>0.745963357805</c:v>
                </c:pt>
                <c:pt idx="77">
                  <c:v>0.745963357805</c:v>
                </c:pt>
                <c:pt idx="78">
                  <c:v>0.745963357805</c:v>
                </c:pt>
                <c:pt idx="79">
                  <c:v>0.745963357805</c:v>
                </c:pt>
                <c:pt idx="80">
                  <c:v>0.745963357805</c:v>
                </c:pt>
                <c:pt idx="81">
                  <c:v>0.745963357805</c:v>
                </c:pt>
                <c:pt idx="82">
                  <c:v>0.745963357805</c:v>
                </c:pt>
                <c:pt idx="83">
                  <c:v>0.745963357805</c:v>
                </c:pt>
                <c:pt idx="84">
                  <c:v>0.745963357805</c:v>
                </c:pt>
                <c:pt idx="85">
                  <c:v>0.745963357805</c:v>
                </c:pt>
                <c:pt idx="86">
                  <c:v>0.745963357805</c:v>
                </c:pt>
                <c:pt idx="87">
                  <c:v>0.745963357805</c:v>
                </c:pt>
                <c:pt idx="88">
                  <c:v>0.745963357805</c:v>
                </c:pt>
                <c:pt idx="89">
                  <c:v>0.745963357805</c:v>
                </c:pt>
                <c:pt idx="90">
                  <c:v>0.745963357805</c:v>
                </c:pt>
                <c:pt idx="91">
                  <c:v>0.745963357805</c:v>
                </c:pt>
                <c:pt idx="92">
                  <c:v>0.745963357805</c:v>
                </c:pt>
                <c:pt idx="93">
                  <c:v>0.745963357805</c:v>
                </c:pt>
                <c:pt idx="94">
                  <c:v>0.745963357805</c:v>
                </c:pt>
                <c:pt idx="95">
                  <c:v>0.745963357805</c:v>
                </c:pt>
                <c:pt idx="96">
                  <c:v>0.745963357805</c:v>
                </c:pt>
                <c:pt idx="97">
                  <c:v>0.745963357805</c:v>
                </c:pt>
                <c:pt idx="98">
                  <c:v>0.745963357805</c:v>
                </c:pt>
                <c:pt idx="99">
                  <c:v>0.745963357805</c:v>
                </c:pt>
                <c:pt idx="100">
                  <c:v>0.745963357805</c:v>
                </c:pt>
                <c:pt idx="101">
                  <c:v>0.745963357805</c:v>
                </c:pt>
                <c:pt idx="102">
                  <c:v>0.745963357805</c:v>
                </c:pt>
                <c:pt idx="103">
                  <c:v>0.745963357805</c:v>
                </c:pt>
                <c:pt idx="104">
                  <c:v>0.745963357805</c:v>
                </c:pt>
                <c:pt idx="105">
                  <c:v>0.745963357805</c:v>
                </c:pt>
                <c:pt idx="106">
                  <c:v>0.745963357805</c:v>
                </c:pt>
                <c:pt idx="107">
                  <c:v>0.745963357805</c:v>
                </c:pt>
                <c:pt idx="108">
                  <c:v>0.745963357805</c:v>
                </c:pt>
                <c:pt idx="109">
                  <c:v>0.745963357805</c:v>
                </c:pt>
                <c:pt idx="110">
                  <c:v>0.745963357805</c:v>
                </c:pt>
                <c:pt idx="111">
                  <c:v>0.745963357805</c:v>
                </c:pt>
                <c:pt idx="112">
                  <c:v>0.745963357805</c:v>
                </c:pt>
                <c:pt idx="113">
                  <c:v>0.745963357805</c:v>
                </c:pt>
                <c:pt idx="114">
                  <c:v>0.745963357805</c:v>
                </c:pt>
                <c:pt idx="115">
                  <c:v>0.745963357805</c:v>
                </c:pt>
                <c:pt idx="116">
                  <c:v>0.745963357805</c:v>
                </c:pt>
                <c:pt idx="117">
                  <c:v>0.745963357805</c:v>
                </c:pt>
                <c:pt idx="118">
                  <c:v>0.745963357805</c:v>
                </c:pt>
                <c:pt idx="119">
                  <c:v>0.745963357805</c:v>
                </c:pt>
                <c:pt idx="120">
                  <c:v>0.745963357805</c:v>
                </c:pt>
                <c:pt idx="121">
                  <c:v>0.745963357805</c:v>
                </c:pt>
                <c:pt idx="122">
                  <c:v>0.745963357805</c:v>
                </c:pt>
                <c:pt idx="123">
                  <c:v>0.745963357805</c:v>
                </c:pt>
                <c:pt idx="124">
                  <c:v>0.745963357805</c:v>
                </c:pt>
                <c:pt idx="125">
                  <c:v>0.745963357805</c:v>
                </c:pt>
                <c:pt idx="126">
                  <c:v>0.745963357805</c:v>
                </c:pt>
                <c:pt idx="127">
                  <c:v>0.745963357805</c:v>
                </c:pt>
                <c:pt idx="128">
                  <c:v>0.745963357805</c:v>
                </c:pt>
                <c:pt idx="129">
                  <c:v>0.745963357805</c:v>
                </c:pt>
                <c:pt idx="130">
                  <c:v>0.745963357805</c:v>
                </c:pt>
                <c:pt idx="131">
                  <c:v>0.745963357805</c:v>
                </c:pt>
                <c:pt idx="132">
                  <c:v>0.745963357805</c:v>
                </c:pt>
                <c:pt idx="133">
                  <c:v>0.745963357805</c:v>
                </c:pt>
                <c:pt idx="134">
                  <c:v>0.745963357805</c:v>
                </c:pt>
                <c:pt idx="135">
                  <c:v>0.745963357805</c:v>
                </c:pt>
                <c:pt idx="136">
                  <c:v>0.745963357805</c:v>
                </c:pt>
                <c:pt idx="137">
                  <c:v>0.745963357805</c:v>
                </c:pt>
                <c:pt idx="138">
                  <c:v>0.745963357805</c:v>
                </c:pt>
                <c:pt idx="139">
                  <c:v>0.745963357805</c:v>
                </c:pt>
                <c:pt idx="140">
                  <c:v>0.745963357805</c:v>
                </c:pt>
                <c:pt idx="141">
                  <c:v>0.745963357805</c:v>
                </c:pt>
                <c:pt idx="142">
                  <c:v>0.745963357805</c:v>
                </c:pt>
                <c:pt idx="143">
                  <c:v>0.745963357805</c:v>
                </c:pt>
                <c:pt idx="144">
                  <c:v>0.745963357805</c:v>
                </c:pt>
                <c:pt idx="145">
                  <c:v>0.745963357805</c:v>
                </c:pt>
                <c:pt idx="146">
                  <c:v>0.745963357805</c:v>
                </c:pt>
                <c:pt idx="147">
                  <c:v>0.745963357805</c:v>
                </c:pt>
                <c:pt idx="148">
                  <c:v>0.745963357805</c:v>
                </c:pt>
                <c:pt idx="149">
                  <c:v>0.745963357805</c:v>
                </c:pt>
                <c:pt idx="150">
                  <c:v>0.745963357805</c:v>
                </c:pt>
                <c:pt idx="151">
                  <c:v>0.745963357805</c:v>
                </c:pt>
                <c:pt idx="152">
                  <c:v>0.745963357805</c:v>
                </c:pt>
                <c:pt idx="153">
                  <c:v>0.745963357805</c:v>
                </c:pt>
                <c:pt idx="154">
                  <c:v>0.745963357805</c:v>
                </c:pt>
                <c:pt idx="155">
                  <c:v>0.745963357805</c:v>
                </c:pt>
                <c:pt idx="156">
                  <c:v>0.745963357805</c:v>
                </c:pt>
                <c:pt idx="157">
                  <c:v>0.745963357805</c:v>
                </c:pt>
                <c:pt idx="158">
                  <c:v>0.745963357805</c:v>
                </c:pt>
                <c:pt idx="159">
                  <c:v>0.745963357805</c:v>
                </c:pt>
                <c:pt idx="160">
                  <c:v>0.745963357805</c:v>
                </c:pt>
                <c:pt idx="161">
                  <c:v>0.745963357805</c:v>
                </c:pt>
                <c:pt idx="162">
                  <c:v>0.745963357805</c:v>
                </c:pt>
                <c:pt idx="163">
                  <c:v>0.745963357805</c:v>
                </c:pt>
                <c:pt idx="164">
                  <c:v>0.745963357805</c:v>
                </c:pt>
                <c:pt idx="165">
                  <c:v>0.745963357805</c:v>
                </c:pt>
                <c:pt idx="166">
                  <c:v>0.745963357805</c:v>
                </c:pt>
                <c:pt idx="167">
                  <c:v>0.745963357805</c:v>
                </c:pt>
                <c:pt idx="168">
                  <c:v>0.745963357805</c:v>
                </c:pt>
                <c:pt idx="169">
                  <c:v>0.745963357805</c:v>
                </c:pt>
                <c:pt idx="170">
                  <c:v>0.745963357805</c:v>
                </c:pt>
                <c:pt idx="171">
                  <c:v>0.745963357805</c:v>
                </c:pt>
                <c:pt idx="172">
                  <c:v>0.745963357805</c:v>
                </c:pt>
                <c:pt idx="173">
                  <c:v>0.745963357805</c:v>
                </c:pt>
                <c:pt idx="174">
                  <c:v>0.745963357805</c:v>
                </c:pt>
                <c:pt idx="175">
                  <c:v>0.745963357805</c:v>
                </c:pt>
                <c:pt idx="176">
                  <c:v>0.745963357805</c:v>
                </c:pt>
                <c:pt idx="177">
                  <c:v>0.745963357805</c:v>
                </c:pt>
                <c:pt idx="178">
                  <c:v>0.745963357805</c:v>
                </c:pt>
                <c:pt idx="179">
                  <c:v>0.745963357805</c:v>
                </c:pt>
                <c:pt idx="180">
                  <c:v>0.745963357805</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Perda L</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1.8"/>
          <c:min val="-1.8"/>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Parâmetro w</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scatterChart>
        <c:scatterStyle val="lineMarker"/>
        <c:ser>
          <c:idx val="0"/>
          <c:order val="0"/>
          <c:tx>
            <c:v>Treino</c:v>
          </c:tx>
          <c:spPr>
            <a:solidFill xmlns:a="http://schemas.openxmlformats.org/drawingml/2006/main">
              <a:srgbClr val="91A4BD"/>
            </a:solidFill>
            <a:ln xmlns:a="http://schemas.openxmlformats.org/drawingml/2006/main" w="0">
              <a:noFill/>
            </a:ln>
          </c:spPr>
          <c:marker>
            <c:symbol val="circle"/>
            <c:size val="5"/>
            <c:spPr>
              <a:solidFill xmlns:a="http://schemas.openxmlformats.org/drawingml/2006/main">
                <a:srgbClr val="91A4BD"/>
              </a:solidFill>
              <ns0:ln xmlns:ns0="http://schemas.openxmlformats.org/drawingml/2006/main" w="0">
                <ns0:noFill/>
              </ns0:ln>
            </c:spPr>
          </c:marker>
          <c:xVal>
            <c:numRef>
              <c:f>'Chart Data'!$A$2:$A$162</c:f>
              <c:numCache>
                <c:formatCode>General</c:formatCode>
                <c:ptCount val="161"/>
                <c:pt idx="0">
                  <c:v>0</c:v>
                </c:pt>
                <c:pt idx="1">
                  <c:v>0.0588235294118</c:v>
                </c:pt>
                <c:pt idx="2">
                  <c:v>0.117647058824</c:v>
                </c:pt>
                <c:pt idx="3">
                  <c:v>0.176470588235</c:v>
                </c:pt>
                <c:pt idx="4">
                  <c:v>0.235294117647</c:v>
                </c:pt>
                <c:pt idx="5">
                  <c:v>0.294117647059</c:v>
                </c:pt>
                <c:pt idx="6">
                  <c:v>0.352941176471</c:v>
                </c:pt>
                <c:pt idx="7">
                  <c:v>0.411764705882</c:v>
                </c:pt>
                <c:pt idx="8">
                  <c:v>0.470588235294</c:v>
                </c:pt>
                <c:pt idx="9">
                  <c:v>0.529411764706</c:v>
                </c:pt>
                <c:pt idx="10">
                  <c:v>0.588235294118</c:v>
                </c:pt>
                <c:pt idx="11">
                  <c:v>0.647058823529</c:v>
                </c:pt>
                <c:pt idx="12">
                  <c:v>0.705882352941</c:v>
                </c:pt>
                <c:pt idx="13">
                  <c:v>0.764705882353</c:v>
                </c:pt>
                <c:pt idx="14">
                  <c:v>0.823529411765</c:v>
                </c:pt>
                <c:pt idx="15">
                  <c:v>0.882352941176</c:v>
                </c:pt>
                <c:pt idx="16">
                  <c:v>0.941176470588</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numCache>
            </c:numRef>
          </c:xVal>
          <c:yVal>
            <c:numRef>
              <c:f>'Chart Data'!$B$2:$B$162</c:f>
              <c:numCache>
                <c:formatCode>0.0</c:formatCode>
                <c:ptCount val="161"/>
                <c:pt idx="0">
                  <c:v>1.02133019558</c:v>
                </c:pt>
                <c:pt idx="1">
                  <c:v>0.794329140245</c:v>
                </c:pt>
                <c:pt idx="2">
                  <c:v>0.80339663561</c:v>
                </c:pt>
                <c:pt idx="3">
                  <c:v>0.717050602812</c:v>
                </c:pt>
                <c:pt idx="4">
                  <c:v>0.43159362676</c:v>
                </c:pt>
                <c:pt idx="5">
                  <c:v>0.410577538326</c:v>
                </c:pt>
                <c:pt idx="6">
                  <c:v>0.460851942409</c:v>
                </c:pt>
                <c:pt idx="7">
                  <c:v>0.396548139643</c:v>
                </c:pt>
                <c:pt idx="8">
                  <c:v>0.400900043542</c:v>
                </c:pt>
                <c:pt idx="9">
                  <c:v>0.342363049637</c:v>
                </c:pt>
                <c:pt idx="10">
                  <c:v>0.480242979348</c:v>
                </c:pt>
                <c:pt idx="11">
                  <c:v>0.506348549667</c:v>
                </c:pt>
                <c:pt idx="12">
                  <c:v>0.506352252636</c:v>
                </c:pt>
                <c:pt idx="13">
                  <c:v>0.647072974453</c:v>
                </c:pt>
                <c:pt idx="14">
                  <c:v>0.683936726622</c:v>
                </c:pt>
                <c:pt idx="15">
                  <c:v>0.690714579501</c:v>
                </c:pt>
                <c:pt idx="16">
                  <c:v>0.892940582567</c:v>
                </c:pt>
                <c:pt idx="17">
                  <c:v>0.932878217942</c:v>
                </c:pt>
                <c:pt idx="18">
                  <c:v>0.932878217942</c:v>
                </c:pt>
                <c:pt idx="19">
                  <c:v>0.932878217942</c:v>
                </c:pt>
                <c:pt idx="20">
                  <c:v>0.932878217942</c:v>
                </c:pt>
                <c:pt idx="21">
                  <c:v>0.932878217942</c:v>
                </c:pt>
                <c:pt idx="22">
                  <c:v>0.932878217942</c:v>
                </c:pt>
                <c:pt idx="23">
                  <c:v>0.932878217942</c:v>
                </c:pt>
                <c:pt idx="24">
                  <c:v>0.932878217942</c:v>
                </c:pt>
                <c:pt idx="25">
                  <c:v>0.932878217942</c:v>
                </c:pt>
                <c:pt idx="26">
                  <c:v>0.932878217942</c:v>
                </c:pt>
                <c:pt idx="27">
                  <c:v>0.932878217942</c:v>
                </c:pt>
                <c:pt idx="28">
                  <c:v>0.932878217942</c:v>
                </c:pt>
                <c:pt idx="29">
                  <c:v>0.932878217942</c:v>
                </c:pt>
                <c:pt idx="30">
                  <c:v>0.932878217942</c:v>
                </c:pt>
                <c:pt idx="31">
                  <c:v>0.932878217942</c:v>
                </c:pt>
                <c:pt idx="32">
                  <c:v>0.932878217942</c:v>
                </c:pt>
                <c:pt idx="33">
                  <c:v>0.932878217942</c:v>
                </c:pt>
                <c:pt idx="34">
                  <c:v>0.932878217942</c:v>
                </c:pt>
                <c:pt idx="35">
                  <c:v>0.932878217942</c:v>
                </c:pt>
                <c:pt idx="36">
                  <c:v>0.932878217942</c:v>
                </c:pt>
                <c:pt idx="37">
                  <c:v>0.932878217942</c:v>
                </c:pt>
                <c:pt idx="38">
                  <c:v>0.932878217942</c:v>
                </c:pt>
                <c:pt idx="39">
                  <c:v>0.932878217942</c:v>
                </c:pt>
                <c:pt idx="40">
                  <c:v>0.932878217942</c:v>
                </c:pt>
                <c:pt idx="41">
                  <c:v>0.932878217942</c:v>
                </c:pt>
                <c:pt idx="42">
                  <c:v>0.932878217942</c:v>
                </c:pt>
                <c:pt idx="43">
                  <c:v>0.932878217942</c:v>
                </c:pt>
                <c:pt idx="44">
                  <c:v>0.932878217942</c:v>
                </c:pt>
                <c:pt idx="45">
                  <c:v>0.932878217942</c:v>
                </c:pt>
                <c:pt idx="46">
                  <c:v>0.932878217942</c:v>
                </c:pt>
                <c:pt idx="47">
                  <c:v>0.932878217942</c:v>
                </c:pt>
                <c:pt idx="48">
                  <c:v>0.932878217942</c:v>
                </c:pt>
                <c:pt idx="49">
                  <c:v>0.932878217942</c:v>
                </c:pt>
                <c:pt idx="50">
                  <c:v>0.932878217942</c:v>
                </c:pt>
                <c:pt idx="51">
                  <c:v>0.932878217942</c:v>
                </c:pt>
                <c:pt idx="52">
                  <c:v>0.932878217942</c:v>
                </c:pt>
                <c:pt idx="53">
                  <c:v>0.932878217942</c:v>
                </c:pt>
                <c:pt idx="54">
                  <c:v>0.932878217942</c:v>
                </c:pt>
                <c:pt idx="55">
                  <c:v>0.932878217942</c:v>
                </c:pt>
                <c:pt idx="56">
                  <c:v>0.932878217942</c:v>
                </c:pt>
                <c:pt idx="57">
                  <c:v>0.932878217942</c:v>
                </c:pt>
                <c:pt idx="58">
                  <c:v>0.932878217942</c:v>
                </c:pt>
                <c:pt idx="59">
                  <c:v>0.932878217942</c:v>
                </c:pt>
                <c:pt idx="60">
                  <c:v>0.932878217942</c:v>
                </c:pt>
                <c:pt idx="61">
                  <c:v>0.932878217942</c:v>
                </c:pt>
                <c:pt idx="62">
                  <c:v>0.932878217942</c:v>
                </c:pt>
                <c:pt idx="63">
                  <c:v>0.932878217942</c:v>
                </c:pt>
                <c:pt idx="64">
                  <c:v>0.932878217942</c:v>
                </c:pt>
                <c:pt idx="65">
                  <c:v>0.932878217942</c:v>
                </c:pt>
                <c:pt idx="66">
                  <c:v>0.932878217942</c:v>
                </c:pt>
                <c:pt idx="67">
                  <c:v>0.932878217942</c:v>
                </c:pt>
                <c:pt idx="68">
                  <c:v>0.932878217942</c:v>
                </c:pt>
                <c:pt idx="69">
                  <c:v>0.932878217942</c:v>
                </c:pt>
                <c:pt idx="70">
                  <c:v>0.932878217942</c:v>
                </c:pt>
                <c:pt idx="71">
                  <c:v>0.932878217942</c:v>
                </c:pt>
                <c:pt idx="72">
                  <c:v>0.932878217942</c:v>
                </c:pt>
                <c:pt idx="73">
                  <c:v>0.932878217942</c:v>
                </c:pt>
                <c:pt idx="74">
                  <c:v>0.932878217942</c:v>
                </c:pt>
                <c:pt idx="75">
                  <c:v>0.932878217942</c:v>
                </c:pt>
                <c:pt idx="76">
                  <c:v>0.932878217942</c:v>
                </c:pt>
                <c:pt idx="77">
                  <c:v>0.932878217942</c:v>
                </c:pt>
                <c:pt idx="78">
                  <c:v>0.932878217942</c:v>
                </c:pt>
                <c:pt idx="79">
                  <c:v>0.932878217942</c:v>
                </c:pt>
                <c:pt idx="80">
                  <c:v>0.932878217942</c:v>
                </c:pt>
                <c:pt idx="81">
                  <c:v>0.932878217942</c:v>
                </c:pt>
                <c:pt idx="82">
                  <c:v>0.932878217942</c:v>
                </c:pt>
                <c:pt idx="83">
                  <c:v>0.932878217942</c:v>
                </c:pt>
                <c:pt idx="84">
                  <c:v>0.932878217942</c:v>
                </c:pt>
                <c:pt idx="85">
                  <c:v>0.932878217942</c:v>
                </c:pt>
                <c:pt idx="86">
                  <c:v>0.932878217942</c:v>
                </c:pt>
                <c:pt idx="87">
                  <c:v>0.932878217942</c:v>
                </c:pt>
                <c:pt idx="88">
                  <c:v>0.932878217942</c:v>
                </c:pt>
                <c:pt idx="89">
                  <c:v>0.932878217942</c:v>
                </c:pt>
                <c:pt idx="90">
                  <c:v>0.932878217942</c:v>
                </c:pt>
                <c:pt idx="91">
                  <c:v>0.932878217942</c:v>
                </c:pt>
                <c:pt idx="92">
                  <c:v>0.932878217942</c:v>
                </c:pt>
                <c:pt idx="93">
                  <c:v>0.932878217942</c:v>
                </c:pt>
                <c:pt idx="94">
                  <c:v>0.932878217942</c:v>
                </c:pt>
                <c:pt idx="95">
                  <c:v>0.932878217942</c:v>
                </c:pt>
                <c:pt idx="96">
                  <c:v>0.932878217942</c:v>
                </c:pt>
                <c:pt idx="97">
                  <c:v>0.932878217942</c:v>
                </c:pt>
                <c:pt idx="98">
                  <c:v>0.932878217942</c:v>
                </c:pt>
                <c:pt idx="99">
                  <c:v>0.932878217942</c:v>
                </c:pt>
                <c:pt idx="100">
                  <c:v>0.932878217942</c:v>
                </c:pt>
                <c:pt idx="101">
                  <c:v>0.932878217942</c:v>
                </c:pt>
                <c:pt idx="102">
                  <c:v>0.932878217942</c:v>
                </c:pt>
                <c:pt idx="103">
                  <c:v>0.932878217942</c:v>
                </c:pt>
                <c:pt idx="104">
                  <c:v>0.932878217942</c:v>
                </c:pt>
                <c:pt idx="105">
                  <c:v>0.932878217942</c:v>
                </c:pt>
                <c:pt idx="106">
                  <c:v>0.932878217942</c:v>
                </c:pt>
                <c:pt idx="107">
                  <c:v>0.932878217942</c:v>
                </c:pt>
                <c:pt idx="108">
                  <c:v>0.932878217942</c:v>
                </c:pt>
                <c:pt idx="109">
                  <c:v>0.932878217942</c:v>
                </c:pt>
                <c:pt idx="110">
                  <c:v>0.932878217942</c:v>
                </c:pt>
                <c:pt idx="111">
                  <c:v>0.932878217942</c:v>
                </c:pt>
                <c:pt idx="112">
                  <c:v>0.932878217942</c:v>
                </c:pt>
                <c:pt idx="113">
                  <c:v>0.932878217942</c:v>
                </c:pt>
                <c:pt idx="114">
                  <c:v>0.932878217942</c:v>
                </c:pt>
                <c:pt idx="115">
                  <c:v>0.932878217942</c:v>
                </c:pt>
                <c:pt idx="116">
                  <c:v>0.932878217942</c:v>
                </c:pt>
                <c:pt idx="117">
                  <c:v>0.932878217942</c:v>
                </c:pt>
                <c:pt idx="118">
                  <c:v>0.932878217942</c:v>
                </c:pt>
                <c:pt idx="119">
                  <c:v>0.932878217942</c:v>
                </c:pt>
                <c:pt idx="120">
                  <c:v>0.932878217942</c:v>
                </c:pt>
                <c:pt idx="121">
                  <c:v>0.932878217942</c:v>
                </c:pt>
                <c:pt idx="122">
                  <c:v>0.932878217942</c:v>
                </c:pt>
                <c:pt idx="123">
                  <c:v>0.932878217942</c:v>
                </c:pt>
                <c:pt idx="124">
                  <c:v>0.932878217942</c:v>
                </c:pt>
                <c:pt idx="125">
                  <c:v>0.932878217942</c:v>
                </c:pt>
                <c:pt idx="126">
                  <c:v>0.932878217942</c:v>
                </c:pt>
                <c:pt idx="127">
                  <c:v>0.932878217942</c:v>
                </c:pt>
                <c:pt idx="128">
                  <c:v>0.932878217942</c:v>
                </c:pt>
                <c:pt idx="129">
                  <c:v>0.932878217942</c:v>
                </c:pt>
                <c:pt idx="130">
                  <c:v>0.932878217942</c:v>
                </c:pt>
                <c:pt idx="131">
                  <c:v>0.932878217942</c:v>
                </c:pt>
                <c:pt idx="132">
                  <c:v>0.932878217942</c:v>
                </c:pt>
                <c:pt idx="133">
                  <c:v>0.932878217942</c:v>
                </c:pt>
                <c:pt idx="134">
                  <c:v>0.932878217942</c:v>
                </c:pt>
                <c:pt idx="135">
                  <c:v>0.932878217942</c:v>
                </c:pt>
                <c:pt idx="136">
                  <c:v>0.932878217942</c:v>
                </c:pt>
                <c:pt idx="137">
                  <c:v>0.932878217942</c:v>
                </c:pt>
                <c:pt idx="138">
                  <c:v>0.932878217942</c:v>
                </c:pt>
                <c:pt idx="139">
                  <c:v>0.932878217942</c:v>
                </c:pt>
                <c:pt idx="140">
                  <c:v>0.932878217942</c:v>
                </c:pt>
                <c:pt idx="141">
                  <c:v>0.932878217942</c:v>
                </c:pt>
                <c:pt idx="142">
                  <c:v>0.932878217942</c:v>
                </c:pt>
                <c:pt idx="143">
                  <c:v>0.932878217942</c:v>
                </c:pt>
                <c:pt idx="144">
                  <c:v>0.932878217942</c:v>
                </c:pt>
                <c:pt idx="145">
                  <c:v>0.932878217942</c:v>
                </c:pt>
                <c:pt idx="146">
                  <c:v>0.932878217942</c:v>
                </c:pt>
                <c:pt idx="147">
                  <c:v>0.932878217942</c:v>
                </c:pt>
                <c:pt idx="148">
                  <c:v>0.932878217942</c:v>
                </c:pt>
                <c:pt idx="149">
                  <c:v>0.932878217942</c:v>
                </c:pt>
                <c:pt idx="150">
                  <c:v>0.932878217942</c:v>
                </c:pt>
                <c:pt idx="151">
                  <c:v>0.932878217942</c:v>
                </c:pt>
                <c:pt idx="152">
                  <c:v>0.932878217942</c:v>
                </c:pt>
                <c:pt idx="153">
                  <c:v>0.932878217942</c:v>
                </c:pt>
                <c:pt idx="154">
                  <c:v>0.932878217942</c:v>
                </c:pt>
                <c:pt idx="155">
                  <c:v>0.932878217942</c:v>
                </c:pt>
                <c:pt idx="156">
                  <c:v>0.932878217942</c:v>
                </c:pt>
                <c:pt idx="157">
                  <c:v>0.932878217942</c:v>
                </c:pt>
                <c:pt idx="158">
                  <c:v>0.932878217942</c:v>
                </c:pt>
                <c:pt idx="159">
                  <c:v>0.932878217942</c:v>
                </c:pt>
                <c:pt idx="160">
                  <c:v>0.932878217942</c:v>
                </c:pt>
              </c:numCache>
            </c:numRef>
          </c:yVal>
          <c:smooth val="0"/>
        </c:ser>
        <c:ser>
          <c:idx val="1"/>
          <c:order val="1"/>
          <c:tx>
            <c:v>Modelo</c:v>
          </c:tx>
          <c:spPr>
            <a:solidFill xmlns:a="http://schemas.openxmlformats.org/drawingml/2006/main">
              <a:srgbClr val="FFAD62"/>
            </a:solidFill>
            <a:ln xmlns:a="http://schemas.openxmlformats.org/drawingml/2006/main" w="23813">
              <a:solidFill>
                <a:srgbClr val="FFAD62"/>
              </a:solidFill>
              <a:prstDash val="solid"/>
            </a:ln>
          </c:spPr>
          <c:marker>
            <c:symbol val="none"/>
            <c:size val="2"/>
          </c:marker>
          <c:xVal>
            <c:numRef>
              <c:f>'Chart Data'!$C$2:$C$162</c:f>
              <c:numCache>
                <c:formatCode>General</c:formatCode>
                <c:ptCount val="161"/>
                <c:pt idx="0">
                  <c:v>0</c:v>
                </c:pt>
                <c:pt idx="1">
                  <c:v>0.00625</c:v>
                </c:pt>
                <c:pt idx="2">
                  <c:v>0.0125</c:v>
                </c:pt>
                <c:pt idx="3">
                  <c:v>0.01875</c:v>
                </c:pt>
                <c:pt idx="4">
                  <c:v>0.025</c:v>
                </c:pt>
                <c:pt idx="5">
                  <c:v>0.03125</c:v>
                </c:pt>
                <c:pt idx="6">
                  <c:v>0.0375</c:v>
                </c:pt>
                <c:pt idx="7">
                  <c:v>0.04375</c:v>
                </c:pt>
                <c:pt idx="8">
                  <c:v>0.05</c:v>
                </c:pt>
                <c:pt idx="9">
                  <c:v>0.05625</c:v>
                </c:pt>
                <c:pt idx="10">
                  <c:v>0.0625</c:v>
                </c:pt>
                <c:pt idx="11">
                  <c:v>0.06875</c:v>
                </c:pt>
                <c:pt idx="12">
                  <c:v>0.075</c:v>
                </c:pt>
                <c:pt idx="13">
                  <c:v>0.08125</c:v>
                </c:pt>
                <c:pt idx="14">
                  <c:v>0.0875</c:v>
                </c:pt>
                <c:pt idx="15">
                  <c:v>0.09375</c:v>
                </c:pt>
                <c:pt idx="16">
                  <c:v>0.1</c:v>
                </c:pt>
                <c:pt idx="17">
                  <c:v>0.10625</c:v>
                </c:pt>
                <c:pt idx="18">
                  <c:v>0.1125</c:v>
                </c:pt>
                <c:pt idx="19">
                  <c:v>0.11875</c:v>
                </c:pt>
                <c:pt idx="20">
                  <c:v>0.125</c:v>
                </c:pt>
                <c:pt idx="21">
                  <c:v>0.13125</c:v>
                </c:pt>
                <c:pt idx="22">
                  <c:v>0.1375</c:v>
                </c:pt>
                <c:pt idx="23">
                  <c:v>0.14375</c:v>
                </c:pt>
                <c:pt idx="24">
                  <c:v>0.15</c:v>
                </c:pt>
                <c:pt idx="25">
                  <c:v>0.15625</c:v>
                </c:pt>
                <c:pt idx="26">
                  <c:v>0.1625</c:v>
                </c:pt>
                <c:pt idx="27">
                  <c:v>0.16875</c:v>
                </c:pt>
                <c:pt idx="28">
                  <c:v>0.175</c:v>
                </c:pt>
                <c:pt idx="29">
                  <c:v>0.18125</c:v>
                </c:pt>
                <c:pt idx="30">
                  <c:v>0.1875</c:v>
                </c:pt>
                <c:pt idx="31">
                  <c:v>0.19375</c:v>
                </c:pt>
                <c:pt idx="32">
                  <c:v>0.2</c:v>
                </c:pt>
                <c:pt idx="33">
                  <c:v>0.20625</c:v>
                </c:pt>
                <c:pt idx="34">
                  <c:v>0.2125</c:v>
                </c:pt>
                <c:pt idx="35">
                  <c:v>0.21875</c:v>
                </c:pt>
                <c:pt idx="36">
                  <c:v>0.225</c:v>
                </c:pt>
                <c:pt idx="37">
                  <c:v>0.23125</c:v>
                </c:pt>
                <c:pt idx="38">
                  <c:v>0.2375</c:v>
                </c:pt>
                <c:pt idx="39">
                  <c:v>0.24375</c:v>
                </c:pt>
                <c:pt idx="40">
                  <c:v>0.25</c:v>
                </c:pt>
                <c:pt idx="41">
                  <c:v>0.25625</c:v>
                </c:pt>
                <c:pt idx="42">
                  <c:v>0.2625</c:v>
                </c:pt>
                <c:pt idx="43">
                  <c:v>0.26875</c:v>
                </c:pt>
                <c:pt idx="44">
                  <c:v>0.275</c:v>
                </c:pt>
                <c:pt idx="45">
                  <c:v>0.28125</c:v>
                </c:pt>
                <c:pt idx="46">
                  <c:v>0.2875</c:v>
                </c:pt>
                <c:pt idx="47">
                  <c:v>0.29375</c:v>
                </c:pt>
                <c:pt idx="48">
                  <c:v>0.3</c:v>
                </c:pt>
                <c:pt idx="49">
                  <c:v>0.30625</c:v>
                </c:pt>
                <c:pt idx="50">
                  <c:v>0.3125</c:v>
                </c:pt>
                <c:pt idx="51">
                  <c:v>0.31875</c:v>
                </c:pt>
                <c:pt idx="52">
                  <c:v>0.325</c:v>
                </c:pt>
                <c:pt idx="53">
                  <c:v>0.33125</c:v>
                </c:pt>
                <c:pt idx="54">
                  <c:v>0.3375</c:v>
                </c:pt>
                <c:pt idx="55">
                  <c:v>0.34375</c:v>
                </c:pt>
                <c:pt idx="56">
                  <c:v>0.35</c:v>
                </c:pt>
                <c:pt idx="57">
                  <c:v>0.35625</c:v>
                </c:pt>
                <c:pt idx="58">
                  <c:v>0.3625</c:v>
                </c:pt>
                <c:pt idx="59">
                  <c:v>0.36875</c:v>
                </c:pt>
                <c:pt idx="60">
                  <c:v>0.375</c:v>
                </c:pt>
                <c:pt idx="61">
                  <c:v>0.38125</c:v>
                </c:pt>
                <c:pt idx="62">
                  <c:v>0.3875</c:v>
                </c:pt>
                <c:pt idx="63">
                  <c:v>0.39375</c:v>
                </c:pt>
                <c:pt idx="64">
                  <c:v>0.4</c:v>
                </c:pt>
                <c:pt idx="65">
                  <c:v>0.40625</c:v>
                </c:pt>
                <c:pt idx="66">
                  <c:v>0.4125</c:v>
                </c:pt>
                <c:pt idx="67">
                  <c:v>0.41875</c:v>
                </c:pt>
                <c:pt idx="68">
                  <c:v>0.425</c:v>
                </c:pt>
                <c:pt idx="69">
                  <c:v>0.43125</c:v>
                </c:pt>
                <c:pt idx="70">
                  <c:v>0.4375</c:v>
                </c:pt>
                <c:pt idx="71">
                  <c:v>0.44375</c:v>
                </c:pt>
                <c:pt idx="72">
                  <c:v>0.45</c:v>
                </c:pt>
                <c:pt idx="73">
                  <c:v>0.45625</c:v>
                </c:pt>
                <c:pt idx="74">
                  <c:v>0.4625</c:v>
                </c:pt>
                <c:pt idx="75">
                  <c:v>0.46875</c:v>
                </c:pt>
                <c:pt idx="76">
                  <c:v>0.475</c:v>
                </c:pt>
                <c:pt idx="77">
                  <c:v>0.48125</c:v>
                </c:pt>
                <c:pt idx="78">
                  <c:v>0.4875</c:v>
                </c:pt>
                <c:pt idx="79">
                  <c:v>0.49375</c:v>
                </c:pt>
                <c:pt idx="80">
                  <c:v>0.5</c:v>
                </c:pt>
                <c:pt idx="81">
                  <c:v>0.50625</c:v>
                </c:pt>
                <c:pt idx="82">
                  <c:v>0.5125</c:v>
                </c:pt>
                <c:pt idx="83">
                  <c:v>0.51875</c:v>
                </c:pt>
                <c:pt idx="84">
                  <c:v>0.525</c:v>
                </c:pt>
                <c:pt idx="85">
                  <c:v>0.53125</c:v>
                </c:pt>
                <c:pt idx="86">
                  <c:v>0.5375</c:v>
                </c:pt>
                <c:pt idx="87">
                  <c:v>0.54375</c:v>
                </c:pt>
                <c:pt idx="88">
                  <c:v>0.55</c:v>
                </c:pt>
                <c:pt idx="89">
                  <c:v>0.55625</c:v>
                </c:pt>
                <c:pt idx="90">
                  <c:v>0.5625</c:v>
                </c:pt>
                <c:pt idx="91">
                  <c:v>0.56875</c:v>
                </c:pt>
                <c:pt idx="92">
                  <c:v>0.575</c:v>
                </c:pt>
                <c:pt idx="93">
                  <c:v>0.58125</c:v>
                </c:pt>
                <c:pt idx="94">
                  <c:v>0.5875</c:v>
                </c:pt>
                <c:pt idx="95">
                  <c:v>0.59375</c:v>
                </c:pt>
                <c:pt idx="96">
                  <c:v>0.6</c:v>
                </c:pt>
                <c:pt idx="97">
                  <c:v>0.60625</c:v>
                </c:pt>
                <c:pt idx="98">
                  <c:v>0.6125</c:v>
                </c:pt>
                <c:pt idx="99">
                  <c:v>0.61875</c:v>
                </c:pt>
                <c:pt idx="100">
                  <c:v>0.625</c:v>
                </c:pt>
                <c:pt idx="101">
                  <c:v>0.63125</c:v>
                </c:pt>
                <c:pt idx="102">
                  <c:v>0.6375</c:v>
                </c:pt>
                <c:pt idx="103">
                  <c:v>0.64375</c:v>
                </c:pt>
                <c:pt idx="104">
                  <c:v>0.65</c:v>
                </c:pt>
                <c:pt idx="105">
                  <c:v>0.65625</c:v>
                </c:pt>
                <c:pt idx="106">
                  <c:v>0.6625</c:v>
                </c:pt>
                <c:pt idx="107">
                  <c:v>0.66875</c:v>
                </c:pt>
                <c:pt idx="108">
                  <c:v>0.675</c:v>
                </c:pt>
                <c:pt idx="109">
                  <c:v>0.68125</c:v>
                </c:pt>
                <c:pt idx="110">
                  <c:v>0.6875</c:v>
                </c:pt>
                <c:pt idx="111">
                  <c:v>0.69375</c:v>
                </c:pt>
                <c:pt idx="112">
                  <c:v>0.7</c:v>
                </c:pt>
                <c:pt idx="113">
                  <c:v>0.70625</c:v>
                </c:pt>
                <c:pt idx="114">
                  <c:v>0.7125</c:v>
                </c:pt>
                <c:pt idx="115">
                  <c:v>0.71875</c:v>
                </c:pt>
                <c:pt idx="116">
                  <c:v>0.725</c:v>
                </c:pt>
                <c:pt idx="117">
                  <c:v>0.73125</c:v>
                </c:pt>
                <c:pt idx="118">
                  <c:v>0.7375</c:v>
                </c:pt>
                <c:pt idx="119">
                  <c:v>0.74375</c:v>
                </c:pt>
                <c:pt idx="120">
                  <c:v>0.75</c:v>
                </c:pt>
                <c:pt idx="121">
                  <c:v>0.75625</c:v>
                </c:pt>
                <c:pt idx="122">
                  <c:v>0.7625</c:v>
                </c:pt>
                <c:pt idx="123">
                  <c:v>0.76875</c:v>
                </c:pt>
                <c:pt idx="124">
                  <c:v>0.775</c:v>
                </c:pt>
                <c:pt idx="125">
                  <c:v>0.78125</c:v>
                </c:pt>
                <c:pt idx="126">
                  <c:v>0.7875</c:v>
                </c:pt>
                <c:pt idx="127">
                  <c:v>0.79375</c:v>
                </c:pt>
                <c:pt idx="128">
                  <c:v>0.8</c:v>
                </c:pt>
                <c:pt idx="129">
                  <c:v>0.80625</c:v>
                </c:pt>
                <c:pt idx="130">
                  <c:v>0.8125</c:v>
                </c:pt>
                <c:pt idx="131">
                  <c:v>0.81875</c:v>
                </c:pt>
                <c:pt idx="132">
                  <c:v>0.825</c:v>
                </c:pt>
                <c:pt idx="133">
                  <c:v>0.83125</c:v>
                </c:pt>
                <c:pt idx="134">
                  <c:v>0.8375</c:v>
                </c:pt>
                <c:pt idx="135">
                  <c:v>0.84375</c:v>
                </c:pt>
                <c:pt idx="136">
                  <c:v>0.85</c:v>
                </c:pt>
                <c:pt idx="137">
                  <c:v>0.85625</c:v>
                </c:pt>
                <c:pt idx="138">
                  <c:v>0.8625</c:v>
                </c:pt>
                <c:pt idx="139">
                  <c:v>0.86875</c:v>
                </c:pt>
                <c:pt idx="140">
                  <c:v>0.875</c:v>
                </c:pt>
                <c:pt idx="141">
                  <c:v>0.88125</c:v>
                </c:pt>
                <c:pt idx="142">
                  <c:v>0.8875</c:v>
                </c:pt>
                <c:pt idx="143">
                  <c:v>0.89375</c:v>
                </c:pt>
                <c:pt idx="144">
                  <c:v>0.9</c:v>
                </c:pt>
                <c:pt idx="145">
                  <c:v>0.90625</c:v>
                </c:pt>
                <c:pt idx="146">
                  <c:v>0.9125</c:v>
                </c:pt>
                <c:pt idx="147">
                  <c:v>0.91875</c:v>
                </c:pt>
                <c:pt idx="148">
                  <c:v>0.925</c:v>
                </c:pt>
                <c:pt idx="149">
                  <c:v>0.93125</c:v>
                </c:pt>
                <c:pt idx="150">
                  <c:v>0.9375</c:v>
                </c:pt>
                <c:pt idx="151">
                  <c:v>0.94375</c:v>
                </c:pt>
                <c:pt idx="152">
                  <c:v>0.95</c:v>
                </c:pt>
                <c:pt idx="153">
                  <c:v>0.95625</c:v>
                </c:pt>
                <c:pt idx="154">
                  <c:v>0.9625</c:v>
                </c:pt>
                <c:pt idx="155">
                  <c:v>0.96875</c:v>
                </c:pt>
                <c:pt idx="156">
                  <c:v>0.975</c:v>
                </c:pt>
                <c:pt idx="157">
                  <c:v>0.98125</c:v>
                </c:pt>
                <c:pt idx="158">
                  <c:v>0.9875</c:v>
                </c:pt>
                <c:pt idx="159">
                  <c:v>0.99375</c:v>
                </c:pt>
                <c:pt idx="160">
                  <c:v>1</c:v>
                </c:pt>
              </c:numCache>
            </c:numRef>
          </c:xVal>
          <c:yVal>
            <c:numRef>
              <c:f>'Chart Data'!$D$2:$D$162</c:f>
              <c:numCache>
                <c:formatCode>0.0</c:formatCode>
                <c:ptCount val="161"/>
                <c:pt idx="0">
                  <c:v>0.607429002204</c:v>
                </c:pt>
                <c:pt idx="1">
                  <c:v>0.607557964521</c:v>
                </c:pt>
                <c:pt idx="2">
                  <c:v>0.607686926839</c:v>
                </c:pt>
                <c:pt idx="3">
                  <c:v>0.607815889157</c:v>
                </c:pt>
                <c:pt idx="4">
                  <c:v>0.607944851475</c:v>
                </c:pt>
                <c:pt idx="5">
                  <c:v>0.608073813793</c:v>
                </c:pt>
                <c:pt idx="6">
                  <c:v>0.60820277611</c:v>
                </c:pt>
                <c:pt idx="7">
                  <c:v>0.608331738428</c:v>
                </c:pt>
                <c:pt idx="8">
                  <c:v>0.608460700746</c:v>
                </c:pt>
                <c:pt idx="9">
                  <c:v>0.608589663064</c:v>
                </c:pt>
                <c:pt idx="10">
                  <c:v>0.608718625382</c:v>
                </c:pt>
                <c:pt idx="11">
                  <c:v>0.608847587699</c:v>
                </c:pt>
                <c:pt idx="12">
                  <c:v>0.608976550017</c:v>
                </c:pt>
                <c:pt idx="13">
                  <c:v>0.609105512335</c:v>
                </c:pt>
                <c:pt idx="14">
                  <c:v>0.609234474653</c:v>
                </c:pt>
                <c:pt idx="15">
                  <c:v>0.609363436971</c:v>
                </c:pt>
                <c:pt idx="16">
                  <c:v>0.609492399289</c:v>
                </c:pt>
                <c:pt idx="17">
                  <c:v>0.609621361606</c:v>
                </c:pt>
                <c:pt idx="18">
                  <c:v>0.609750323924</c:v>
                </c:pt>
                <c:pt idx="19">
                  <c:v>0.609879286242</c:v>
                </c:pt>
                <c:pt idx="20">
                  <c:v>0.61000824856</c:v>
                </c:pt>
                <c:pt idx="21">
                  <c:v>0.610137210878</c:v>
                </c:pt>
                <c:pt idx="22">
                  <c:v>0.610266173195</c:v>
                </c:pt>
                <c:pt idx="23">
                  <c:v>0.610395135513</c:v>
                </c:pt>
                <c:pt idx="24">
                  <c:v>0.610524097831</c:v>
                </c:pt>
                <c:pt idx="25">
                  <c:v>0.610653060149</c:v>
                </c:pt>
                <c:pt idx="26">
                  <c:v>0.610782022467</c:v>
                </c:pt>
                <c:pt idx="27">
                  <c:v>0.610910984784</c:v>
                </c:pt>
                <c:pt idx="28">
                  <c:v>0.611039947102</c:v>
                </c:pt>
                <c:pt idx="29">
                  <c:v>0.61116890942</c:v>
                </c:pt>
                <c:pt idx="30">
                  <c:v>0.611297871738</c:v>
                </c:pt>
                <c:pt idx="31">
                  <c:v>0.611426834056</c:v>
                </c:pt>
                <c:pt idx="32">
                  <c:v>0.611555796373</c:v>
                </c:pt>
                <c:pt idx="33">
                  <c:v>0.611684758691</c:v>
                </c:pt>
                <c:pt idx="34">
                  <c:v>0.611813721009</c:v>
                </c:pt>
                <c:pt idx="35">
                  <c:v>0.611942683327</c:v>
                </c:pt>
                <c:pt idx="36">
                  <c:v>0.612071645645</c:v>
                </c:pt>
                <c:pt idx="37">
                  <c:v>0.612200607962</c:v>
                </c:pt>
                <c:pt idx="38">
                  <c:v>0.61232957028</c:v>
                </c:pt>
                <c:pt idx="39">
                  <c:v>0.612458532598</c:v>
                </c:pt>
                <c:pt idx="40">
                  <c:v>0.612587494916</c:v>
                </c:pt>
                <c:pt idx="41">
                  <c:v>0.612716457234</c:v>
                </c:pt>
                <c:pt idx="42">
                  <c:v>0.612845419551</c:v>
                </c:pt>
                <c:pt idx="43">
                  <c:v>0.612974381869</c:v>
                </c:pt>
                <c:pt idx="44">
                  <c:v>0.613103344187</c:v>
                </c:pt>
                <c:pt idx="45">
                  <c:v>0.613232306505</c:v>
                </c:pt>
                <c:pt idx="46">
                  <c:v>0.613361268823</c:v>
                </c:pt>
                <c:pt idx="47">
                  <c:v>0.61349023114</c:v>
                </c:pt>
                <c:pt idx="48">
                  <c:v>0.613619193458</c:v>
                </c:pt>
                <c:pt idx="49">
                  <c:v>0.613748155776</c:v>
                </c:pt>
                <c:pt idx="50">
                  <c:v>0.613877118094</c:v>
                </c:pt>
                <c:pt idx="51">
                  <c:v>0.614006080412</c:v>
                </c:pt>
                <c:pt idx="52">
                  <c:v>0.614135042729</c:v>
                </c:pt>
                <c:pt idx="53">
                  <c:v>0.614264005047</c:v>
                </c:pt>
                <c:pt idx="54">
                  <c:v>0.614392967365</c:v>
                </c:pt>
                <c:pt idx="55">
                  <c:v>0.614521929683</c:v>
                </c:pt>
                <c:pt idx="56">
                  <c:v>0.614650892001</c:v>
                </c:pt>
                <c:pt idx="57">
                  <c:v>0.614779854318</c:v>
                </c:pt>
                <c:pt idx="58">
                  <c:v>0.614908816636</c:v>
                </c:pt>
                <c:pt idx="59">
                  <c:v>0.615037778954</c:v>
                </c:pt>
                <c:pt idx="60">
                  <c:v>0.615166741272</c:v>
                </c:pt>
                <c:pt idx="61">
                  <c:v>0.61529570359</c:v>
                </c:pt>
                <c:pt idx="62">
                  <c:v>0.615424665907</c:v>
                </c:pt>
                <c:pt idx="63">
                  <c:v>0.615553628225</c:v>
                </c:pt>
                <c:pt idx="64">
                  <c:v>0.615682590543</c:v>
                </c:pt>
                <c:pt idx="65">
                  <c:v>0.615811552861</c:v>
                </c:pt>
                <c:pt idx="66">
                  <c:v>0.615940515179</c:v>
                </c:pt>
                <c:pt idx="67">
                  <c:v>0.616069477496</c:v>
                </c:pt>
                <c:pt idx="68">
                  <c:v>0.616198439814</c:v>
                </c:pt>
                <c:pt idx="69">
                  <c:v>0.616327402132</c:v>
                </c:pt>
                <c:pt idx="70">
                  <c:v>0.61645636445</c:v>
                </c:pt>
                <c:pt idx="71">
                  <c:v>0.616585326768</c:v>
                </c:pt>
                <c:pt idx="72">
                  <c:v>0.616714289085</c:v>
                </c:pt>
                <c:pt idx="73">
                  <c:v>0.616843251403</c:v>
                </c:pt>
                <c:pt idx="74">
                  <c:v>0.616972213721</c:v>
                </c:pt>
                <c:pt idx="75">
                  <c:v>0.617101176039</c:v>
                </c:pt>
                <c:pt idx="76">
                  <c:v>0.617230138357</c:v>
                </c:pt>
                <c:pt idx="77">
                  <c:v>0.617359100674</c:v>
                </c:pt>
                <c:pt idx="78">
                  <c:v>0.617488062992</c:v>
                </c:pt>
                <c:pt idx="79">
                  <c:v>0.61761702531</c:v>
                </c:pt>
                <c:pt idx="80">
                  <c:v>0.617745987628</c:v>
                </c:pt>
                <c:pt idx="81">
                  <c:v>0.617874949946</c:v>
                </c:pt>
                <c:pt idx="82">
                  <c:v>0.618003912263</c:v>
                </c:pt>
                <c:pt idx="83">
                  <c:v>0.618132874581</c:v>
                </c:pt>
                <c:pt idx="84">
                  <c:v>0.618261836899</c:v>
                </c:pt>
                <c:pt idx="85">
                  <c:v>0.618390799217</c:v>
                </c:pt>
                <c:pt idx="86">
                  <c:v>0.618519761535</c:v>
                </c:pt>
                <c:pt idx="87">
                  <c:v>0.618648723852</c:v>
                </c:pt>
                <c:pt idx="88">
                  <c:v>0.61877768617</c:v>
                </c:pt>
                <c:pt idx="89">
                  <c:v>0.618906648488</c:v>
                </c:pt>
                <c:pt idx="90">
                  <c:v>0.619035610806</c:v>
                </c:pt>
                <c:pt idx="91">
                  <c:v>0.619164573124</c:v>
                </c:pt>
                <c:pt idx="92">
                  <c:v>0.619293535441</c:v>
                </c:pt>
                <c:pt idx="93">
                  <c:v>0.619422497759</c:v>
                </c:pt>
                <c:pt idx="94">
                  <c:v>0.619551460077</c:v>
                </c:pt>
                <c:pt idx="95">
                  <c:v>0.619680422395</c:v>
                </c:pt>
                <c:pt idx="96">
                  <c:v>0.619809384713</c:v>
                </c:pt>
                <c:pt idx="97">
                  <c:v>0.619938347031</c:v>
                </c:pt>
                <c:pt idx="98">
                  <c:v>0.620067309348</c:v>
                </c:pt>
                <c:pt idx="99">
                  <c:v>0.620196271666</c:v>
                </c:pt>
                <c:pt idx="100">
                  <c:v>0.620325233984</c:v>
                </c:pt>
                <c:pt idx="101">
                  <c:v>0.620454196302</c:v>
                </c:pt>
                <c:pt idx="102">
                  <c:v>0.62058315862</c:v>
                </c:pt>
                <c:pt idx="103">
                  <c:v>0.620712120937</c:v>
                </c:pt>
                <c:pt idx="104">
                  <c:v>0.620841083255</c:v>
                </c:pt>
                <c:pt idx="105">
                  <c:v>0.620970045573</c:v>
                </c:pt>
                <c:pt idx="106">
                  <c:v>0.621099007891</c:v>
                </c:pt>
                <c:pt idx="107">
                  <c:v>0.621227970209</c:v>
                </c:pt>
                <c:pt idx="108">
                  <c:v>0.621356932526</c:v>
                </c:pt>
                <c:pt idx="109">
                  <c:v>0.621485894844</c:v>
                </c:pt>
                <c:pt idx="110">
                  <c:v>0.621614857162</c:v>
                </c:pt>
                <c:pt idx="111">
                  <c:v>0.62174381948</c:v>
                </c:pt>
                <c:pt idx="112">
                  <c:v>0.621872781798</c:v>
                </c:pt>
                <c:pt idx="113">
                  <c:v>0.622001744115</c:v>
                </c:pt>
                <c:pt idx="114">
                  <c:v>0.622130706433</c:v>
                </c:pt>
                <c:pt idx="115">
                  <c:v>0.622259668751</c:v>
                </c:pt>
                <c:pt idx="116">
                  <c:v>0.622388631069</c:v>
                </c:pt>
                <c:pt idx="117">
                  <c:v>0.622517593387</c:v>
                </c:pt>
                <c:pt idx="118">
                  <c:v>0.622646555704</c:v>
                </c:pt>
                <c:pt idx="119">
                  <c:v>0.622775518022</c:v>
                </c:pt>
                <c:pt idx="120">
                  <c:v>0.62290448034</c:v>
                </c:pt>
                <c:pt idx="121">
                  <c:v>0.623033442658</c:v>
                </c:pt>
                <c:pt idx="122">
                  <c:v>0.623162404976</c:v>
                </c:pt>
                <c:pt idx="123">
                  <c:v>0.623291367293</c:v>
                </c:pt>
                <c:pt idx="124">
                  <c:v>0.623420329611</c:v>
                </c:pt>
                <c:pt idx="125">
                  <c:v>0.623549291929</c:v>
                </c:pt>
                <c:pt idx="126">
                  <c:v>0.623678254247</c:v>
                </c:pt>
                <c:pt idx="127">
                  <c:v>0.623807216565</c:v>
                </c:pt>
                <c:pt idx="128">
                  <c:v>0.623936178882</c:v>
                </c:pt>
                <c:pt idx="129">
                  <c:v>0.6240651412</c:v>
                </c:pt>
                <c:pt idx="130">
                  <c:v>0.624194103518</c:v>
                </c:pt>
                <c:pt idx="131">
                  <c:v>0.624323065836</c:v>
                </c:pt>
                <c:pt idx="132">
                  <c:v>0.624452028154</c:v>
                </c:pt>
                <c:pt idx="133">
                  <c:v>0.624580990471</c:v>
                </c:pt>
                <c:pt idx="134">
                  <c:v>0.624709952789</c:v>
                </c:pt>
                <c:pt idx="135">
                  <c:v>0.624838915107</c:v>
                </c:pt>
                <c:pt idx="136">
                  <c:v>0.624967877425</c:v>
                </c:pt>
                <c:pt idx="137">
                  <c:v>0.625096839743</c:v>
                </c:pt>
                <c:pt idx="138">
                  <c:v>0.62522580206</c:v>
                </c:pt>
                <c:pt idx="139">
                  <c:v>0.625354764378</c:v>
                </c:pt>
                <c:pt idx="140">
                  <c:v>0.625483726696</c:v>
                </c:pt>
                <c:pt idx="141">
                  <c:v>0.625612689014</c:v>
                </c:pt>
                <c:pt idx="142">
                  <c:v>0.625741651332</c:v>
                </c:pt>
                <c:pt idx="143">
                  <c:v>0.625870613649</c:v>
                </c:pt>
                <c:pt idx="144">
                  <c:v>0.625999575967</c:v>
                </c:pt>
                <c:pt idx="145">
                  <c:v>0.626128538285</c:v>
                </c:pt>
                <c:pt idx="146">
                  <c:v>0.626257500603</c:v>
                </c:pt>
                <c:pt idx="147">
                  <c:v>0.626386462921</c:v>
                </c:pt>
                <c:pt idx="148">
                  <c:v>0.626515425238</c:v>
                </c:pt>
                <c:pt idx="149">
                  <c:v>0.626644387556</c:v>
                </c:pt>
                <c:pt idx="150">
                  <c:v>0.626773349874</c:v>
                </c:pt>
                <c:pt idx="151">
                  <c:v>0.626902312192</c:v>
                </c:pt>
                <c:pt idx="152">
                  <c:v>0.62703127451</c:v>
                </c:pt>
                <c:pt idx="153">
                  <c:v>0.627160236827</c:v>
                </c:pt>
                <c:pt idx="154">
                  <c:v>0.627289199145</c:v>
                </c:pt>
                <c:pt idx="155">
                  <c:v>0.627418161463</c:v>
                </c:pt>
                <c:pt idx="156">
                  <c:v>0.627547123781</c:v>
                </c:pt>
                <c:pt idx="157">
                  <c:v>0.627676086099</c:v>
                </c:pt>
                <c:pt idx="158">
                  <c:v>0.627805048416</c:v>
                </c:pt>
                <c:pt idx="159">
                  <c:v>0.627934010734</c:v>
                </c:pt>
                <c:pt idx="160">
                  <c:v>0.628062973052</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2"/>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y</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1"/>
          <c:min val="0"/>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scatterChart>
        <c:scatterStyle val="lineMarker"/>
        <c:ser>
          <c:idx val="0"/>
          <c:order val="0"/>
          <c:tx>
            <c:v>Treino</c:v>
          </c:tx>
          <c:spPr>
            <a:solidFill xmlns:a="http://schemas.openxmlformats.org/drawingml/2006/main">
              <a:srgbClr val="91A4BD"/>
            </a:solidFill>
            <a:ln xmlns:a="http://schemas.openxmlformats.org/drawingml/2006/main" w="0">
              <a:noFill/>
            </a:ln>
          </c:spPr>
          <c:marker>
            <c:symbol val="circle"/>
            <c:size val="5"/>
            <c:spPr>
              <a:solidFill xmlns:a="http://schemas.openxmlformats.org/drawingml/2006/main">
                <a:srgbClr val="91A4BD"/>
              </a:solidFill>
              <ns0:ln xmlns:ns0="http://schemas.openxmlformats.org/drawingml/2006/main" w="0">
                <ns0:noFill/>
              </ns0:ln>
            </c:spPr>
          </c:marker>
          <c:xVal>
            <c:numRef>
              <c:f>'Chart Data'!$A$2:$A$162</c:f>
              <c:numCache>
                <c:formatCode>General</c:formatCode>
                <c:ptCount val="161"/>
                <c:pt idx="0">
                  <c:v>0</c:v>
                </c:pt>
                <c:pt idx="1">
                  <c:v>0.0588235294118</c:v>
                </c:pt>
                <c:pt idx="2">
                  <c:v>0.117647058824</c:v>
                </c:pt>
                <c:pt idx="3">
                  <c:v>0.176470588235</c:v>
                </c:pt>
                <c:pt idx="4">
                  <c:v>0.235294117647</c:v>
                </c:pt>
                <c:pt idx="5">
                  <c:v>0.294117647059</c:v>
                </c:pt>
                <c:pt idx="6">
                  <c:v>0.352941176471</c:v>
                </c:pt>
                <c:pt idx="7">
                  <c:v>0.411764705882</c:v>
                </c:pt>
                <c:pt idx="8">
                  <c:v>0.470588235294</c:v>
                </c:pt>
                <c:pt idx="9">
                  <c:v>0.529411764706</c:v>
                </c:pt>
                <c:pt idx="10">
                  <c:v>0.588235294118</c:v>
                </c:pt>
                <c:pt idx="11">
                  <c:v>0.647058823529</c:v>
                </c:pt>
                <c:pt idx="12">
                  <c:v>0.705882352941</c:v>
                </c:pt>
                <c:pt idx="13">
                  <c:v>0.764705882353</c:v>
                </c:pt>
                <c:pt idx="14">
                  <c:v>0.823529411765</c:v>
                </c:pt>
                <c:pt idx="15">
                  <c:v>0.882352941176</c:v>
                </c:pt>
                <c:pt idx="16">
                  <c:v>0.941176470588</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numCache>
            </c:numRef>
          </c:xVal>
          <c:yVal>
            <c:numRef>
              <c:f>'Chart Data'!$B$2:$B$162</c:f>
              <c:numCache>
                <c:formatCode>0.0</c:formatCode>
                <c:ptCount val="161"/>
                <c:pt idx="0">
                  <c:v>1.02133019558</c:v>
                </c:pt>
                <c:pt idx="1">
                  <c:v>0.794329140245</c:v>
                </c:pt>
                <c:pt idx="2">
                  <c:v>0.80339663561</c:v>
                </c:pt>
                <c:pt idx="3">
                  <c:v>0.717050602812</c:v>
                </c:pt>
                <c:pt idx="4">
                  <c:v>0.43159362676</c:v>
                </c:pt>
                <c:pt idx="5">
                  <c:v>0.410577538326</c:v>
                </c:pt>
                <c:pt idx="6">
                  <c:v>0.460851942409</c:v>
                </c:pt>
                <c:pt idx="7">
                  <c:v>0.396548139643</c:v>
                </c:pt>
                <c:pt idx="8">
                  <c:v>0.400900043542</c:v>
                </c:pt>
                <c:pt idx="9">
                  <c:v>0.342363049637</c:v>
                </c:pt>
                <c:pt idx="10">
                  <c:v>0.480242979348</c:v>
                </c:pt>
                <c:pt idx="11">
                  <c:v>0.506348549667</c:v>
                </c:pt>
                <c:pt idx="12">
                  <c:v>0.506352252636</c:v>
                </c:pt>
                <c:pt idx="13">
                  <c:v>0.647072974453</c:v>
                </c:pt>
                <c:pt idx="14">
                  <c:v>0.683936726622</c:v>
                </c:pt>
                <c:pt idx="15">
                  <c:v>0.690714579501</c:v>
                </c:pt>
                <c:pt idx="16">
                  <c:v>0.892940582567</c:v>
                </c:pt>
                <c:pt idx="17">
                  <c:v>0.932878217942</c:v>
                </c:pt>
                <c:pt idx="18">
                  <c:v>0.932878217942</c:v>
                </c:pt>
                <c:pt idx="19">
                  <c:v>0.932878217942</c:v>
                </c:pt>
                <c:pt idx="20">
                  <c:v>0.932878217942</c:v>
                </c:pt>
                <c:pt idx="21">
                  <c:v>0.932878217942</c:v>
                </c:pt>
                <c:pt idx="22">
                  <c:v>0.932878217942</c:v>
                </c:pt>
                <c:pt idx="23">
                  <c:v>0.932878217942</c:v>
                </c:pt>
                <c:pt idx="24">
                  <c:v>0.932878217942</c:v>
                </c:pt>
                <c:pt idx="25">
                  <c:v>0.932878217942</c:v>
                </c:pt>
                <c:pt idx="26">
                  <c:v>0.932878217942</c:v>
                </c:pt>
                <c:pt idx="27">
                  <c:v>0.932878217942</c:v>
                </c:pt>
                <c:pt idx="28">
                  <c:v>0.932878217942</c:v>
                </c:pt>
                <c:pt idx="29">
                  <c:v>0.932878217942</c:v>
                </c:pt>
                <c:pt idx="30">
                  <c:v>0.932878217942</c:v>
                </c:pt>
                <c:pt idx="31">
                  <c:v>0.932878217942</c:v>
                </c:pt>
                <c:pt idx="32">
                  <c:v>0.932878217942</c:v>
                </c:pt>
                <c:pt idx="33">
                  <c:v>0.932878217942</c:v>
                </c:pt>
                <c:pt idx="34">
                  <c:v>0.932878217942</c:v>
                </c:pt>
                <c:pt idx="35">
                  <c:v>0.932878217942</c:v>
                </c:pt>
                <c:pt idx="36">
                  <c:v>0.932878217942</c:v>
                </c:pt>
                <c:pt idx="37">
                  <c:v>0.932878217942</c:v>
                </c:pt>
                <c:pt idx="38">
                  <c:v>0.932878217942</c:v>
                </c:pt>
                <c:pt idx="39">
                  <c:v>0.932878217942</c:v>
                </c:pt>
                <c:pt idx="40">
                  <c:v>0.932878217942</c:v>
                </c:pt>
                <c:pt idx="41">
                  <c:v>0.932878217942</c:v>
                </c:pt>
                <c:pt idx="42">
                  <c:v>0.932878217942</c:v>
                </c:pt>
                <c:pt idx="43">
                  <c:v>0.932878217942</c:v>
                </c:pt>
                <c:pt idx="44">
                  <c:v>0.932878217942</c:v>
                </c:pt>
                <c:pt idx="45">
                  <c:v>0.932878217942</c:v>
                </c:pt>
                <c:pt idx="46">
                  <c:v>0.932878217942</c:v>
                </c:pt>
                <c:pt idx="47">
                  <c:v>0.932878217942</c:v>
                </c:pt>
                <c:pt idx="48">
                  <c:v>0.932878217942</c:v>
                </c:pt>
                <c:pt idx="49">
                  <c:v>0.932878217942</c:v>
                </c:pt>
                <c:pt idx="50">
                  <c:v>0.932878217942</c:v>
                </c:pt>
                <c:pt idx="51">
                  <c:v>0.932878217942</c:v>
                </c:pt>
                <c:pt idx="52">
                  <c:v>0.932878217942</c:v>
                </c:pt>
                <c:pt idx="53">
                  <c:v>0.932878217942</c:v>
                </c:pt>
                <c:pt idx="54">
                  <c:v>0.932878217942</c:v>
                </c:pt>
                <c:pt idx="55">
                  <c:v>0.932878217942</c:v>
                </c:pt>
                <c:pt idx="56">
                  <c:v>0.932878217942</c:v>
                </c:pt>
                <c:pt idx="57">
                  <c:v>0.932878217942</c:v>
                </c:pt>
                <c:pt idx="58">
                  <c:v>0.932878217942</c:v>
                </c:pt>
                <c:pt idx="59">
                  <c:v>0.932878217942</c:v>
                </c:pt>
                <c:pt idx="60">
                  <c:v>0.932878217942</c:v>
                </c:pt>
                <c:pt idx="61">
                  <c:v>0.932878217942</c:v>
                </c:pt>
                <c:pt idx="62">
                  <c:v>0.932878217942</c:v>
                </c:pt>
                <c:pt idx="63">
                  <c:v>0.932878217942</c:v>
                </c:pt>
                <c:pt idx="64">
                  <c:v>0.932878217942</c:v>
                </c:pt>
                <c:pt idx="65">
                  <c:v>0.932878217942</c:v>
                </c:pt>
                <c:pt idx="66">
                  <c:v>0.932878217942</c:v>
                </c:pt>
                <c:pt idx="67">
                  <c:v>0.932878217942</c:v>
                </c:pt>
                <c:pt idx="68">
                  <c:v>0.932878217942</c:v>
                </c:pt>
                <c:pt idx="69">
                  <c:v>0.932878217942</c:v>
                </c:pt>
                <c:pt idx="70">
                  <c:v>0.932878217942</c:v>
                </c:pt>
                <c:pt idx="71">
                  <c:v>0.932878217942</c:v>
                </c:pt>
                <c:pt idx="72">
                  <c:v>0.932878217942</c:v>
                </c:pt>
                <c:pt idx="73">
                  <c:v>0.932878217942</c:v>
                </c:pt>
                <c:pt idx="74">
                  <c:v>0.932878217942</c:v>
                </c:pt>
                <c:pt idx="75">
                  <c:v>0.932878217942</c:v>
                </c:pt>
                <c:pt idx="76">
                  <c:v>0.932878217942</c:v>
                </c:pt>
                <c:pt idx="77">
                  <c:v>0.932878217942</c:v>
                </c:pt>
                <c:pt idx="78">
                  <c:v>0.932878217942</c:v>
                </c:pt>
                <c:pt idx="79">
                  <c:v>0.932878217942</c:v>
                </c:pt>
                <c:pt idx="80">
                  <c:v>0.932878217942</c:v>
                </c:pt>
                <c:pt idx="81">
                  <c:v>0.932878217942</c:v>
                </c:pt>
                <c:pt idx="82">
                  <c:v>0.932878217942</c:v>
                </c:pt>
                <c:pt idx="83">
                  <c:v>0.932878217942</c:v>
                </c:pt>
                <c:pt idx="84">
                  <c:v>0.932878217942</c:v>
                </c:pt>
                <c:pt idx="85">
                  <c:v>0.932878217942</c:v>
                </c:pt>
                <c:pt idx="86">
                  <c:v>0.932878217942</c:v>
                </c:pt>
                <c:pt idx="87">
                  <c:v>0.932878217942</c:v>
                </c:pt>
                <c:pt idx="88">
                  <c:v>0.932878217942</c:v>
                </c:pt>
                <c:pt idx="89">
                  <c:v>0.932878217942</c:v>
                </c:pt>
                <c:pt idx="90">
                  <c:v>0.932878217942</c:v>
                </c:pt>
                <c:pt idx="91">
                  <c:v>0.932878217942</c:v>
                </c:pt>
                <c:pt idx="92">
                  <c:v>0.932878217942</c:v>
                </c:pt>
                <c:pt idx="93">
                  <c:v>0.932878217942</c:v>
                </c:pt>
                <c:pt idx="94">
                  <c:v>0.932878217942</c:v>
                </c:pt>
                <c:pt idx="95">
                  <c:v>0.932878217942</c:v>
                </c:pt>
                <c:pt idx="96">
                  <c:v>0.932878217942</c:v>
                </c:pt>
                <c:pt idx="97">
                  <c:v>0.932878217942</c:v>
                </c:pt>
                <c:pt idx="98">
                  <c:v>0.932878217942</c:v>
                </c:pt>
                <c:pt idx="99">
                  <c:v>0.932878217942</c:v>
                </c:pt>
                <c:pt idx="100">
                  <c:v>0.932878217942</c:v>
                </c:pt>
                <c:pt idx="101">
                  <c:v>0.932878217942</c:v>
                </c:pt>
                <c:pt idx="102">
                  <c:v>0.932878217942</c:v>
                </c:pt>
                <c:pt idx="103">
                  <c:v>0.932878217942</c:v>
                </c:pt>
                <c:pt idx="104">
                  <c:v>0.932878217942</c:v>
                </c:pt>
                <c:pt idx="105">
                  <c:v>0.932878217942</c:v>
                </c:pt>
                <c:pt idx="106">
                  <c:v>0.932878217942</c:v>
                </c:pt>
                <c:pt idx="107">
                  <c:v>0.932878217942</c:v>
                </c:pt>
                <c:pt idx="108">
                  <c:v>0.932878217942</c:v>
                </c:pt>
                <c:pt idx="109">
                  <c:v>0.932878217942</c:v>
                </c:pt>
                <c:pt idx="110">
                  <c:v>0.932878217942</c:v>
                </c:pt>
                <c:pt idx="111">
                  <c:v>0.932878217942</c:v>
                </c:pt>
                <c:pt idx="112">
                  <c:v>0.932878217942</c:v>
                </c:pt>
                <c:pt idx="113">
                  <c:v>0.932878217942</c:v>
                </c:pt>
                <c:pt idx="114">
                  <c:v>0.932878217942</c:v>
                </c:pt>
                <c:pt idx="115">
                  <c:v>0.932878217942</c:v>
                </c:pt>
                <c:pt idx="116">
                  <c:v>0.932878217942</c:v>
                </c:pt>
                <c:pt idx="117">
                  <c:v>0.932878217942</c:v>
                </c:pt>
                <c:pt idx="118">
                  <c:v>0.932878217942</c:v>
                </c:pt>
                <c:pt idx="119">
                  <c:v>0.932878217942</c:v>
                </c:pt>
                <c:pt idx="120">
                  <c:v>0.932878217942</c:v>
                </c:pt>
                <c:pt idx="121">
                  <c:v>0.932878217942</c:v>
                </c:pt>
                <c:pt idx="122">
                  <c:v>0.932878217942</c:v>
                </c:pt>
                <c:pt idx="123">
                  <c:v>0.932878217942</c:v>
                </c:pt>
                <c:pt idx="124">
                  <c:v>0.932878217942</c:v>
                </c:pt>
                <c:pt idx="125">
                  <c:v>0.932878217942</c:v>
                </c:pt>
                <c:pt idx="126">
                  <c:v>0.932878217942</c:v>
                </c:pt>
                <c:pt idx="127">
                  <c:v>0.932878217942</c:v>
                </c:pt>
                <c:pt idx="128">
                  <c:v>0.932878217942</c:v>
                </c:pt>
                <c:pt idx="129">
                  <c:v>0.932878217942</c:v>
                </c:pt>
                <c:pt idx="130">
                  <c:v>0.932878217942</c:v>
                </c:pt>
                <c:pt idx="131">
                  <c:v>0.932878217942</c:v>
                </c:pt>
                <c:pt idx="132">
                  <c:v>0.932878217942</c:v>
                </c:pt>
                <c:pt idx="133">
                  <c:v>0.932878217942</c:v>
                </c:pt>
                <c:pt idx="134">
                  <c:v>0.932878217942</c:v>
                </c:pt>
                <c:pt idx="135">
                  <c:v>0.932878217942</c:v>
                </c:pt>
                <c:pt idx="136">
                  <c:v>0.932878217942</c:v>
                </c:pt>
                <c:pt idx="137">
                  <c:v>0.932878217942</c:v>
                </c:pt>
                <c:pt idx="138">
                  <c:v>0.932878217942</c:v>
                </c:pt>
                <c:pt idx="139">
                  <c:v>0.932878217942</c:v>
                </c:pt>
                <c:pt idx="140">
                  <c:v>0.932878217942</c:v>
                </c:pt>
                <c:pt idx="141">
                  <c:v>0.932878217942</c:v>
                </c:pt>
                <c:pt idx="142">
                  <c:v>0.932878217942</c:v>
                </c:pt>
                <c:pt idx="143">
                  <c:v>0.932878217942</c:v>
                </c:pt>
                <c:pt idx="144">
                  <c:v>0.932878217942</c:v>
                </c:pt>
                <c:pt idx="145">
                  <c:v>0.932878217942</c:v>
                </c:pt>
                <c:pt idx="146">
                  <c:v>0.932878217942</c:v>
                </c:pt>
                <c:pt idx="147">
                  <c:v>0.932878217942</c:v>
                </c:pt>
                <c:pt idx="148">
                  <c:v>0.932878217942</c:v>
                </c:pt>
                <c:pt idx="149">
                  <c:v>0.932878217942</c:v>
                </c:pt>
                <c:pt idx="150">
                  <c:v>0.932878217942</c:v>
                </c:pt>
                <c:pt idx="151">
                  <c:v>0.932878217942</c:v>
                </c:pt>
                <c:pt idx="152">
                  <c:v>0.932878217942</c:v>
                </c:pt>
                <c:pt idx="153">
                  <c:v>0.932878217942</c:v>
                </c:pt>
                <c:pt idx="154">
                  <c:v>0.932878217942</c:v>
                </c:pt>
                <c:pt idx="155">
                  <c:v>0.932878217942</c:v>
                </c:pt>
                <c:pt idx="156">
                  <c:v>0.932878217942</c:v>
                </c:pt>
                <c:pt idx="157">
                  <c:v>0.932878217942</c:v>
                </c:pt>
                <c:pt idx="158">
                  <c:v>0.932878217942</c:v>
                </c:pt>
                <c:pt idx="159">
                  <c:v>0.932878217942</c:v>
                </c:pt>
                <c:pt idx="160">
                  <c:v>0.932878217942</c:v>
                </c:pt>
              </c:numCache>
            </c:numRef>
          </c:yVal>
          <c:smooth val="0"/>
        </c:ser>
        <c:ser>
          <c:idx val="1"/>
          <c:order val="1"/>
          <c:tx>
            <c:v>Modelo</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Data'!$C$2:$C$162</c:f>
              <c:numCache>
                <c:formatCode>General</c:formatCode>
                <c:ptCount val="161"/>
                <c:pt idx="0">
                  <c:v>0</c:v>
                </c:pt>
                <c:pt idx="1">
                  <c:v>0.00625</c:v>
                </c:pt>
                <c:pt idx="2">
                  <c:v>0.0125</c:v>
                </c:pt>
                <c:pt idx="3">
                  <c:v>0.01875</c:v>
                </c:pt>
                <c:pt idx="4">
                  <c:v>0.025</c:v>
                </c:pt>
                <c:pt idx="5">
                  <c:v>0.03125</c:v>
                </c:pt>
                <c:pt idx="6">
                  <c:v>0.0375</c:v>
                </c:pt>
                <c:pt idx="7">
                  <c:v>0.04375</c:v>
                </c:pt>
                <c:pt idx="8">
                  <c:v>0.05</c:v>
                </c:pt>
                <c:pt idx="9">
                  <c:v>0.05625</c:v>
                </c:pt>
                <c:pt idx="10">
                  <c:v>0.0625</c:v>
                </c:pt>
                <c:pt idx="11">
                  <c:v>0.06875</c:v>
                </c:pt>
                <c:pt idx="12">
                  <c:v>0.075</c:v>
                </c:pt>
                <c:pt idx="13">
                  <c:v>0.08125</c:v>
                </c:pt>
                <c:pt idx="14">
                  <c:v>0.0875</c:v>
                </c:pt>
                <c:pt idx="15">
                  <c:v>0.09375</c:v>
                </c:pt>
                <c:pt idx="16">
                  <c:v>0.1</c:v>
                </c:pt>
                <c:pt idx="17">
                  <c:v>0.10625</c:v>
                </c:pt>
                <c:pt idx="18">
                  <c:v>0.1125</c:v>
                </c:pt>
                <c:pt idx="19">
                  <c:v>0.11875</c:v>
                </c:pt>
                <c:pt idx="20">
                  <c:v>0.125</c:v>
                </c:pt>
                <c:pt idx="21">
                  <c:v>0.13125</c:v>
                </c:pt>
                <c:pt idx="22">
                  <c:v>0.1375</c:v>
                </c:pt>
                <c:pt idx="23">
                  <c:v>0.14375</c:v>
                </c:pt>
                <c:pt idx="24">
                  <c:v>0.15</c:v>
                </c:pt>
                <c:pt idx="25">
                  <c:v>0.15625</c:v>
                </c:pt>
                <c:pt idx="26">
                  <c:v>0.1625</c:v>
                </c:pt>
                <c:pt idx="27">
                  <c:v>0.16875</c:v>
                </c:pt>
                <c:pt idx="28">
                  <c:v>0.175</c:v>
                </c:pt>
                <c:pt idx="29">
                  <c:v>0.18125</c:v>
                </c:pt>
                <c:pt idx="30">
                  <c:v>0.1875</c:v>
                </c:pt>
                <c:pt idx="31">
                  <c:v>0.19375</c:v>
                </c:pt>
                <c:pt idx="32">
                  <c:v>0.2</c:v>
                </c:pt>
                <c:pt idx="33">
                  <c:v>0.20625</c:v>
                </c:pt>
                <c:pt idx="34">
                  <c:v>0.2125</c:v>
                </c:pt>
                <c:pt idx="35">
                  <c:v>0.21875</c:v>
                </c:pt>
                <c:pt idx="36">
                  <c:v>0.225</c:v>
                </c:pt>
                <c:pt idx="37">
                  <c:v>0.23125</c:v>
                </c:pt>
                <c:pt idx="38">
                  <c:v>0.2375</c:v>
                </c:pt>
                <c:pt idx="39">
                  <c:v>0.24375</c:v>
                </c:pt>
                <c:pt idx="40">
                  <c:v>0.25</c:v>
                </c:pt>
                <c:pt idx="41">
                  <c:v>0.25625</c:v>
                </c:pt>
                <c:pt idx="42">
                  <c:v>0.2625</c:v>
                </c:pt>
                <c:pt idx="43">
                  <c:v>0.26875</c:v>
                </c:pt>
                <c:pt idx="44">
                  <c:v>0.275</c:v>
                </c:pt>
                <c:pt idx="45">
                  <c:v>0.28125</c:v>
                </c:pt>
                <c:pt idx="46">
                  <c:v>0.2875</c:v>
                </c:pt>
                <c:pt idx="47">
                  <c:v>0.29375</c:v>
                </c:pt>
                <c:pt idx="48">
                  <c:v>0.3</c:v>
                </c:pt>
                <c:pt idx="49">
                  <c:v>0.30625</c:v>
                </c:pt>
                <c:pt idx="50">
                  <c:v>0.3125</c:v>
                </c:pt>
                <c:pt idx="51">
                  <c:v>0.31875</c:v>
                </c:pt>
                <c:pt idx="52">
                  <c:v>0.325</c:v>
                </c:pt>
                <c:pt idx="53">
                  <c:v>0.33125</c:v>
                </c:pt>
                <c:pt idx="54">
                  <c:v>0.3375</c:v>
                </c:pt>
                <c:pt idx="55">
                  <c:v>0.34375</c:v>
                </c:pt>
                <c:pt idx="56">
                  <c:v>0.35</c:v>
                </c:pt>
                <c:pt idx="57">
                  <c:v>0.35625</c:v>
                </c:pt>
                <c:pt idx="58">
                  <c:v>0.3625</c:v>
                </c:pt>
                <c:pt idx="59">
                  <c:v>0.36875</c:v>
                </c:pt>
                <c:pt idx="60">
                  <c:v>0.375</c:v>
                </c:pt>
                <c:pt idx="61">
                  <c:v>0.38125</c:v>
                </c:pt>
                <c:pt idx="62">
                  <c:v>0.3875</c:v>
                </c:pt>
                <c:pt idx="63">
                  <c:v>0.39375</c:v>
                </c:pt>
                <c:pt idx="64">
                  <c:v>0.4</c:v>
                </c:pt>
                <c:pt idx="65">
                  <c:v>0.40625</c:v>
                </c:pt>
                <c:pt idx="66">
                  <c:v>0.4125</c:v>
                </c:pt>
                <c:pt idx="67">
                  <c:v>0.41875</c:v>
                </c:pt>
                <c:pt idx="68">
                  <c:v>0.425</c:v>
                </c:pt>
                <c:pt idx="69">
                  <c:v>0.43125</c:v>
                </c:pt>
                <c:pt idx="70">
                  <c:v>0.4375</c:v>
                </c:pt>
                <c:pt idx="71">
                  <c:v>0.44375</c:v>
                </c:pt>
                <c:pt idx="72">
                  <c:v>0.45</c:v>
                </c:pt>
                <c:pt idx="73">
                  <c:v>0.45625</c:v>
                </c:pt>
                <c:pt idx="74">
                  <c:v>0.4625</c:v>
                </c:pt>
                <c:pt idx="75">
                  <c:v>0.46875</c:v>
                </c:pt>
                <c:pt idx="76">
                  <c:v>0.475</c:v>
                </c:pt>
                <c:pt idx="77">
                  <c:v>0.48125</c:v>
                </c:pt>
                <c:pt idx="78">
                  <c:v>0.4875</c:v>
                </c:pt>
                <c:pt idx="79">
                  <c:v>0.49375</c:v>
                </c:pt>
                <c:pt idx="80">
                  <c:v>0.5</c:v>
                </c:pt>
                <c:pt idx="81">
                  <c:v>0.50625</c:v>
                </c:pt>
                <c:pt idx="82">
                  <c:v>0.5125</c:v>
                </c:pt>
                <c:pt idx="83">
                  <c:v>0.51875</c:v>
                </c:pt>
                <c:pt idx="84">
                  <c:v>0.525</c:v>
                </c:pt>
                <c:pt idx="85">
                  <c:v>0.53125</c:v>
                </c:pt>
                <c:pt idx="86">
                  <c:v>0.5375</c:v>
                </c:pt>
                <c:pt idx="87">
                  <c:v>0.54375</c:v>
                </c:pt>
                <c:pt idx="88">
                  <c:v>0.55</c:v>
                </c:pt>
                <c:pt idx="89">
                  <c:v>0.55625</c:v>
                </c:pt>
                <c:pt idx="90">
                  <c:v>0.5625</c:v>
                </c:pt>
                <c:pt idx="91">
                  <c:v>0.56875</c:v>
                </c:pt>
                <c:pt idx="92">
                  <c:v>0.575</c:v>
                </c:pt>
                <c:pt idx="93">
                  <c:v>0.58125</c:v>
                </c:pt>
                <c:pt idx="94">
                  <c:v>0.5875</c:v>
                </c:pt>
                <c:pt idx="95">
                  <c:v>0.59375</c:v>
                </c:pt>
                <c:pt idx="96">
                  <c:v>0.6</c:v>
                </c:pt>
                <c:pt idx="97">
                  <c:v>0.60625</c:v>
                </c:pt>
                <c:pt idx="98">
                  <c:v>0.6125</c:v>
                </c:pt>
                <c:pt idx="99">
                  <c:v>0.61875</c:v>
                </c:pt>
                <c:pt idx="100">
                  <c:v>0.625</c:v>
                </c:pt>
                <c:pt idx="101">
                  <c:v>0.63125</c:v>
                </c:pt>
                <c:pt idx="102">
                  <c:v>0.6375</c:v>
                </c:pt>
                <c:pt idx="103">
                  <c:v>0.64375</c:v>
                </c:pt>
                <c:pt idx="104">
                  <c:v>0.65</c:v>
                </c:pt>
                <c:pt idx="105">
                  <c:v>0.65625</c:v>
                </c:pt>
                <c:pt idx="106">
                  <c:v>0.6625</c:v>
                </c:pt>
                <c:pt idx="107">
                  <c:v>0.66875</c:v>
                </c:pt>
                <c:pt idx="108">
                  <c:v>0.675</c:v>
                </c:pt>
                <c:pt idx="109">
                  <c:v>0.68125</c:v>
                </c:pt>
                <c:pt idx="110">
                  <c:v>0.6875</c:v>
                </c:pt>
                <c:pt idx="111">
                  <c:v>0.69375</c:v>
                </c:pt>
                <c:pt idx="112">
                  <c:v>0.7</c:v>
                </c:pt>
                <c:pt idx="113">
                  <c:v>0.70625</c:v>
                </c:pt>
                <c:pt idx="114">
                  <c:v>0.7125</c:v>
                </c:pt>
                <c:pt idx="115">
                  <c:v>0.71875</c:v>
                </c:pt>
                <c:pt idx="116">
                  <c:v>0.725</c:v>
                </c:pt>
                <c:pt idx="117">
                  <c:v>0.73125</c:v>
                </c:pt>
                <c:pt idx="118">
                  <c:v>0.7375</c:v>
                </c:pt>
                <c:pt idx="119">
                  <c:v>0.74375</c:v>
                </c:pt>
                <c:pt idx="120">
                  <c:v>0.75</c:v>
                </c:pt>
                <c:pt idx="121">
                  <c:v>0.75625</c:v>
                </c:pt>
                <c:pt idx="122">
                  <c:v>0.7625</c:v>
                </c:pt>
                <c:pt idx="123">
                  <c:v>0.76875</c:v>
                </c:pt>
                <c:pt idx="124">
                  <c:v>0.775</c:v>
                </c:pt>
                <c:pt idx="125">
                  <c:v>0.78125</c:v>
                </c:pt>
                <c:pt idx="126">
                  <c:v>0.7875</c:v>
                </c:pt>
                <c:pt idx="127">
                  <c:v>0.79375</c:v>
                </c:pt>
                <c:pt idx="128">
                  <c:v>0.8</c:v>
                </c:pt>
                <c:pt idx="129">
                  <c:v>0.80625</c:v>
                </c:pt>
                <c:pt idx="130">
                  <c:v>0.8125</c:v>
                </c:pt>
                <c:pt idx="131">
                  <c:v>0.81875</c:v>
                </c:pt>
                <c:pt idx="132">
                  <c:v>0.825</c:v>
                </c:pt>
                <c:pt idx="133">
                  <c:v>0.83125</c:v>
                </c:pt>
                <c:pt idx="134">
                  <c:v>0.8375</c:v>
                </c:pt>
                <c:pt idx="135">
                  <c:v>0.84375</c:v>
                </c:pt>
                <c:pt idx="136">
                  <c:v>0.85</c:v>
                </c:pt>
                <c:pt idx="137">
                  <c:v>0.85625</c:v>
                </c:pt>
                <c:pt idx="138">
                  <c:v>0.8625</c:v>
                </c:pt>
                <c:pt idx="139">
                  <c:v>0.86875</c:v>
                </c:pt>
                <c:pt idx="140">
                  <c:v>0.875</c:v>
                </c:pt>
                <c:pt idx="141">
                  <c:v>0.88125</c:v>
                </c:pt>
                <c:pt idx="142">
                  <c:v>0.8875</c:v>
                </c:pt>
                <c:pt idx="143">
                  <c:v>0.89375</c:v>
                </c:pt>
                <c:pt idx="144">
                  <c:v>0.9</c:v>
                </c:pt>
                <c:pt idx="145">
                  <c:v>0.90625</c:v>
                </c:pt>
                <c:pt idx="146">
                  <c:v>0.9125</c:v>
                </c:pt>
                <c:pt idx="147">
                  <c:v>0.91875</c:v>
                </c:pt>
                <c:pt idx="148">
                  <c:v>0.925</c:v>
                </c:pt>
                <c:pt idx="149">
                  <c:v>0.93125</c:v>
                </c:pt>
                <c:pt idx="150">
                  <c:v>0.9375</c:v>
                </c:pt>
                <c:pt idx="151">
                  <c:v>0.94375</c:v>
                </c:pt>
                <c:pt idx="152">
                  <c:v>0.95</c:v>
                </c:pt>
                <c:pt idx="153">
                  <c:v>0.95625</c:v>
                </c:pt>
                <c:pt idx="154">
                  <c:v>0.9625</c:v>
                </c:pt>
                <c:pt idx="155">
                  <c:v>0.96875</c:v>
                </c:pt>
                <c:pt idx="156">
                  <c:v>0.975</c:v>
                </c:pt>
                <c:pt idx="157">
                  <c:v>0.98125</c:v>
                </c:pt>
                <c:pt idx="158">
                  <c:v>0.9875</c:v>
                </c:pt>
                <c:pt idx="159">
                  <c:v>0.99375</c:v>
                </c:pt>
                <c:pt idx="160">
                  <c:v>1</c:v>
                </c:pt>
              </c:numCache>
            </c:numRef>
          </c:xVal>
          <c:yVal>
            <c:numRef>
              <c:f>'Chart Data'!$D$2:$D$162</c:f>
              <c:numCache>
                <c:formatCode>0.0</c:formatCode>
                <c:ptCount val="161"/>
                <c:pt idx="0">
                  <c:v>0.974041290861</c:v>
                </c:pt>
                <c:pt idx="1">
                  <c:v>0.959654339855</c:v>
                </c:pt>
                <c:pt idx="2">
                  <c:v>0.945449978953</c:v>
                </c:pt>
                <c:pt idx="3">
                  <c:v>0.931428208157</c:v>
                </c:pt>
                <c:pt idx="4">
                  <c:v>0.917589027465</c:v>
                </c:pt>
                <c:pt idx="5">
                  <c:v>0.903932436878</c:v>
                </c:pt>
                <c:pt idx="6">
                  <c:v>0.890458436395</c:v>
                </c:pt>
                <c:pt idx="7">
                  <c:v>0.877167026017</c:v>
                </c:pt>
                <c:pt idx="8">
                  <c:v>0.864058205744</c:v>
                </c:pt>
                <c:pt idx="9">
                  <c:v>0.851131975576</c:v>
                </c:pt>
                <c:pt idx="10">
                  <c:v>0.838388335512</c:v>
                </c:pt>
                <c:pt idx="11">
                  <c:v>0.825827285553</c:v>
                </c:pt>
                <c:pt idx="12">
                  <c:v>0.813448825699</c:v>
                </c:pt>
                <c:pt idx="13">
                  <c:v>0.801252955949</c:v>
                </c:pt>
                <c:pt idx="14">
                  <c:v>0.789239676304</c:v>
                </c:pt>
                <c:pt idx="15">
                  <c:v>0.777408986764</c:v>
                </c:pt>
                <c:pt idx="16">
                  <c:v>0.765760887329</c:v>
                </c:pt>
                <c:pt idx="17">
                  <c:v>0.754295377998</c:v>
                </c:pt>
                <c:pt idx="18">
                  <c:v>0.743012458772</c:v>
                </c:pt>
                <c:pt idx="19">
                  <c:v>0.73191212965</c:v>
                </c:pt>
                <c:pt idx="20">
                  <c:v>0.720994390634</c:v>
                </c:pt>
                <c:pt idx="21">
                  <c:v>0.710259241722</c:v>
                </c:pt>
                <c:pt idx="22">
                  <c:v>0.699706682914</c:v>
                </c:pt>
                <c:pt idx="23">
                  <c:v>0.689336714212</c:v>
                </c:pt>
                <c:pt idx="24">
                  <c:v>0.679149335614</c:v>
                </c:pt>
                <c:pt idx="25">
                  <c:v>0.669144547121</c:v>
                </c:pt>
                <c:pt idx="26">
                  <c:v>0.659322348732</c:v>
                </c:pt>
                <c:pt idx="27">
                  <c:v>0.649682740448</c:v>
                </c:pt>
                <c:pt idx="28">
                  <c:v>0.640225722269</c:v>
                </c:pt>
                <c:pt idx="29">
                  <c:v>0.630951294195</c:v>
                </c:pt>
                <c:pt idx="30">
                  <c:v>0.621859456225</c:v>
                </c:pt>
                <c:pt idx="31">
                  <c:v>0.61295020836</c:v>
                </c:pt>
                <c:pt idx="32">
                  <c:v>0.6042235506</c:v>
                </c:pt>
                <c:pt idx="33">
                  <c:v>0.595679482945</c:v>
                </c:pt>
                <c:pt idx="34">
                  <c:v>0.587318005394</c:v>
                </c:pt>
                <c:pt idx="35">
                  <c:v>0.579139117948</c:v>
                </c:pt>
                <c:pt idx="36">
                  <c:v>0.571142820606</c:v>
                </c:pt>
                <c:pt idx="37">
                  <c:v>0.563329113369</c:v>
                </c:pt>
                <c:pt idx="38">
                  <c:v>0.555697996237</c:v>
                </c:pt>
                <c:pt idx="39">
                  <c:v>0.54824946921</c:v>
                </c:pt>
                <c:pt idx="40">
                  <c:v>0.540983532287</c:v>
                </c:pt>
                <c:pt idx="41">
                  <c:v>0.53390018547</c:v>
                </c:pt>
                <c:pt idx="42">
                  <c:v>0.526999428756</c:v>
                </c:pt>
                <c:pt idx="43">
                  <c:v>0.520281262148</c:v>
                </c:pt>
                <c:pt idx="44">
                  <c:v>0.513745685644</c:v>
                </c:pt>
                <c:pt idx="45">
                  <c:v>0.507392699245</c:v>
                </c:pt>
                <c:pt idx="46">
                  <c:v>0.50122230295</c:v>
                </c:pt>
                <c:pt idx="47">
                  <c:v>0.495234496761</c:v>
                </c:pt>
                <c:pt idx="48">
                  <c:v>0.489429280676</c:v>
                </c:pt>
                <c:pt idx="49">
                  <c:v>0.483806654695</c:v>
                </c:pt>
                <c:pt idx="50">
                  <c:v>0.47836661882</c:v>
                </c:pt>
                <c:pt idx="51">
                  <c:v>0.473109173049</c:v>
                </c:pt>
                <c:pt idx="52">
                  <c:v>0.468034317383</c:v>
                </c:pt>
                <c:pt idx="53">
                  <c:v>0.463142051821</c:v>
                </c:pt>
                <c:pt idx="54">
                  <c:v>0.458432376364</c:v>
                </c:pt>
                <c:pt idx="55">
                  <c:v>0.453905291012</c:v>
                </c:pt>
                <c:pt idx="56">
                  <c:v>0.449560795765</c:v>
                </c:pt>
                <c:pt idx="57">
                  <c:v>0.445398890622</c:v>
                </c:pt>
                <c:pt idx="58">
                  <c:v>0.441419575584</c:v>
                </c:pt>
                <c:pt idx="59">
                  <c:v>0.437622850651</c:v>
                </c:pt>
                <c:pt idx="60">
                  <c:v>0.434008715822</c:v>
                </c:pt>
                <c:pt idx="61">
                  <c:v>0.430577171098</c:v>
                </c:pt>
                <c:pt idx="62">
                  <c:v>0.427328216479</c:v>
                </c:pt>
                <c:pt idx="63">
                  <c:v>0.424261851965</c:v>
                </c:pt>
                <c:pt idx="64">
                  <c:v>0.421378077555</c:v>
                </c:pt>
                <c:pt idx="65">
                  <c:v>0.41867689325</c:v>
                </c:pt>
                <c:pt idx="66">
                  <c:v>0.416158299049</c:v>
                </c:pt>
                <c:pt idx="67">
                  <c:v>0.413822294954</c:v>
                </c:pt>
                <c:pt idx="68">
                  <c:v>0.411668880963</c:v>
                </c:pt>
                <c:pt idx="69">
                  <c:v>0.409698057076</c:v>
                </c:pt>
                <c:pt idx="70">
                  <c:v>0.407909823295</c:v>
                </c:pt>
                <c:pt idx="71">
                  <c:v>0.406304179618</c:v>
                </c:pt>
                <c:pt idx="72">
                  <c:v>0.404881126046</c:v>
                </c:pt>
                <c:pt idx="73">
                  <c:v>0.403640662578</c:v>
                </c:pt>
                <c:pt idx="74">
                  <c:v>0.402582789216</c:v>
                </c:pt>
                <c:pt idx="75">
                  <c:v>0.401707505958</c:v>
                </c:pt>
                <c:pt idx="76">
                  <c:v>0.401014812804</c:v>
                </c:pt>
                <c:pt idx="77">
                  <c:v>0.400504709756</c:v>
                </c:pt>
                <c:pt idx="78">
                  <c:v>0.400177196812</c:v>
                </c:pt>
                <c:pt idx="79">
                  <c:v>0.400032273972</c:v>
                </c:pt>
                <c:pt idx="80">
                  <c:v>0.400069941238</c:v>
                </c:pt>
                <c:pt idx="81">
                  <c:v>0.400290198608</c:v>
                </c:pt>
                <c:pt idx="82">
                  <c:v>0.400693046083</c:v>
                </c:pt>
                <c:pt idx="83">
                  <c:v>0.401278483662</c:v>
                </c:pt>
                <c:pt idx="84">
                  <c:v>0.402046511347</c:v>
                </c:pt>
                <c:pt idx="85">
                  <c:v>0.402997129136</c:v>
                </c:pt>
                <c:pt idx="86">
                  <c:v>0.404130337029</c:v>
                </c:pt>
                <c:pt idx="87">
                  <c:v>0.405446135028</c:v>
                </c:pt>
                <c:pt idx="88">
                  <c:v>0.406944523131</c:v>
                </c:pt>
                <c:pt idx="89">
                  <c:v>0.408625501338</c:v>
                </c:pt>
                <c:pt idx="90">
                  <c:v>0.410489069651</c:v>
                </c:pt>
                <c:pt idx="91">
                  <c:v>0.412535228068</c:v>
                </c:pt>
                <c:pt idx="92">
                  <c:v>0.41476397659</c:v>
                </c:pt>
                <c:pt idx="93">
                  <c:v>0.417175315217</c:v>
                </c:pt>
                <c:pt idx="94">
                  <c:v>0.419769243948</c:v>
                </c:pt>
                <c:pt idx="95">
                  <c:v>0.422545762784</c:v>
                </c:pt>
                <c:pt idx="96">
                  <c:v>0.425504871725</c:v>
                </c:pt>
                <c:pt idx="97">
                  <c:v>0.42864657077</c:v>
                </c:pt>
                <c:pt idx="98">
                  <c:v>0.43197085992</c:v>
                </c:pt>
                <c:pt idx="99">
                  <c:v>0.435477739175</c:v>
                </c:pt>
                <c:pt idx="100">
                  <c:v>0.439167208534</c:v>
                </c:pt>
                <c:pt idx="101">
                  <c:v>0.443039267998</c:v>
                </c:pt>
                <c:pt idx="102">
                  <c:v>0.447093917567</c:v>
                </c:pt>
                <c:pt idx="103">
                  <c:v>0.451331157241</c:v>
                </c:pt>
                <c:pt idx="104">
                  <c:v>0.455750987019</c:v>
                </c:pt>
                <c:pt idx="105">
                  <c:v>0.460353406902</c:v>
                </c:pt>
                <c:pt idx="106">
                  <c:v>0.46513841689</c:v>
                </c:pt>
                <c:pt idx="107">
                  <c:v>0.470106016982</c:v>
                </c:pt>
                <c:pt idx="108">
                  <c:v>0.47525620718</c:v>
                </c:pt>
                <c:pt idx="109">
                  <c:v>0.480588987481</c:v>
                </c:pt>
                <c:pt idx="110">
                  <c:v>0.486104357888</c:v>
                </c:pt>
                <c:pt idx="111">
                  <c:v>0.491802318399</c:v>
                </c:pt>
                <c:pt idx="112">
                  <c:v>0.497682869015</c:v>
                </c:pt>
                <c:pt idx="113">
                  <c:v>0.503746009736</c:v>
                </c:pt>
                <c:pt idx="114">
                  <c:v>0.509991740561</c:v>
                </c:pt>
                <c:pt idx="115">
                  <c:v>0.516420061491</c:v>
                </c:pt>
                <c:pt idx="116">
                  <c:v>0.523030972526</c:v>
                </c:pt>
                <c:pt idx="117">
                  <c:v>0.529824473665</c:v>
                </c:pt>
                <c:pt idx="118">
                  <c:v>0.536800564909</c:v>
                </c:pt>
                <c:pt idx="119">
                  <c:v>0.543959246258</c:v>
                </c:pt>
                <c:pt idx="120">
                  <c:v>0.551300517712</c:v>
                </c:pt>
                <c:pt idx="121">
                  <c:v>0.55882437927</c:v>
                </c:pt>
                <c:pt idx="122">
                  <c:v>0.566530830933</c:v>
                </c:pt>
                <c:pt idx="123">
                  <c:v>0.5744198727</c:v>
                </c:pt>
                <c:pt idx="124">
                  <c:v>0.582491504573</c:v>
                </c:pt>
                <c:pt idx="125">
                  <c:v>0.59074572655</c:v>
                </c:pt>
                <c:pt idx="126">
                  <c:v>0.599182538632</c:v>
                </c:pt>
                <c:pt idx="127">
                  <c:v>0.607801940818</c:v>
                </c:pt>
                <c:pt idx="128">
                  <c:v>0.616603933109</c:v>
                </c:pt>
                <c:pt idx="129">
                  <c:v>0.625588515505</c:v>
                </c:pt>
                <c:pt idx="130">
                  <c:v>0.634755688006</c:v>
                </c:pt>
                <c:pt idx="131">
                  <c:v>0.644105450611</c:v>
                </c:pt>
                <c:pt idx="132">
                  <c:v>0.653637803321</c:v>
                </c:pt>
                <c:pt idx="133">
                  <c:v>0.663352746136</c:v>
                </c:pt>
                <c:pt idx="134">
                  <c:v>0.673250279055</c:v>
                </c:pt>
                <c:pt idx="135">
                  <c:v>0.683330402079</c:v>
                </c:pt>
                <c:pt idx="136">
                  <c:v>0.693593115208</c:v>
                </c:pt>
                <c:pt idx="137">
                  <c:v>0.704038418441</c:v>
                </c:pt>
                <c:pt idx="138">
                  <c:v>0.714666311779</c:v>
                </c:pt>
                <c:pt idx="139">
                  <c:v>0.725476795222</c:v>
                </c:pt>
                <c:pt idx="140">
                  <c:v>0.73646986877</c:v>
                </c:pt>
                <c:pt idx="141">
                  <c:v>0.747645532422</c:v>
                </c:pt>
                <c:pt idx="142">
                  <c:v>0.759003786179</c:v>
                </c:pt>
                <c:pt idx="143">
                  <c:v>0.770544630041</c:v>
                </c:pt>
                <c:pt idx="144">
                  <c:v>0.782268064007</c:v>
                </c:pt>
                <c:pt idx="145">
                  <c:v>0.794174088078</c:v>
                </c:pt>
                <c:pt idx="146">
                  <c:v>0.806262702254</c:v>
                </c:pt>
                <c:pt idx="147">
                  <c:v>0.818533906535</c:v>
                </c:pt>
                <c:pt idx="148">
                  <c:v>0.83098770092</c:v>
                </c:pt>
                <c:pt idx="149">
                  <c:v>0.84362408541</c:v>
                </c:pt>
                <c:pt idx="150">
                  <c:v>0.856443060004</c:v>
                </c:pt>
                <c:pt idx="151">
                  <c:v>0.869444624704</c:v>
                </c:pt>
                <c:pt idx="152">
                  <c:v>0.882628779508</c:v>
                </c:pt>
                <c:pt idx="153">
                  <c:v>0.895995524416</c:v>
                </c:pt>
                <c:pt idx="154">
                  <c:v>0.90954485943</c:v>
                </c:pt>
                <c:pt idx="155">
                  <c:v>0.923276784548</c:v>
                </c:pt>
                <c:pt idx="156">
                  <c:v>0.937191299771</c:v>
                </c:pt>
                <c:pt idx="157">
                  <c:v>0.951288405098</c:v>
                </c:pt>
                <c:pt idx="158">
                  <c:v>0.96556810053</c:v>
                </c:pt>
                <c:pt idx="159">
                  <c:v>0.980030386067</c:v>
                </c:pt>
                <c:pt idx="160">
                  <c:v>0.994675261709</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2"/>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y</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1"/>
          <c:min val="0"/>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scatterChart>
        <c:scatterStyle val="lineMarker"/>
        <c:ser>
          <c:idx val="0"/>
          <c:order val="0"/>
          <c:tx>
            <c:v>Treino</c:v>
          </c:tx>
          <c:spPr>
            <a:solidFill xmlns:a="http://schemas.openxmlformats.org/drawingml/2006/main">
              <a:srgbClr val="91A4BD"/>
            </a:solidFill>
            <a:ln xmlns:a="http://schemas.openxmlformats.org/drawingml/2006/main" w="0">
              <a:noFill/>
            </a:ln>
          </c:spPr>
          <c:marker>
            <c:symbol val="circle"/>
            <c:size val="5"/>
            <c:spPr>
              <a:solidFill xmlns:a="http://schemas.openxmlformats.org/drawingml/2006/main">
                <a:srgbClr val="91A4BD"/>
              </a:solidFill>
              <ns0:ln xmlns:ns0="http://schemas.openxmlformats.org/drawingml/2006/main" w="0">
                <ns0:noFill/>
              </ns0:ln>
            </c:spPr>
          </c:marker>
          <c:xVal>
            <c:numRef>
              <c:f>'Chart Data'!$A$2:$A$162</c:f>
              <c:numCache>
                <c:formatCode>General</c:formatCode>
                <c:ptCount val="161"/>
                <c:pt idx="0">
                  <c:v>0</c:v>
                </c:pt>
                <c:pt idx="1">
                  <c:v>0.0588235294118</c:v>
                </c:pt>
                <c:pt idx="2">
                  <c:v>0.117647058824</c:v>
                </c:pt>
                <c:pt idx="3">
                  <c:v>0.176470588235</c:v>
                </c:pt>
                <c:pt idx="4">
                  <c:v>0.235294117647</c:v>
                </c:pt>
                <c:pt idx="5">
                  <c:v>0.294117647059</c:v>
                </c:pt>
                <c:pt idx="6">
                  <c:v>0.352941176471</c:v>
                </c:pt>
                <c:pt idx="7">
                  <c:v>0.411764705882</c:v>
                </c:pt>
                <c:pt idx="8">
                  <c:v>0.470588235294</c:v>
                </c:pt>
                <c:pt idx="9">
                  <c:v>0.529411764706</c:v>
                </c:pt>
                <c:pt idx="10">
                  <c:v>0.588235294118</c:v>
                </c:pt>
                <c:pt idx="11">
                  <c:v>0.647058823529</c:v>
                </c:pt>
                <c:pt idx="12">
                  <c:v>0.705882352941</c:v>
                </c:pt>
                <c:pt idx="13">
                  <c:v>0.764705882353</c:v>
                </c:pt>
                <c:pt idx="14">
                  <c:v>0.823529411765</c:v>
                </c:pt>
                <c:pt idx="15">
                  <c:v>0.882352941176</c:v>
                </c:pt>
                <c:pt idx="16">
                  <c:v>0.941176470588</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numCache>
            </c:numRef>
          </c:xVal>
          <c:yVal>
            <c:numRef>
              <c:f>'Chart Data'!$B$2:$B$162</c:f>
              <c:numCache>
                <c:formatCode>0.0</c:formatCode>
                <c:ptCount val="161"/>
                <c:pt idx="0">
                  <c:v>1.02133019558</c:v>
                </c:pt>
                <c:pt idx="1">
                  <c:v>0.794329140245</c:v>
                </c:pt>
                <c:pt idx="2">
                  <c:v>0.80339663561</c:v>
                </c:pt>
                <c:pt idx="3">
                  <c:v>0.717050602812</c:v>
                </c:pt>
                <c:pt idx="4">
                  <c:v>0.43159362676</c:v>
                </c:pt>
                <c:pt idx="5">
                  <c:v>0.410577538326</c:v>
                </c:pt>
                <c:pt idx="6">
                  <c:v>0.460851942409</c:v>
                </c:pt>
                <c:pt idx="7">
                  <c:v>0.396548139643</c:v>
                </c:pt>
                <c:pt idx="8">
                  <c:v>0.400900043542</c:v>
                </c:pt>
                <c:pt idx="9">
                  <c:v>0.342363049637</c:v>
                </c:pt>
                <c:pt idx="10">
                  <c:v>0.480242979348</c:v>
                </c:pt>
                <c:pt idx="11">
                  <c:v>0.506348549667</c:v>
                </c:pt>
                <c:pt idx="12">
                  <c:v>0.506352252636</c:v>
                </c:pt>
                <c:pt idx="13">
                  <c:v>0.647072974453</c:v>
                </c:pt>
                <c:pt idx="14">
                  <c:v>0.683936726622</c:v>
                </c:pt>
                <c:pt idx="15">
                  <c:v>0.690714579501</c:v>
                </c:pt>
                <c:pt idx="16">
                  <c:v>0.892940582567</c:v>
                </c:pt>
                <c:pt idx="17">
                  <c:v>0.932878217942</c:v>
                </c:pt>
                <c:pt idx="18">
                  <c:v>0.932878217942</c:v>
                </c:pt>
                <c:pt idx="19">
                  <c:v>0.932878217942</c:v>
                </c:pt>
                <c:pt idx="20">
                  <c:v>0.932878217942</c:v>
                </c:pt>
                <c:pt idx="21">
                  <c:v>0.932878217942</c:v>
                </c:pt>
                <c:pt idx="22">
                  <c:v>0.932878217942</c:v>
                </c:pt>
                <c:pt idx="23">
                  <c:v>0.932878217942</c:v>
                </c:pt>
                <c:pt idx="24">
                  <c:v>0.932878217942</c:v>
                </c:pt>
                <c:pt idx="25">
                  <c:v>0.932878217942</c:v>
                </c:pt>
                <c:pt idx="26">
                  <c:v>0.932878217942</c:v>
                </c:pt>
                <c:pt idx="27">
                  <c:v>0.932878217942</c:v>
                </c:pt>
                <c:pt idx="28">
                  <c:v>0.932878217942</c:v>
                </c:pt>
                <c:pt idx="29">
                  <c:v>0.932878217942</c:v>
                </c:pt>
                <c:pt idx="30">
                  <c:v>0.932878217942</c:v>
                </c:pt>
                <c:pt idx="31">
                  <c:v>0.932878217942</c:v>
                </c:pt>
                <c:pt idx="32">
                  <c:v>0.932878217942</c:v>
                </c:pt>
                <c:pt idx="33">
                  <c:v>0.932878217942</c:v>
                </c:pt>
                <c:pt idx="34">
                  <c:v>0.932878217942</c:v>
                </c:pt>
                <c:pt idx="35">
                  <c:v>0.932878217942</c:v>
                </c:pt>
                <c:pt idx="36">
                  <c:v>0.932878217942</c:v>
                </c:pt>
                <c:pt idx="37">
                  <c:v>0.932878217942</c:v>
                </c:pt>
                <c:pt idx="38">
                  <c:v>0.932878217942</c:v>
                </c:pt>
                <c:pt idx="39">
                  <c:v>0.932878217942</c:v>
                </c:pt>
                <c:pt idx="40">
                  <c:v>0.932878217942</c:v>
                </c:pt>
                <c:pt idx="41">
                  <c:v>0.932878217942</c:v>
                </c:pt>
                <c:pt idx="42">
                  <c:v>0.932878217942</c:v>
                </c:pt>
                <c:pt idx="43">
                  <c:v>0.932878217942</c:v>
                </c:pt>
                <c:pt idx="44">
                  <c:v>0.932878217942</c:v>
                </c:pt>
                <c:pt idx="45">
                  <c:v>0.932878217942</c:v>
                </c:pt>
                <c:pt idx="46">
                  <c:v>0.932878217942</c:v>
                </c:pt>
                <c:pt idx="47">
                  <c:v>0.932878217942</c:v>
                </c:pt>
                <c:pt idx="48">
                  <c:v>0.932878217942</c:v>
                </c:pt>
                <c:pt idx="49">
                  <c:v>0.932878217942</c:v>
                </c:pt>
                <c:pt idx="50">
                  <c:v>0.932878217942</c:v>
                </c:pt>
                <c:pt idx="51">
                  <c:v>0.932878217942</c:v>
                </c:pt>
                <c:pt idx="52">
                  <c:v>0.932878217942</c:v>
                </c:pt>
                <c:pt idx="53">
                  <c:v>0.932878217942</c:v>
                </c:pt>
                <c:pt idx="54">
                  <c:v>0.932878217942</c:v>
                </c:pt>
                <c:pt idx="55">
                  <c:v>0.932878217942</c:v>
                </c:pt>
                <c:pt idx="56">
                  <c:v>0.932878217942</c:v>
                </c:pt>
                <c:pt idx="57">
                  <c:v>0.932878217942</c:v>
                </c:pt>
                <c:pt idx="58">
                  <c:v>0.932878217942</c:v>
                </c:pt>
                <c:pt idx="59">
                  <c:v>0.932878217942</c:v>
                </c:pt>
                <c:pt idx="60">
                  <c:v>0.932878217942</c:v>
                </c:pt>
                <c:pt idx="61">
                  <c:v>0.932878217942</c:v>
                </c:pt>
                <c:pt idx="62">
                  <c:v>0.932878217942</c:v>
                </c:pt>
                <c:pt idx="63">
                  <c:v>0.932878217942</c:v>
                </c:pt>
                <c:pt idx="64">
                  <c:v>0.932878217942</c:v>
                </c:pt>
                <c:pt idx="65">
                  <c:v>0.932878217942</c:v>
                </c:pt>
                <c:pt idx="66">
                  <c:v>0.932878217942</c:v>
                </c:pt>
                <c:pt idx="67">
                  <c:v>0.932878217942</c:v>
                </c:pt>
                <c:pt idx="68">
                  <c:v>0.932878217942</c:v>
                </c:pt>
                <c:pt idx="69">
                  <c:v>0.932878217942</c:v>
                </c:pt>
                <c:pt idx="70">
                  <c:v>0.932878217942</c:v>
                </c:pt>
                <c:pt idx="71">
                  <c:v>0.932878217942</c:v>
                </c:pt>
                <c:pt idx="72">
                  <c:v>0.932878217942</c:v>
                </c:pt>
                <c:pt idx="73">
                  <c:v>0.932878217942</c:v>
                </c:pt>
                <c:pt idx="74">
                  <c:v>0.932878217942</c:v>
                </c:pt>
                <c:pt idx="75">
                  <c:v>0.932878217942</c:v>
                </c:pt>
                <c:pt idx="76">
                  <c:v>0.932878217942</c:v>
                </c:pt>
                <c:pt idx="77">
                  <c:v>0.932878217942</c:v>
                </c:pt>
                <c:pt idx="78">
                  <c:v>0.932878217942</c:v>
                </c:pt>
                <c:pt idx="79">
                  <c:v>0.932878217942</c:v>
                </c:pt>
                <c:pt idx="80">
                  <c:v>0.932878217942</c:v>
                </c:pt>
                <c:pt idx="81">
                  <c:v>0.932878217942</c:v>
                </c:pt>
                <c:pt idx="82">
                  <c:v>0.932878217942</c:v>
                </c:pt>
                <c:pt idx="83">
                  <c:v>0.932878217942</c:v>
                </c:pt>
                <c:pt idx="84">
                  <c:v>0.932878217942</c:v>
                </c:pt>
                <c:pt idx="85">
                  <c:v>0.932878217942</c:v>
                </c:pt>
                <c:pt idx="86">
                  <c:v>0.932878217942</c:v>
                </c:pt>
                <c:pt idx="87">
                  <c:v>0.932878217942</c:v>
                </c:pt>
                <c:pt idx="88">
                  <c:v>0.932878217942</c:v>
                </c:pt>
                <c:pt idx="89">
                  <c:v>0.932878217942</c:v>
                </c:pt>
                <c:pt idx="90">
                  <c:v>0.932878217942</c:v>
                </c:pt>
                <c:pt idx="91">
                  <c:v>0.932878217942</c:v>
                </c:pt>
                <c:pt idx="92">
                  <c:v>0.932878217942</c:v>
                </c:pt>
                <c:pt idx="93">
                  <c:v>0.932878217942</c:v>
                </c:pt>
                <c:pt idx="94">
                  <c:v>0.932878217942</c:v>
                </c:pt>
                <c:pt idx="95">
                  <c:v>0.932878217942</c:v>
                </c:pt>
                <c:pt idx="96">
                  <c:v>0.932878217942</c:v>
                </c:pt>
                <c:pt idx="97">
                  <c:v>0.932878217942</c:v>
                </c:pt>
                <c:pt idx="98">
                  <c:v>0.932878217942</c:v>
                </c:pt>
                <c:pt idx="99">
                  <c:v>0.932878217942</c:v>
                </c:pt>
                <c:pt idx="100">
                  <c:v>0.932878217942</c:v>
                </c:pt>
                <c:pt idx="101">
                  <c:v>0.932878217942</c:v>
                </c:pt>
                <c:pt idx="102">
                  <c:v>0.932878217942</c:v>
                </c:pt>
                <c:pt idx="103">
                  <c:v>0.932878217942</c:v>
                </c:pt>
                <c:pt idx="104">
                  <c:v>0.932878217942</c:v>
                </c:pt>
                <c:pt idx="105">
                  <c:v>0.932878217942</c:v>
                </c:pt>
                <c:pt idx="106">
                  <c:v>0.932878217942</c:v>
                </c:pt>
                <c:pt idx="107">
                  <c:v>0.932878217942</c:v>
                </c:pt>
                <c:pt idx="108">
                  <c:v>0.932878217942</c:v>
                </c:pt>
                <c:pt idx="109">
                  <c:v>0.932878217942</c:v>
                </c:pt>
                <c:pt idx="110">
                  <c:v>0.932878217942</c:v>
                </c:pt>
                <c:pt idx="111">
                  <c:v>0.932878217942</c:v>
                </c:pt>
                <c:pt idx="112">
                  <c:v>0.932878217942</c:v>
                </c:pt>
                <c:pt idx="113">
                  <c:v>0.932878217942</c:v>
                </c:pt>
                <c:pt idx="114">
                  <c:v>0.932878217942</c:v>
                </c:pt>
                <c:pt idx="115">
                  <c:v>0.932878217942</c:v>
                </c:pt>
                <c:pt idx="116">
                  <c:v>0.932878217942</c:v>
                </c:pt>
                <c:pt idx="117">
                  <c:v>0.932878217942</c:v>
                </c:pt>
                <c:pt idx="118">
                  <c:v>0.932878217942</c:v>
                </c:pt>
                <c:pt idx="119">
                  <c:v>0.932878217942</c:v>
                </c:pt>
                <c:pt idx="120">
                  <c:v>0.932878217942</c:v>
                </c:pt>
                <c:pt idx="121">
                  <c:v>0.932878217942</c:v>
                </c:pt>
                <c:pt idx="122">
                  <c:v>0.932878217942</c:v>
                </c:pt>
                <c:pt idx="123">
                  <c:v>0.932878217942</c:v>
                </c:pt>
                <c:pt idx="124">
                  <c:v>0.932878217942</c:v>
                </c:pt>
                <c:pt idx="125">
                  <c:v>0.932878217942</c:v>
                </c:pt>
                <c:pt idx="126">
                  <c:v>0.932878217942</c:v>
                </c:pt>
                <c:pt idx="127">
                  <c:v>0.932878217942</c:v>
                </c:pt>
                <c:pt idx="128">
                  <c:v>0.932878217942</c:v>
                </c:pt>
                <c:pt idx="129">
                  <c:v>0.932878217942</c:v>
                </c:pt>
                <c:pt idx="130">
                  <c:v>0.932878217942</c:v>
                </c:pt>
                <c:pt idx="131">
                  <c:v>0.932878217942</c:v>
                </c:pt>
                <c:pt idx="132">
                  <c:v>0.932878217942</c:v>
                </c:pt>
                <c:pt idx="133">
                  <c:v>0.932878217942</c:v>
                </c:pt>
                <c:pt idx="134">
                  <c:v>0.932878217942</c:v>
                </c:pt>
                <c:pt idx="135">
                  <c:v>0.932878217942</c:v>
                </c:pt>
                <c:pt idx="136">
                  <c:v>0.932878217942</c:v>
                </c:pt>
                <c:pt idx="137">
                  <c:v>0.932878217942</c:v>
                </c:pt>
                <c:pt idx="138">
                  <c:v>0.932878217942</c:v>
                </c:pt>
                <c:pt idx="139">
                  <c:v>0.932878217942</c:v>
                </c:pt>
                <c:pt idx="140">
                  <c:v>0.932878217942</c:v>
                </c:pt>
                <c:pt idx="141">
                  <c:v>0.932878217942</c:v>
                </c:pt>
                <c:pt idx="142">
                  <c:v>0.932878217942</c:v>
                </c:pt>
                <c:pt idx="143">
                  <c:v>0.932878217942</c:v>
                </c:pt>
                <c:pt idx="144">
                  <c:v>0.932878217942</c:v>
                </c:pt>
                <c:pt idx="145">
                  <c:v>0.932878217942</c:v>
                </c:pt>
                <c:pt idx="146">
                  <c:v>0.932878217942</c:v>
                </c:pt>
                <c:pt idx="147">
                  <c:v>0.932878217942</c:v>
                </c:pt>
                <c:pt idx="148">
                  <c:v>0.932878217942</c:v>
                </c:pt>
                <c:pt idx="149">
                  <c:v>0.932878217942</c:v>
                </c:pt>
                <c:pt idx="150">
                  <c:v>0.932878217942</c:v>
                </c:pt>
                <c:pt idx="151">
                  <c:v>0.932878217942</c:v>
                </c:pt>
                <c:pt idx="152">
                  <c:v>0.932878217942</c:v>
                </c:pt>
                <c:pt idx="153">
                  <c:v>0.932878217942</c:v>
                </c:pt>
                <c:pt idx="154">
                  <c:v>0.932878217942</c:v>
                </c:pt>
                <c:pt idx="155">
                  <c:v>0.932878217942</c:v>
                </c:pt>
                <c:pt idx="156">
                  <c:v>0.932878217942</c:v>
                </c:pt>
                <c:pt idx="157">
                  <c:v>0.932878217942</c:v>
                </c:pt>
                <c:pt idx="158">
                  <c:v>0.932878217942</c:v>
                </c:pt>
                <c:pt idx="159">
                  <c:v>0.932878217942</c:v>
                </c:pt>
                <c:pt idx="160">
                  <c:v>0.932878217942</c:v>
                </c:pt>
              </c:numCache>
            </c:numRef>
          </c:yVal>
          <c:smooth val="0"/>
        </c:ser>
        <c:ser>
          <c:idx val="1"/>
          <c:order val="1"/>
          <c:tx>
            <c:v>Modelo</c:v>
          </c:tx>
          <c:spPr>
            <a:solidFill xmlns:a="http://schemas.openxmlformats.org/drawingml/2006/main">
              <a:srgbClr val="71E7BD"/>
            </a:solidFill>
            <a:ln xmlns:a="http://schemas.openxmlformats.org/drawingml/2006/main" w="23813">
              <a:solidFill>
                <a:srgbClr val="71E7BD"/>
              </a:solidFill>
              <a:prstDash val="solid"/>
            </a:ln>
          </c:spPr>
          <c:marker>
            <c:symbol val="none"/>
            <c:size val="2"/>
          </c:marker>
          <c:xVal>
            <c:numRef>
              <c:f>'Chart Data'!$C$2:$C$162</c:f>
              <c:numCache>
                <c:formatCode>General</c:formatCode>
                <c:ptCount val="161"/>
                <c:pt idx="0">
                  <c:v>0</c:v>
                </c:pt>
                <c:pt idx="1">
                  <c:v>0.00625</c:v>
                </c:pt>
                <c:pt idx="2">
                  <c:v>0.0125</c:v>
                </c:pt>
                <c:pt idx="3">
                  <c:v>0.01875</c:v>
                </c:pt>
                <c:pt idx="4">
                  <c:v>0.025</c:v>
                </c:pt>
                <c:pt idx="5">
                  <c:v>0.03125</c:v>
                </c:pt>
                <c:pt idx="6">
                  <c:v>0.0375</c:v>
                </c:pt>
                <c:pt idx="7">
                  <c:v>0.04375</c:v>
                </c:pt>
                <c:pt idx="8">
                  <c:v>0.05</c:v>
                </c:pt>
                <c:pt idx="9">
                  <c:v>0.05625</c:v>
                </c:pt>
                <c:pt idx="10">
                  <c:v>0.0625</c:v>
                </c:pt>
                <c:pt idx="11">
                  <c:v>0.06875</c:v>
                </c:pt>
                <c:pt idx="12">
                  <c:v>0.075</c:v>
                </c:pt>
                <c:pt idx="13">
                  <c:v>0.08125</c:v>
                </c:pt>
                <c:pt idx="14">
                  <c:v>0.0875</c:v>
                </c:pt>
                <c:pt idx="15">
                  <c:v>0.09375</c:v>
                </c:pt>
                <c:pt idx="16">
                  <c:v>0.1</c:v>
                </c:pt>
                <c:pt idx="17">
                  <c:v>0.10625</c:v>
                </c:pt>
                <c:pt idx="18">
                  <c:v>0.1125</c:v>
                </c:pt>
                <c:pt idx="19">
                  <c:v>0.11875</c:v>
                </c:pt>
                <c:pt idx="20">
                  <c:v>0.125</c:v>
                </c:pt>
                <c:pt idx="21">
                  <c:v>0.13125</c:v>
                </c:pt>
                <c:pt idx="22">
                  <c:v>0.1375</c:v>
                </c:pt>
                <c:pt idx="23">
                  <c:v>0.14375</c:v>
                </c:pt>
                <c:pt idx="24">
                  <c:v>0.15</c:v>
                </c:pt>
                <c:pt idx="25">
                  <c:v>0.15625</c:v>
                </c:pt>
                <c:pt idx="26">
                  <c:v>0.1625</c:v>
                </c:pt>
                <c:pt idx="27">
                  <c:v>0.16875</c:v>
                </c:pt>
                <c:pt idx="28">
                  <c:v>0.175</c:v>
                </c:pt>
                <c:pt idx="29">
                  <c:v>0.18125</c:v>
                </c:pt>
                <c:pt idx="30">
                  <c:v>0.1875</c:v>
                </c:pt>
                <c:pt idx="31">
                  <c:v>0.19375</c:v>
                </c:pt>
                <c:pt idx="32">
                  <c:v>0.2</c:v>
                </c:pt>
                <c:pt idx="33">
                  <c:v>0.20625</c:v>
                </c:pt>
                <c:pt idx="34">
                  <c:v>0.2125</c:v>
                </c:pt>
                <c:pt idx="35">
                  <c:v>0.21875</c:v>
                </c:pt>
                <c:pt idx="36">
                  <c:v>0.225</c:v>
                </c:pt>
                <c:pt idx="37">
                  <c:v>0.23125</c:v>
                </c:pt>
                <c:pt idx="38">
                  <c:v>0.2375</c:v>
                </c:pt>
                <c:pt idx="39">
                  <c:v>0.24375</c:v>
                </c:pt>
                <c:pt idx="40">
                  <c:v>0.25</c:v>
                </c:pt>
                <c:pt idx="41">
                  <c:v>0.25625</c:v>
                </c:pt>
                <c:pt idx="42">
                  <c:v>0.2625</c:v>
                </c:pt>
                <c:pt idx="43">
                  <c:v>0.26875</c:v>
                </c:pt>
                <c:pt idx="44">
                  <c:v>0.275</c:v>
                </c:pt>
                <c:pt idx="45">
                  <c:v>0.28125</c:v>
                </c:pt>
                <c:pt idx="46">
                  <c:v>0.2875</c:v>
                </c:pt>
                <c:pt idx="47">
                  <c:v>0.29375</c:v>
                </c:pt>
                <c:pt idx="48">
                  <c:v>0.3</c:v>
                </c:pt>
                <c:pt idx="49">
                  <c:v>0.30625</c:v>
                </c:pt>
                <c:pt idx="50">
                  <c:v>0.3125</c:v>
                </c:pt>
                <c:pt idx="51">
                  <c:v>0.31875</c:v>
                </c:pt>
                <c:pt idx="52">
                  <c:v>0.325</c:v>
                </c:pt>
                <c:pt idx="53">
                  <c:v>0.33125</c:v>
                </c:pt>
                <c:pt idx="54">
                  <c:v>0.3375</c:v>
                </c:pt>
                <c:pt idx="55">
                  <c:v>0.34375</c:v>
                </c:pt>
                <c:pt idx="56">
                  <c:v>0.35</c:v>
                </c:pt>
                <c:pt idx="57">
                  <c:v>0.35625</c:v>
                </c:pt>
                <c:pt idx="58">
                  <c:v>0.3625</c:v>
                </c:pt>
                <c:pt idx="59">
                  <c:v>0.36875</c:v>
                </c:pt>
                <c:pt idx="60">
                  <c:v>0.375</c:v>
                </c:pt>
                <c:pt idx="61">
                  <c:v>0.38125</c:v>
                </c:pt>
                <c:pt idx="62">
                  <c:v>0.3875</c:v>
                </c:pt>
                <c:pt idx="63">
                  <c:v>0.39375</c:v>
                </c:pt>
                <c:pt idx="64">
                  <c:v>0.4</c:v>
                </c:pt>
                <c:pt idx="65">
                  <c:v>0.40625</c:v>
                </c:pt>
                <c:pt idx="66">
                  <c:v>0.4125</c:v>
                </c:pt>
                <c:pt idx="67">
                  <c:v>0.41875</c:v>
                </c:pt>
                <c:pt idx="68">
                  <c:v>0.425</c:v>
                </c:pt>
                <c:pt idx="69">
                  <c:v>0.43125</c:v>
                </c:pt>
                <c:pt idx="70">
                  <c:v>0.4375</c:v>
                </c:pt>
                <c:pt idx="71">
                  <c:v>0.44375</c:v>
                </c:pt>
                <c:pt idx="72">
                  <c:v>0.45</c:v>
                </c:pt>
                <c:pt idx="73">
                  <c:v>0.45625</c:v>
                </c:pt>
                <c:pt idx="74">
                  <c:v>0.4625</c:v>
                </c:pt>
                <c:pt idx="75">
                  <c:v>0.46875</c:v>
                </c:pt>
                <c:pt idx="76">
                  <c:v>0.475</c:v>
                </c:pt>
                <c:pt idx="77">
                  <c:v>0.48125</c:v>
                </c:pt>
                <c:pt idx="78">
                  <c:v>0.4875</c:v>
                </c:pt>
                <c:pt idx="79">
                  <c:v>0.49375</c:v>
                </c:pt>
                <c:pt idx="80">
                  <c:v>0.5</c:v>
                </c:pt>
                <c:pt idx="81">
                  <c:v>0.50625</c:v>
                </c:pt>
                <c:pt idx="82">
                  <c:v>0.5125</c:v>
                </c:pt>
                <c:pt idx="83">
                  <c:v>0.51875</c:v>
                </c:pt>
                <c:pt idx="84">
                  <c:v>0.525</c:v>
                </c:pt>
                <c:pt idx="85">
                  <c:v>0.53125</c:v>
                </c:pt>
                <c:pt idx="86">
                  <c:v>0.5375</c:v>
                </c:pt>
                <c:pt idx="87">
                  <c:v>0.54375</c:v>
                </c:pt>
                <c:pt idx="88">
                  <c:v>0.55</c:v>
                </c:pt>
                <c:pt idx="89">
                  <c:v>0.55625</c:v>
                </c:pt>
                <c:pt idx="90">
                  <c:v>0.5625</c:v>
                </c:pt>
                <c:pt idx="91">
                  <c:v>0.56875</c:v>
                </c:pt>
                <c:pt idx="92">
                  <c:v>0.575</c:v>
                </c:pt>
                <c:pt idx="93">
                  <c:v>0.58125</c:v>
                </c:pt>
                <c:pt idx="94">
                  <c:v>0.5875</c:v>
                </c:pt>
                <c:pt idx="95">
                  <c:v>0.59375</c:v>
                </c:pt>
                <c:pt idx="96">
                  <c:v>0.6</c:v>
                </c:pt>
                <c:pt idx="97">
                  <c:v>0.60625</c:v>
                </c:pt>
                <c:pt idx="98">
                  <c:v>0.6125</c:v>
                </c:pt>
                <c:pt idx="99">
                  <c:v>0.61875</c:v>
                </c:pt>
                <c:pt idx="100">
                  <c:v>0.625</c:v>
                </c:pt>
                <c:pt idx="101">
                  <c:v>0.63125</c:v>
                </c:pt>
                <c:pt idx="102">
                  <c:v>0.6375</c:v>
                </c:pt>
                <c:pt idx="103">
                  <c:v>0.64375</c:v>
                </c:pt>
                <c:pt idx="104">
                  <c:v>0.65</c:v>
                </c:pt>
                <c:pt idx="105">
                  <c:v>0.65625</c:v>
                </c:pt>
                <c:pt idx="106">
                  <c:v>0.6625</c:v>
                </c:pt>
                <c:pt idx="107">
                  <c:v>0.66875</c:v>
                </c:pt>
                <c:pt idx="108">
                  <c:v>0.675</c:v>
                </c:pt>
                <c:pt idx="109">
                  <c:v>0.68125</c:v>
                </c:pt>
                <c:pt idx="110">
                  <c:v>0.6875</c:v>
                </c:pt>
                <c:pt idx="111">
                  <c:v>0.69375</c:v>
                </c:pt>
                <c:pt idx="112">
                  <c:v>0.7</c:v>
                </c:pt>
                <c:pt idx="113">
                  <c:v>0.70625</c:v>
                </c:pt>
                <c:pt idx="114">
                  <c:v>0.7125</c:v>
                </c:pt>
                <c:pt idx="115">
                  <c:v>0.71875</c:v>
                </c:pt>
                <c:pt idx="116">
                  <c:v>0.725</c:v>
                </c:pt>
                <c:pt idx="117">
                  <c:v>0.73125</c:v>
                </c:pt>
                <c:pt idx="118">
                  <c:v>0.7375</c:v>
                </c:pt>
                <c:pt idx="119">
                  <c:v>0.74375</c:v>
                </c:pt>
                <c:pt idx="120">
                  <c:v>0.75</c:v>
                </c:pt>
                <c:pt idx="121">
                  <c:v>0.75625</c:v>
                </c:pt>
                <c:pt idx="122">
                  <c:v>0.7625</c:v>
                </c:pt>
                <c:pt idx="123">
                  <c:v>0.76875</c:v>
                </c:pt>
                <c:pt idx="124">
                  <c:v>0.775</c:v>
                </c:pt>
                <c:pt idx="125">
                  <c:v>0.78125</c:v>
                </c:pt>
                <c:pt idx="126">
                  <c:v>0.7875</c:v>
                </c:pt>
                <c:pt idx="127">
                  <c:v>0.79375</c:v>
                </c:pt>
                <c:pt idx="128">
                  <c:v>0.8</c:v>
                </c:pt>
                <c:pt idx="129">
                  <c:v>0.80625</c:v>
                </c:pt>
                <c:pt idx="130">
                  <c:v>0.8125</c:v>
                </c:pt>
                <c:pt idx="131">
                  <c:v>0.81875</c:v>
                </c:pt>
                <c:pt idx="132">
                  <c:v>0.825</c:v>
                </c:pt>
                <c:pt idx="133">
                  <c:v>0.83125</c:v>
                </c:pt>
                <c:pt idx="134">
                  <c:v>0.8375</c:v>
                </c:pt>
                <c:pt idx="135">
                  <c:v>0.84375</c:v>
                </c:pt>
                <c:pt idx="136">
                  <c:v>0.85</c:v>
                </c:pt>
                <c:pt idx="137">
                  <c:v>0.85625</c:v>
                </c:pt>
                <c:pt idx="138">
                  <c:v>0.8625</c:v>
                </c:pt>
                <c:pt idx="139">
                  <c:v>0.86875</c:v>
                </c:pt>
                <c:pt idx="140">
                  <c:v>0.875</c:v>
                </c:pt>
                <c:pt idx="141">
                  <c:v>0.88125</c:v>
                </c:pt>
                <c:pt idx="142">
                  <c:v>0.8875</c:v>
                </c:pt>
                <c:pt idx="143">
                  <c:v>0.89375</c:v>
                </c:pt>
                <c:pt idx="144">
                  <c:v>0.9</c:v>
                </c:pt>
                <c:pt idx="145">
                  <c:v>0.90625</c:v>
                </c:pt>
                <c:pt idx="146">
                  <c:v>0.9125</c:v>
                </c:pt>
                <c:pt idx="147">
                  <c:v>0.91875</c:v>
                </c:pt>
                <c:pt idx="148">
                  <c:v>0.925</c:v>
                </c:pt>
                <c:pt idx="149">
                  <c:v>0.93125</c:v>
                </c:pt>
                <c:pt idx="150">
                  <c:v>0.9375</c:v>
                </c:pt>
                <c:pt idx="151">
                  <c:v>0.94375</c:v>
                </c:pt>
                <c:pt idx="152">
                  <c:v>0.95</c:v>
                </c:pt>
                <c:pt idx="153">
                  <c:v>0.95625</c:v>
                </c:pt>
                <c:pt idx="154">
                  <c:v>0.9625</c:v>
                </c:pt>
                <c:pt idx="155">
                  <c:v>0.96875</c:v>
                </c:pt>
                <c:pt idx="156">
                  <c:v>0.975</c:v>
                </c:pt>
                <c:pt idx="157">
                  <c:v>0.98125</c:v>
                </c:pt>
                <c:pt idx="158">
                  <c:v>0.9875</c:v>
                </c:pt>
                <c:pt idx="159">
                  <c:v>0.99375</c:v>
                </c:pt>
                <c:pt idx="160">
                  <c:v>1</c:v>
                </c:pt>
              </c:numCache>
            </c:numRef>
          </c:xVal>
          <c:yVal>
            <c:numRef>
              <c:f>'Chart Data'!$D$2:$D$162</c:f>
              <c:numCache>
                <c:formatCode>0.0</c:formatCode>
                <c:ptCount val="161"/>
                <c:pt idx="0">
                  <c:v>1.02156490878</c:v>
                </c:pt>
                <c:pt idx="1">
                  <c:v>1.05455025012</c:v>
                </c:pt>
                <c:pt idx="2">
                  <c:v>1.049201192</c:v>
                </c:pt>
                <c:pt idx="3">
                  <c:v>1.020578367</c:v>
                </c:pt>
                <c:pt idx="4">
                  <c:v>0.979880662343</c:v>
                </c:pt>
                <c:pt idx="5">
                  <c:v>0.935163824724</c:v>
                </c:pt>
                <c:pt idx="6">
                  <c:v>0.891957620372</c:v>
                </c:pt>
                <c:pt idx="7">
                  <c:v>0.853792586236</c:v>
                </c:pt>
                <c:pt idx="8">
                  <c:v>0.822646486934</c:v>
                </c:pt>
                <c:pt idx="9">
                  <c:v>0.79931972873</c:v>
                </c:pt>
                <c:pt idx="10">
                  <c:v>0.783748173248</c:v>
                </c:pt>
                <c:pt idx="11">
                  <c:v>0.775261037664</c:v>
                </c:pt>
                <c:pt idx="12">
                  <c:v>0.772790862254</c:v>
                </c:pt>
                <c:pt idx="13">
                  <c:v>0.775041868077</c:v>
                </c:pt>
                <c:pt idx="14">
                  <c:v>0.780622414947</c:v>
                </c:pt>
                <c:pt idx="15">
                  <c:v>0.788146700567</c:v>
                </c:pt>
                <c:pt idx="16">
                  <c:v>0.796310313523</c:v>
                </c:pt>
                <c:pt idx="17">
                  <c:v>0.803943763762</c:v>
                </c:pt>
                <c:pt idx="18">
                  <c:v>0.810047662196</c:v>
                </c:pt>
                <c:pt idx="19">
                  <c:v>0.81381280423</c:v>
                </c:pt>
                <c:pt idx="20">
                  <c:v>0.8146280284</c:v>
                </c:pt>
                <c:pt idx="21">
                  <c:v>0.812078369212</c:v>
                </c:pt>
                <c:pt idx="22">
                  <c:v>0.805935700775</c:v>
                </c:pt>
                <c:pt idx="23">
                  <c:v>0.79614377345</c:v>
                </c:pt>
                <c:pt idx="24">
                  <c:v>0.782799277606</c:v>
                </c:pt>
                <c:pt idx="25">
                  <c:v>0.766130325353</c:v>
                </c:pt>
                <c:pt idx="26">
                  <c:v>0.74647352111</c:v>
                </c:pt>
                <c:pt idx="27">
                  <c:v>0.724250593686</c:v>
                </c:pt>
                <c:pt idx="28">
                  <c:v>0.699945384819</c:v>
                </c:pt>
                <c:pt idx="29">
                  <c:v>0.674081830405</c:v>
                </c:pt>
                <c:pt idx="30">
                  <c:v>0.647203429734</c:v>
                </c:pt>
                <c:pt idx="31">
                  <c:v>0.61985457365</c:v>
                </c:pt>
                <c:pt idx="32">
                  <c:v>0.592563993459</c:v>
                </c:pt>
                <c:pt idx="33">
                  <c:v>0.565830497576</c:v>
                </c:pt>
                <c:pt idx="34">
                  <c:v>0.540111081067</c:v>
                </c:pt>
                <c:pt idx="35">
                  <c:v>0.515811423541</c:v>
                </c:pt>
                <c:pt idx="36">
                  <c:v>0.493278732178</c:v>
                </c:pt>
                <c:pt idx="37">
                  <c:v>0.472796838107</c:v>
                </c:pt>
                <c:pt idx="38">
                  <c:v>0.454583414997</c:v>
                </c:pt>
                <c:pt idx="39">
                  <c:v>0.438789157717</c:v>
                </c:pt>
                <c:pt idx="40">
                  <c:v>0.425498735456</c:v>
                </c:pt>
                <c:pt idx="41">
                  <c:v>0.414733316957</c:v>
                </c:pt>
                <c:pt idx="42">
                  <c:v>0.406454454872</c:v>
                </c:pt>
                <c:pt idx="43">
                  <c:v>0.400569110862</c:v>
                </c:pt>
                <c:pt idx="44">
                  <c:v>0.396935602464</c:v>
                </c:pt>
                <c:pt idx="45">
                  <c:v>0.395370256123</c:v>
                </c:pt>
                <c:pt idx="46">
                  <c:v>0.395654557781</c:v>
                </c:pt>
                <c:pt idx="47">
                  <c:v>0.397542602294</c:v>
                </c:pt>
                <c:pt idx="48">
                  <c:v>0.400768655331</c:v>
                </c:pt>
                <c:pt idx="49">
                  <c:v>0.405054655814</c:v>
                </c:pt>
                <c:pt idx="50">
                  <c:v>0.410117502907</c:v>
                </c:pt>
                <c:pt idx="51">
                  <c:v>0.415675988723</c:v>
                </c:pt>
                <c:pt idx="52">
                  <c:v>0.421457255834</c:v>
                </c:pt>
                <c:pt idx="53">
                  <c:v>0.427202677134</c:v>
                </c:pt>
                <c:pt idx="54">
                  <c:v>0.432673074174</c:v>
                </c:pt>
                <c:pt idx="55">
                  <c:v>0.43765320857</c:v>
                </c:pt>
                <c:pt idx="56">
                  <c:v>0.441955499245</c:v>
                </c:pt>
                <c:pt idx="57">
                  <c:v>0.445422935777</c:v>
                </c:pt>
                <c:pt idx="58">
                  <c:v>0.447931174926</c:v>
                </c:pt>
                <c:pt idx="59">
                  <c:v>0.449389823259</c:v>
                </c:pt>
                <c:pt idx="60">
                  <c:v>0.449742923491</c:v>
                </c:pt>
                <c:pt idx="61">
                  <c:v>0.448968675734</c:v>
                </c:pt>
                <c:pt idx="62">
                  <c:v>0.447078437033</c:v>
                </c:pt>
                <c:pt idx="63">
                  <c:v>0.444115053397</c:v>
                </c:pt>
                <c:pt idx="64">
                  <c:v>0.440150587877</c:v>
                </c:pt>
                <c:pt idx="65">
                  <c:v>0.435283516139</c:v>
                </c:pt>
                <c:pt idx="66">
                  <c:v>0.429635467288</c:v>
                </c:pt>
                <c:pt idx="67">
                  <c:v>0.423347592551</c:v>
                </c:pt>
                <c:pt idx="68">
                  <c:v>0.416576647716</c:v>
                </c:pt>
                <c:pt idx="69">
                  <c:v>0.40949087704</c:v>
                </c:pt>
                <c:pt idx="70">
                  <c:v>0.402265786718</c:v>
                </c:pt>
                <c:pt idx="71">
                  <c:v>0.395079894973</c:v>
                </c:pt>
                <c:pt idx="72">
                  <c:v>0.388110543462</c:v>
                </c:pt>
                <c:pt idx="73">
                  <c:v>0.381529851093</c:v>
                </c:pt>
                <c:pt idx="74">
                  <c:v>0.375500886579</c:v>
                </c:pt>
                <c:pt idx="75">
                  <c:v>0.370174130171</c:v>
                </c:pt>
                <c:pt idx="76">
                  <c:v>0.365684288261</c:v>
                </c:pt>
                <c:pt idx="77">
                  <c:v>0.362147516812</c:v>
                </c:pt>
                <c:pt idx="78">
                  <c:v>0.359659101236</c:v>
                </c:pt>
                <c:pt idx="79">
                  <c:v>0.358291631276</c:v>
                </c:pt>
                <c:pt idx="80">
                  <c:v>0.358093699995</c:v>
                </c:pt>
                <c:pt idx="81">
                  <c:v>0.359089146094</c:v>
                </c:pt>
                <c:pt idx="82">
                  <c:v>0.361276848742</c:v>
                </c:pt>
                <c:pt idx="83">
                  <c:v>0.364631073935</c:v>
                </c:pt>
                <c:pt idx="84">
                  <c:v>0.369102361317</c:v>
                </c:pt>
                <c:pt idx="85">
                  <c:v>0.374618930482</c:v>
                </c:pt>
                <c:pt idx="86">
                  <c:v>0.381088576187</c:v>
                </c:pt>
                <c:pt idx="87">
                  <c:v>0.388401012788</c:v>
                </c:pt>
                <c:pt idx="88">
                  <c:v>0.396430619629</c:v>
                </c:pt>
                <c:pt idx="89">
                  <c:v>0.405039531301</c:v>
                </c:pt>
                <c:pt idx="90">
                  <c:v>0.414081009617</c:v>
                </c:pt>
                <c:pt idx="91">
                  <c:v>0.423403028087</c:v>
                </c:pt>
                <c:pt idx="92">
                  <c:v>0.432851994587</c:v>
                </c:pt>
                <c:pt idx="93">
                  <c:v>0.442276534006</c:v>
                </c:pt>
                <c:pt idx="94">
                  <c:v>0.451531249923</c:v>
                </c:pt>
                <c:pt idx="95">
                  <c:v>0.460480382952</c:v>
                </c:pt>
                <c:pt idx="96">
                  <c:v>0.469001283322</c:v>
                </c:pt>
                <c:pt idx="97">
                  <c:v>0.476987616612</c:v>
                </c:pt>
                <c:pt idx="98">
                  <c:v>0.484352224324</c:v>
                </c:pt>
                <c:pt idx="99">
                  <c:v>0.491029565259</c:v>
                </c:pt>
                <c:pt idx="100">
                  <c:v>0.496977669393</c:v>
                </c:pt>
                <c:pt idx="101">
                  <c:v>0.502179543143</c:v>
                </c:pt>
                <c:pt idx="102">
                  <c:v>0.506643973588</c:v>
                </c:pt>
                <c:pt idx="103">
                  <c:v>0.510405689262</c:v>
                </c:pt>
                <c:pt idx="104">
                  <c:v>0.513524846519</c:v>
                </c:pt>
                <c:pt idx="105">
                  <c:v>0.516085823174</c:v>
                </c:pt>
                <c:pt idx="106">
                  <c:v>0.518195314866</c:v>
                </c:pt>
                <c:pt idx="107">
                  <c:v>0.519979744512</c:v>
                </c:pt>
                <c:pt idx="108">
                  <c:v>0.521582010868</c:v>
                </c:pt>
                <c:pt idx="109">
                  <c:v>0.523157618692</c:v>
                </c:pt>
                <c:pt idx="110">
                  <c:v>0.524870249917</c:v>
                </c:pt>
                <c:pt idx="111">
                  <c:v>0.52688685245</c:v>
                </c:pt>
                <c:pt idx="112">
                  <c:v>0.529372340482</c:v>
                </c:pt>
                <c:pt idx="113">
                  <c:v>0.532484017178</c:v>
                </c:pt>
                <c:pt idx="114">
                  <c:v>0.536365847052</c:v>
                </c:pt>
                <c:pt idx="115">
                  <c:v>0.541142720893</c:v>
                </c:pt>
                <c:pt idx="116">
                  <c:v>0.546914870357</c:v>
                </c:pt>
                <c:pt idx="117">
                  <c:v>0.553752601963</c:v>
                </c:pt>
                <c:pt idx="118">
                  <c:v>0.561691530728</c:v>
                </c:pt>
                <c:pt idx="119">
                  <c:v>0.570728501585</c:v>
                </c:pt>
                <c:pt idx="120">
                  <c:v>0.580818391589</c:v>
                </c:pt>
                <c:pt idx="121">
                  <c:v>0.59187198714</c:v>
                </c:pt>
                <c:pt idx="122">
                  <c:v>0.603755127464</c:v>
                </c:pt>
                <c:pt idx="123">
                  <c:v>0.616289297832</c:v>
                </c:pt>
                <c:pt idx="124">
                  <c:v>0.629253842726</c:v>
                </c:pt>
                <c:pt idx="125">
                  <c:v>0.642389949767</c:v>
                </c:pt>
                <c:pt idx="126">
                  <c:v>0.655406528907</c:v>
                </c:pt>
                <c:pt idx="127">
                  <c:v>0.667988077392</c:v>
                </c:pt>
                <c:pt idx="128">
                  <c:v>0.679804578569</c:v>
                </c:pt>
                <c:pt idx="129">
                  <c:v>0.690523430746</c:v>
                </c:pt>
                <c:pt idx="130">
                  <c:v>0.69982334023</c:v>
                </c:pt>
                <c:pt idx="131">
                  <c:v>0.707410039378</c:v>
                </c:pt>
                <c:pt idx="132">
                  <c:v>0.713033604933</c:v>
                </c:pt>
                <c:pt idx="133">
                  <c:v>0.716507053132</c:v>
                </c:pt>
                <c:pt idx="134">
                  <c:v>0.717725774907</c:v>
                </c:pt>
                <c:pt idx="135">
                  <c:v>0.716687245801</c:v>
                </c:pt>
                <c:pt idx="136">
                  <c:v>0.713510299835</c:v>
                </c:pt>
                <c:pt idx="137">
                  <c:v>0.708453093206</c:v>
                </c:pt>
                <c:pt idx="138">
                  <c:v>0.701928701049</c:v>
                </c:pt>
                <c:pt idx="139">
                  <c:v>0.694517087264</c:v>
                </c:pt>
                <c:pt idx="140">
                  <c:v>0.686971962126</c:v>
                </c:pt>
                <c:pt idx="141">
                  <c:v>0.680220793581</c:v>
                </c:pt>
                <c:pt idx="142">
                  <c:v>0.675355964379</c:v>
                </c:pt>
                <c:pt idx="143">
                  <c:v>0.673614766711</c:v>
                </c:pt>
                <c:pt idx="144">
                  <c:v>0.676345597406</c:v>
                </c:pt>
                <c:pt idx="145">
                  <c:v>0.684957358122</c:v>
                </c:pt>
                <c:pt idx="146">
                  <c:v>0.70084867464</c:v>
                </c:pt>
                <c:pt idx="147">
                  <c:v>0.725313125554</c:v>
                </c:pt>
                <c:pt idx="148">
                  <c:v>0.759416211378</c:v>
                </c:pt>
                <c:pt idx="149">
                  <c:v>0.803839298504</c:v>
                </c:pt>
                <c:pt idx="150">
                  <c:v>0.858685236431</c:v>
                </c:pt>
                <c:pt idx="151">
                  <c:v>0.923239769302</c:v>
                </c:pt>
                <c:pt idx="152">
                  <c:v>0.995682241706</c:v>
                </c:pt>
                <c:pt idx="153">
                  <c:v>1.07273843193</c:v>
                </c:pt>
                <c:pt idx="154">
                  <c:v>1.14926763086</c:v>
                </c:pt>
                <c:pt idx="155">
                  <c:v>1.21777531948</c:v>
                </c:pt>
                <c:pt idx="156">
                  <c:v>1.26784197959</c:v>
                </c:pt>
                <c:pt idx="157">
                  <c:v>1.28545769888</c:v>
                </c:pt>
                <c:pt idx="158">
                  <c:v>1.25225130006</c:v>
                </c:pt>
                <c:pt idx="159">
                  <c:v>1.14460173157</c:v>
                </c:pt>
                <c:pt idx="160">
                  <c:v>0.932618402459</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2"/>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y</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1"/>
          <c:min val="0"/>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x</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scatterChart>
        <c:scatterStyle val="lineMarker"/>
        <c:ser>
          <c:idx val="0"/>
          <c:order val="0"/>
          <c:tx>
            <c:v>Treino</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Data'!$A$2:$A$61</c:f>
              <c:numCache>
                <c:formatCode>General</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xVal>
          <c:yVal>
            <c:numRef>
              <c:f>'Chart Data'!$B$2:$B$61</c:f>
              <c:numCache>
                <c:formatCode>0.0</c:formatCode>
                <c:ptCount val="60"/>
                <c:pt idx="0">
                  <c:v>0.294179355581</c:v>
                </c:pt>
                <c:pt idx="1">
                  <c:v>0.270581063423</c:v>
                </c:pt>
                <c:pt idx="2">
                  <c:v>0.249013848301</c:v>
                </c:pt>
                <c:pt idx="3">
                  <c:v>0.229302897821</c:v>
                </c:pt>
                <c:pt idx="4">
                  <c:v>0.211288445487</c:v>
                </c:pt>
                <c:pt idx="5">
                  <c:v>0.194824475712</c:v>
                </c:pt>
                <c:pt idx="6">
                  <c:v>0.179777540302</c:v>
                </c:pt>
                <c:pt idx="7">
                  <c:v>0.166025676788</c:v>
                </c:pt>
                <c:pt idx="8">
                  <c:v>0.153457419867</c:v>
                </c:pt>
                <c:pt idx="9">
                  <c:v>0.141970897922</c:v>
                </c:pt>
                <c:pt idx="10">
                  <c:v>0.131473007307</c:v>
                </c:pt>
                <c:pt idx="11">
                  <c:v>0.121878657693</c:v>
                </c:pt>
                <c:pt idx="12">
                  <c:v>0.11311008238</c:v>
                </c:pt>
                <c:pt idx="13">
                  <c:v>0.10509620795</c:v>
                </c:pt>
                <c:pt idx="14">
                  <c:v>0.0977720781938</c:v>
                </c:pt>
                <c:pt idx="15">
                  <c:v>0.0910783276046</c:v>
                </c:pt>
                <c:pt idx="16">
                  <c:v>0.0849607001948</c:v>
                </c:pt>
                <c:pt idx="17">
                  <c:v>0.0793696097251</c:v>
                </c:pt>
                <c:pt idx="18">
                  <c:v>0.0742597377851</c:v>
                </c:pt>
                <c:pt idx="19">
                  <c:v>0.0695896664665</c:v>
                </c:pt>
                <c:pt idx="20">
                  <c:v>0.0653215426509</c:v>
                </c:pt>
                <c:pt idx="21">
                  <c:v>0.0614207711933</c:v>
                </c:pt>
                <c:pt idx="22">
                  <c:v>0.0578557345115</c:v>
                </c:pt>
                <c:pt idx="23">
                  <c:v>0.0545975363114</c:v>
                </c:pt>
                <c:pt idx="24">
                  <c:v>0.0516197673686</c:v>
                </c:pt>
                <c:pt idx="25">
                  <c:v>0.0488982914691</c:v>
                </c:pt>
                <c:pt idx="26">
                  <c:v>0.0464110497747</c:v>
                </c:pt>
                <c:pt idx="27">
                  <c:v>0.0441378820249</c:v>
                </c:pt>
                <c:pt idx="28">
                  <c:v>0.0420603631289</c:v>
                </c:pt>
                <c:pt idx="29">
                  <c:v>0.0401616538219</c:v>
                </c:pt>
                <c:pt idx="30">
                  <c:v>0.0384263641745</c:v>
                </c:pt>
                <c:pt idx="31">
                  <c:v>0.0368404288502</c:v>
                </c:pt>
                <c:pt idx="32">
                  <c:v>0.0353909930996</c:v>
                </c:pt>
                <c:pt idx="33">
                  <c:v>0.034066308566</c:v>
                </c:pt>
                <c:pt idx="34">
                  <c:v>0.0328556380601</c:v>
                </c:pt>
                <c:pt idx="35">
                  <c:v>0.0317491685297</c:v>
                </c:pt>
                <c:pt idx="36">
                  <c:v>0.0307379315203</c:v>
                </c:pt>
                <c:pt idx="37">
                  <c:v>0.0298137304817</c:v>
                </c:pt>
                <c:pt idx="38">
                  <c:v>0.0289690743311</c:v>
                </c:pt>
                <c:pt idx="39">
                  <c:v>0.0281971167342</c:v>
                </c:pt>
                <c:pt idx="40">
                  <c:v>0.0274916006127</c:v>
                </c:pt>
                <c:pt idx="41">
                  <c:v>0.0268468074275</c:v>
                </c:pt>
                <c:pt idx="42">
                  <c:v>0.0262575108276</c:v>
                </c:pt>
                <c:pt idx="43">
                  <c:v>0.0257189342875</c:v>
                </c:pt>
                <c:pt idx="44">
                  <c:v>0.0252267123918</c:v>
                </c:pt>
                <c:pt idx="45">
                  <c:v>0.0247768554514</c:v>
                </c:pt>
                <c:pt idx="46">
                  <c:v>0.0243657171645</c:v>
                </c:pt>
                <c:pt idx="47">
                  <c:v>0.0239899650627</c:v>
                </c:pt>
                <c:pt idx="48">
                  <c:v>0.023646553499</c:v>
                </c:pt>
                <c:pt idx="49">
                  <c:v>0.0233326989615</c:v>
                </c:pt>
                <c:pt idx="50">
                  <c:v>0.023045857512</c:v>
                </c:pt>
                <c:pt idx="51">
                  <c:v>0.0227837041661</c:v>
                </c:pt>
                <c:pt idx="52">
                  <c:v>0.022544114048</c:v>
                </c:pt>
                <c:pt idx="53">
                  <c:v>0.0223251451673</c:v>
                </c:pt>
                <c:pt idx="54">
                  <c:v>0.0221250226787</c:v>
                </c:pt>
                <c:pt idx="55">
                  <c:v>0.0219421244955</c:v>
                </c:pt>
                <c:pt idx="56">
                  <c:v>0.0217749681421</c:v>
                </c:pt>
                <c:pt idx="57">
                  <c:v>0.0216221987379</c:v>
                </c:pt>
                <c:pt idx="58">
                  <c:v>0.0214825780153</c:v>
                </c:pt>
                <c:pt idx="59">
                  <c:v>0.0213549742828</c:v>
                </c:pt>
              </c:numCache>
            </c:numRef>
          </c:yVal>
          <c:smooth val="0"/>
        </c:ser>
        <c:ser>
          <c:idx val="1"/>
          <c:order val="1"/>
          <c:tx>
            <c:v>Validação</c:v>
          </c:tx>
          <c:spPr>
            <a:solidFill xmlns:a="http://schemas.openxmlformats.org/drawingml/2006/main">
              <a:srgbClr val="FFAD62"/>
            </a:solidFill>
            <a:ln xmlns:a="http://schemas.openxmlformats.org/drawingml/2006/main" w="23813">
              <a:solidFill>
                <a:srgbClr val="FFAD62"/>
              </a:solidFill>
              <a:prstDash val="solid"/>
            </a:ln>
          </c:spPr>
          <c:marker>
            <c:symbol val="none"/>
            <c:size val="2"/>
          </c:marker>
          <c:xVal>
            <c:numRef>
              <c:f>'Chart Data'!$C$2:$C$61</c:f>
              <c:numCache>
                <c:formatCode>General</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xVal>
          <c:yVal>
            <c:numRef>
              <c:f>'Chart Data'!$D$2:$D$61</c:f>
              <c:numCache>
                <c:formatCode>0.0</c:formatCode>
                <c:ptCount val="60"/>
                <c:pt idx="0">
                  <c:v>0.328323045899</c:v>
                </c:pt>
                <c:pt idx="1">
                  <c:v>0.308212392928</c:v>
                </c:pt>
                <c:pt idx="2">
                  <c:v>0.289554865628</c:v>
                </c:pt>
                <c:pt idx="3">
                  <c:v>0.272245466205</c:v>
                </c:pt>
                <c:pt idx="4">
                  <c:v>0.256186783637</c:v>
                </c:pt>
                <c:pt idx="5">
                  <c:v>0.241288445487</c:v>
                </c:pt>
                <c:pt idx="6">
                  <c:v>0.22746660931</c:v>
                </c:pt>
                <c:pt idx="7">
                  <c:v>0.214643490828</c:v>
                </c:pt>
                <c:pt idx="8">
                  <c:v>0.202746926182</c:v>
                </c:pt>
                <c:pt idx="9">
                  <c:v>0.191709965822</c:v>
                </c:pt>
                <c:pt idx="10">
                  <c:v>0.181470497739</c:v>
                </c:pt>
                <c:pt idx="11">
                  <c:v>0.171970897922</c:v>
                </c:pt>
                <c:pt idx="12">
                  <c:v>0.163157706069</c:v>
                </c:pt>
                <c:pt idx="13">
                  <c:v>0.154981324733</c:v>
                </c:pt>
                <c:pt idx="14">
                  <c:v>0.147395740208</c:v>
                </c:pt>
                <c:pt idx="15">
                  <c:v>0.140358263574</c:v>
                </c:pt>
                <c:pt idx="16">
                  <c:v>0.133829290466</c:v>
                </c:pt>
                <c:pt idx="17">
                  <c:v>0.127772078194</c:v>
                </c:pt>
                <c:pt idx="18">
                  <c:v>0.122152538963</c:v>
                </c:pt>
                <c:pt idx="19">
                  <c:v>0.116939048045</c:v>
                </c:pt>
                <c:pt idx="20">
                  <c:v>0.112252265804</c:v>
                </c:pt>
                <c:pt idx="21">
                  <c:v>0.108214972586</c:v>
                </c:pt>
                <c:pt idx="22">
                  <c:v>0.104801915532</c:v>
                </c:pt>
                <c:pt idx="23">
                  <c:v>0.101989666466</c:v>
                </c:pt>
                <c:pt idx="24">
                  <c:v>0.0997564900535</c:v>
                </c:pt>
                <c:pt idx="25">
                  <c:v>0.098082221476</c:v>
                </c:pt>
                <c:pt idx="26">
                  <c:v>0.0969481529563</c:v>
                </c:pt>
                <c:pt idx="27">
                  <c:v>0.0963369284759</c:v>
                </c:pt>
                <c:pt idx="28">
                  <c:v>0.0962324461012</c:v>
                </c:pt>
                <c:pt idx="29">
                  <c:v>0.0966197673686</c:v>
                </c:pt>
                <c:pt idx="30">
                  <c:v>0.0974850332154</c:v>
                </c:pt>
                <c:pt idx="31">
                  <c:v>0.0988153859868</c:v>
                </c:pt>
                <c:pt idx="32">
                  <c:v>0.100598897077</c:v>
                </c:pt>
                <c:pt idx="33">
                  <c:v>0.1028244998</c:v>
                </c:pt>
                <c:pt idx="34">
                  <c:v>0.10548192711</c:v>
                </c:pt>
                <c:pt idx="35">
                  <c:v>0.108561653822</c:v>
                </c:pt>
                <c:pt idx="36">
                  <c:v>0.112054843007</c:v>
                </c:pt>
                <c:pt idx="37">
                  <c:v>0.115953296262</c:v>
                </c:pt>
                <c:pt idx="38">
                  <c:v>0.120249407574</c:v>
                </c:pt>
                <c:pt idx="39">
                  <c:v>0.12493612051</c:v>
                </c:pt>
                <c:pt idx="40">
                  <c:v>0.130006888515</c:v>
                </c:pt>
                <c:pt idx="41">
                  <c:v>0.13545563806</c:v>
                </c:pt>
                <c:pt idx="42">
                  <c:v>0.141276734473</c:v>
                </c:pt>
                <c:pt idx="43">
                  <c:v>0.14746495022</c:v>
                </c:pt>
                <c:pt idx="44">
                  <c:v>0.154015435493</c:v>
                </c:pt>
                <c:pt idx="45">
                  <c:v>0.160923690913</c:v>
                </c:pt>
                <c:pt idx="46">
                  <c:v>0.168185542211</c:v>
                </c:pt>
                <c:pt idx="47">
                  <c:v>0.175797116734</c:v>
                </c:pt>
                <c:pt idx="48">
                  <c:v>0.183754821657</c:v>
                </c:pt>
                <c:pt idx="49">
                  <c:v>0.192055323757</c:v>
                </c:pt>
                <c:pt idx="50">
                  <c:v>0.200695530659</c:v>
                </c:pt>
                <c:pt idx="51">
                  <c:v>0.209672573434</c:v>
                </c:pt>
                <c:pt idx="52">
                  <c:v>0.218983790448</c:v>
                </c:pt>
                <c:pt idx="53">
                  <c:v>0.228626712392</c:v>
                </c:pt>
                <c:pt idx="54">
                  <c:v>0.238599048376</c:v>
                </c:pt>
                <c:pt idx="55">
                  <c:v>0.248898673046</c:v>
                </c:pt>
                <c:pt idx="56">
                  <c:v>0.259523614616</c:v>
                </c:pt>
                <c:pt idx="57">
                  <c:v>0.270472043774</c:v>
                </c:pt>
                <c:pt idx="58">
                  <c:v>0.28174226339</c:v>
                </c:pt>
                <c:pt idx="59">
                  <c:v>0.293332698961</c:v>
                </c:pt>
              </c:numCache>
            </c:numRef>
          </c:yVal>
          <c:smooth val="0"/>
        </c:ser>
        <c:ser>
          <c:idx val="2"/>
          <c:order val="2"/>
          <c:tx>
            <c:v>Melhor época</c:v>
          </c:tx>
          <c:spPr>
            <a:solidFill xmlns:a="http://schemas.openxmlformats.org/drawingml/2006/main">
              <a:srgbClr val="91A4BD"/>
            </a:solidFill>
            <a:ln xmlns:a="http://schemas.openxmlformats.org/drawingml/2006/main" w="23813">
              <a:solidFill>
                <a:srgbClr val="91A4BD"/>
              </a:solidFill>
              <a:prstDash val="dash"/>
            </a:ln>
          </c:spPr>
          <c:marker>
            <c:symbol val="none"/>
            <c:size val="2"/>
          </c:marker>
          <c:xVal>
            <c:numRef>
              <c:f>'Chart Data'!$E$2:$E$61</c:f>
              <c:numCache>
                <c:formatCode>General</c:formatCode>
                <c:ptCount val="60"/>
                <c:pt idx="0">
                  <c:v>29</c:v>
                </c:pt>
                <c:pt idx="1">
                  <c:v>29</c:v>
                </c:pt>
                <c:pt idx="2">
                  <c:v>29</c:v>
                </c:pt>
                <c:pt idx="3">
                  <c:v>29</c:v>
                </c:pt>
                <c:pt idx="4">
                  <c:v>29</c:v>
                </c:pt>
                <c:pt idx="5">
                  <c:v>29</c:v>
                </c:pt>
                <c:pt idx="6">
                  <c:v>29</c:v>
                </c:pt>
                <c:pt idx="7">
                  <c:v>29</c:v>
                </c:pt>
                <c:pt idx="8">
                  <c:v>29</c:v>
                </c:pt>
                <c:pt idx="9">
                  <c:v>29</c:v>
                </c:pt>
                <c:pt idx="10">
                  <c:v>29</c:v>
                </c:pt>
                <c:pt idx="11">
                  <c:v>29</c:v>
                </c:pt>
                <c:pt idx="12">
                  <c:v>29</c:v>
                </c:pt>
                <c:pt idx="13">
                  <c:v>29</c:v>
                </c:pt>
                <c:pt idx="14">
                  <c:v>29</c:v>
                </c:pt>
                <c:pt idx="15">
                  <c:v>29</c:v>
                </c:pt>
                <c:pt idx="16">
                  <c:v>29</c:v>
                </c:pt>
                <c:pt idx="17">
                  <c:v>29</c:v>
                </c:pt>
                <c:pt idx="18">
                  <c:v>29</c:v>
                </c:pt>
                <c:pt idx="19">
                  <c:v>29</c:v>
                </c:pt>
                <c:pt idx="20">
                  <c:v>29</c:v>
                </c:pt>
                <c:pt idx="21">
                  <c:v>29</c:v>
                </c:pt>
                <c:pt idx="22">
                  <c:v>29</c:v>
                </c:pt>
                <c:pt idx="23">
                  <c:v>29</c:v>
                </c:pt>
                <c:pt idx="24">
                  <c:v>29</c:v>
                </c:pt>
                <c:pt idx="25">
                  <c:v>29</c:v>
                </c:pt>
                <c:pt idx="26">
                  <c:v>29</c:v>
                </c:pt>
                <c:pt idx="27">
                  <c:v>29</c:v>
                </c:pt>
                <c:pt idx="28">
                  <c:v>29</c:v>
                </c:pt>
                <c:pt idx="29">
                  <c:v>29</c:v>
                </c:pt>
                <c:pt idx="30">
                  <c:v>29</c:v>
                </c:pt>
                <c:pt idx="31">
                  <c:v>29</c:v>
                </c:pt>
                <c:pt idx="32">
                  <c:v>29</c:v>
                </c:pt>
                <c:pt idx="33">
                  <c:v>29</c:v>
                </c:pt>
                <c:pt idx="34">
                  <c:v>29</c:v>
                </c:pt>
                <c:pt idx="35">
                  <c:v>29</c:v>
                </c:pt>
                <c:pt idx="36">
                  <c:v>29</c:v>
                </c:pt>
                <c:pt idx="37">
                  <c:v>29</c:v>
                </c:pt>
                <c:pt idx="38">
                  <c:v>29</c:v>
                </c:pt>
                <c:pt idx="39">
                  <c:v>29</c:v>
                </c:pt>
                <c:pt idx="40">
                  <c:v>29</c:v>
                </c:pt>
                <c:pt idx="41">
                  <c:v>29</c:v>
                </c:pt>
                <c:pt idx="42">
                  <c:v>29</c:v>
                </c:pt>
                <c:pt idx="43">
                  <c:v>29</c:v>
                </c:pt>
                <c:pt idx="44">
                  <c:v>29</c:v>
                </c:pt>
                <c:pt idx="45">
                  <c:v>29</c:v>
                </c:pt>
                <c:pt idx="46">
                  <c:v>29</c:v>
                </c:pt>
                <c:pt idx="47">
                  <c:v>29</c:v>
                </c:pt>
                <c:pt idx="48">
                  <c:v>29</c:v>
                </c:pt>
                <c:pt idx="49">
                  <c:v>29</c:v>
                </c:pt>
                <c:pt idx="50">
                  <c:v>29</c:v>
                </c:pt>
                <c:pt idx="51">
                  <c:v>29</c:v>
                </c:pt>
                <c:pt idx="52">
                  <c:v>29</c:v>
                </c:pt>
                <c:pt idx="53">
                  <c:v>29</c:v>
                </c:pt>
                <c:pt idx="54">
                  <c:v>29</c:v>
                </c:pt>
                <c:pt idx="55">
                  <c:v>29</c:v>
                </c:pt>
                <c:pt idx="56">
                  <c:v>29</c:v>
                </c:pt>
                <c:pt idx="57">
                  <c:v>29</c:v>
                </c:pt>
                <c:pt idx="58">
                  <c:v>29</c:v>
                </c:pt>
                <c:pt idx="59">
                  <c:v>29</c:v>
                </c:pt>
              </c:numCache>
            </c:numRef>
          </c:xVal>
          <c:yVal>
            <c:numRef>
              <c:f>'Chart Data'!$F$2:$F$61</c:f>
              <c:numCache>
                <c:formatCode>0.0</c:formatCode>
                <c:ptCount val="60"/>
                <c:pt idx="0">
                  <c:v>0</c:v>
                </c:pt>
                <c:pt idx="1">
                  <c:v>0.4</c:v>
                </c:pt>
                <c:pt idx="2">
                  <c:v>0.4</c:v>
                </c:pt>
                <c:pt idx="3">
                  <c:v>0.4</c:v>
                </c:pt>
                <c:pt idx="4">
                  <c:v>0.4</c:v>
                </c:pt>
                <c:pt idx="5">
                  <c:v>0.4</c:v>
                </c:pt>
                <c:pt idx="6">
                  <c:v>0.4</c:v>
                </c:pt>
                <c:pt idx="7">
                  <c:v>0.4</c:v>
                </c:pt>
                <c:pt idx="8">
                  <c:v>0.4</c:v>
                </c:pt>
                <c:pt idx="9">
                  <c:v>0.4</c:v>
                </c:pt>
                <c:pt idx="10">
                  <c:v>0.4</c:v>
                </c:pt>
                <c:pt idx="11">
                  <c:v>0.4</c:v>
                </c:pt>
                <c:pt idx="12">
                  <c:v>0.4</c:v>
                </c:pt>
                <c:pt idx="13">
                  <c:v>0.4</c:v>
                </c:pt>
                <c:pt idx="14">
                  <c:v>0.4</c:v>
                </c:pt>
                <c:pt idx="15">
                  <c:v>0.4</c:v>
                </c:pt>
                <c:pt idx="16">
                  <c:v>0.4</c:v>
                </c:pt>
                <c:pt idx="17">
                  <c:v>0.4</c:v>
                </c:pt>
                <c:pt idx="18">
                  <c:v>0.4</c:v>
                </c:pt>
                <c:pt idx="19">
                  <c:v>0.4</c:v>
                </c:pt>
                <c:pt idx="20">
                  <c:v>0.4</c:v>
                </c:pt>
                <c:pt idx="21">
                  <c:v>0.4</c:v>
                </c:pt>
                <c:pt idx="22">
                  <c:v>0.4</c:v>
                </c:pt>
                <c:pt idx="23">
                  <c:v>0.4</c:v>
                </c:pt>
                <c:pt idx="24">
                  <c:v>0.4</c:v>
                </c:pt>
                <c:pt idx="25">
                  <c:v>0.4</c:v>
                </c:pt>
                <c:pt idx="26">
                  <c:v>0.4</c:v>
                </c:pt>
                <c:pt idx="27">
                  <c:v>0.4</c:v>
                </c:pt>
                <c:pt idx="28">
                  <c:v>0.4</c:v>
                </c:pt>
                <c:pt idx="29">
                  <c:v>0.4</c:v>
                </c:pt>
                <c:pt idx="30">
                  <c:v>0.4</c:v>
                </c:pt>
                <c:pt idx="31">
                  <c:v>0.4</c:v>
                </c:pt>
                <c:pt idx="32">
                  <c:v>0.4</c:v>
                </c:pt>
                <c:pt idx="33">
                  <c:v>0.4</c:v>
                </c:pt>
                <c:pt idx="34">
                  <c:v>0.4</c:v>
                </c:pt>
                <c:pt idx="35">
                  <c:v>0.4</c:v>
                </c:pt>
                <c:pt idx="36">
                  <c:v>0.4</c:v>
                </c:pt>
                <c:pt idx="37">
                  <c:v>0.4</c:v>
                </c:pt>
                <c:pt idx="38">
                  <c:v>0.4</c:v>
                </c:pt>
                <c:pt idx="39">
                  <c:v>0.4</c:v>
                </c:pt>
                <c:pt idx="40">
                  <c:v>0.4</c:v>
                </c:pt>
                <c:pt idx="41">
                  <c:v>0.4</c:v>
                </c:pt>
                <c:pt idx="42">
                  <c:v>0.4</c:v>
                </c:pt>
                <c:pt idx="43">
                  <c:v>0.4</c:v>
                </c:pt>
                <c:pt idx="44">
                  <c:v>0.4</c:v>
                </c:pt>
                <c:pt idx="45">
                  <c:v>0.4</c:v>
                </c:pt>
                <c:pt idx="46">
                  <c:v>0.4</c:v>
                </c:pt>
                <c:pt idx="47">
                  <c:v>0.4</c:v>
                </c:pt>
                <c:pt idx="48">
                  <c:v>0.4</c:v>
                </c:pt>
                <c:pt idx="49">
                  <c:v>0.4</c:v>
                </c:pt>
                <c:pt idx="50">
                  <c:v>0.4</c:v>
                </c:pt>
                <c:pt idx="51">
                  <c:v>0.4</c:v>
                </c:pt>
                <c:pt idx="52">
                  <c:v>0.4</c:v>
                </c:pt>
                <c:pt idx="53">
                  <c:v>0.4</c:v>
                </c:pt>
                <c:pt idx="54">
                  <c:v>0.4</c:v>
                </c:pt>
                <c:pt idx="55">
                  <c:v>0.4</c:v>
                </c:pt>
                <c:pt idx="56">
                  <c:v>0.4</c:v>
                </c:pt>
                <c:pt idx="57">
                  <c:v>0.4</c:v>
                </c:pt>
                <c:pt idx="58">
                  <c:v>0.4</c:v>
                </c:pt>
                <c:pt idx="59">
                  <c:v>0.4</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0.4"/>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Perda</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60"/>
          <c:min val="1"/>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Época</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majorUnit val="10"/>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scatterChart>
        <c:scatterStyle val="lineMarker"/>
        <c:ser>
          <c:idx val="0"/>
          <c:order val="0"/>
          <c:tx>
            <c:v>λ = 0,1</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Data'!$A$2:$A$62</c:f>
              <c:numCache>
                <c:formatCode>General</c:formatCode>
                <c:ptCount val="61"/>
                <c:pt idx="0">
                  <c:v>-2</c:v>
                </c:pt>
                <c:pt idx="1">
                  <c:v>-1.93333333333</c:v>
                </c:pt>
                <c:pt idx="2">
                  <c:v>-1.86666666667</c:v>
                </c:pt>
                <c:pt idx="3">
                  <c:v>-1.8</c:v>
                </c:pt>
                <c:pt idx="4">
                  <c:v>-1.73333333333</c:v>
                </c:pt>
                <c:pt idx="5">
                  <c:v>-1.66666666667</c:v>
                </c:pt>
                <c:pt idx="6">
                  <c:v>-1.6</c:v>
                </c:pt>
                <c:pt idx="7">
                  <c:v>-1.53333333333</c:v>
                </c:pt>
                <c:pt idx="8">
                  <c:v>-1.46666666667</c:v>
                </c:pt>
                <c:pt idx="9">
                  <c:v>-1.4</c:v>
                </c:pt>
                <c:pt idx="10">
                  <c:v>-1.33333333333</c:v>
                </c:pt>
                <c:pt idx="11">
                  <c:v>-1.26666666667</c:v>
                </c:pt>
                <c:pt idx="12">
                  <c:v>-1.2</c:v>
                </c:pt>
                <c:pt idx="13">
                  <c:v>-1.13333333333</c:v>
                </c:pt>
                <c:pt idx="14">
                  <c:v>-1.06666666667</c:v>
                </c:pt>
                <c:pt idx="15">
                  <c:v>-1</c:v>
                </c:pt>
                <c:pt idx="16">
                  <c:v>-0.933333333333</c:v>
                </c:pt>
                <c:pt idx="17">
                  <c:v>-0.866666666667</c:v>
                </c:pt>
                <c:pt idx="18">
                  <c:v>-0.8</c:v>
                </c:pt>
                <c:pt idx="19">
                  <c:v>-0.733333333333</c:v>
                </c:pt>
                <c:pt idx="20">
                  <c:v>-0.666666666667</c:v>
                </c:pt>
                <c:pt idx="21">
                  <c:v>-0.6</c:v>
                </c:pt>
                <c:pt idx="22">
                  <c:v>-0.533333333333</c:v>
                </c:pt>
                <c:pt idx="23">
                  <c:v>-0.466666666667</c:v>
                </c:pt>
                <c:pt idx="24">
                  <c:v>-0.4</c:v>
                </c:pt>
                <c:pt idx="25">
                  <c:v>-0.333333333333</c:v>
                </c:pt>
                <c:pt idx="26">
                  <c:v>-0.266666666667</c:v>
                </c:pt>
                <c:pt idx="27">
                  <c:v>-0.2</c:v>
                </c:pt>
                <c:pt idx="28">
                  <c:v>-0.133333333333</c:v>
                </c:pt>
                <c:pt idx="29">
                  <c:v>-0.0666666666667</c:v>
                </c:pt>
                <c:pt idx="30">
                  <c:v>0</c:v>
                </c:pt>
                <c:pt idx="31">
                  <c:v>0.0666666666667</c:v>
                </c:pt>
                <c:pt idx="32">
                  <c:v>0.133333333333</c:v>
                </c:pt>
                <c:pt idx="33">
                  <c:v>0.2</c:v>
                </c:pt>
                <c:pt idx="34">
                  <c:v>0.266666666667</c:v>
                </c:pt>
                <c:pt idx="35">
                  <c:v>0.333333333333</c:v>
                </c:pt>
                <c:pt idx="36">
                  <c:v>0.4</c:v>
                </c:pt>
                <c:pt idx="37">
                  <c:v>0.466666666667</c:v>
                </c:pt>
                <c:pt idx="38">
                  <c:v>0.533333333333</c:v>
                </c:pt>
                <c:pt idx="39">
                  <c:v>0.6</c:v>
                </c:pt>
                <c:pt idx="40">
                  <c:v>0.666666666667</c:v>
                </c:pt>
                <c:pt idx="41">
                  <c:v>0.733333333333</c:v>
                </c:pt>
                <c:pt idx="42">
                  <c:v>0.8</c:v>
                </c:pt>
                <c:pt idx="43">
                  <c:v>0.866666666667</c:v>
                </c:pt>
                <c:pt idx="44">
                  <c:v>0.933333333333</c:v>
                </c:pt>
                <c:pt idx="45">
                  <c:v>1</c:v>
                </c:pt>
                <c:pt idx="46">
                  <c:v>1.06666666667</c:v>
                </c:pt>
                <c:pt idx="47">
                  <c:v>1.13333333333</c:v>
                </c:pt>
                <c:pt idx="48">
                  <c:v>1.2</c:v>
                </c:pt>
                <c:pt idx="49">
                  <c:v>1.26666666667</c:v>
                </c:pt>
                <c:pt idx="50">
                  <c:v>1.33333333333</c:v>
                </c:pt>
                <c:pt idx="51">
                  <c:v>1.4</c:v>
                </c:pt>
                <c:pt idx="52">
                  <c:v>1.46666666667</c:v>
                </c:pt>
                <c:pt idx="53">
                  <c:v>1.53333333333</c:v>
                </c:pt>
                <c:pt idx="54">
                  <c:v>1.6</c:v>
                </c:pt>
                <c:pt idx="55">
                  <c:v>1.66666666667</c:v>
                </c:pt>
                <c:pt idx="56">
                  <c:v>1.73333333333</c:v>
                </c:pt>
                <c:pt idx="57">
                  <c:v>1.8</c:v>
                </c:pt>
                <c:pt idx="58">
                  <c:v>1.86666666667</c:v>
                </c:pt>
                <c:pt idx="59">
                  <c:v>1.93333333333</c:v>
                </c:pt>
                <c:pt idx="60">
                  <c:v>2</c:v>
                </c:pt>
              </c:numCache>
            </c:numRef>
          </c:xVal>
          <c:yVal>
            <c:numRef>
              <c:f>'Chart Data'!$B$2:$B$62</c:f>
              <c:numCache>
                <c:formatCode>0.0</c:formatCode>
                <c:ptCount val="61"/>
                <c:pt idx="0">
                  <c:v>0.4</c:v>
                </c:pt>
                <c:pt idx="1">
                  <c:v>0.373777777778</c:v>
                </c:pt>
                <c:pt idx="2">
                  <c:v>0.348444444444</c:v>
                </c:pt>
                <c:pt idx="3">
                  <c:v>0.324</c:v>
                </c:pt>
                <c:pt idx="4">
                  <c:v>0.300444444444</c:v>
                </c:pt>
                <c:pt idx="5">
                  <c:v>0.277777777778</c:v>
                </c:pt>
                <c:pt idx="6">
                  <c:v>0.256</c:v>
                </c:pt>
                <c:pt idx="7">
                  <c:v>0.235111111111</c:v>
                </c:pt>
                <c:pt idx="8">
                  <c:v>0.215111111111</c:v>
                </c:pt>
                <c:pt idx="9">
                  <c:v>0.196</c:v>
                </c:pt>
                <c:pt idx="10">
                  <c:v>0.177777777778</c:v>
                </c:pt>
                <c:pt idx="11">
                  <c:v>0.160444444444</c:v>
                </c:pt>
                <c:pt idx="12">
                  <c:v>0.144</c:v>
                </c:pt>
                <c:pt idx="13">
                  <c:v>0.128444444444</c:v>
                </c:pt>
                <c:pt idx="14">
                  <c:v>0.113777777778</c:v>
                </c:pt>
                <c:pt idx="15">
                  <c:v>0.1</c:v>
                </c:pt>
                <c:pt idx="16">
                  <c:v>0.0871111111111</c:v>
                </c:pt>
                <c:pt idx="17">
                  <c:v>0.0751111111111</c:v>
                </c:pt>
                <c:pt idx="18">
                  <c:v>0.064</c:v>
                </c:pt>
                <c:pt idx="19">
                  <c:v>0.0537777777778</c:v>
                </c:pt>
                <c:pt idx="20">
                  <c:v>0.0444444444444</c:v>
                </c:pt>
                <c:pt idx="21">
                  <c:v>0.036</c:v>
                </c:pt>
                <c:pt idx="22">
                  <c:v>0.0284444444444</c:v>
                </c:pt>
                <c:pt idx="23">
                  <c:v>0.0217777777778</c:v>
                </c:pt>
                <c:pt idx="24">
                  <c:v>0.016</c:v>
                </c:pt>
                <c:pt idx="25">
                  <c:v>0.0111111111111</c:v>
                </c:pt>
                <c:pt idx="26">
                  <c:v>0.00711111111111</c:v>
                </c:pt>
                <c:pt idx="27">
                  <c:v>0.004</c:v>
                </c:pt>
                <c:pt idx="28">
                  <c:v>0.00177777777778</c:v>
                </c:pt>
                <c:pt idx="29">
                  <c:v>0.000444444444444</c:v>
                </c:pt>
                <c:pt idx="30">
                  <c:v>0</c:v>
                </c:pt>
                <c:pt idx="31">
                  <c:v>0.000444444444444</c:v>
                </c:pt>
                <c:pt idx="32">
                  <c:v>0.00177777777778</c:v>
                </c:pt>
                <c:pt idx="33">
                  <c:v>0.004</c:v>
                </c:pt>
                <c:pt idx="34">
                  <c:v>0.00711111111111</c:v>
                </c:pt>
                <c:pt idx="35">
                  <c:v>0.0111111111111</c:v>
                </c:pt>
                <c:pt idx="36">
                  <c:v>0.016</c:v>
                </c:pt>
                <c:pt idx="37">
                  <c:v>0.0217777777778</c:v>
                </c:pt>
                <c:pt idx="38">
                  <c:v>0.0284444444444</c:v>
                </c:pt>
                <c:pt idx="39">
                  <c:v>0.036</c:v>
                </c:pt>
                <c:pt idx="40">
                  <c:v>0.0444444444444</c:v>
                </c:pt>
                <c:pt idx="41">
                  <c:v>0.0537777777778</c:v>
                </c:pt>
                <c:pt idx="42">
                  <c:v>0.064</c:v>
                </c:pt>
                <c:pt idx="43">
                  <c:v>0.0751111111111</c:v>
                </c:pt>
                <c:pt idx="44">
                  <c:v>0.0871111111111</c:v>
                </c:pt>
                <c:pt idx="45">
                  <c:v>0.1</c:v>
                </c:pt>
                <c:pt idx="46">
                  <c:v>0.113777777778</c:v>
                </c:pt>
                <c:pt idx="47">
                  <c:v>0.128444444444</c:v>
                </c:pt>
                <c:pt idx="48">
                  <c:v>0.144</c:v>
                </c:pt>
                <c:pt idx="49">
                  <c:v>0.160444444444</c:v>
                </c:pt>
                <c:pt idx="50">
                  <c:v>0.177777777778</c:v>
                </c:pt>
                <c:pt idx="51">
                  <c:v>0.196</c:v>
                </c:pt>
                <c:pt idx="52">
                  <c:v>0.215111111111</c:v>
                </c:pt>
                <c:pt idx="53">
                  <c:v>0.235111111111</c:v>
                </c:pt>
                <c:pt idx="54">
                  <c:v>0.256</c:v>
                </c:pt>
                <c:pt idx="55">
                  <c:v>0.277777777778</c:v>
                </c:pt>
                <c:pt idx="56">
                  <c:v>0.300444444444</c:v>
                </c:pt>
                <c:pt idx="57">
                  <c:v>0.324</c:v>
                </c:pt>
                <c:pt idx="58">
                  <c:v>0.348444444444</c:v>
                </c:pt>
                <c:pt idx="59">
                  <c:v>0.373777777778</c:v>
                </c:pt>
                <c:pt idx="60">
                  <c:v>0.4</c:v>
                </c:pt>
              </c:numCache>
            </c:numRef>
          </c:yVal>
          <c:smooth val="0"/>
        </c:ser>
        <c:ser>
          <c:idx val="1"/>
          <c:order val="1"/>
          <c:tx>
            <c:v>λ = 1</c:v>
          </c:tx>
          <c:spPr>
            <a:solidFill xmlns:a="http://schemas.openxmlformats.org/drawingml/2006/main">
              <a:srgbClr val="FFAD62"/>
            </a:solidFill>
            <a:ln xmlns:a="http://schemas.openxmlformats.org/drawingml/2006/main" w="23813">
              <a:solidFill>
                <a:srgbClr val="FFAD62"/>
              </a:solidFill>
              <a:prstDash val="solid"/>
            </a:ln>
          </c:spPr>
          <c:marker>
            <c:symbol val="none"/>
            <c:size val="2"/>
          </c:marker>
          <c:xVal>
            <c:numRef>
              <c:f>'Chart Data'!$C$2:$C$62</c:f>
              <c:numCache>
                <c:formatCode>General</c:formatCode>
                <c:ptCount val="61"/>
                <c:pt idx="0">
                  <c:v>-2</c:v>
                </c:pt>
                <c:pt idx="1">
                  <c:v>-1.93333333333</c:v>
                </c:pt>
                <c:pt idx="2">
                  <c:v>-1.86666666667</c:v>
                </c:pt>
                <c:pt idx="3">
                  <c:v>-1.8</c:v>
                </c:pt>
                <c:pt idx="4">
                  <c:v>-1.73333333333</c:v>
                </c:pt>
                <c:pt idx="5">
                  <c:v>-1.66666666667</c:v>
                </c:pt>
                <c:pt idx="6">
                  <c:v>-1.6</c:v>
                </c:pt>
                <c:pt idx="7">
                  <c:v>-1.53333333333</c:v>
                </c:pt>
                <c:pt idx="8">
                  <c:v>-1.46666666667</c:v>
                </c:pt>
                <c:pt idx="9">
                  <c:v>-1.4</c:v>
                </c:pt>
                <c:pt idx="10">
                  <c:v>-1.33333333333</c:v>
                </c:pt>
                <c:pt idx="11">
                  <c:v>-1.26666666667</c:v>
                </c:pt>
                <c:pt idx="12">
                  <c:v>-1.2</c:v>
                </c:pt>
                <c:pt idx="13">
                  <c:v>-1.13333333333</c:v>
                </c:pt>
                <c:pt idx="14">
                  <c:v>-1.06666666667</c:v>
                </c:pt>
                <c:pt idx="15">
                  <c:v>-1</c:v>
                </c:pt>
                <c:pt idx="16">
                  <c:v>-0.933333333333</c:v>
                </c:pt>
                <c:pt idx="17">
                  <c:v>-0.866666666667</c:v>
                </c:pt>
                <c:pt idx="18">
                  <c:v>-0.8</c:v>
                </c:pt>
                <c:pt idx="19">
                  <c:v>-0.733333333333</c:v>
                </c:pt>
                <c:pt idx="20">
                  <c:v>-0.666666666667</c:v>
                </c:pt>
                <c:pt idx="21">
                  <c:v>-0.6</c:v>
                </c:pt>
                <c:pt idx="22">
                  <c:v>-0.533333333333</c:v>
                </c:pt>
                <c:pt idx="23">
                  <c:v>-0.466666666667</c:v>
                </c:pt>
                <c:pt idx="24">
                  <c:v>-0.4</c:v>
                </c:pt>
                <c:pt idx="25">
                  <c:v>-0.333333333333</c:v>
                </c:pt>
                <c:pt idx="26">
                  <c:v>-0.266666666667</c:v>
                </c:pt>
                <c:pt idx="27">
                  <c:v>-0.2</c:v>
                </c:pt>
                <c:pt idx="28">
                  <c:v>-0.133333333333</c:v>
                </c:pt>
                <c:pt idx="29">
                  <c:v>-0.0666666666667</c:v>
                </c:pt>
                <c:pt idx="30">
                  <c:v>0</c:v>
                </c:pt>
                <c:pt idx="31">
                  <c:v>0.0666666666667</c:v>
                </c:pt>
                <c:pt idx="32">
                  <c:v>0.133333333333</c:v>
                </c:pt>
                <c:pt idx="33">
                  <c:v>0.2</c:v>
                </c:pt>
                <c:pt idx="34">
                  <c:v>0.266666666667</c:v>
                </c:pt>
                <c:pt idx="35">
                  <c:v>0.333333333333</c:v>
                </c:pt>
                <c:pt idx="36">
                  <c:v>0.4</c:v>
                </c:pt>
                <c:pt idx="37">
                  <c:v>0.466666666667</c:v>
                </c:pt>
                <c:pt idx="38">
                  <c:v>0.533333333333</c:v>
                </c:pt>
                <c:pt idx="39">
                  <c:v>0.6</c:v>
                </c:pt>
                <c:pt idx="40">
                  <c:v>0.666666666667</c:v>
                </c:pt>
                <c:pt idx="41">
                  <c:v>0.733333333333</c:v>
                </c:pt>
                <c:pt idx="42">
                  <c:v>0.8</c:v>
                </c:pt>
                <c:pt idx="43">
                  <c:v>0.866666666667</c:v>
                </c:pt>
                <c:pt idx="44">
                  <c:v>0.933333333333</c:v>
                </c:pt>
                <c:pt idx="45">
                  <c:v>1</c:v>
                </c:pt>
                <c:pt idx="46">
                  <c:v>1.06666666667</c:v>
                </c:pt>
                <c:pt idx="47">
                  <c:v>1.13333333333</c:v>
                </c:pt>
                <c:pt idx="48">
                  <c:v>1.2</c:v>
                </c:pt>
                <c:pt idx="49">
                  <c:v>1.26666666667</c:v>
                </c:pt>
                <c:pt idx="50">
                  <c:v>1.33333333333</c:v>
                </c:pt>
                <c:pt idx="51">
                  <c:v>1.4</c:v>
                </c:pt>
                <c:pt idx="52">
                  <c:v>1.46666666667</c:v>
                </c:pt>
                <c:pt idx="53">
                  <c:v>1.53333333333</c:v>
                </c:pt>
                <c:pt idx="54">
                  <c:v>1.6</c:v>
                </c:pt>
                <c:pt idx="55">
                  <c:v>1.66666666667</c:v>
                </c:pt>
                <c:pt idx="56">
                  <c:v>1.73333333333</c:v>
                </c:pt>
                <c:pt idx="57">
                  <c:v>1.8</c:v>
                </c:pt>
                <c:pt idx="58">
                  <c:v>1.86666666667</c:v>
                </c:pt>
                <c:pt idx="59">
                  <c:v>1.93333333333</c:v>
                </c:pt>
                <c:pt idx="60">
                  <c:v>2</c:v>
                </c:pt>
              </c:numCache>
            </c:numRef>
          </c:xVal>
          <c:yVal>
            <c:numRef>
              <c:f>'Chart Data'!$D$2:$D$62</c:f>
              <c:numCache>
                <c:formatCode>0.0</c:formatCode>
                <c:ptCount val="61"/>
                <c:pt idx="0">
                  <c:v>4</c:v>
                </c:pt>
                <c:pt idx="1">
                  <c:v>3.73777777778</c:v>
                </c:pt>
                <c:pt idx="2">
                  <c:v>3.48444444444</c:v>
                </c:pt>
                <c:pt idx="3">
                  <c:v>3.24</c:v>
                </c:pt>
                <c:pt idx="4">
                  <c:v>3.00444444444</c:v>
                </c:pt>
                <c:pt idx="5">
                  <c:v>2.77777777778</c:v>
                </c:pt>
                <c:pt idx="6">
                  <c:v>2.56</c:v>
                </c:pt>
                <c:pt idx="7">
                  <c:v>2.35111111111</c:v>
                </c:pt>
                <c:pt idx="8">
                  <c:v>2.15111111111</c:v>
                </c:pt>
                <c:pt idx="9">
                  <c:v>1.96</c:v>
                </c:pt>
                <c:pt idx="10">
                  <c:v>1.77777777778</c:v>
                </c:pt>
                <c:pt idx="11">
                  <c:v>1.60444444444</c:v>
                </c:pt>
                <c:pt idx="12">
                  <c:v>1.44</c:v>
                </c:pt>
                <c:pt idx="13">
                  <c:v>1.28444444444</c:v>
                </c:pt>
                <c:pt idx="14">
                  <c:v>1.13777777778</c:v>
                </c:pt>
                <c:pt idx="15">
                  <c:v>1</c:v>
                </c:pt>
                <c:pt idx="16">
                  <c:v>0.871111111111</c:v>
                </c:pt>
                <c:pt idx="17">
                  <c:v>0.751111111111</c:v>
                </c:pt>
                <c:pt idx="18">
                  <c:v>0.64</c:v>
                </c:pt>
                <c:pt idx="19">
                  <c:v>0.537777777778</c:v>
                </c:pt>
                <c:pt idx="20">
                  <c:v>0.444444444444</c:v>
                </c:pt>
                <c:pt idx="21">
                  <c:v>0.36</c:v>
                </c:pt>
                <c:pt idx="22">
                  <c:v>0.284444444444</c:v>
                </c:pt>
                <c:pt idx="23">
                  <c:v>0.217777777778</c:v>
                </c:pt>
                <c:pt idx="24">
                  <c:v>0.16</c:v>
                </c:pt>
                <c:pt idx="25">
                  <c:v>0.111111111111</c:v>
                </c:pt>
                <c:pt idx="26">
                  <c:v>0.0711111111111</c:v>
                </c:pt>
                <c:pt idx="27">
                  <c:v>0.04</c:v>
                </c:pt>
                <c:pt idx="28">
                  <c:v>0.0177777777778</c:v>
                </c:pt>
                <c:pt idx="29">
                  <c:v>0.00444444444444</c:v>
                </c:pt>
                <c:pt idx="30">
                  <c:v>0</c:v>
                </c:pt>
                <c:pt idx="31">
                  <c:v>0.00444444444444</c:v>
                </c:pt>
                <c:pt idx="32">
                  <c:v>0.0177777777778</c:v>
                </c:pt>
                <c:pt idx="33">
                  <c:v>0.04</c:v>
                </c:pt>
                <c:pt idx="34">
                  <c:v>0.0711111111111</c:v>
                </c:pt>
                <c:pt idx="35">
                  <c:v>0.111111111111</c:v>
                </c:pt>
                <c:pt idx="36">
                  <c:v>0.16</c:v>
                </c:pt>
                <c:pt idx="37">
                  <c:v>0.217777777778</c:v>
                </c:pt>
                <c:pt idx="38">
                  <c:v>0.284444444444</c:v>
                </c:pt>
                <c:pt idx="39">
                  <c:v>0.36</c:v>
                </c:pt>
                <c:pt idx="40">
                  <c:v>0.444444444444</c:v>
                </c:pt>
                <c:pt idx="41">
                  <c:v>0.537777777778</c:v>
                </c:pt>
                <c:pt idx="42">
                  <c:v>0.64</c:v>
                </c:pt>
                <c:pt idx="43">
                  <c:v>0.751111111111</c:v>
                </c:pt>
                <c:pt idx="44">
                  <c:v>0.871111111111</c:v>
                </c:pt>
                <c:pt idx="45">
                  <c:v>1</c:v>
                </c:pt>
                <c:pt idx="46">
                  <c:v>1.13777777778</c:v>
                </c:pt>
                <c:pt idx="47">
                  <c:v>1.28444444444</c:v>
                </c:pt>
                <c:pt idx="48">
                  <c:v>1.44</c:v>
                </c:pt>
                <c:pt idx="49">
                  <c:v>1.60444444444</c:v>
                </c:pt>
                <c:pt idx="50">
                  <c:v>1.77777777778</c:v>
                </c:pt>
                <c:pt idx="51">
                  <c:v>1.96</c:v>
                </c:pt>
                <c:pt idx="52">
                  <c:v>2.15111111111</c:v>
                </c:pt>
                <c:pt idx="53">
                  <c:v>2.35111111111</c:v>
                </c:pt>
                <c:pt idx="54">
                  <c:v>2.56</c:v>
                </c:pt>
                <c:pt idx="55">
                  <c:v>2.77777777778</c:v>
                </c:pt>
                <c:pt idx="56">
                  <c:v>3.00444444444</c:v>
                </c:pt>
                <c:pt idx="57">
                  <c:v>3.24</c:v>
                </c:pt>
                <c:pt idx="58">
                  <c:v>3.48444444444</c:v>
                </c:pt>
                <c:pt idx="59">
                  <c:v>3.73777777778</c:v>
                </c:pt>
                <c:pt idx="60">
                  <c:v>4</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Penalização λw²</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valAx>
      <c:valAx>
        <c:axId val="48650112"/>
        <c:scaling>
          <c:orientation val="minMax"/>
          <c:max val="2"/>
          <c:min val="-2"/>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Peso w</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scatterChart>
        <c:scatterStyle val="lineMarker"/>
        <c:ser>
          <c:idx val="0"/>
          <c:order val="0"/>
          <c:tx>
            <c:v>Observado</c:v>
          </c:tx>
          <c:spPr>
            <a:solidFill xmlns:a="http://schemas.openxmlformats.org/drawingml/2006/main">
              <a:srgbClr val="91A4BD"/>
            </a:solidFill>
            <a:ln xmlns:a="http://schemas.openxmlformats.org/drawingml/2006/main" w="23813">
              <a:solidFill>
                <a:srgbClr val="91A4BD"/>
              </a:solidFill>
              <a:prstDash val="solid"/>
            </a:ln>
          </c:spPr>
          <c:marker>
            <c:symbol val="none"/>
            <c:size val="2"/>
          </c:marker>
          <c:xVal>
            <c:numRef>
              <c:f>'Chart Data'!$A$2:$A$15</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xVal>
          <c:yVal>
            <c:numRef>
              <c:f>'Chart Data'!$B$2:$B$15</c:f>
              <c:numCache>
                <c:formatCode>0.0</c:formatCode>
                <c:ptCount val="14"/>
                <c:pt idx="0">
                  <c:v>35</c:v>
                </c:pt>
                <c:pt idx="1">
                  <c:v>34</c:v>
                </c:pt>
                <c:pt idx="2">
                  <c:v>32</c:v>
                </c:pt>
                <c:pt idx="3">
                  <c:v>45</c:v>
                </c:pt>
                <c:pt idx="4">
                  <c:v>80</c:v>
                </c:pt>
                <c:pt idx="5">
                  <c:v>140</c:v>
                </c:pt>
                <c:pt idx="6">
                  <c:v>200</c:v>
                </c:pt>
                <c:pt idx="7">
                  <c:v>150</c:v>
                </c:pt>
                <c:pt idx="8">
                  <c:v>90</c:v>
                </c:pt>
                <c:pt idx="9">
                  <c:v>70</c:v>
                </c:pt>
                <c:pt idx="10">
                  <c:v>55</c:v>
                </c:pt>
                <c:pt idx="11">
                  <c:v>50</c:v>
                </c:pt>
                <c:pt idx="12">
                  <c:v>45</c:v>
                </c:pt>
                <c:pt idx="13">
                  <c:v>42</c:v>
                </c:pt>
              </c:numCache>
            </c:numRef>
          </c:yVal>
          <c:smooth val="0"/>
        </c:ser>
        <c:ser>
          <c:idx val="1"/>
          <c:order val="1"/>
          <c:tx>
            <c:v>RNA hipotética</c:v>
          </c:tx>
          <c:spPr>
            <a:solidFill xmlns:a="http://schemas.openxmlformats.org/drawingml/2006/main">
              <a:srgbClr val="83DFFF"/>
            </a:solidFill>
            <a:ln xmlns:a="http://schemas.openxmlformats.org/drawingml/2006/main" w="23813">
              <a:solidFill>
                <a:srgbClr val="83DFFF"/>
              </a:solidFill>
              <a:prstDash val="solid"/>
            </a:ln>
          </c:spPr>
          <c:marker>
            <c:symbol val="none"/>
            <c:size val="2"/>
          </c:marker>
          <c:xVal>
            <c:numRef>
              <c:f>'Chart Data'!$C$2:$C$15</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xVal>
          <c:yVal>
            <c:numRef>
              <c:f>'Chart Data'!$D$2:$D$15</c:f>
              <c:numCache>
                <c:formatCode>0.0</c:formatCode>
                <c:ptCount val="14"/>
                <c:pt idx="0">
                  <c:v>34</c:v>
                </c:pt>
                <c:pt idx="1">
                  <c:v>33</c:v>
                </c:pt>
                <c:pt idx="2">
                  <c:v>35</c:v>
                </c:pt>
                <c:pt idx="3">
                  <c:v>50</c:v>
                </c:pt>
                <c:pt idx="4">
                  <c:v>78</c:v>
                </c:pt>
                <c:pt idx="5">
                  <c:v>120</c:v>
                </c:pt>
                <c:pt idx="6">
                  <c:v>160</c:v>
                </c:pt>
                <c:pt idx="7">
                  <c:v>165</c:v>
                </c:pt>
                <c:pt idx="8">
                  <c:v>110</c:v>
                </c:pt>
                <c:pt idx="9">
                  <c:v>78</c:v>
                </c:pt>
                <c:pt idx="10">
                  <c:v>61</c:v>
                </c:pt>
                <c:pt idx="11">
                  <c:v>52</c:v>
                </c:pt>
                <c:pt idx="12">
                  <c:v>48</c:v>
                </c:pt>
                <c:pt idx="13">
                  <c:v>43</c:v>
                </c:pt>
              </c:numCache>
            </c:numRef>
          </c:yVal>
          <c:smooth val="0"/>
        </c:ser>
        <c:ser>
          <c:idx val="2"/>
          <c:order val="2"/>
          <c:tx>
            <c:v>Persistência</c:v>
          </c:tx>
          <c:spPr>
            <a:solidFill xmlns:a="http://schemas.openxmlformats.org/drawingml/2006/main">
              <a:srgbClr val="FFAD62"/>
            </a:solidFill>
            <a:ln xmlns:a="http://schemas.openxmlformats.org/drawingml/2006/main" w="23813">
              <a:solidFill>
                <a:srgbClr val="FFAD62"/>
              </a:solidFill>
              <a:prstDash val="dash"/>
            </a:ln>
          </c:spPr>
          <c:marker>
            <c:symbol val="none"/>
            <c:size val="2"/>
          </c:marker>
          <c:xVal>
            <c:numRef>
              <c:f>'Chart Data'!$E$2:$E$15</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xVal>
          <c:yVal>
            <c:numRef>
              <c:f>'Chart Data'!$F$2:$F$15</c:f>
              <c:numCache>
                <c:formatCode>0.0</c:formatCode>
                <c:ptCount val="14"/>
                <c:pt idx="0">
                  <c:v>37</c:v>
                </c:pt>
                <c:pt idx="1">
                  <c:v>35</c:v>
                </c:pt>
                <c:pt idx="2">
                  <c:v>34</c:v>
                </c:pt>
                <c:pt idx="3">
                  <c:v>32</c:v>
                </c:pt>
                <c:pt idx="4">
                  <c:v>45</c:v>
                </c:pt>
                <c:pt idx="5">
                  <c:v>80</c:v>
                </c:pt>
                <c:pt idx="6">
                  <c:v>140</c:v>
                </c:pt>
                <c:pt idx="7">
                  <c:v>200</c:v>
                </c:pt>
                <c:pt idx="8">
                  <c:v>150</c:v>
                </c:pt>
                <c:pt idx="9">
                  <c:v>90</c:v>
                </c:pt>
                <c:pt idx="10">
                  <c:v>70</c:v>
                </c:pt>
                <c:pt idx="11">
                  <c:v>55</c:v>
                </c:pt>
                <c:pt idx="12">
                  <c:v>50</c:v>
                </c:pt>
                <c:pt idx="13">
                  <c:v>45</c:v>
                </c:pt>
              </c:numCache>
            </c:numRef>
          </c:yVal>
          <c:smooth val="0"/>
        </c:ser>
        <c:dLbls>
          <c:txPr>
            <a:bodyPr xmlns:a="http://schemas.openxmlformats.org/drawingml/2006/main" anchorCtr="1"/>
            <a:lstStyle xmlns:a="http://schemas.openxmlformats.org/drawingml/2006/main"/>
            <a:p xmlns:a="http://schemas.openxmlformats.org/drawingml/2006/main">
              <a:pPr>
                <a:defRPr>
                  <a:latin typeface="JetBrains Mono"/>
                  <a:ea typeface="JetBrains Mono"/>
                  <a:cs typeface="JetBrains Mono"/>
                </a:defRPr>
              </a:pPr>
            </a:p>
          </c:txPr>
          <c:showLegendKey val="0"/>
          <c:showVal val="0"/>
          <c:showCatName val="0"/>
          <c:showSerName val="0"/>
          <c:showPercent val="0"/>
          <c:showBubbleSize val="0"/>
          <c:showLeaderLines val="0"/>
        </c:dLbls>
        <c:axId val="48650112"/>
        <c:axId val="48672768"/>
      </c:scatterChart>
      <c:valAx>
        <c:axId val="48672768"/>
        <c:scaling>
          <c:orientation val="minMax"/>
          <c:max val="220"/>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Q (m³/s)</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majorUnit val="50"/>
      </c:valAx>
      <c:valAx>
        <c:axId val="48650112"/>
        <c:scaling>
          <c:orientation val="minMax"/>
          <c:max val="14"/>
          <c:min val="1"/>
        </c:scaling>
        <c:delete val="0"/>
        <c:axPos val="b"/>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Dia</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majorUnit val="2"/>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Treino</c:v>
          </c:tx>
          <c:spPr>
            <a:solidFill xmlns:a="http://schemas.openxmlformats.org/drawingml/2006/main">
              <a:srgbClr val="83DFFF"/>
            </a:solidFill>
          </c:spPr>
          <c:cat>
            <c:strRef>
              <c:f>'Chart Data'!$A$2:$A$3</c:f>
              <c:strCache>
                <c:ptCount val="2"/>
                <c:pt idx="0">
                  <c:v>Modelo A</c:v>
                </c:pt>
                <c:pt idx="1">
                  <c:v>Modelo B</c:v>
                </c:pt>
              </c:strCache>
            </c:strRef>
          </c:cat>
          <c:val>
            <c:numRef>
              <c:f>'Chart Data'!$B$2:$B$3</c:f>
              <c:numCache>
                <c:formatCode>0.00</c:formatCode>
                <c:ptCount val="2"/>
                <c:pt idx="0">
                  <c:v>0.001</c:v>
                </c:pt>
                <c:pt idx="1">
                  <c:v>0.08</c:v>
                </c:pt>
              </c:numCache>
            </c:numRef>
          </c:val>
        </c:ser>
        <c:ser>
          <c:idx val="1"/>
          <c:order val="1"/>
          <c:tx>
            <c:v>Validação</c:v>
          </c:tx>
          <c:spPr>
            <a:solidFill xmlns:a="http://schemas.openxmlformats.org/drawingml/2006/main">
              <a:srgbClr val="FFAD62"/>
            </a:solidFill>
          </c:spPr>
          <c:cat>
            <c:strRef>
              <c:f>'Chart Data'!$C$2:$C$3</c:f>
              <c:strCache>
                <c:ptCount val="2"/>
                <c:pt idx="0">
                  <c:v>Modelo A</c:v>
                </c:pt>
                <c:pt idx="1">
                  <c:v>Modelo B</c:v>
                </c:pt>
              </c:strCache>
            </c:strRef>
          </c:cat>
          <c:val>
            <c:numRef>
              <c:f>'Chart Data'!$D$2:$D$3</c:f>
              <c:numCache>
                <c:formatCode>0.00</c:formatCode>
                <c:ptCount val="2"/>
                <c:pt idx="0">
                  <c:v>0.3</c:v>
                </c:pt>
                <c:pt idx="1">
                  <c:v>0.1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JetBrains Mono"/>
                  <a:ea typeface="JetBrains Mono"/>
                  <a:cs typeface="JetBrains Mono"/>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72768"/>
      </c:catAx>
      <c:valAx>
        <c:axId val="48672768"/>
        <c:scaling>
          <c:orientation val="minMax"/>
          <c:max val="0.35"/>
          <c:min val="0"/>
        </c:scaling>
        <c:delete val="0"/>
        <c:axPos val="l"/>
        <c:majorGridlines>
          <c:spPr>
            <a:ln xmlns:a="http://schemas.openxmlformats.org/drawingml/2006/main" w="6191">
              <a:solidFill>
                <a:srgbClr val="263A53"/>
              </a:solidFill>
            </a:ln>
          </c:spPr>
        </c:majorGridlines>
        <c:title>
          <c:tx>
            <c:rich>
              <a:bodyPr xmlns:a="http://schemas.openxmlformats.org/drawingml/2006/main"/>
              <a:lstStyle xmlns:a="http://schemas.openxmlformats.org/drawingml/2006/main"/>
              <a:p xmlns:a="http://schemas.openxmlformats.org/drawingml/2006/main">
                <a:r>
                  <a:rPr sz="1350">
                    <a:solidFill>
                      <a:srgbClr val="FFFFFF"/>
                    </a:solidFill>
                    <a:latin typeface="JetBrains Mono"/>
                    <a:ea typeface="JetBrains Mono"/>
                    <a:cs typeface="JetBrains Mono"/>
                  </a:rPr>
                  <a:t>MSE</a:t>
                </a:r>
              </a:p>
            </c:rich>
          </c:tx>
          <c:overlay val="0"/>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title>
        <c:numFmt formatCode="0.00"/>
        <c:majorTickMark val="none"/>
        <c:minorTickMark val="none"/>
        <c:tickLblPos val="low"/>
        <c:spPr>
          <a:ln xmlns:a="http://schemas.openxmlformats.org/drawingml/2006/main" w="9525">
            <a:solidFill>
              <a:srgbClr val="91A4BD"/>
            </a:solidFill>
          </a:ln>
        </c:spPr>
        <c:txPr>
          <a:bodyPr xmlns:a="http://schemas.openxmlformats.org/drawingml/2006/main" anchorCtr="1"/>
          <a:lstStyle xmlns:a="http://schemas.openxmlformats.org/drawingml/2006/main"/>
          <a:p xmlns:a="http://schemas.openxmlformats.org/drawingml/2006/main">
            <a:pPr>
              <a:defRPr sz="1350">
                <a:solidFill>
                  <a:srgbClr val="FFFFFF"/>
                </a:solidFill>
                <a:latin typeface="JetBrains Mono"/>
                <a:ea typeface="JetBrains Mono"/>
                <a:cs typeface="JetBrains Mono"/>
              </a:defRPr>
            </a:pPr>
          </a:p>
        </c:txPr>
        <c:crossAx val="48650112"/>
        <c:crossBetween val="between"/>
        <c:majorUnit val="0.05"/>
      </c:valAx>
      <c:spPr>
        <a:solidFill xmlns:a="http://schemas.openxmlformats.org/drawingml/2006/main">
          <a:srgbClr val="000F2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JetBrains Mono"/>
              <a:ea typeface="JetBrains Mono"/>
              <a:cs typeface="JetBrains Mono"/>
            </a:defRPr>
          </a:pPr>
        </a:p>
      </c:txPr>
    </c:legend>
    <c:plotVisOnly val="1"/>
  </c:chart>
  <c:spPr>
    <a:solidFill xmlns:a="http://schemas.openxmlformats.org/drawingml/2006/main">
      <a:srgbClr val="000F2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A7BCC281-5B1A-E42F-FA21-9AFB05AED8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0248E9EC-C16F-B589-A5AE-0EDC8FA5F087}"/>
              </a:ext>
            </a:extLst>
          </p:cNvPr>
          <p:cNvSpPr>
            <a:spLocks xmlns:a="http://schemas.openxmlformats.org/drawingml/2006/main" noGrp="1"/>
          </p:cNvSpPr>
          <p:nvPr>
            <p:ph type="ctrTitle" idx="0"/>
          </p:nvPr>
        </p:nvSpPr>
        <p:spPr>
          <a:xfrm xmlns:a="http://schemas.openxmlformats.org/drawingml/2006/main">
            <a:off x="453700" y="1803493"/>
            <a:ext cx="6153926" cy="678363"/>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000" b="1" i="0">
                <a:solidFill>
                  <a:srgbClr val="FFFFFF"/>
                </a:solidFill>
                <a:latin typeface="JetBrains Mono ExtraBold"/>
                <a:ea typeface="JetBrains Mono ExtraBold"/>
                <a:cs typeface="JetBrains Mono ExtraBold"/>
              </a:defRPr>
            </a:pPr>
            <a:r>
              <a:rPr sz="4000" b="1" i="0">
                <a:solidFill>
                  <a:srgbClr val="FFFFFF"/>
                </a:solidFill>
                <a:latin typeface="JetBrains Mono ExtraBold"/>
                <a:ea typeface="JetBrains Mono ExtraBold"/>
                <a:cs typeface="JetBrains Mono ExtraBold"/>
              </a:rPr>
              <a:t>Hydro-UAI Course</a:t>
            </a:r>
          </a:p>
        </p:txBody>
      </p:sp>
      <p:sp>
        <p:nvSpPr>
          <p:cNvPr id="6" name="Título 1">
            <a:extLst xmlns:a="http://schemas.openxmlformats.org/drawingml/2006/main">
              <a:ext uri="{FF2B5EF4-FFF2-40B4-BE49-F238E27FC236}">
                <a16:creationId xmlns:a16="http://schemas.microsoft.com/office/drawing/2014/main" id="{5CEC0323-6869-348B-85A8-CB235E17DE29}"/>
              </a:ext>
            </a:extLst>
          </p:cNvPr>
          <p:cNvSpPr>
            <a:spLocks xmlns:a="http://schemas.openxmlformats.org/drawingml/2006/main" noGrp="1"/>
          </p:cNvSpPr>
          <p:nvPr/>
        </p:nvSpPr>
        <p:spPr>
          <a:xfrm xmlns:a="http://schemas.openxmlformats.org/drawingml/2006/main">
            <a:off x="453676" y="2714625"/>
            <a:ext cx="6153912" cy="8572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100" b="1" i="1">
                <a:solidFill>
                  <a:srgbClr val="FFFFFF"/>
                </a:solidFill>
                <a:latin typeface="JetBrains Mono"/>
                <a:ea typeface="JetBrains Mono"/>
                <a:cs typeface="JetBrains Mono"/>
              </a:defRPr>
            </a:pPr>
            <a:r>
              <a:rPr sz="2100" b="1" i="1">
                <a:solidFill>
                  <a:srgbClr val="FFFFFF"/>
                </a:solidFill>
                <a:latin typeface="JetBrains Mono"/>
                <a:ea typeface="JetBrains Mono"/>
                <a:cs typeface="JetBrains Mono"/>
              </a:rPr>
              <a:t>Redes neurais artificiais</a:t>
            </a:r>
          </a:p>
          <a:p xmlns:a="http://schemas.openxmlformats.org/drawingml/2006/main">
            <a:pPr algn="l">
              <a:buNone/>
              <a:defRPr sz="2100" b="1" i="1">
                <a:solidFill>
                  <a:srgbClr val="FFFFFF"/>
                </a:solidFill>
                <a:latin typeface="JetBrains Mono"/>
                <a:ea typeface="JetBrains Mono"/>
                <a:cs typeface="JetBrains Mono"/>
              </a:defRPr>
            </a:pPr>
            <a:r>
              <a:rPr sz="2100" b="1" i="1">
                <a:solidFill>
                  <a:srgbClr val="FFFFFF"/>
                </a:solidFill>
                <a:latin typeface="JetBrains Mono"/>
                <a:ea typeface="JetBrains Mono"/>
                <a:cs typeface="JetBrains Mono"/>
              </a:rPr>
              <a:t>Fundamentos básicos</a:t>
            </a:r>
          </a:p>
        </p:txBody>
      </p:sp>
      <p:pic>
        <p:nvPicPr>
          <p:cNvPr id="24" name="Imagem 7"/>
          <p:cNvPicPr>
            <a:picLocks xmlns:a="http://schemas.openxmlformats.org/drawingml/2006/main" noChangeAspect="1"/>
          </p:cNvPicPr>
          <p:nvPr/>
        </p:nvPicPr>
        <p:blipFill>
          <a:blip xmlns:r="http://schemas.openxmlformats.org/officeDocument/2006/relationships" xmlns:a="http://schemas.openxmlformats.org/drawingml/2006/main" r:embed="R2ecd1c034e864f66"/>
          <a:stretch xmlns:a="http://schemas.openxmlformats.org/drawingml/2006/main">
            <a:fillRect l="0" t="0" r="0" b="0"/>
          </a:stretch>
        </p:blipFill>
        <p:spPr>
          <a:xfrm xmlns:a="http://schemas.openxmlformats.org/drawingml/2006/main">
            <a:off x="7048500" y="0"/>
            <a:ext cx="5143500" cy="6858000"/>
          </a:xfrm>
          <a:prstGeom xmlns:a="http://schemas.openxmlformats.org/drawingml/2006/main" prst="rect">
            <a:avLst/>
          </a:prstGeom>
        </p:spPr>
      </p:pic>
      <p:pic>
        <p:nvPicPr>
          <p:cNvPr id="25" name="Imagem 13"/>
          <p:cNvPicPr>
            <a:picLocks xmlns:a="http://schemas.openxmlformats.org/drawingml/2006/main" noChangeAspect="1"/>
          </p:cNvPicPr>
          <p:nvPr/>
        </p:nvPicPr>
        <p:blipFill>
          <a:blip xmlns:r="http://schemas.openxmlformats.org/officeDocument/2006/relationships" xmlns:a="http://schemas.openxmlformats.org/drawingml/2006/main" r:embed="Rc76b8b1469c641a7"/>
          <a:srcRect xmlns:a="http://schemas.openxmlformats.org/drawingml/2006/main" l="3570" t="0" r="8084" b="18195"/>
          <a:stretch xmlns:a="http://schemas.openxmlformats.org/drawingml/2006/main">
            <a:fillRect l="0" t="0" r="0" b="0"/>
          </a:stretch>
        </p:blipFill>
        <p:spPr>
          <a:xfrm xmlns:a="http://schemas.openxmlformats.org/drawingml/2006/main">
            <a:off x="447287" y="5924579"/>
            <a:ext cx="592780" cy="523392"/>
          </a:xfrm>
          <a:prstGeom xmlns:a="http://schemas.openxmlformats.org/drawingml/2006/main" prst="rect">
            <a:avLst/>
          </a:prstGeom>
        </p:spPr>
      </p:pic>
      <p:pic>
        <p:nvPicPr>
          <p:cNvPr id="26" name="Imagem 15"/>
          <p:cNvPicPr>
            <a:picLocks xmlns:a="http://schemas.openxmlformats.org/drawingml/2006/main" noChangeAspect="1"/>
          </p:cNvPicPr>
          <p:nvPr/>
        </p:nvPicPr>
        <p:blipFill>
          <a:blip xmlns:r="http://schemas.openxmlformats.org/officeDocument/2006/relationships" xmlns:a="http://schemas.openxmlformats.org/drawingml/2006/main" r:embed="Raac0bf7d4f794759"/>
          <a:srcRect xmlns:a="http://schemas.openxmlformats.org/drawingml/2006/main" l="1924" t="7917" r="1239" b="5183"/>
          <a:stretch xmlns:a="http://schemas.openxmlformats.org/drawingml/2006/main">
            <a:fillRect l="0" t="0" r="0" b="0"/>
          </a:stretch>
        </p:blipFill>
        <p:spPr>
          <a:xfrm xmlns:a="http://schemas.openxmlformats.org/drawingml/2006/main">
            <a:off x="453700" y="410029"/>
            <a:ext cx="1080460" cy="374888"/>
          </a:xfrm>
          <a:prstGeom xmlns:a="http://schemas.openxmlformats.org/drawingml/2006/main" prst="rect">
            <a:avLst/>
          </a:prstGeom>
        </p:spPr>
      </p:pic>
      <p:sp>
        <p:nvSpPr>
          <p:cNvPr id="4" name="Conector reto 3">
            <a:extLst xmlns:a="http://schemas.openxmlformats.org/drawingml/2006/main">
              <a:ext uri="{FF2B5EF4-FFF2-40B4-BE49-F238E27FC236}">
                <a16:creationId xmlns:a16="http://schemas.microsoft.com/office/drawing/2014/main" id="{5DBD11E8-D536-479E-91D0-36B7E007A4B0}"/>
              </a:ext>
            </a:extLst>
          </p:cNvPr>
          <p:cNvSpPr>
            <a:spLocks xmlns:a="http://schemas.openxmlformats.org/drawingml/2006/main" noGrp="1"/>
          </p:cNvSpPr>
          <p:nvPr/>
        </p:nvSpPr>
        <p:spPr>
          <a:xfrm xmlns:a="http://schemas.openxmlformats.org/drawingml/2006/main">
            <a:off x="7048500" y="0"/>
            <a:ext cx="0" cy="685800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Título 1">
            <a:extLst xmlns:a="http://schemas.openxmlformats.org/drawingml/2006/main">
              <a:ext uri="{FF2B5EF4-FFF2-40B4-BE49-F238E27FC236}">
                <a16:creationId xmlns:a16="http://schemas.microsoft.com/office/drawing/2014/main" id="{F3E776DE-6AF7-7DB4-C3A0-AEE51174A755}"/>
              </a:ext>
            </a:extLst>
          </p:cNvPr>
          <p:cNvSpPr>
            <a:spLocks xmlns:a="http://schemas.openxmlformats.org/drawingml/2006/main" noGrp="1"/>
          </p:cNvSpPr>
          <p:nvPr/>
        </p:nvSpPr>
        <p:spPr>
          <a:xfrm xmlns:a="http://schemas.openxmlformats.org/drawingml/2006/main">
            <a:off x="453676" y="4429125"/>
            <a:ext cx="6153912" cy="138112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r">
              <a:lnSpc>
                <a:spcPct val="150000"/>
              </a:lnSpc>
              <a:buNone/>
              <a:defRPr sz="1300" b="0" i="0">
                <a:solidFill>
                  <a:srgbClr val="FFFFFF"/>
                </a:solidFill>
                <a:latin typeface="JetBrains Mono"/>
                <a:ea typeface="JetBrains Mono"/>
                <a:cs typeface="JetBrains Mono"/>
              </a:defRPr>
            </a:pPr>
            <a:r>
              <a:rPr sz="1300" b="0" i="0">
                <a:solidFill>
                  <a:srgbClr val="FFFFFF"/>
                </a:solidFill>
                <a:latin typeface="JetBrains Mono"/>
                <a:ea typeface="JetBrains Mono"/>
                <a:cs typeface="JetBrains Mono"/>
              </a:rPr>
              <a:t>Prof. André Rodrigues</a:t>
            </a:r>
          </a:p>
          <a:p xmlns:a="http://schemas.openxmlformats.org/drawingml/2006/main">
            <a:pPr algn="r">
              <a:lnSpc>
                <a:spcPct val="150000"/>
              </a:lnSpc>
              <a:buNone/>
              <a:defRPr sz="1300" b="0" i="0">
                <a:solidFill>
                  <a:srgbClr val="FFFFFF"/>
                </a:solidFill>
                <a:latin typeface="JetBrains Mono"/>
                <a:ea typeface="JetBrains Mono"/>
                <a:cs typeface="JetBrains Mono"/>
              </a:defRPr>
            </a:pPr>
            <a:r>
              <a:rPr sz="1300" b="0" i="0">
                <a:solidFill>
                  <a:srgbClr val="FFFFFF"/>
                </a:solidFill>
                <a:latin typeface="JetBrains Mono"/>
                <a:ea typeface="JetBrains Mono"/>
                <a:cs typeface="JetBrains Mono"/>
              </a:rPr>
              <a:t>Prof. Bruno Brentan</a:t>
            </a:r>
          </a:p>
          <a:p xmlns:a="http://schemas.openxmlformats.org/drawingml/2006/main">
            <a:pPr algn="r">
              <a:lnSpc>
                <a:spcPct val="150000"/>
              </a:lnSpc>
              <a:buNone/>
              <a:defRPr sz="1300" b="0" i="0">
                <a:solidFill>
                  <a:srgbClr val="FFFFFF"/>
                </a:solidFill>
                <a:latin typeface="JetBrains Mono"/>
                <a:ea typeface="JetBrains Mono"/>
                <a:cs typeface="JetBrains Mono"/>
              </a:defRPr>
            </a:pPr>
            <a:r>
              <a:rPr sz="1300" b="0" i="0">
                <a:solidFill>
                  <a:srgbClr val="FFFFFF"/>
                </a:solidFill>
                <a:latin typeface="JetBrains Mono"/>
                <a:ea typeface="JetBrains Mono"/>
                <a:cs typeface="JetBrains Mono"/>
              </a:rPr>
              <a:t>Prof. Rodrigo Perdigão</a:t>
            </a:r>
          </a:p>
        </p:txBody>
      </p:sp>
    </p:spTree>
    <p:extLst>
      <p:ext uri="{BB962C8B-B14F-4D97-AF65-F5344CB8AC3E}">
        <p14:creationId xmlns:p14="http://schemas.microsoft.com/office/powerpoint/2010/main" val="304852247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7" name="Imagem 13"/>
          <p:cNvPicPr>
            <a:picLocks xmlns:a="http://schemas.openxmlformats.org/drawingml/2006/main" noChangeAspect="1"/>
          </p:cNvPicPr>
          <p:nvPr/>
        </p:nvPicPr>
        <p:blipFill>
          <a:blip xmlns:r="http://schemas.openxmlformats.org/officeDocument/2006/relationships" xmlns:a="http://schemas.openxmlformats.org/drawingml/2006/main" r:embed="R9755c9cf0f794a5a"/>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Objetivos e percurso da aula</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number-0">
            <a:extLst xmlns:a="http://schemas.openxmlformats.org/drawingml/2006/main">
              <a:ext uri="{FF2B5EF4-FFF2-40B4-BE49-F238E27FC236}">
                <a16:creationId xmlns:a16="http://schemas.microsoft.com/office/drawing/2014/main" id="{4269DC44-C6BE-4CB3-9E90-E13C08C16692}"/>
              </a:ext>
            </a:extLst>
          </p:cNvPr>
          <p:cNvSpPr>
            <a:spLocks xmlns:a="http://schemas.openxmlformats.org/drawingml/2006/main" noGrp="1"/>
          </p:cNvSpPr>
          <p:nvPr/>
        </p:nvSpPr>
        <p:spPr>
          <a:xfrm xmlns:a="http://schemas.openxmlformats.org/drawingml/2006/main">
            <a:off x="457200" y="244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83DFFF"/>
                </a:solidFill>
                <a:latin typeface="JetBrains Mono"/>
                <a:ea typeface="JetBrains Mono"/>
                <a:cs typeface="JetBrains Mono"/>
              </a:defRPr>
            </a:pPr>
            <a:r>
              <a:rPr sz="2250" b="1" i="0">
                <a:solidFill>
                  <a:srgbClr val="83DFFF"/>
                </a:solidFill>
                <a:latin typeface="JetBrains Mono"/>
                <a:ea typeface="JetBrains Mono"/>
                <a:cs typeface="JetBrains Mono"/>
              </a:rPr>
              <a:t>01</a:t>
            </a:r>
          </a:p>
        </p:txBody>
      </p:sp>
      <p:sp>
        <p:nvSpPr>
          <p:cNvPr id="53" name="section-0">
            <a:extLst xmlns:a="http://schemas.openxmlformats.org/drawingml/2006/main">
              <a:ext uri="{FF2B5EF4-FFF2-40B4-BE49-F238E27FC236}">
                <a16:creationId xmlns:a16="http://schemas.microsoft.com/office/drawing/2014/main" id="{A466E9A3-7B22-4EF2-B535-06B90CD7A1AB}"/>
              </a:ext>
            </a:extLst>
          </p:cNvPr>
          <p:cNvSpPr>
            <a:spLocks xmlns:a="http://schemas.openxmlformats.org/drawingml/2006/main" noGrp="1"/>
          </p:cNvSpPr>
          <p:nvPr/>
        </p:nvSpPr>
        <p:spPr>
          <a:xfrm xmlns:a="http://schemas.openxmlformats.org/drawingml/2006/main">
            <a:off x="1276350" y="244792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83DFFF"/>
                </a:solidFill>
                <a:latin typeface="JetBrains Mono"/>
                <a:ea typeface="JetBrains Mono"/>
                <a:cs typeface="JetBrains Mono"/>
              </a:defRPr>
            </a:pPr>
            <a:r>
              <a:rPr sz="1800" b="1" i="0">
                <a:solidFill>
                  <a:srgbClr val="83DFFF"/>
                </a:solidFill>
                <a:latin typeface="JetBrains Mono"/>
                <a:ea typeface="JetBrains Mono"/>
                <a:cs typeface="JetBrains Mono"/>
              </a:rPr>
              <a:t>Representação</a:t>
            </a:r>
          </a:p>
        </p:txBody>
      </p:sp>
      <p:sp>
        <p:nvSpPr>
          <p:cNvPr id="54" name="objective-0">
            <a:extLst xmlns:a="http://schemas.openxmlformats.org/drawingml/2006/main">
              <a:ext uri="{FF2B5EF4-FFF2-40B4-BE49-F238E27FC236}">
                <a16:creationId xmlns:a16="http://schemas.microsoft.com/office/drawing/2014/main" id="{9156276A-BF6A-48B5-A5B2-93F5327282D9}"/>
              </a:ext>
            </a:extLst>
          </p:cNvPr>
          <p:cNvSpPr>
            <a:spLocks xmlns:a="http://schemas.openxmlformats.org/drawingml/2006/main" noGrp="1"/>
          </p:cNvSpPr>
          <p:nvPr/>
        </p:nvSpPr>
        <p:spPr>
          <a:xfrm xmlns:a="http://schemas.openxmlformats.org/drawingml/2006/main">
            <a:off x="4819650" y="2476500"/>
            <a:ext cx="6915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Como o neurônio combina as entradas.</a:t>
            </a:r>
          </a:p>
        </p:txBody>
      </p:sp>
      <p:sp>
        <p:nvSpPr>
          <p:cNvPr id="55" name="number-1">
            <a:extLst xmlns:a="http://schemas.openxmlformats.org/drawingml/2006/main">
              <a:ext uri="{FF2B5EF4-FFF2-40B4-BE49-F238E27FC236}">
                <a16:creationId xmlns:a16="http://schemas.microsoft.com/office/drawing/2014/main" id="{F5C198BB-DCAE-4E68-BDA0-1E7D8AF6BFD1}"/>
              </a:ext>
            </a:extLst>
          </p:cNvPr>
          <p:cNvSpPr>
            <a:spLocks xmlns:a="http://schemas.openxmlformats.org/drawingml/2006/main" noGrp="1"/>
          </p:cNvSpPr>
          <p:nvPr/>
        </p:nvSpPr>
        <p:spPr>
          <a:xfrm xmlns:a="http://schemas.openxmlformats.org/drawingml/2006/main">
            <a:off x="457200" y="3238500"/>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83DFFF"/>
                </a:solidFill>
                <a:latin typeface="JetBrains Mono"/>
                <a:ea typeface="JetBrains Mono"/>
                <a:cs typeface="JetBrains Mono"/>
              </a:defRPr>
            </a:pPr>
            <a:r>
              <a:rPr sz="2250" b="1" i="0">
                <a:solidFill>
                  <a:srgbClr val="83DFFF"/>
                </a:solidFill>
                <a:latin typeface="JetBrains Mono"/>
                <a:ea typeface="JetBrains Mono"/>
                <a:cs typeface="JetBrains Mono"/>
              </a:rPr>
              <a:t>02</a:t>
            </a:r>
          </a:p>
        </p:txBody>
      </p:sp>
      <p:sp>
        <p:nvSpPr>
          <p:cNvPr id="56" name="section-1">
            <a:extLst xmlns:a="http://schemas.openxmlformats.org/drawingml/2006/main">
              <a:ext uri="{FF2B5EF4-FFF2-40B4-BE49-F238E27FC236}">
                <a16:creationId xmlns:a16="http://schemas.microsoft.com/office/drawing/2014/main" id="{5928A19B-017A-4EA8-95BE-07AE7076C8B5}"/>
              </a:ext>
            </a:extLst>
          </p:cNvPr>
          <p:cNvSpPr>
            <a:spLocks xmlns:a="http://schemas.openxmlformats.org/drawingml/2006/main" noGrp="1"/>
          </p:cNvSpPr>
          <p:nvPr/>
        </p:nvSpPr>
        <p:spPr>
          <a:xfrm xmlns:a="http://schemas.openxmlformats.org/drawingml/2006/main">
            <a:off x="1276350" y="3238500"/>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83DFFF"/>
                </a:solidFill>
                <a:latin typeface="JetBrains Mono"/>
                <a:ea typeface="JetBrains Mono"/>
                <a:cs typeface="JetBrains Mono"/>
              </a:defRPr>
            </a:pPr>
            <a:r>
              <a:rPr sz="1800" b="1" i="0">
                <a:solidFill>
                  <a:srgbClr val="83DFFF"/>
                </a:solidFill>
                <a:latin typeface="JetBrains Mono"/>
                <a:ea typeface="JetBrains Mono"/>
                <a:cs typeface="JetBrains Mono"/>
              </a:rPr>
              <a:t>Não linearidade</a:t>
            </a:r>
          </a:p>
        </p:txBody>
      </p:sp>
      <p:sp>
        <p:nvSpPr>
          <p:cNvPr id="57" name="objective-1">
            <a:extLst xmlns:a="http://schemas.openxmlformats.org/drawingml/2006/main">
              <a:ext uri="{FF2B5EF4-FFF2-40B4-BE49-F238E27FC236}">
                <a16:creationId xmlns:a16="http://schemas.microsoft.com/office/drawing/2014/main" id="{1E1131E6-B1D3-4ECA-B733-1256515DC07C}"/>
              </a:ext>
            </a:extLst>
          </p:cNvPr>
          <p:cNvSpPr>
            <a:spLocks xmlns:a="http://schemas.openxmlformats.org/drawingml/2006/main" noGrp="1"/>
          </p:cNvSpPr>
          <p:nvPr/>
        </p:nvSpPr>
        <p:spPr>
          <a:xfrm xmlns:a="http://schemas.openxmlformats.org/drawingml/2006/main">
            <a:off x="4819650" y="3267075"/>
            <a:ext cx="6915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Como as ativações ampliam o modelo.</a:t>
            </a:r>
          </a:p>
        </p:txBody>
      </p:sp>
      <p:sp>
        <p:nvSpPr>
          <p:cNvPr id="58" name="number-2">
            <a:extLst xmlns:a="http://schemas.openxmlformats.org/drawingml/2006/main">
              <a:ext uri="{FF2B5EF4-FFF2-40B4-BE49-F238E27FC236}">
                <a16:creationId xmlns:a16="http://schemas.microsoft.com/office/drawing/2014/main" id="{B6FA6FB6-AC43-44F9-BEE3-73D2AB4CE611}"/>
              </a:ext>
            </a:extLst>
          </p:cNvPr>
          <p:cNvSpPr>
            <a:spLocks xmlns:a="http://schemas.openxmlformats.org/drawingml/2006/main" noGrp="1"/>
          </p:cNvSpPr>
          <p:nvPr/>
        </p:nvSpPr>
        <p:spPr>
          <a:xfrm xmlns:a="http://schemas.openxmlformats.org/drawingml/2006/main">
            <a:off x="457200" y="402907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83DFFF"/>
                </a:solidFill>
                <a:latin typeface="JetBrains Mono"/>
                <a:ea typeface="JetBrains Mono"/>
                <a:cs typeface="JetBrains Mono"/>
              </a:defRPr>
            </a:pPr>
            <a:r>
              <a:rPr sz="2250" b="1" i="0">
                <a:solidFill>
                  <a:srgbClr val="83DFFF"/>
                </a:solidFill>
                <a:latin typeface="JetBrains Mono"/>
                <a:ea typeface="JetBrains Mono"/>
                <a:cs typeface="JetBrains Mono"/>
              </a:rPr>
              <a:t>03</a:t>
            </a:r>
          </a:p>
        </p:txBody>
      </p:sp>
      <p:sp>
        <p:nvSpPr>
          <p:cNvPr id="59" name="section-2">
            <a:extLst xmlns:a="http://schemas.openxmlformats.org/drawingml/2006/main">
              <a:ext uri="{FF2B5EF4-FFF2-40B4-BE49-F238E27FC236}">
                <a16:creationId xmlns:a16="http://schemas.microsoft.com/office/drawing/2014/main" id="{716EBEC9-0DAD-4A6F-B5E0-75B2671134B7}"/>
              </a:ext>
            </a:extLst>
          </p:cNvPr>
          <p:cNvSpPr>
            <a:spLocks xmlns:a="http://schemas.openxmlformats.org/drawingml/2006/main" noGrp="1"/>
          </p:cNvSpPr>
          <p:nvPr/>
        </p:nvSpPr>
        <p:spPr>
          <a:xfrm xmlns:a="http://schemas.openxmlformats.org/drawingml/2006/main">
            <a:off x="1276350" y="402907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83DFFF"/>
                </a:solidFill>
                <a:latin typeface="JetBrains Mono"/>
                <a:ea typeface="JetBrains Mono"/>
                <a:cs typeface="JetBrains Mono"/>
              </a:defRPr>
            </a:pPr>
            <a:r>
              <a:rPr sz="1800" b="1" i="0">
                <a:solidFill>
                  <a:srgbClr val="83DFFF"/>
                </a:solidFill>
                <a:latin typeface="JetBrains Mono"/>
                <a:ea typeface="JetBrains Mono"/>
                <a:cs typeface="JetBrains Mono"/>
              </a:rPr>
              <a:t>Treinamento</a:t>
            </a:r>
          </a:p>
        </p:txBody>
      </p:sp>
      <p:sp>
        <p:nvSpPr>
          <p:cNvPr id="60" name="objective-2">
            <a:extLst xmlns:a="http://schemas.openxmlformats.org/drawingml/2006/main">
              <a:ext uri="{FF2B5EF4-FFF2-40B4-BE49-F238E27FC236}">
                <a16:creationId xmlns:a16="http://schemas.microsoft.com/office/drawing/2014/main" id="{076CB065-A435-4A2D-AF4F-5E385779DBC3}"/>
              </a:ext>
            </a:extLst>
          </p:cNvPr>
          <p:cNvSpPr>
            <a:spLocks xmlns:a="http://schemas.openxmlformats.org/drawingml/2006/main" noGrp="1"/>
          </p:cNvSpPr>
          <p:nvPr/>
        </p:nvSpPr>
        <p:spPr>
          <a:xfrm xmlns:a="http://schemas.openxmlformats.org/drawingml/2006/main">
            <a:off x="4819650" y="4057650"/>
            <a:ext cx="6915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Como o erro orienta o ajuste dos pesos.</a:t>
            </a:r>
          </a:p>
        </p:txBody>
      </p:sp>
      <p:sp>
        <p:nvSpPr>
          <p:cNvPr id="61" name="number-3">
            <a:extLst xmlns:a="http://schemas.openxmlformats.org/drawingml/2006/main">
              <a:ext uri="{FF2B5EF4-FFF2-40B4-BE49-F238E27FC236}">
                <a16:creationId xmlns:a16="http://schemas.microsoft.com/office/drawing/2014/main" id="{116242A3-7A44-428D-83B6-13DF1B4EBE79}"/>
              </a:ext>
            </a:extLst>
          </p:cNvPr>
          <p:cNvSpPr>
            <a:spLocks xmlns:a="http://schemas.openxmlformats.org/drawingml/2006/main" noGrp="1"/>
          </p:cNvSpPr>
          <p:nvPr/>
        </p:nvSpPr>
        <p:spPr>
          <a:xfrm xmlns:a="http://schemas.openxmlformats.org/drawingml/2006/main">
            <a:off x="457200" y="4819650"/>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83DFFF"/>
                </a:solidFill>
                <a:latin typeface="JetBrains Mono"/>
                <a:ea typeface="JetBrains Mono"/>
                <a:cs typeface="JetBrains Mono"/>
              </a:defRPr>
            </a:pPr>
            <a:r>
              <a:rPr sz="2250" b="1" i="0">
                <a:solidFill>
                  <a:srgbClr val="83DFFF"/>
                </a:solidFill>
                <a:latin typeface="JetBrains Mono"/>
                <a:ea typeface="JetBrains Mono"/>
                <a:cs typeface="JetBrains Mono"/>
              </a:rPr>
              <a:t>04</a:t>
            </a:r>
          </a:p>
        </p:txBody>
      </p:sp>
      <p:sp>
        <p:nvSpPr>
          <p:cNvPr id="62" name="section-3">
            <a:extLst xmlns:a="http://schemas.openxmlformats.org/drawingml/2006/main">
              <a:ext uri="{FF2B5EF4-FFF2-40B4-BE49-F238E27FC236}">
                <a16:creationId xmlns:a16="http://schemas.microsoft.com/office/drawing/2014/main" id="{BA7C00E9-ECAB-4085-A204-8613C5FB375C}"/>
              </a:ext>
            </a:extLst>
          </p:cNvPr>
          <p:cNvSpPr>
            <a:spLocks xmlns:a="http://schemas.openxmlformats.org/drawingml/2006/main" noGrp="1"/>
          </p:cNvSpPr>
          <p:nvPr/>
        </p:nvSpPr>
        <p:spPr>
          <a:xfrm xmlns:a="http://schemas.openxmlformats.org/drawingml/2006/main">
            <a:off x="1276350" y="4819650"/>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83DFFF"/>
                </a:solidFill>
                <a:latin typeface="JetBrains Mono"/>
                <a:ea typeface="JetBrains Mono"/>
                <a:cs typeface="JetBrains Mono"/>
              </a:defRPr>
            </a:pPr>
            <a:r>
              <a:rPr sz="1800" b="1" i="0">
                <a:solidFill>
                  <a:srgbClr val="83DFFF"/>
                </a:solidFill>
                <a:latin typeface="JetBrains Mono"/>
                <a:ea typeface="JetBrains Mono"/>
                <a:cs typeface="JetBrains Mono"/>
              </a:rPr>
              <a:t>Generalização</a:t>
            </a:r>
          </a:p>
        </p:txBody>
      </p:sp>
      <p:sp>
        <p:nvSpPr>
          <p:cNvPr id="63" name="objective-3">
            <a:extLst xmlns:a="http://schemas.openxmlformats.org/drawingml/2006/main">
              <a:ext uri="{FF2B5EF4-FFF2-40B4-BE49-F238E27FC236}">
                <a16:creationId xmlns:a16="http://schemas.microsoft.com/office/drawing/2014/main" id="{C2EB8C02-43E7-4F9D-ACAA-68BFA6B329F3}"/>
              </a:ext>
            </a:extLst>
          </p:cNvPr>
          <p:cNvSpPr>
            <a:spLocks xmlns:a="http://schemas.openxmlformats.org/drawingml/2006/main" noGrp="1"/>
          </p:cNvSpPr>
          <p:nvPr/>
        </p:nvSpPr>
        <p:spPr>
          <a:xfrm xmlns:a="http://schemas.openxmlformats.org/drawingml/2006/main">
            <a:off x="4819650" y="4848225"/>
            <a:ext cx="6915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Como avaliar a previsão em dados futuros.</a:t>
            </a:r>
          </a:p>
        </p:txBody>
      </p:sp>
    </p:spTree>
    <p:extLst>
      <p:ext uri="{BB962C8B-B14F-4D97-AF65-F5344CB8AC3E}">
        <p14:creationId xmlns:p14="http://schemas.microsoft.com/office/powerpoint/2010/main" val="33801002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3" name="Imagem 13"/>
          <p:cNvPicPr>
            <a:picLocks xmlns:a="http://schemas.openxmlformats.org/drawingml/2006/main" noChangeAspect="1"/>
          </p:cNvPicPr>
          <p:nvPr/>
        </p:nvPicPr>
        <p:blipFill>
          <a:blip xmlns:r="http://schemas.openxmlformats.org/officeDocument/2006/relationships" xmlns:a="http://schemas.openxmlformats.org/drawingml/2006/main" r:embed="R7a6066e4c5094e62"/>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Redes neurais na hidrologia</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e54f344165fa4488"/>
          <a:stretch xmlns:a="http://schemas.openxmlformats.org/drawingml/2006/main"/>
        </p:blipFill>
        <p:spPr>
          <a:xfrm xmlns:a="http://schemas.openxmlformats.org/drawingml/2006/main">
            <a:off x="690331" y="2352675"/>
            <a:ext cx="4867739" cy="3390900"/>
          </a:xfrm>
          <a:prstGeom xmlns:a="http://schemas.openxmlformats.org/drawingml/2006/main" prst="rect">
            <a:avLst/>
          </a:prstGeom>
        </p:spPr>
      </p:pic>
      <p:sp>
        <p:nvSpPr>
          <p:cNvPr id="53" name="application-0">
            <a:extLst xmlns:a="http://schemas.openxmlformats.org/drawingml/2006/main">
              <a:ext uri="{FF2B5EF4-FFF2-40B4-BE49-F238E27FC236}">
                <a16:creationId xmlns:a16="http://schemas.microsoft.com/office/drawing/2014/main" id="{00087C06-CC85-407A-9D07-C69E772155FF}"/>
              </a:ext>
            </a:extLst>
          </p:cNvPr>
          <p:cNvSpPr>
            <a:spLocks xmlns:a="http://schemas.openxmlformats.org/drawingml/2006/main" noGrp="1"/>
          </p:cNvSpPr>
          <p:nvPr/>
        </p:nvSpPr>
        <p:spPr>
          <a:xfrm xmlns:a="http://schemas.openxmlformats.org/drawingml/2006/main">
            <a:off x="6200775" y="2371725"/>
            <a:ext cx="55340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83DFFF"/>
                </a:solidFill>
                <a:latin typeface="JetBrains Mono"/>
                <a:ea typeface="JetBrains Mono"/>
                <a:cs typeface="JetBrains Mono"/>
              </a:defRPr>
            </a:pPr>
            <a:r>
              <a:rPr sz="1875" b="1" i="0">
                <a:solidFill>
                  <a:srgbClr val="83DFFF"/>
                </a:solidFill>
                <a:latin typeface="JetBrains Mono"/>
                <a:ea typeface="JetBrains Mono"/>
                <a:cs typeface="JetBrains Mono"/>
              </a:rPr>
              <a:t>Previsão de vazão</a:t>
            </a:r>
          </a:p>
        </p:txBody>
      </p:sp>
      <p:sp>
        <p:nvSpPr>
          <p:cNvPr id="54" name="application-desc-0">
            <a:extLst xmlns:a="http://schemas.openxmlformats.org/drawingml/2006/main">
              <a:ext uri="{FF2B5EF4-FFF2-40B4-BE49-F238E27FC236}">
                <a16:creationId xmlns:a16="http://schemas.microsoft.com/office/drawing/2014/main" id="{F985F5EE-60DC-4ACB-841D-A96BB983A9FB}"/>
              </a:ext>
            </a:extLst>
          </p:cNvPr>
          <p:cNvSpPr>
            <a:spLocks xmlns:a="http://schemas.openxmlformats.org/drawingml/2006/main" noGrp="1"/>
          </p:cNvSpPr>
          <p:nvPr/>
        </p:nvSpPr>
        <p:spPr>
          <a:xfrm xmlns:a="http://schemas.openxmlformats.org/drawingml/2006/main">
            <a:off x="6200775" y="2819400"/>
            <a:ext cx="55340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Estimar Q(t + 1) com informações disponíveis até t.</a:t>
            </a:r>
          </a:p>
        </p:txBody>
      </p:sp>
      <p:sp>
        <p:nvSpPr>
          <p:cNvPr id="55" name="application-1">
            <a:extLst xmlns:a="http://schemas.openxmlformats.org/drawingml/2006/main">
              <a:ext uri="{FF2B5EF4-FFF2-40B4-BE49-F238E27FC236}">
                <a16:creationId xmlns:a16="http://schemas.microsoft.com/office/drawing/2014/main" id="{4F1B14CC-BE91-4A56-BF1B-91102982AB6A}"/>
              </a:ext>
            </a:extLst>
          </p:cNvPr>
          <p:cNvSpPr>
            <a:spLocks xmlns:a="http://schemas.openxmlformats.org/drawingml/2006/main" noGrp="1"/>
          </p:cNvSpPr>
          <p:nvPr/>
        </p:nvSpPr>
        <p:spPr>
          <a:xfrm xmlns:a="http://schemas.openxmlformats.org/drawingml/2006/main">
            <a:off x="6200775" y="3467100"/>
            <a:ext cx="55340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83DFFF"/>
                </a:solidFill>
                <a:latin typeface="JetBrains Mono"/>
                <a:ea typeface="JetBrains Mono"/>
                <a:cs typeface="JetBrains Mono"/>
              </a:defRPr>
            </a:pPr>
            <a:r>
              <a:rPr sz="1875" b="1" i="0">
                <a:solidFill>
                  <a:srgbClr val="83DFFF"/>
                </a:solidFill>
                <a:latin typeface="JetBrains Mono"/>
                <a:ea typeface="JetBrains Mono"/>
                <a:cs typeface="JetBrains Mono"/>
              </a:rPr>
              <a:t>Detecção de anomalias</a:t>
            </a:r>
          </a:p>
        </p:txBody>
      </p:sp>
      <p:sp>
        <p:nvSpPr>
          <p:cNvPr id="56" name="application-desc-1">
            <a:extLst xmlns:a="http://schemas.openxmlformats.org/drawingml/2006/main">
              <a:ext uri="{FF2B5EF4-FFF2-40B4-BE49-F238E27FC236}">
                <a16:creationId xmlns:a16="http://schemas.microsoft.com/office/drawing/2014/main" id="{AD98DA5C-FA00-4711-BAA5-AA7FF7091703}"/>
              </a:ext>
            </a:extLst>
          </p:cNvPr>
          <p:cNvSpPr>
            <a:spLocks xmlns:a="http://schemas.openxmlformats.org/drawingml/2006/main" noGrp="1"/>
          </p:cNvSpPr>
          <p:nvPr/>
        </p:nvSpPr>
        <p:spPr>
          <a:xfrm xmlns:a="http://schemas.openxmlformats.org/drawingml/2006/main">
            <a:off x="6200775" y="3914775"/>
            <a:ext cx="55340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Analisar diferenças entre medidas e estimativas.</a:t>
            </a:r>
          </a:p>
        </p:txBody>
      </p:sp>
      <p:sp>
        <p:nvSpPr>
          <p:cNvPr id="57" name="application-2">
            <a:extLst xmlns:a="http://schemas.openxmlformats.org/drawingml/2006/main">
              <a:ext uri="{FF2B5EF4-FFF2-40B4-BE49-F238E27FC236}">
                <a16:creationId xmlns:a16="http://schemas.microsoft.com/office/drawing/2014/main" id="{70FF5211-64B3-4801-8129-B98DABE7EB3A}"/>
              </a:ext>
            </a:extLst>
          </p:cNvPr>
          <p:cNvSpPr>
            <a:spLocks xmlns:a="http://schemas.openxmlformats.org/drawingml/2006/main" noGrp="1"/>
          </p:cNvSpPr>
          <p:nvPr/>
        </p:nvSpPr>
        <p:spPr>
          <a:xfrm xmlns:a="http://schemas.openxmlformats.org/drawingml/2006/main">
            <a:off x="6200775" y="4562475"/>
            <a:ext cx="55340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83DFFF"/>
                </a:solidFill>
                <a:latin typeface="JetBrains Mono"/>
                <a:ea typeface="JetBrains Mono"/>
                <a:cs typeface="JetBrains Mono"/>
              </a:defRPr>
            </a:pPr>
            <a:r>
              <a:rPr sz="1875" b="1" i="0">
                <a:solidFill>
                  <a:srgbClr val="83DFFF"/>
                </a:solidFill>
                <a:latin typeface="JetBrains Mono"/>
                <a:ea typeface="JetBrains Mono"/>
                <a:cs typeface="JetBrains Mono"/>
              </a:rPr>
              <a:t>Reservatórios e balanços</a:t>
            </a:r>
          </a:p>
        </p:txBody>
      </p:sp>
      <p:sp>
        <p:nvSpPr>
          <p:cNvPr id="58" name="application-desc-2">
            <a:extLst xmlns:a="http://schemas.openxmlformats.org/drawingml/2006/main">
              <a:ext uri="{FF2B5EF4-FFF2-40B4-BE49-F238E27FC236}">
                <a16:creationId xmlns:a16="http://schemas.microsoft.com/office/drawing/2014/main" id="{84C172DD-5C0D-4528-82F6-B14C288E1508}"/>
              </a:ext>
            </a:extLst>
          </p:cNvPr>
          <p:cNvSpPr>
            <a:spLocks xmlns:a="http://schemas.openxmlformats.org/drawingml/2006/main" noGrp="1"/>
          </p:cNvSpPr>
          <p:nvPr/>
        </p:nvSpPr>
        <p:spPr>
          <a:xfrm xmlns:a="http://schemas.openxmlformats.org/drawingml/2006/main">
            <a:off x="6200775" y="5010150"/>
            <a:ext cx="55340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Estimar variáveis de apoio à operação e ao balanço hídrico.</a:t>
            </a:r>
          </a:p>
        </p:txBody>
      </p:sp>
      <p:sp>
        <p:nvSpPr>
          <p:cNvPr id="59" name="caption">
            <a:extLst xmlns:a="http://schemas.openxmlformats.org/drawingml/2006/main">
              <a:ext uri="{FF2B5EF4-FFF2-40B4-BE49-F238E27FC236}">
                <a16:creationId xmlns:a16="http://schemas.microsoft.com/office/drawing/2014/main" id="{F343EC00-857D-4022-BE15-E3873407DFAB}"/>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A interpretação física e a qualidade dos dados continuam necessárias.</a:t>
            </a:r>
          </a:p>
        </p:txBody>
      </p:sp>
    </p:spTree>
    <p:extLst>
      <p:ext uri="{BB962C8B-B14F-4D97-AF65-F5344CB8AC3E}">
        <p14:creationId xmlns:p14="http://schemas.microsoft.com/office/powerpoint/2010/main" val="33801002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6" name="Imagem 13"/>
          <p:cNvPicPr>
            <a:picLocks xmlns:a="http://schemas.openxmlformats.org/drawingml/2006/main" noChangeAspect="1"/>
          </p:cNvPicPr>
          <p:nvPr/>
        </p:nvPicPr>
        <p:blipFill>
          <a:blip xmlns:r="http://schemas.openxmlformats.org/officeDocument/2006/relationships" xmlns:a="http://schemas.openxmlformats.org/drawingml/2006/main" r:embed="Rbabdaad233aa41d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Previsão e disponibilidade dos dados</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forecast-task">
            <a:extLst xmlns:a="http://schemas.openxmlformats.org/drawingml/2006/main">
              <a:ext uri="{FF2B5EF4-FFF2-40B4-BE49-F238E27FC236}">
                <a16:creationId xmlns:a16="http://schemas.microsoft.com/office/drawing/2014/main" id="{1C5FAC4A-E0BE-41C5-819F-C06D4990CEB9}"/>
              </a:ext>
            </a:extLst>
          </p:cNvPr>
          <p:cNvSpPr>
            <a:spLocks xmlns:a="http://schemas.openxmlformats.org/drawingml/2006/main" noGrp="1"/>
          </p:cNvSpPr>
          <p:nvPr/>
        </p:nvSpPr>
        <p:spPr>
          <a:xfrm xmlns:a="http://schemas.openxmlformats.org/drawingml/2006/main">
            <a:off x="457200" y="234315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Objetivo: prever a vazão do próximo dia.</a:t>
            </a:r>
          </a:p>
        </p:txBody>
      </p:sp>
      <p:sp>
        <p:nvSpPr>
          <p:cNvPr id="53" name="past">
            <a:extLst xmlns:a="http://schemas.openxmlformats.org/drawingml/2006/main">
              <a:ext uri="{FF2B5EF4-FFF2-40B4-BE49-F238E27FC236}">
                <a16:creationId xmlns:a16="http://schemas.microsoft.com/office/drawing/2014/main" id="{004FC77C-EA42-4CA9-9F1A-AD6BCA98C402}"/>
              </a:ext>
            </a:extLst>
          </p:cNvPr>
          <p:cNvSpPr>
            <a:spLocks xmlns:a="http://schemas.openxmlformats.org/drawingml/2006/main" noGrp="1"/>
          </p:cNvSpPr>
          <p:nvPr/>
        </p:nvSpPr>
        <p:spPr>
          <a:xfrm xmlns:a="http://schemas.openxmlformats.org/drawingml/2006/main">
            <a:off x="1114425" y="3286125"/>
            <a:ext cx="1809750" cy="790575"/>
          </a:xfrm>
          <a:prstGeom xmlns:a="http://schemas.openxmlformats.org/drawingml/2006/main" prst="rect">
            <a:avLst/>
          </a:prstGeom>
          <a:solidFill xmlns:a="http://schemas.openxmlformats.org/drawingml/2006/main">
            <a:srgbClr val="000F29"/>
          </a:solidFill>
          <a:ln xmlns:a="http://schemas.openxmlformats.org/drawingml/2006/main" w="19050">
            <a:solidFill>
              <a:srgbClr val="91A4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91A4BD"/>
                </a:solidFill>
                <a:latin typeface="JetBrains Mono"/>
                <a:ea typeface="JetBrains Mono"/>
                <a:cs typeface="JetBrains Mono"/>
              </a:defRPr>
            </a:pPr>
            <a:r>
              <a:rPr sz="2325" b="1">
                <a:solidFill>
                  <a:srgbClr val="91A4BD"/>
                </a:solidFill>
                <a:latin typeface="JetBrains Mono"/>
                <a:ea typeface="JetBrains Mono"/>
                <a:cs typeface="JetBrains Mono"/>
              </a:rPr>
              <a:t>t − 1</a:t>
            </a:r>
          </a:p>
        </p:txBody>
      </p:sp>
      <p:sp>
        <p:nvSpPr>
          <p:cNvPr id="54" name="present">
            <a:extLst xmlns:a="http://schemas.openxmlformats.org/drawingml/2006/main">
              <a:ext uri="{FF2B5EF4-FFF2-40B4-BE49-F238E27FC236}">
                <a16:creationId xmlns:a16="http://schemas.microsoft.com/office/drawing/2014/main" id="{30BBB906-5501-4B91-8D9D-E1535B3E466D}"/>
              </a:ext>
            </a:extLst>
          </p:cNvPr>
          <p:cNvSpPr>
            <a:spLocks xmlns:a="http://schemas.openxmlformats.org/drawingml/2006/main" noGrp="1"/>
          </p:cNvSpPr>
          <p:nvPr/>
        </p:nvSpPr>
        <p:spPr>
          <a:xfrm xmlns:a="http://schemas.openxmlformats.org/drawingml/2006/main">
            <a:off x="4895850" y="3286125"/>
            <a:ext cx="1809750" cy="79057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83DFFF"/>
                </a:solidFill>
                <a:latin typeface="JetBrains Mono"/>
                <a:ea typeface="JetBrains Mono"/>
                <a:cs typeface="JetBrains Mono"/>
              </a:defRPr>
            </a:pPr>
            <a:r>
              <a:rPr sz="2325" b="1">
                <a:solidFill>
                  <a:srgbClr val="83DFFF"/>
                </a:solidFill>
                <a:latin typeface="JetBrains Mono"/>
                <a:ea typeface="JetBrains Mono"/>
                <a:cs typeface="JetBrains Mono"/>
              </a:rPr>
              <a:t>t</a:t>
            </a:r>
          </a:p>
        </p:txBody>
      </p:sp>
      <p:sp>
        <p:nvSpPr>
          <p:cNvPr id="55" name="future">
            <a:extLst xmlns:a="http://schemas.openxmlformats.org/drawingml/2006/main">
              <a:ext uri="{FF2B5EF4-FFF2-40B4-BE49-F238E27FC236}">
                <a16:creationId xmlns:a16="http://schemas.microsoft.com/office/drawing/2014/main" id="{C5202BC2-AD00-4BEB-8600-EA3E2F268282}"/>
              </a:ext>
            </a:extLst>
          </p:cNvPr>
          <p:cNvSpPr>
            <a:spLocks xmlns:a="http://schemas.openxmlformats.org/drawingml/2006/main" noGrp="1"/>
          </p:cNvSpPr>
          <p:nvPr/>
        </p:nvSpPr>
        <p:spPr>
          <a:xfrm xmlns:a="http://schemas.openxmlformats.org/drawingml/2006/main">
            <a:off x="8677275" y="3286125"/>
            <a:ext cx="1809750" cy="790575"/>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FFAD62"/>
                </a:solidFill>
                <a:latin typeface="JetBrains Mono"/>
                <a:ea typeface="JetBrains Mono"/>
                <a:cs typeface="JetBrains Mono"/>
              </a:defRPr>
            </a:pPr>
            <a:r>
              <a:rPr sz="2325" b="1">
                <a:solidFill>
                  <a:srgbClr val="FFAD62"/>
                </a:solidFill>
                <a:latin typeface="JetBrains Mono"/>
                <a:ea typeface="JetBrains Mono"/>
                <a:cs typeface="JetBrains Mono"/>
              </a:rPr>
              <a:t>t + 1</a:t>
            </a:r>
          </a:p>
        </p:txBody>
      </p:sp>
      <p:cxnSp>
        <p:nvCxnSpPr>
          <p:cNvPr id="73" name=""/>
          <p:cNvCxnSpPr>
            <a:stCxn xmlns:a="http://schemas.openxmlformats.org/drawingml/2006/main" id="53" idx="3"/>
            <a:endCxn xmlns:a="http://schemas.openxmlformats.org/drawingml/2006/main" id="54" idx="1"/>
          </p:cNvCxnSpPr>
          <p:nvPr/>
        </p:nvCxnSpPr>
        <p:spPr>
          <a:xfrm xmlns:a="http://schemas.openxmlformats.org/drawingml/2006/main">
            <a:off x="2924175" y="3681413"/>
            <a:ext cx="1971675" cy="0"/>
          </a:xfrm>
          <a:prstGeom xmlns:a="http://schemas.openxmlformats.org/drawingml/2006/main" prst="straightConnector1">
            <a:avLst/>
          </a:prstGeom>
          <a:ln xmlns:a="http://schemas.openxmlformats.org/drawingml/2006/main" w="15240">
            <a:solidFill>
              <a:srgbClr val="91A4BD"/>
            </a:solidFill>
            <a:tailEnd type="triangle" w="sm" len="sm"/>
          </a:ln>
        </p:spPr>
      </p:cxnSp>
      <p:cxnSp>
        <p:nvCxnSpPr>
          <p:cNvPr id="74" name=""/>
          <p:cNvCxnSpPr>
            <a:stCxn xmlns:a="http://schemas.openxmlformats.org/drawingml/2006/main" id="54" idx="3"/>
            <a:endCxn xmlns:a="http://schemas.openxmlformats.org/drawingml/2006/main" id="55" idx="1"/>
          </p:cNvCxnSpPr>
          <p:nvPr/>
        </p:nvCxnSpPr>
        <p:spPr>
          <a:xfrm xmlns:a="http://schemas.openxmlformats.org/drawingml/2006/main">
            <a:off x="6705600" y="3681413"/>
            <a:ext cx="1971675" cy="0"/>
          </a:xfrm>
          <a:prstGeom xmlns:a="http://schemas.openxmlformats.org/drawingml/2006/main" prst="straightConnector1">
            <a:avLst/>
          </a:prstGeom>
          <a:ln xmlns:a="http://schemas.openxmlformats.org/drawingml/2006/main" w="15240">
            <a:solidFill>
              <a:srgbClr val="91A4BD"/>
            </a:solidFill>
            <a:tailEnd type="triangle" w="sm" len="sm"/>
          </a:ln>
        </p:spPr>
      </p:cxnSp>
      <p:sp>
        <p:nvSpPr>
          <p:cNvPr id="58" name="past-available">
            <a:extLst xmlns:a="http://schemas.openxmlformats.org/drawingml/2006/main">
              <a:ext uri="{FF2B5EF4-FFF2-40B4-BE49-F238E27FC236}">
                <a16:creationId xmlns:a16="http://schemas.microsoft.com/office/drawing/2014/main" id="{778A4CA7-12D8-44BC-8746-629BBEC37B4F}"/>
              </a:ext>
            </a:extLst>
          </p:cNvPr>
          <p:cNvSpPr>
            <a:spLocks xmlns:a="http://schemas.openxmlformats.org/drawingml/2006/main" noGrp="1"/>
          </p:cNvSpPr>
          <p:nvPr/>
        </p:nvSpPr>
        <p:spPr>
          <a:xfrm xmlns:a="http://schemas.openxmlformats.org/drawingml/2006/main">
            <a:off x="1057275" y="43053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i="0">
                <a:solidFill>
                  <a:srgbClr val="91A4BD"/>
                </a:solidFill>
                <a:latin typeface="JetBrains Mono"/>
                <a:ea typeface="JetBrains Mono"/>
                <a:cs typeface="JetBrains Mono"/>
              </a:defRPr>
            </a:pPr>
            <a:r>
              <a:rPr sz="2025" b="1" i="0">
                <a:solidFill>
                  <a:srgbClr val="91A4BD"/>
                </a:solidFill>
                <a:latin typeface="JetBrains Mono"/>
                <a:ea typeface="JetBrains Mono"/>
                <a:cs typeface="JetBrains Mono"/>
              </a:rPr>
              <a:t>Q(t − 1)</a:t>
            </a:r>
          </a:p>
        </p:txBody>
      </p:sp>
      <p:sp>
        <p:nvSpPr>
          <p:cNvPr id="59" name="current-available">
            <a:extLst xmlns:a="http://schemas.openxmlformats.org/drawingml/2006/main">
              <a:ext uri="{FF2B5EF4-FFF2-40B4-BE49-F238E27FC236}">
                <a16:creationId xmlns:a16="http://schemas.microsoft.com/office/drawing/2014/main" id="{5D11E242-1380-491E-86F9-8BEDB438E1DD}"/>
              </a:ext>
            </a:extLst>
          </p:cNvPr>
          <p:cNvSpPr>
            <a:spLocks xmlns:a="http://schemas.openxmlformats.org/drawingml/2006/main" noGrp="1"/>
          </p:cNvSpPr>
          <p:nvPr/>
        </p:nvSpPr>
        <p:spPr>
          <a:xfrm xmlns:a="http://schemas.openxmlformats.org/drawingml/2006/main">
            <a:off x="4800600" y="4305300"/>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i="0">
                <a:solidFill>
                  <a:srgbClr val="83DFFF"/>
                </a:solidFill>
                <a:latin typeface="JetBrains Mono"/>
                <a:ea typeface="JetBrains Mono"/>
                <a:cs typeface="JetBrains Mono"/>
              </a:defRPr>
            </a:pPr>
            <a:r>
              <a:rPr sz="2025" b="1" i="0">
                <a:solidFill>
                  <a:srgbClr val="83DFFF"/>
                </a:solidFill>
                <a:latin typeface="JetBrains Mono"/>
                <a:ea typeface="JetBrains Mono"/>
                <a:cs typeface="JetBrains Mono"/>
              </a:rPr>
              <a:t>P(t) e Q(t)</a:t>
            </a:r>
          </a:p>
        </p:txBody>
      </p:sp>
      <p:sp>
        <p:nvSpPr>
          <p:cNvPr id="60" name="future-target">
            <a:extLst xmlns:a="http://schemas.openxmlformats.org/drawingml/2006/main">
              <a:ext uri="{FF2B5EF4-FFF2-40B4-BE49-F238E27FC236}">
                <a16:creationId xmlns:a16="http://schemas.microsoft.com/office/drawing/2014/main" id="{FFA7CADF-19C7-492D-B9FB-0DAD95E39840}"/>
              </a:ext>
            </a:extLst>
          </p:cNvPr>
          <p:cNvSpPr>
            <a:spLocks xmlns:a="http://schemas.openxmlformats.org/drawingml/2006/main" noGrp="1"/>
          </p:cNvSpPr>
          <p:nvPr/>
        </p:nvSpPr>
        <p:spPr>
          <a:xfrm xmlns:a="http://schemas.openxmlformats.org/drawingml/2006/main">
            <a:off x="8591550" y="43053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FFAD62"/>
                </a:solidFill>
                <a:latin typeface="JetBrains Mono"/>
                <a:ea typeface="JetBrains Mono"/>
                <a:cs typeface="JetBrains Mono"/>
              </a:defRPr>
            </a:pPr>
            <a:r>
              <a:rPr sz="1875" b="1" i="0">
                <a:solidFill>
                  <a:srgbClr val="FFAD62"/>
                </a:solidFill>
                <a:latin typeface="JetBrains Mono"/>
                <a:ea typeface="JetBrains Mono"/>
                <a:cs typeface="JetBrains Mono"/>
              </a:rPr>
              <a:t>Alvo: Q(t + 1)</a:t>
            </a:r>
          </a:p>
        </p:txBody>
      </p:sp>
      <p:sp>
        <p:nvSpPr>
          <p:cNvPr id="61" name="forecast-vector">
            <a:extLst xmlns:a="http://schemas.openxmlformats.org/drawingml/2006/main">
              <a:ext uri="{FF2B5EF4-FFF2-40B4-BE49-F238E27FC236}">
                <a16:creationId xmlns:a16="http://schemas.microsoft.com/office/drawing/2014/main" id="{B4AD0DF8-C7AC-4796-B6A2-9D9568CBA4B7}"/>
              </a:ext>
            </a:extLst>
          </p:cNvPr>
          <p:cNvSpPr>
            <a:spLocks xmlns:a="http://schemas.openxmlformats.org/drawingml/2006/main" noGrp="1"/>
          </p:cNvSpPr>
          <p:nvPr/>
        </p:nvSpPr>
        <p:spPr>
          <a:xfrm xmlns:a="http://schemas.openxmlformats.org/drawingml/2006/main">
            <a:off x="457200" y="5314950"/>
            <a:ext cx="657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83DFFF"/>
                </a:solidFill>
                <a:latin typeface="JetBrains Mono"/>
                <a:ea typeface="JetBrains Mono"/>
                <a:cs typeface="JetBrains Mono"/>
              </a:defRPr>
            </a:pPr>
            <a:r>
              <a:rPr sz="2175" b="0" i="0">
                <a:solidFill>
                  <a:srgbClr val="83DFFF"/>
                </a:solidFill>
                <a:latin typeface="JetBrains Mono"/>
                <a:ea typeface="JetBrains Mono"/>
                <a:cs typeface="JetBrains Mono"/>
              </a:rPr>
              <a:t>xₜ = [P(t), Q(t), Q(t − 1)]</a:t>
            </a:r>
          </a:p>
        </p:txBody>
      </p:sp>
      <p:sp>
        <p:nvSpPr>
          <p:cNvPr id="62" name="forecast-target">
            <a:extLst xmlns:a="http://schemas.openxmlformats.org/drawingml/2006/main">
              <a:ext uri="{FF2B5EF4-FFF2-40B4-BE49-F238E27FC236}">
                <a16:creationId xmlns:a16="http://schemas.microsoft.com/office/drawing/2014/main" id="{D1B21C4E-3CA5-4104-B8BA-2CC962792503}"/>
              </a:ext>
            </a:extLst>
          </p:cNvPr>
          <p:cNvSpPr>
            <a:spLocks xmlns:a="http://schemas.openxmlformats.org/drawingml/2006/main" noGrp="1"/>
          </p:cNvSpPr>
          <p:nvPr/>
        </p:nvSpPr>
        <p:spPr>
          <a:xfrm xmlns:a="http://schemas.openxmlformats.org/drawingml/2006/main">
            <a:off x="7848600" y="5314950"/>
            <a:ext cx="3886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FFAD62"/>
                </a:solidFill>
                <a:latin typeface="JetBrains Mono"/>
                <a:ea typeface="JetBrains Mono"/>
                <a:cs typeface="JetBrains Mono"/>
              </a:defRPr>
            </a:pPr>
            <a:r>
              <a:rPr sz="2175" b="0" i="0">
                <a:solidFill>
                  <a:srgbClr val="FFAD62"/>
                </a:solidFill>
                <a:latin typeface="JetBrains Mono"/>
                <a:ea typeface="JetBrains Mono"/>
                <a:cs typeface="JetBrains Mono"/>
              </a:rPr>
              <a:t>yₜ = Q(t + 1)</a:t>
            </a:r>
          </a:p>
        </p:txBody>
      </p:sp>
    </p:spTree>
    <p:extLst>
      <p:ext uri="{BB962C8B-B14F-4D97-AF65-F5344CB8AC3E}">
        <p14:creationId xmlns:p14="http://schemas.microsoft.com/office/powerpoint/2010/main" val="33801002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8" name="Imagem 13"/>
          <p:cNvPicPr>
            <a:picLocks xmlns:a="http://schemas.openxmlformats.org/drawingml/2006/main" noChangeAspect="1"/>
          </p:cNvPicPr>
          <p:nvPr/>
        </p:nvPicPr>
        <p:blipFill>
          <a:blip xmlns:r="http://schemas.openxmlformats.org/officeDocument/2006/relationships" xmlns:a="http://schemas.openxmlformats.org/drawingml/2006/main" r:embed="R06c94a2c16c94ca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Aprendizado supervisionado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supervised-definition">
            <a:extLst xmlns:a="http://schemas.openxmlformats.org/drawingml/2006/main">
              <a:ext uri="{FF2B5EF4-FFF2-40B4-BE49-F238E27FC236}">
                <a16:creationId xmlns:a16="http://schemas.microsoft.com/office/drawing/2014/main" id="{65150124-42EE-4552-AD4F-62040453CF04}"/>
              </a:ext>
            </a:extLst>
          </p:cNvPr>
          <p:cNvSpPr>
            <a:spLocks xmlns:a="http://schemas.openxmlformats.org/drawingml/2006/main" noGrp="1"/>
          </p:cNvSpPr>
          <p:nvPr/>
        </p:nvSpPr>
        <p:spPr>
          <a:xfrm xmlns:a="http://schemas.openxmlformats.org/drawingml/2006/main">
            <a:off x="457200" y="2352675"/>
            <a:ext cx="1127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Cada linha associa um vetor de entradas xₜ à saída observada yₜ.</a:t>
            </a:r>
          </a:p>
        </p:txBody>
      </p:sp>
      <p:graphicFrame>
        <p:nvGraphicFramePr>
          <p:cNvPr id="62" name=""/>
          <p:cNvGraphicFramePr/>
          <p:nvPr/>
        </p:nvGraphicFramePr>
        <p:xfrm>
          <a:off xmlns:a="http://schemas.openxmlformats.org/drawingml/2006/main" x="457200" y="3190875"/>
          <a:ext xmlns:a="http://schemas.openxmlformats.org/drawingml/2006/main" cx="11277600" cy="2533650"/>
        </p:xfrm>
        <a:graphic xmlns:a="http://schemas.openxmlformats.org/drawingml/2006/main">
          <a:graphicData uri="http://schemas.openxmlformats.org/drawingml/2006/table">
            <a:tbl>
              <a:tblPr firstRow="1" bandRow="0"/>
              <a:tblGrid>
                <a:gridCol w="762000"/>
                <a:gridCol w="2152650"/>
                <a:gridCol w="2324100"/>
                <a:gridCol w="2609850"/>
                <a:gridCol w="3429000"/>
              </a:tblGrid>
              <a:tr h="704850">
                <a:tc>
                  <a:txBody>
                    <a:bodyPr lIns="95250" tIns="57150" rIns="95250" bIns="57150">
                      <a:noAutofit/>
                    </a:bodyPr>
                    <a:lstStyle/>
                    <a:p>
                      <a:pPr algn="ctr"/>
                      <a:r>
                        <a:rPr sz="1650" b="1">
                          <a:solidFill>
                            <a:srgbClr val="FFFFFF"/>
                          </a:solidFill>
                          <a:latin typeface="JetBrains Mono"/>
                          <a:ea typeface="JetBrains Mono"/>
                          <a:cs typeface="JetBrains Mono"/>
                        </a:rPr>
                        <a:t>t</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P(t)</a:t>
                      </a:r>
                    </a:p>
                    <a:p>
                      <a:pPr algn="ctr"/>
                      <a:r>
                        <a:rPr sz="1650" b="1">
                          <a:solidFill>
                            <a:srgbClr val="FFFFFF"/>
                          </a:solidFill>
                          <a:latin typeface="JetBrains Mono"/>
                          <a:ea typeface="JetBrains Mono"/>
                          <a:cs typeface="JetBrains Mono"/>
                        </a:rPr>
                        <a:t>mm</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Q(t)</a:t>
                      </a:r>
                    </a:p>
                    <a:p>
                      <a:pPr algn="ctr"/>
                      <a:r>
                        <a:rPr sz="1650" b="1">
                          <a:solidFill>
                            <a:srgbClr val="FFFFFF"/>
                          </a:solidFill>
                          <a:latin typeface="JetBrains Mono"/>
                          <a:ea typeface="JetBrains Mono"/>
                          <a:cs typeface="JetBrains Mono"/>
                        </a:rPr>
                        <a:t>m³/s</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Q(t − 1)</a:t>
                      </a:r>
                    </a:p>
                    <a:p>
                      <a:pPr algn="ctr"/>
                      <a:r>
                        <a:rPr sz="1650" b="1">
                          <a:solidFill>
                            <a:srgbClr val="FFFFFF"/>
                          </a:solidFill>
                          <a:latin typeface="JetBrains Mono"/>
                          <a:ea typeface="JetBrains Mono"/>
                          <a:cs typeface="JetBrains Mono"/>
                        </a:rPr>
                        <a:t>m³/s</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yₜ = Q(t + 1)</a:t>
                      </a:r>
                    </a:p>
                    <a:p>
                      <a:pPr algn="ctr"/>
                      <a:r>
                        <a:rPr sz="1650" b="1">
                          <a:solidFill>
                            <a:srgbClr val="FFFFFF"/>
                          </a:solidFill>
                          <a:latin typeface="JetBrains Mono"/>
                          <a:ea typeface="JetBrains Mono"/>
                          <a:cs typeface="JetBrains Mono"/>
                        </a:rPr>
                        <a:t>m³/s</a:t>
                      </a:r>
                    </a:p>
                  </a:txBody>
                  <a:tcPr marL="91440" marR="91440" marT="45720" marB="45720" anchor="ctr">
                    <a:solidFill>
                      <a:srgbClr val="0D685C"/>
                    </a:solidFill>
                  </a:tcPr>
                </a:tc>
              </a:tr>
              <a:tr h="457200">
                <a:tc>
                  <a:txBody>
                    <a:bodyPr lIns="95250" tIns="57150" rIns="95250" bIns="57150">
                      <a:noAutofit/>
                    </a:bodyPr>
                    <a:lstStyle/>
                    <a:p>
                      <a:pPr algn="ctr"/>
                      <a:r>
                        <a:rPr sz="1650" b="0">
                          <a:solidFill>
                            <a:srgbClr val="FFFFFF"/>
                          </a:solidFill>
                          <a:latin typeface="JetBrains Mono"/>
                          <a:ea typeface="JetBrains Mono"/>
                          <a:cs typeface="JetBrains Mono"/>
                        </a:rPr>
                        <a:t>1</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12</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50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47</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46</a:t>
                      </a:r>
                    </a:p>
                  </a:txBody>
                  <a:tcPr marL="91440" marR="91440" marT="45720" marB="45720" anchor="ctr">
                    <a:solidFill>
                      <a:srgbClr val="082950"/>
                    </a:solidFill>
                  </a:tcPr>
                </a:tc>
              </a:tr>
              <a:tr h="457200">
                <a:tc>
                  <a:txBody>
                    <a:bodyPr lIns="95250" tIns="57150" rIns="95250" bIns="57150">
                      <a:noAutofit/>
                    </a:bodyPr>
                    <a:lstStyle/>
                    <a:p>
                      <a:pPr algn="ctr"/>
                      <a:r>
                        <a:rPr sz="1650" b="0">
                          <a:solidFill>
                            <a:srgbClr val="FFFFFF"/>
                          </a:solidFill>
                          <a:latin typeface="JetBrains Mono"/>
                          <a:ea typeface="JetBrains Mono"/>
                          <a:cs typeface="JetBrains Mono"/>
                        </a:rPr>
                        <a:t>2</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46</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50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49</a:t>
                      </a:r>
                    </a:p>
                  </a:txBody>
                  <a:tcPr marL="91440" marR="91440" marT="45720" marB="45720" anchor="ctr">
                    <a:solidFill>
                      <a:srgbClr val="031A39"/>
                    </a:solidFill>
                  </a:tcPr>
                </a:tc>
              </a:tr>
              <a:tr h="457200">
                <a:tc>
                  <a:txBody>
                    <a:bodyPr lIns="95250" tIns="57150" rIns="95250" bIns="57150">
                      <a:noAutofit/>
                    </a:bodyPr>
                    <a:lstStyle/>
                    <a:p>
                      <a:pPr algn="ctr"/>
                      <a:r>
                        <a:rPr sz="1650" b="0">
                          <a:solidFill>
                            <a:srgbClr val="FFFFFF"/>
                          </a:solidFill>
                          <a:latin typeface="JetBrains Mono"/>
                          <a:ea typeface="JetBrains Mono"/>
                          <a:cs typeface="JetBrains Mono"/>
                        </a:rPr>
                        <a:t>3</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8</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49</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46</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65</a:t>
                      </a:r>
                    </a:p>
                  </a:txBody>
                  <a:tcPr marL="91440" marR="91440" marT="45720" marB="45720" anchor="ctr">
                    <a:solidFill>
                      <a:srgbClr val="082950"/>
                    </a:solidFill>
                  </a:tcPr>
                </a:tc>
              </a:tr>
              <a:tr h="457200">
                <a:tc>
                  <a:txBody>
                    <a:bodyPr lIns="95250" tIns="57150" rIns="95250" bIns="57150">
                      <a:noAutofit/>
                    </a:bodyPr>
                    <a:lstStyle/>
                    <a:p>
                      <a:pPr algn="ctr"/>
                      <a:r>
                        <a:rPr sz="1650" b="0">
                          <a:solidFill>
                            <a:srgbClr val="FFFFFF"/>
                          </a:solidFill>
                          <a:latin typeface="JetBrains Mono"/>
                          <a:ea typeface="JetBrains Mono"/>
                          <a:cs typeface="JetBrains Mono"/>
                        </a:rPr>
                        <a:t>4</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20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65</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49</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61</a:t>
                      </a:r>
                    </a:p>
                  </a:txBody>
                  <a:tcPr marL="91440" marR="91440" marT="45720" marB="45720" anchor="ctr">
                    <a:solidFill>
                      <a:srgbClr val="031A39"/>
                    </a:solidFill>
                  </a:tcPr>
                </a:tc>
              </a:tr>
            </a:tbl>
          </a:graphicData>
        </a:graphic>
      </p:graphicFrame>
      <p:sp>
        <p:nvSpPr>
          <p:cNvPr id="54" name="caption">
            <a:extLst xmlns:a="http://schemas.openxmlformats.org/drawingml/2006/main">
              <a:ext uri="{FF2B5EF4-FFF2-40B4-BE49-F238E27FC236}">
                <a16:creationId xmlns:a16="http://schemas.microsoft.com/office/drawing/2014/main" id="{2A2D0311-DDE5-4377-8FD6-C4EE2BCB2C52}"/>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Dados hipotéticos para explicar a organização do dataset.</a:t>
            </a:r>
          </a:p>
        </p:txBody>
      </p:sp>
    </p:spTree>
    <p:extLst>
      <p:ext uri="{BB962C8B-B14F-4D97-AF65-F5344CB8AC3E}">
        <p14:creationId xmlns:p14="http://schemas.microsoft.com/office/powerpoint/2010/main" val="33801002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74" name="Imagem 13"/>
          <p:cNvPicPr>
            <a:picLocks xmlns:a="http://schemas.openxmlformats.org/drawingml/2006/main" noChangeAspect="1"/>
          </p:cNvPicPr>
          <p:nvPr/>
        </p:nvPicPr>
        <p:blipFill>
          <a:blip xmlns:r="http://schemas.openxmlformats.org/officeDocument/2006/relationships" xmlns:a="http://schemas.openxmlformats.org/drawingml/2006/main" r:embed="R138396a3dce547e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O neurônio artificial</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input-0">
            <a:extLst xmlns:a="http://schemas.openxmlformats.org/drawingml/2006/main">
              <a:ext uri="{FF2B5EF4-FFF2-40B4-BE49-F238E27FC236}">
                <a16:creationId xmlns:a16="http://schemas.microsoft.com/office/drawing/2014/main" id="{8705038F-BBEF-48A2-9DBC-5EE47BB2A78C}"/>
              </a:ext>
            </a:extLst>
          </p:cNvPr>
          <p:cNvSpPr>
            <a:spLocks xmlns:a="http://schemas.openxmlformats.org/drawingml/2006/main" noGrp="1"/>
          </p:cNvSpPr>
          <p:nvPr/>
        </p:nvSpPr>
        <p:spPr>
          <a:xfrm xmlns:a="http://schemas.openxmlformats.org/drawingml/2006/main">
            <a:off x="723900" y="3095625"/>
            <a:ext cx="762000" cy="619125"/>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x₁</a:t>
            </a:r>
          </a:p>
        </p:txBody>
      </p:sp>
      <p:sp>
        <p:nvSpPr>
          <p:cNvPr id="53" name="input-1">
            <a:extLst xmlns:a="http://schemas.openxmlformats.org/drawingml/2006/main">
              <a:ext uri="{FF2B5EF4-FFF2-40B4-BE49-F238E27FC236}">
                <a16:creationId xmlns:a16="http://schemas.microsoft.com/office/drawing/2014/main" id="{48F6D02A-A7E0-4730-8B2F-2BD46054F54B}"/>
              </a:ext>
            </a:extLst>
          </p:cNvPr>
          <p:cNvSpPr>
            <a:spLocks xmlns:a="http://schemas.openxmlformats.org/drawingml/2006/main" noGrp="1"/>
          </p:cNvSpPr>
          <p:nvPr/>
        </p:nvSpPr>
        <p:spPr>
          <a:xfrm xmlns:a="http://schemas.openxmlformats.org/drawingml/2006/main">
            <a:off x="723900" y="3981450"/>
            <a:ext cx="762000" cy="619125"/>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x₂</a:t>
            </a:r>
          </a:p>
        </p:txBody>
      </p:sp>
      <p:sp>
        <p:nvSpPr>
          <p:cNvPr id="54" name="input-2">
            <a:extLst xmlns:a="http://schemas.openxmlformats.org/drawingml/2006/main">
              <a:ext uri="{FF2B5EF4-FFF2-40B4-BE49-F238E27FC236}">
                <a16:creationId xmlns:a16="http://schemas.microsoft.com/office/drawing/2014/main" id="{8825E3D9-4DFC-4AF0-A5F3-9CFCB7CFC0C0}"/>
              </a:ext>
            </a:extLst>
          </p:cNvPr>
          <p:cNvSpPr>
            <a:spLocks xmlns:a="http://schemas.openxmlformats.org/drawingml/2006/main" noGrp="1"/>
          </p:cNvSpPr>
          <p:nvPr/>
        </p:nvSpPr>
        <p:spPr>
          <a:xfrm xmlns:a="http://schemas.openxmlformats.org/drawingml/2006/main">
            <a:off x="723900" y="4867275"/>
            <a:ext cx="762000" cy="619125"/>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x₃</a:t>
            </a:r>
          </a:p>
        </p:txBody>
      </p:sp>
      <p:sp>
        <p:nvSpPr>
          <p:cNvPr id="55" name="weighted-sum">
            <a:extLst xmlns:a="http://schemas.openxmlformats.org/drawingml/2006/main">
              <a:ext uri="{FF2B5EF4-FFF2-40B4-BE49-F238E27FC236}">
                <a16:creationId xmlns:a16="http://schemas.microsoft.com/office/drawing/2014/main" id="{34B9E1C3-C2CD-4826-AA12-18200C00602C}"/>
              </a:ext>
            </a:extLst>
          </p:cNvPr>
          <p:cNvSpPr>
            <a:spLocks xmlns:a="http://schemas.openxmlformats.org/drawingml/2006/main" noGrp="1"/>
          </p:cNvSpPr>
          <p:nvPr/>
        </p:nvSpPr>
        <p:spPr>
          <a:xfrm xmlns:a="http://schemas.openxmlformats.org/drawingml/2006/main">
            <a:off x="3648075" y="3781425"/>
            <a:ext cx="1095375" cy="952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3600" b="1">
                <a:solidFill>
                  <a:srgbClr val="83DFFF"/>
                </a:solidFill>
                <a:latin typeface="JetBrains Mono"/>
                <a:ea typeface="JetBrains Mono"/>
                <a:cs typeface="JetBrains Mono"/>
              </a:defRPr>
            </a:pPr>
            <a:r>
              <a:rPr sz="3600" b="1">
                <a:solidFill>
                  <a:srgbClr val="83DFFF"/>
                </a:solidFill>
                <a:latin typeface="JetBrains Mono"/>
                <a:ea typeface="JetBrains Mono"/>
                <a:cs typeface="JetBrains Mono"/>
              </a:rPr>
              <a:t>Σ</a:t>
            </a:r>
          </a:p>
        </p:txBody>
      </p:sp>
      <p:sp>
        <p:nvSpPr>
          <p:cNvPr id="56" name="activation">
            <a:extLst xmlns:a="http://schemas.openxmlformats.org/drawingml/2006/main">
              <a:ext uri="{FF2B5EF4-FFF2-40B4-BE49-F238E27FC236}">
                <a16:creationId xmlns:a16="http://schemas.microsoft.com/office/drawing/2014/main" id="{DEEC0EB2-D0A3-407E-865C-FDBA9A78C4FA}"/>
              </a:ext>
            </a:extLst>
          </p:cNvPr>
          <p:cNvSpPr>
            <a:spLocks xmlns:a="http://schemas.openxmlformats.org/drawingml/2006/main" noGrp="1"/>
          </p:cNvSpPr>
          <p:nvPr/>
        </p:nvSpPr>
        <p:spPr>
          <a:xfrm xmlns:a="http://schemas.openxmlformats.org/drawingml/2006/main">
            <a:off x="5905500" y="3781425"/>
            <a:ext cx="1095375" cy="952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3150" b="1">
                <a:solidFill>
                  <a:srgbClr val="71E7BD"/>
                </a:solidFill>
                <a:latin typeface="JetBrains Mono"/>
                <a:ea typeface="JetBrains Mono"/>
                <a:cs typeface="JetBrains Mono"/>
              </a:defRPr>
            </a:pPr>
            <a:r>
              <a:rPr sz="3150" b="1">
                <a:solidFill>
                  <a:srgbClr val="71E7BD"/>
                </a:solidFill>
                <a:latin typeface="JetBrains Mono"/>
                <a:ea typeface="JetBrains Mono"/>
                <a:cs typeface="JetBrains Mono"/>
              </a:rPr>
              <a:t>φ</a:t>
            </a:r>
          </a:p>
        </p:txBody>
      </p:sp>
      <p:sp>
        <p:nvSpPr>
          <p:cNvPr id="57" name="hidden-output">
            <a:extLst xmlns:a="http://schemas.openxmlformats.org/drawingml/2006/main">
              <a:ext uri="{FF2B5EF4-FFF2-40B4-BE49-F238E27FC236}">
                <a16:creationId xmlns:a16="http://schemas.microsoft.com/office/drawing/2014/main" id="{0F79DCE1-A5C6-4F90-87A6-87EE9426F92A}"/>
              </a:ext>
            </a:extLst>
          </p:cNvPr>
          <p:cNvSpPr>
            <a:spLocks xmlns:a="http://schemas.openxmlformats.org/drawingml/2006/main" noGrp="1"/>
          </p:cNvSpPr>
          <p:nvPr/>
        </p:nvSpPr>
        <p:spPr>
          <a:xfrm xmlns:a="http://schemas.openxmlformats.org/drawingml/2006/main">
            <a:off x="8229600" y="3781425"/>
            <a:ext cx="1095375" cy="952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700" b="1">
                <a:solidFill>
                  <a:srgbClr val="FFAD62"/>
                </a:solidFill>
                <a:latin typeface="JetBrains Mono"/>
                <a:ea typeface="JetBrains Mono"/>
                <a:cs typeface="JetBrains Mono"/>
              </a:defRPr>
            </a:pPr>
            <a:r>
              <a:rPr sz="2700" b="1">
                <a:solidFill>
                  <a:srgbClr val="FFAD62"/>
                </a:solidFill>
                <a:latin typeface="JetBrains Mono"/>
                <a:ea typeface="JetBrains Mono"/>
                <a:cs typeface="JetBrains Mono"/>
              </a:rPr>
              <a:t>h</a:t>
            </a:r>
          </a:p>
        </p:txBody>
      </p:sp>
      <p:cxnSp>
        <p:nvCxnSpPr>
          <p:cNvPr id="83" name=""/>
          <p:cNvCxnSpPr>
            <a:stCxn xmlns:a="http://schemas.openxmlformats.org/drawingml/2006/main" id="52" idx="6"/>
            <a:endCxn xmlns:a="http://schemas.openxmlformats.org/drawingml/2006/main" id="55" idx="2"/>
          </p:cNvCxnSpPr>
          <p:nvPr/>
        </p:nvCxnSpPr>
        <p:spPr>
          <a:xfrm xmlns:a="http://schemas.openxmlformats.org/drawingml/2006/main">
            <a:off x="1485900" y="3405188"/>
            <a:ext cx="2162175" cy="852488"/>
          </a:xfrm>
          <a:prstGeom xmlns:a="http://schemas.openxmlformats.org/drawingml/2006/main" prst="straightConnector1">
            <a:avLst/>
          </a:prstGeom>
          <a:ln xmlns:a="http://schemas.openxmlformats.org/drawingml/2006/main" w="15240">
            <a:solidFill>
              <a:srgbClr val="91A4BD"/>
            </a:solidFill>
            <a:tailEnd type="triangle" w="sm" len="sm"/>
          </a:ln>
        </p:spPr>
      </p:cxnSp>
      <p:sp>
        <p:nvSpPr>
          <p:cNvPr id="59" name="weight-0">
            <a:extLst xmlns:a="http://schemas.openxmlformats.org/drawingml/2006/main">
              <a:ext uri="{FF2B5EF4-FFF2-40B4-BE49-F238E27FC236}">
                <a16:creationId xmlns:a16="http://schemas.microsoft.com/office/drawing/2014/main" id="{8539DCE1-5D3C-4B2C-86D1-EE563A98EF7E}"/>
              </a:ext>
            </a:extLst>
          </p:cNvPr>
          <p:cNvSpPr>
            <a:spLocks xmlns:a="http://schemas.openxmlformats.org/drawingml/2006/main" noGrp="1"/>
          </p:cNvSpPr>
          <p:nvPr/>
        </p:nvSpPr>
        <p:spPr>
          <a:xfrm xmlns:a="http://schemas.openxmlformats.org/drawingml/2006/main">
            <a:off x="2333625" y="3219450"/>
            <a:ext cx="733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91A4BD"/>
                </a:solidFill>
                <a:latin typeface="JetBrains Mono"/>
                <a:ea typeface="JetBrains Mono"/>
                <a:cs typeface="JetBrains Mono"/>
              </a:defRPr>
            </a:pPr>
            <a:r>
              <a:rPr sz="1800" b="0" i="0">
                <a:solidFill>
                  <a:srgbClr val="91A4BD"/>
                </a:solidFill>
                <a:latin typeface="JetBrains Mono"/>
                <a:ea typeface="JetBrains Mono"/>
                <a:cs typeface="JetBrains Mono"/>
              </a:rPr>
              <a:t>w₁</a:t>
            </a:r>
          </a:p>
        </p:txBody>
      </p:sp>
      <p:cxnSp>
        <p:nvCxnSpPr>
          <p:cNvPr id="85" name=""/>
          <p:cNvCxnSpPr>
            <a:stCxn xmlns:a="http://schemas.openxmlformats.org/drawingml/2006/main" id="53" idx="6"/>
            <a:endCxn xmlns:a="http://schemas.openxmlformats.org/drawingml/2006/main" id="55" idx="2"/>
          </p:cNvCxnSpPr>
          <p:nvPr/>
        </p:nvCxnSpPr>
        <p:spPr>
          <a:xfrm xmlns:a="http://schemas.openxmlformats.org/drawingml/2006/main" flipV="1">
            <a:off x="1485900" y="4257675"/>
            <a:ext cx="2162175" cy="33338"/>
          </a:xfrm>
          <a:prstGeom xmlns:a="http://schemas.openxmlformats.org/drawingml/2006/main" prst="straightConnector1">
            <a:avLst/>
          </a:prstGeom>
          <a:ln xmlns:a="http://schemas.openxmlformats.org/drawingml/2006/main" w="15240">
            <a:solidFill>
              <a:srgbClr val="91A4BD"/>
            </a:solidFill>
            <a:tailEnd type="triangle" w="sm" len="sm"/>
          </a:ln>
        </p:spPr>
      </p:cxnSp>
      <p:sp>
        <p:nvSpPr>
          <p:cNvPr id="61" name="weight-1">
            <a:extLst xmlns:a="http://schemas.openxmlformats.org/drawingml/2006/main">
              <a:ext uri="{FF2B5EF4-FFF2-40B4-BE49-F238E27FC236}">
                <a16:creationId xmlns:a16="http://schemas.microsoft.com/office/drawing/2014/main" id="{09F59142-364F-4F7A-AF2B-13768E4BEE67}"/>
              </a:ext>
            </a:extLst>
          </p:cNvPr>
          <p:cNvSpPr>
            <a:spLocks xmlns:a="http://schemas.openxmlformats.org/drawingml/2006/main" noGrp="1"/>
          </p:cNvSpPr>
          <p:nvPr/>
        </p:nvSpPr>
        <p:spPr>
          <a:xfrm xmlns:a="http://schemas.openxmlformats.org/drawingml/2006/main">
            <a:off x="2333625" y="3895725"/>
            <a:ext cx="733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91A4BD"/>
                </a:solidFill>
                <a:latin typeface="JetBrains Mono"/>
                <a:ea typeface="JetBrains Mono"/>
                <a:cs typeface="JetBrains Mono"/>
              </a:defRPr>
            </a:pPr>
            <a:r>
              <a:rPr sz="1800" b="0" i="0">
                <a:solidFill>
                  <a:srgbClr val="91A4BD"/>
                </a:solidFill>
                <a:latin typeface="JetBrains Mono"/>
                <a:ea typeface="JetBrains Mono"/>
                <a:cs typeface="JetBrains Mono"/>
              </a:rPr>
              <a:t>w₂</a:t>
            </a:r>
          </a:p>
        </p:txBody>
      </p:sp>
      <p:cxnSp>
        <p:nvCxnSpPr>
          <p:cNvPr id="87" name=""/>
          <p:cNvCxnSpPr>
            <a:stCxn xmlns:a="http://schemas.openxmlformats.org/drawingml/2006/main" id="54" idx="6"/>
            <a:endCxn xmlns:a="http://schemas.openxmlformats.org/drawingml/2006/main" id="55" idx="2"/>
          </p:cNvCxnSpPr>
          <p:nvPr/>
        </p:nvCxnSpPr>
        <p:spPr>
          <a:xfrm xmlns:a="http://schemas.openxmlformats.org/drawingml/2006/main" flipV="1">
            <a:off x="1485900" y="4257675"/>
            <a:ext cx="2162175" cy="919163"/>
          </a:xfrm>
          <a:prstGeom xmlns:a="http://schemas.openxmlformats.org/drawingml/2006/main" prst="straightConnector1">
            <a:avLst/>
          </a:prstGeom>
          <a:ln xmlns:a="http://schemas.openxmlformats.org/drawingml/2006/main" w="15240">
            <a:solidFill>
              <a:srgbClr val="91A4BD"/>
            </a:solidFill>
            <a:tailEnd type="triangle" w="sm" len="sm"/>
          </a:ln>
        </p:spPr>
      </p:cxnSp>
      <p:sp>
        <p:nvSpPr>
          <p:cNvPr id="63" name="weight-2">
            <a:extLst xmlns:a="http://schemas.openxmlformats.org/drawingml/2006/main">
              <a:ext uri="{FF2B5EF4-FFF2-40B4-BE49-F238E27FC236}">
                <a16:creationId xmlns:a16="http://schemas.microsoft.com/office/drawing/2014/main" id="{36FF19BA-D449-4F91-94D9-509B80BB409B}"/>
              </a:ext>
            </a:extLst>
          </p:cNvPr>
          <p:cNvSpPr>
            <a:spLocks xmlns:a="http://schemas.openxmlformats.org/drawingml/2006/main" noGrp="1"/>
          </p:cNvSpPr>
          <p:nvPr/>
        </p:nvSpPr>
        <p:spPr>
          <a:xfrm xmlns:a="http://schemas.openxmlformats.org/drawingml/2006/main">
            <a:off x="2333625" y="4933950"/>
            <a:ext cx="733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91A4BD"/>
                </a:solidFill>
                <a:latin typeface="JetBrains Mono"/>
                <a:ea typeface="JetBrains Mono"/>
                <a:cs typeface="JetBrains Mono"/>
              </a:defRPr>
            </a:pPr>
            <a:r>
              <a:rPr sz="1800" b="0" i="0">
                <a:solidFill>
                  <a:srgbClr val="91A4BD"/>
                </a:solidFill>
                <a:latin typeface="JetBrains Mono"/>
                <a:ea typeface="JetBrains Mono"/>
                <a:cs typeface="JetBrains Mono"/>
              </a:rPr>
              <a:t>w₃</a:t>
            </a:r>
          </a:p>
        </p:txBody>
      </p:sp>
      <p:cxnSp>
        <p:nvCxnSpPr>
          <p:cNvPr id="89" name=""/>
          <p:cNvCxnSpPr>
            <a:stCxn xmlns:a="http://schemas.openxmlformats.org/drawingml/2006/main" id="55" idx="6"/>
            <a:endCxn xmlns:a="http://schemas.openxmlformats.org/drawingml/2006/main" id="56" idx="2"/>
          </p:cNvCxnSpPr>
          <p:nvPr/>
        </p:nvCxnSpPr>
        <p:spPr>
          <a:xfrm xmlns:a="http://schemas.openxmlformats.org/drawingml/2006/main">
            <a:off x="4743450" y="4257675"/>
            <a:ext cx="116205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90" name=""/>
          <p:cNvCxnSpPr>
            <a:stCxn xmlns:a="http://schemas.openxmlformats.org/drawingml/2006/main" id="56" idx="6"/>
            <a:endCxn xmlns:a="http://schemas.openxmlformats.org/drawingml/2006/main" id="57" idx="2"/>
          </p:cNvCxnSpPr>
          <p:nvPr/>
        </p:nvCxnSpPr>
        <p:spPr>
          <a:xfrm xmlns:a="http://schemas.openxmlformats.org/drawingml/2006/main">
            <a:off x="7000875" y="4257675"/>
            <a:ext cx="1228725" cy="0"/>
          </a:xfrm>
          <a:prstGeom xmlns:a="http://schemas.openxmlformats.org/drawingml/2006/main" prst="straightConnector1">
            <a:avLst/>
          </a:prstGeom>
          <a:ln xmlns:a="http://schemas.openxmlformats.org/drawingml/2006/main" w="15240">
            <a:solidFill>
              <a:srgbClr val="71E7BD"/>
            </a:solidFill>
            <a:tailEnd type="triangle" w="sm" len="sm"/>
          </a:ln>
        </p:spPr>
      </p:cxnSp>
      <p:sp>
        <p:nvSpPr>
          <p:cNvPr id="66" name="sum-label">
            <a:extLst xmlns:a="http://schemas.openxmlformats.org/drawingml/2006/main">
              <a:ext uri="{FF2B5EF4-FFF2-40B4-BE49-F238E27FC236}">
                <a16:creationId xmlns:a16="http://schemas.microsoft.com/office/drawing/2014/main" id="{3BAAA28F-948C-4895-8FC4-FEA3B7D76314}"/>
              </a:ext>
            </a:extLst>
          </p:cNvPr>
          <p:cNvSpPr>
            <a:spLocks xmlns:a="http://schemas.openxmlformats.org/drawingml/2006/main" noGrp="1"/>
          </p:cNvSpPr>
          <p:nvPr/>
        </p:nvSpPr>
        <p:spPr>
          <a:xfrm xmlns:a="http://schemas.openxmlformats.org/drawingml/2006/main">
            <a:off x="3171825" y="2724150"/>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83DFFF"/>
                </a:solidFill>
                <a:latin typeface="JetBrains Mono"/>
                <a:ea typeface="JetBrains Mono"/>
                <a:cs typeface="JetBrains Mono"/>
              </a:defRPr>
            </a:pPr>
            <a:r>
              <a:rPr sz="1800" b="1" i="0">
                <a:solidFill>
                  <a:srgbClr val="83DFFF"/>
                </a:solidFill>
                <a:latin typeface="JetBrains Mono"/>
                <a:ea typeface="JetBrains Mono"/>
                <a:cs typeface="JetBrains Mono"/>
              </a:rPr>
              <a:t>Soma + viés</a:t>
            </a:r>
          </a:p>
        </p:txBody>
      </p:sp>
      <p:sp>
        <p:nvSpPr>
          <p:cNvPr id="67" name="activation-label">
            <a:extLst xmlns:a="http://schemas.openxmlformats.org/drawingml/2006/main">
              <a:ext uri="{FF2B5EF4-FFF2-40B4-BE49-F238E27FC236}">
                <a16:creationId xmlns:a16="http://schemas.microsoft.com/office/drawing/2014/main" id="{15C0C956-806E-444A-B42E-77B08236099C}"/>
              </a:ext>
            </a:extLst>
          </p:cNvPr>
          <p:cNvSpPr>
            <a:spLocks xmlns:a="http://schemas.openxmlformats.org/drawingml/2006/main" noGrp="1"/>
          </p:cNvSpPr>
          <p:nvPr/>
        </p:nvSpPr>
        <p:spPr>
          <a:xfrm xmlns:a="http://schemas.openxmlformats.org/drawingml/2006/main">
            <a:off x="5810250" y="272415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71E7BD"/>
                </a:solidFill>
                <a:latin typeface="JetBrains Mono"/>
                <a:ea typeface="JetBrains Mono"/>
                <a:cs typeface="JetBrains Mono"/>
              </a:defRPr>
            </a:pPr>
            <a:r>
              <a:rPr sz="1800" b="1" i="0">
                <a:solidFill>
                  <a:srgbClr val="71E7BD"/>
                </a:solidFill>
                <a:latin typeface="JetBrains Mono"/>
                <a:ea typeface="JetBrains Mono"/>
                <a:cs typeface="JetBrains Mono"/>
              </a:rPr>
              <a:t>Ativação</a:t>
            </a:r>
          </a:p>
        </p:txBody>
      </p:sp>
      <p:sp>
        <p:nvSpPr>
          <p:cNvPr id="68" name="output-label">
            <a:extLst xmlns:a="http://schemas.openxmlformats.org/drawingml/2006/main">
              <a:ext uri="{FF2B5EF4-FFF2-40B4-BE49-F238E27FC236}">
                <a16:creationId xmlns:a16="http://schemas.microsoft.com/office/drawing/2014/main" id="{F3132632-39F2-43AD-9412-700CE50AED30}"/>
              </a:ext>
            </a:extLst>
          </p:cNvPr>
          <p:cNvSpPr>
            <a:spLocks xmlns:a="http://schemas.openxmlformats.org/drawingml/2006/main" noGrp="1"/>
          </p:cNvSpPr>
          <p:nvPr/>
        </p:nvSpPr>
        <p:spPr>
          <a:xfrm xmlns:a="http://schemas.openxmlformats.org/drawingml/2006/main">
            <a:off x="8467725" y="2724150"/>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FFAD62"/>
                </a:solidFill>
                <a:latin typeface="JetBrains Mono"/>
                <a:ea typeface="JetBrains Mono"/>
                <a:cs typeface="JetBrains Mono"/>
              </a:defRPr>
            </a:pPr>
            <a:r>
              <a:rPr sz="1800" b="1" i="0">
                <a:solidFill>
                  <a:srgbClr val="FFAD62"/>
                </a:solidFill>
                <a:latin typeface="JetBrains Mono"/>
                <a:ea typeface="JetBrains Mono"/>
                <a:cs typeface="JetBrains Mono"/>
              </a:rPr>
              <a:t>Saída</a:t>
            </a:r>
          </a:p>
        </p:txBody>
      </p:sp>
      <p:sp>
        <p:nvSpPr>
          <p:cNvPr id="69" name="sum-equation">
            <a:extLst xmlns:a="http://schemas.openxmlformats.org/drawingml/2006/main">
              <a:ext uri="{FF2B5EF4-FFF2-40B4-BE49-F238E27FC236}">
                <a16:creationId xmlns:a16="http://schemas.microsoft.com/office/drawing/2014/main" id="{2472B40E-FFA1-4844-BAB0-05841AB2B60C}"/>
              </a:ext>
            </a:extLst>
          </p:cNvPr>
          <p:cNvSpPr>
            <a:spLocks xmlns:a="http://schemas.openxmlformats.org/drawingml/2006/main" noGrp="1"/>
          </p:cNvSpPr>
          <p:nvPr/>
        </p:nvSpPr>
        <p:spPr>
          <a:xfrm xmlns:a="http://schemas.openxmlformats.org/drawingml/2006/main">
            <a:off x="2619375" y="53625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83DFFF"/>
                </a:solidFill>
                <a:latin typeface="JetBrains Mono"/>
                <a:ea typeface="JetBrains Mono"/>
                <a:cs typeface="JetBrains Mono"/>
              </a:defRPr>
            </a:pPr>
            <a:r>
              <a:rPr sz="2250" b="0" i="0">
                <a:solidFill>
                  <a:srgbClr val="83DFFF"/>
                </a:solidFill>
                <a:latin typeface="JetBrains Mono"/>
                <a:ea typeface="JetBrains Mono"/>
                <a:cs typeface="JetBrains Mono"/>
              </a:rPr>
              <a:t>z = ∑ⱼ wⱼxⱼ + b</a:t>
            </a:r>
          </a:p>
        </p:txBody>
      </p:sp>
      <p:sp>
        <p:nvSpPr>
          <p:cNvPr id="70" name="output-equation">
            <a:extLst xmlns:a="http://schemas.openxmlformats.org/drawingml/2006/main">
              <a:ext uri="{FF2B5EF4-FFF2-40B4-BE49-F238E27FC236}">
                <a16:creationId xmlns:a16="http://schemas.microsoft.com/office/drawing/2014/main" id="{E922AC90-12A5-4E10-82D0-3F86E0962D57}"/>
              </a:ext>
            </a:extLst>
          </p:cNvPr>
          <p:cNvSpPr>
            <a:spLocks xmlns:a="http://schemas.openxmlformats.org/drawingml/2006/main" noGrp="1"/>
          </p:cNvSpPr>
          <p:nvPr/>
        </p:nvSpPr>
        <p:spPr>
          <a:xfrm xmlns:a="http://schemas.openxmlformats.org/drawingml/2006/main">
            <a:off x="8705850" y="5362575"/>
            <a:ext cx="3028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71E7BD"/>
                </a:solidFill>
                <a:latin typeface="JetBrains Mono"/>
                <a:ea typeface="JetBrains Mono"/>
                <a:cs typeface="JetBrains Mono"/>
              </a:defRPr>
            </a:pPr>
            <a:r>
              <a:rPr sz="2250" b="0" i="0">
                <a:solidFill>
                  <a:srgbClr val="71E7BD"/>
                </a:solidFill>
                <a:latin typeface="JetBrains Mono"/>
                <a:ea typeface="JetBrains Mono"/>
                <a:cs typeface="JetBrains Mono"/>
              </a:rPr>
              <a:t>h = φ(z)</a:t>
            </a:r>
          </a:p>
        </p:txBody>
      </p:sp>
    </p:spTree>
    <p:extLst>
      <p:ext uri="{BB962C8B-B14F-4D97-AF65-F5344CB8AC3E}">
        <p14:creationId xmlns:p14="http://schemas.microsoft.com/office/powerpoint/2010/main" val="33801002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9" name="Imagem 13"/>
          <p:cNvPicPr>
            <a:picLocks xmlns:a="http://schemas.openxmlformats.org/drawingml/2006/main" noChangeAspect="1"/>
          </p:cNvPicPr>
          <p:nvPr/>
        </p:nvPicPr>
        <p:blipFill>
          <a:blip xmlns:r="http://schemas.openxmlformats.org/officeDocument/2006/relationships" xmlns:a="http://schemas.openxmlformats.org/drawingml/2006/main" r:embed="R180bd89a89414db5"/>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Pesos e viés: um exemplo numérico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2" name=""/>
          <p:cNvGraphicFramePr/>
          <p:nvPr/>
        </p:nvGraphicFramePr>
        <p:xfrm>
          <a:off xmlns:a="http://schemas.openxmlformats.org/drawingml/2006/main" x="457200" y="2571750"/>
          <a:ext xmlns:a="http://schemas.openxmlformats.org/drawingml/2006/main" cx="5734050" cy="2257425"/>
        </p:xfrm>
        <a:graphic xmlns:a="http://schemas.openxmlformats.org/drawingml/2006/main">
          <a:graphicData uri="http://schemas.openxmlformats.org/drawingml/2006/table">
            <a:tbl>
              <a:tblPr firstRow="1" bandRow="0"/>
              <a:tblGrid>
                <a:gridCol w="1524000"/>
                <a:gridCol w="1181100"/>
                <a:gridCol w="1428750"/>
                <a:gridCol w="1600200"/>
              </a:tblGrid>
              <a:tr h="600075">
                <a:tc>
                  <a:txBody>
                    <a:bodyPr lIns="95250" tIns="57150" rIns="95250" bIns="57150">
                      <a:noAutofit/>
                    </a:bodyPr>
                    <a:lstStyle/>
                    <a:p>
                      <a:pPr algn="ctr"/>
                      <a:r>
                        <a:rPr sz="1725" b="1">
                          <a:solidFill>
                            <a:srgbClr val="FFFFFF"/>
                          </a:solidFill>
                          <a:latin typeface="JetBrains Mono"/>
                          <a:ea typeface="JetBrains Mono"/>
                          <a:cs typeface="JetBrains Mono"/>
                        </a:rPr>
                        <a:t>Entrada</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xⱼ</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wⱼ</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wⱼxⱼ</a:t>
                      </a:r>
                    </a:p>
                  </a:txBody>
                  <a:tcPr marL="91440" marR="91440" marT="45720" marB="45720" anchor="ctr">
                    <a:solidFill>
                      <a:srgbClr val="0053EB"/>
                    </a:solidFill>
                  </a:tcPr>
                </a:tc>
              </a:tr>
              <a:tr h="552450">
                <a:tc>
                  <a:txBody>
                    <a:bodyPr lIns="95250" tIns="57150" rIns="95250" bIns="57150">
                      <a:noAutofit/>
                    </a:bodyPr>
                    <a:lstStyle/>
                    <a:p>
                      <a:pPr algn="ctr"/>
                      <a:r>
                        <a:rPr sz="1725" b="0">
                          <a:solidFill>
                            <a:srgbClr val="FFFFFF"/>
                          </a:solidFill>
                          <a:latin typeface="JetBrains Mono"/>
                          <a:ea typeface="JetBrains Mono"/>
                          <a:cs typeface="JetBrains Mono"/>
                        </a:rPr>
                        <a:t>x₁</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2</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0,5</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1,0</a:t>
                      </a:r>
                    </a:p>
                  </a:txBody>
                  <a:tcPr marL="91440" marR="91440" marT="45720" marB="45720" anchor="ctr">
                    <a:solidFill>
                      <a:srgbClr val="082950"/>
                    </a:solidFill>
                  </a:tcPr>
                </a:tc>
              </a:tr>
              <a:tr h="552450">
                <a:tc>
                  <a:txBody>
                    <a:bodyPr lIns="95250" tIns="57150" rIns="95250" bIns="57150">
                      <a:noAutofit/>
                    </a:bodyPr>
                    <a:lstStyle/>
                    <a:p>
                      <a:pPr algn="ctr"/>
                      <a:r>
                        <a:rPr sz="1725" b="0">
                          <a:solidFill>
                            <a:srgbClr val="FFFFFF"/>
                          </a:solidFill>
                          <a:latin typeface="JetBrains Mono"/>
                          <a:ea typeface="JetBrains Mono"/>
                          <a:cs typeface="JetBrains Mono"/>
                        </a:rPr>
                        <a:t>x₂</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1,2</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1,2</a:t>
                      </a:r>
                    </a:p>
                  </a:txBody>
                  <a:tcPr marL="91440" marR="91440" marT="45720" marB="45720" anchor="ctr">
                    <a:solidFill>
                      <a:srgbClr val="031A39"/>
                    </a:solidFill>
                  </a:tcPr>
                </a:tc>
              </a:tr>
              <a:tr h="552450">
                <a:tc>
                  <a:txBody>
                    <a:bodyPr lIns="95250" tIns="57150" rIns="95250" bIns="57150">
                      <a:noAutofit/>
                    </a:bodyPr>
                    <a:lstStyle/>
                    <a:p>
                      <a:pPr algn="ctr"/>
                      <a:r>
                        <a:rPr sz="1725" b="0">
                          <a:solidFill>
                            <a:srgbClr val="FFFFFF"/>
                          </a:solidFill>
                          <a:latin typeface="JetBrains Mono"/>
                          <a:ea typeface="JetBrains Mono"/>
                          <a:cs typeface="JetBrains Mono"/>
                        </a:rPr>
                        <a:t>x₃</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3</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−0,4</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−1,2</a:t>
                      </a:r>
                    </a:p>
                  </a:txBody>
                  <a:tcPr marL="91440" marR="91440" marT="45720" marB="45720" anchor="ctr">
                    <a:solidFill>
                      <a:srgbClr val="082950"/>
                    </a:solidFill>
                  </a:tcPr>
                </a:tc>
              </a:tr>
            </a:tbl>
          </a:graphicData>
        </a:graphic>
      </p:graphicFrame>
      <p:graphicFrame>
        <p:nvGraphicFramePr>
          <p:cNvPr id="63" name="Chart"/>
          <p:cNvGraphicFramePr/>
          <p:nvPr/>
        </p:nvGraphicFramePr>
        <p:xfrm>
          <a:off xmlns:a="http://schemas.openxmlformats.org/drawingml/2006/main" x="6734175" y="2428875"/>
          <a:ext xmlns:a="http://schemas.openxmlformats.org/drawingml/2006/main" cx="5000625" cy="2762250"/>
        </p:xfrm>
        <a:graphic xmlns:a="http://schemas.openxmlformats.org/drawingml/2006/main">
          <a:graphicData uri="http://schemas.openxmlformats.org/drawingml/2006/chart">
            <c:chart xmlns:r="http://schemas.openxmlformats.org/officeDocument/2006/relationships" xmlns:c="http://schemas.openxmlformats.org/drawingml/2006/chart" r:id="R9814e2057f6e403a"/>
          </a:graphicData>
        </a:graphic>
      </p:graphicFrame>
      <p:sp>
        <p:nvSpPr>
          <p:cNvPr id="54" name="bias-value">
            <a:extLst xmlns:a="http://schemas.openxmlformats.org/drawingml/2006/main">
              <a:ext uri="{FF2B5EF4-FFF2-40B4-BE49-F238E27FC236}">
                <a16:creationId xmlns:a16="http://schemas.microsoft.com/office/drawing/2014/main" id="{BFC6B943-C5E3-4620-A4BB-E691D31E5A7E}"/>
              </a:ext>
            </a:extLst>
          </p:cNvPr>
          <p:cNvSpPr>
            <a:spLocks xmlns:a="http://schemas.openxmlformats.org/drawingml/2006/main" noGrp="1"/>
          </p:cNvSpPr>
          <p:nvPr/>
        </p:nvSpPr>
        <p:spPr>
          <a:xfrm xmlns:a="http://schemas.openxmlformats.org/drawingml/2006/main">
            <a:off x="457200" y="5086350"/>
            <a:ext cx="573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91A4BD"/>
                </a:solidFill>
                <a:latin typeface="JetBrains Mono"/>
                <a:ea typeface="JetBrains Mono"/>
                <a:cs typeface="JetBrains Mono"/>
              </a:defRPr>
            </a:pPr>
            <a:r>
              <a:rPr sz="2025" b="0" i="0">
                <a:solidFill>
                  <a:srgbClr val="91A4BD"/>
                </a:solidFill>
                <a:latin typeface="JetBrains Mono"/>
                <a:ea typeface="JetBrains Mono"/>
                <a:cs typeface="JetBrains Mono"/>
              </a:rPr>
              <a:t>b = 0,2</a:t>
            </a:r>
          </a:p>
        </p:txBody>
      </p:sp>
      <p:sp>
        <p:nvSpPr>
          <p:cNvPr id="55" name="sum-value">
            <a:extLst xmlns:a="http://schemas.openxmlformats.org/drawingml/2006/main">
              <a:ext uri="{FF2B5EF4-FFF2-40B4-BE49-F238E27FC236}">
                <a16:creationId xmlns:a16="http://schemas.microsoft.com/office/drawing/2014/main" id="{3A96B056-A981-4706-A5EB-CD523A4B5C60}"/>
              </a:ext>
            </a:extLst>
          </p:cNvPr>
          <p:cNvSpPr>
            <a:spLocks xmlns:a="http://schemas.openxmlformats.org/drawingml/2006/main" noGrp="1"/>
          </p:cNvSpPr>
          <p:nvPr/>
        </p:nvSpPr>
        <p:spPr>
          <a:xfrm xmlns:a="http://schemas.openxmlformats.org/drawingml/2006/main">
            <a:off x="457200" y="55435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83DFFF"/>
                </a:solidFill>
                <a:latin typeface="JetBrains Mono"/>
                <a:ea typeface="JetBrains Mono"/>
                <a:cs typeface="JetBrains Mono"/>
              </a:defRPr>
            </a:pPr>
            <a:r>
              <a:rPr sz="2025" b="0" i="0">
                <a:solidFill>
                  <a:srgbClr val="83DFFF"/>
                </a:solidFill>
                <a:latin typeface="JetBrains Mono"/>
                <a:ea typeface="JetBrains Mono"/>
                <a:cs typeface="JetBrains Mono"/>
              </a:rPr>
              <a:t>z = 1 + 1,2 − 1,2 + 0,2 = 1,2</a:t>
            </a:r>
          </a:p>
        </p:txBody>
      </p:sp>
    </p:spTree>
    <p:extLst>
      <p:ext uri="{BB962C8B-B14F-4D97-AF65-F5344CB8AC3E}">
        <p14:creationId xmlns:p14="http://schemas.microsoft.com/office/powerpoint/2010/main" val="33801002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0" name="Imagem 13"/>
          <p:cNvPicPr>
            <a:picLocks xmlns:a="http://schemas.openxmlformats.org/drawingml/2006/main" noChangeAspect="1"/>
          </p:cNvPicPr>
          <p:nvPr/>
        </p:nvPicPr>
        <p:blipFill>
          <a:blip xmlns:r="http://schemas.openxmlformats.org/officeDocument/2006/relationships" xmlns:a="http://schemas.openxmlformats.org/drawingml/2006/main" r:embed="Ra6ae879498e7497c"/>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Neurônio linear e regressão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3" name="Chart"/>
          <p:cNvGraphicFramePr/>
          <p:nvPr/>
        </p:nvGraphicFramePr>
        <p:xfrm>
          <a:off xmlns:a="http://schemas.openxmlformats.org/drawingml/2006/main" x="457200" y="2562225"/>
          <a:ext xmlns:a="http://schemas.openxmlformats.org/drawingml/2006/main" cx="6534150" cy="3219450"/>
        </p:xfrm>
        <a:graphic xmlns:a="http://schemas.openxmlformats.org/drawingml/2006/main">
          <a:graphicData uri="http://schemas.openxmlformats.org/drawingml/2006/chart">
            <c:chart xmlns:r="http://schemas.openxmlformats.org/officeDocument/2006/relationships" xmlns:c="http://schemas.openxmlformats.org/drawingml/2006/chart" r:id="R5d53cd4f85404134"/>
          </a:graphicData>
        </a:graphic>
      </p:graphicFrame>
      <p:sp>
        <p:nvSpPr>
          <p:cNvPr id="53" name="identity-title">
            <a:extLst xmlns:a="http://schemas.openxmlformats.org/drawingml/2006/main">
              <a:ext uri="{FF2B5EF4-FFF2-40B4-BE49-F238E27FC236}">
                <a16:creationId xmlns:a16="http://schemas.microsoft.com/office/drawing/2014/main" id="{529F5F92-B21E-498B-9726-AA0B535D45AB}"/>
              </a:ext>
            </a:extLst>
          </p:cNvPr>
          <p:cNvSpPr>
            <a:spLocks xmlns:a="http://schemas.openxmlformats.org/drawingml/2006/main" noGrp="1"/>
          </p:cNvSpPr>
          <p:nvPr/>
        </p:nvSpPr>
        <p:spPr>
          <a:xfrm xmlns:a="http://schemas.openxmlformats.org/drawingml/2006/main">
            <a:off x="7505700" y="2495550"/>
            <a:ext cx="422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83DFFF"/>
                </a:solidFill>
                <a:latin typeface="JetBrains Mono"/>
                <a:ea typeface="JetBrains Mono"/>
                <a:cs typeface="JetBrains Mono"/>
              </a:defRPr>
            </a:pPr>
            <a:r>
              <a:rPr sz="1800" b="1" i="0">
                <a:solidFill>
                  <a:srgbClr val="83DFFF"/>
                </a:solidFill>
                <a:latin typeface="JetBrains Mono"/>
                <a:ea typeface="JetBrains Mono"/>
                <a:cs typeface="JetBrains Mono"/>
              </a:rPr>
              <a:t>Ativação identidade</a:t>
            </a:r>
          </a:p>
        </p:txBody>
      </p:sp>
      <p:sp>
        <p:nvSpPr>
          <p:cNvPr id="54" name="linear-model">
            <a:extLst xmlns:a="http://schemas.openxmlformats.org/drawingml/2006/main">
              <a:ext uri="{FF2B5EF4-FFF2-40B4-BE49-F238E27FC236}">
                <a16:creationId xmlns:a16="http://schemas.microsoft.com/office/drawing/2014/main" id="{814397E3-1A2F-43BD-B3C6-AA68BD375489}"/>
              </a:ext>
            </a:extLst>
          </p:cNvPr>
          <p:cNvSpPr>
            <a:spLocks xmlns:a="http://schemas.openxmlformats.org/drawingml/2006/main" noGrp="1"/>
          </p:cNvSpPr>
          <p:nvPr/>
        </p:nvSpPr>
        <p:spPr>
          <a:xfrm xmlns:a="http://schemas.openxmlformats.org/drawingml/2006/main">
            <a:off x="7505700" y="3133725"/>
            <a:ext cx="4229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83DFFF"/>
                </a:solidFill>
                <a:latin typeface="JetBrains Mono"/>
                <a:ea typeface="JetBrains Mono"/>
                <a:cs typeface="JetBrains Mono"/>
              </a:defRPr>
            </a:pPr>
            <a:r>
              <a:rPr sz="2250" b="0" i="0">
                <a:solidFill>
                  <a:srgbClr val="83DFFF"/>
                </a:solidFill>
                <a:latin typeface="JetBrains Mono"/>
                <a:ea typeface="JetBrains Mono"/>
                <a:cs typeface="JetBrains Mono"/>
              </a:rPr>
              <a:t>φ(z) = z</a:t>
            </a:r>
          </a:p>
          <a:p xmlns:a="http://schemas.openxmlformats.org/drawingml/2006/main">
            <a:pPr algn="l">
              <a:defRPr sz="2250" b="0" i="0">
                <a:solidFill>
                  <a:srgbClr val="83DFFF"/>
                </a:solidFill>
                <a:latin typeface="JetBrains Mono"/>
                <a:ea typeface="JetBrains Mono"/>
                <a:cs typeface="JetBrains Mono"/>
              </a:defRPr>
            </a:pPr>
            <a:r>
              <a:rPr sz="2250" b="0" i="0">
                <a:solidFill>
                  <a:srgbClr val="83DFFF"/>
                </a:solidFill>
                <a:latin typeface="JetBrains Mono"/>
                <a:ea typeface="JetBrains Mono"/>
                <a:cs typeface="JetBrains Mono"/>
              </a:rPr>
              <a:t>ŷ = wx + b</a:t>
            </a:r>
          </a:p>
        </p:txBody>
      </p:sp>
      <p:sp>
        <p:nvSpPr>
          <p:cNvPr id="55" name="linear-example">
            <a:extLst xmlns:a="http://schemas.openxmlformats.org/drawingml/2006/main">
              <a:ext uri="{FF2B5EF4-FFF2-40B4-BE49-F238E27FC236}">
                <a16:creationId xmlns:a16="http://schemas.microsoft.com/office/drawing/2014/main" id="{0E8B39EB-DD05-421D-968E-92D694359A55}"/>
              </a:ext>
            </a:extLst>
          </p:cNvPr>
          <p:cNvSpPr>
            <a:spLocks xmlns:a="http://schemas.openxmlformats.org/drawingml/2006/main" noGrp="1"/>
          </p:cNvSpPr>
          <p:nvPr/>
        </p:nvSpPr>
        <p:spPr>
          <a:xfrm xmlns:a="http://schemas.openxmlformats.org/drawingml/2006/main">
            <a:off x="7505700" y="4343400"/>
            <a:ext cx="42291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Neste exemplo:</a:t>
            </a:r>
          </a:p>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w = 2 e b = 1</a:t>
            </a:r>
          </a:p>
        </p:txBody>
      </p:sp>
      <p:sp>
        <p:nvSpPr>
          <p:cNvPr id="56" name="caption">
            <a:extLst xmlns:a="http://schemas.openxmlformats.org/drawingml/2006/main">
              <a:ext uri="{FF2B5EF4-FFF2-40B4-BE49-F238E27FC236}">
                <a16:creationId xmlns:a16="http://schemas.microsoft.com/office/drawing/2014/main" id="{D9901F3C-12B2-4C12-A069-EA3136AC89A4}"/>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Dados didáticos adimensionais. Cinza: y. Ciano: ŷ.</a:t>
            </a:r>
          </a:p>
        </p:txBody>
      </p:sp>
    </p:spTree>
    <p:extLst>
      <p:ext uri="{BB962C8B-B14F-4D97-AF65-F5344CB8AC3E}">
        <p14:creationId xmlns:p14="http://schemas.microsoft.com/office/powerpoint/2010/main" val="33801002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2" name="Imagem 13"/>
          <p:cNvPicPr>
            <a:picLocks xmlns:a="http://schemas.openxmlformats.org/drawingml/2006/main" noChangeAspect="1"/>
          </p:cNvPicPr>
          <p:nvPr/>
        </p:nvPicPr>
        <p:blipFill>
          <a:blip xmlns:r="http://schemas.openxmlformats.org/officeDocument/2006/relationships" xmlns:a="http://schemas.openxmlformats.org/drawingml/2006/main" r:embed="Ra146809dee234da7"/>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Resíduo: direção e magnitude</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5" name="Chart"/>
          <p:cNvGraphicFramePr/>
          <p:nvPr/>
        </p:nvGraphicFramePr>
        <p:xfrm>
          <a:off xmlns:a="http://schemas.openxmlformats.org/drawingml/2006/main" x="457200" y="2714625"/>
          <a:ext xmlns:a="http://schemas.openxmlformats.org/drawingml/2006/main" cx="6667500" cy="2886075"/>
        </p:xfrm>
        <a:graphic xmlns:a="http://schemas.openxmlformats.org/drawingml/2006/main">
          <a:graphicData uri="http://schemas.openxmlformats.org/drawingml/2006/chart">
            <c:chart xmlns:r="http://schemas.openxmlformats.org/officeDocument/2006/relationships" xmlns:c="http://schemas.openxmlformats.org/drawingml/2006/chart" r:id="R62c05555c7e249fa"/>
          </a:graphicData>
        </a:graphic>
      </p:graphicFrame>
      <p:sp>
        <p:nvSpPr>
          <p:cNvPr id="53" name="residual-definition">
            <a:extLst xmlns:a="http://schemas.openxmlformats.org/drawingml/2006/main">
              <a:ext uri="{FF2B5EF4-FFF2-40B4-BE49-F238E27FC236}">
                <a16:creationId xmlns:a16="http://schemas.microsoft.com/office/drawing/2014/main" id="{B140A152-5E5D-419B-BEE4-178E16B515D2}"/>
              </a:ext>
            </a:extLst>
          </p:cNvPr>
          <p:cNvSpPr>
            <a:spLocks xmlns:a="http://schemas.openxmlformats.org/drawingml/2006/main" noGrp="1"/>
          </p:cNvSpPr>
          <p:nvPr/>
        </p:nvSpPr>
        <p:spPr>
          <a:xfrm xmlns:a="http://schemas.openxmlformats.org/drawingml/2006/main">
            <a:off x="7667625" y="2476500"/>
            <a:ext cx="4067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83DFFF"/>
                </a:solidFill>
                <a:latin typeface="JetBrains Mono"/>
                <a:ea typeface="JetBrains Mono"/>
                <a:cs typeface="JetBrains Mono"/>
              </a:defRPr>
            </a:pPr>
            <a:r>
              <a:rPr sz="2400" b="0" i="0">
                <a:solidFill>
                  <a:srgbClr val="83DFFF"/>
                </a:solidFill>
                <a:latin typeface="JetBrains Mono"/>
                <a:ea typeface="JetBrains Mono"/>
                <a:cs typeface="JetBrains Mono"/>
              </a:rPr>
              <a:t>eᵢ = yᵢ − ŷᵢ</a:t>
            </a:r>
          </a:p>
        </p:txBody>
      </p:sp>
      <p:sp>
        <p:nvSpPr>
          <p:cNvPr id="54" name="underprediction">
            <a:extLst xmlns:a="http://schemas.openxmlformats.org/drawingml/2006/main">
              <a:ext uri="{FF2B5EF4-FFF2-40B4-BE49-F238E27FC236}">
                <a16:creationId xmlns:a16="http://schemas.microsoft.com/office/drawing/2014/main" id="{EE696442-98E4-48D7-ADED-AC966B54960A}"/>
              </a:ext>
            </a:extLst>
          </p:cNvPr>
          <p:cNvSpPr>
            <a:spLocks xmlns:a="http://schemas.openxmlformats.org/drawingml/2006/main" noGrp="1"/>
          </p:cNvSpPr>
          <p:nvPr/>
        </p:nvSpPr>
        <p:spPr>
          <a:xfrm xmlns:a="http://schemas.openxmlformats.org/drawingml/2006/main">
            <a:off x="7667625" y="3419475"/>
            <a:ext cx="4067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i="0">
                <a:solidFill>
                  <a:srgbClr val="83DFFF"/>
                </a:solidFill>
                <a:latin typeface="JetBrains Mono"/>
                <a:ea typeface="JetBrains Mono"/>
                <a:cs typeface="JetBrains Mono"/>
              </a:defRPr>
            </a:pPr>
            <a:r>
              <a:rPr sz="2025" b="1" i="0">
                <a:solidFill>
                  <a:srgbClr val="83DFFF"/>
                </a:solidFill>
                <a:latin typeface="JetBrains Mono"/>
                <a:ea typeface="JetBrains Mono"/>
                <a:cs typeface="JetBrains Mono"/>
              </a:rPr>
              <a:t>e &gt; 0</a:t>
            </a:r>
          </a:p>
        </p:txBody>
      </p:sp>
      <p:sp>
        <p:nvSpPr>
          <p:cNvPr id="55" name="underprediction-explanation">
            <a:extLst xmlns:a="http://schemas.openxmlformats.org/drawingml/2006/main">
              <a:ext uri="{FF2B5EF4-FFF2-40B4-BE49-F238E27FC236}">
                <a16:creationId xmlns:a16="http://schemas.microsoft.com/office/drawing/2014/main" id="{296B46B5-F78D-4014-BF0F-A99BDAB5BF98}"/>
              </a:ext>
            </a:extLst>
          </p:cNvPr>
          <p:cNvSpPr>
            <a:spLocks xmlns:a="http://schemas.openxmlformats.org/drawingml/2006/main" noGrp="1"/>
          </p:cNvSpPr>
          <p:nvPr/>
        </p:nvSpPr>
        <p:spPr>
          <a:xfrm xmlns:a="http://schemas.openxmlformats.org/drawingml/2006/main">
            <a:off x="7667625" y="3895725"/>
            <a:ext cx="40671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A previsão fica abaixo</a:t>
            </a:r>
          </a:p>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do valor observado.</a:t>
            </a:r>
          </a:p>
        </p:txBody>
      </p:sp>
      <p:sp>
        <p:nvSpPr>
          <p:cNvPr id="56" name="overprediction">
            <a:extLst xmlns:a="http://schemas.openxmlformats.org/drawingml/2006/main">
              <a:ext uri="{FF2B5EF4-FFF2-40B4-BE49-F238E27FC236}">
                <a16:creationId xmlns:a16="http://schemas.microsoft.com/office/drawing/2014/main" id="{E1D6D244-973D-4F6C-8E90-A7C656C28CE5}"/>
              </a:ext>
            </a:extLst>
          </p:cNvPr>
          <p:cNvSpPr>
            <a:spLocks xmlns:a="http://schemas.openxmlformats.org/drawingml/2006/main" noGrp="1"/>
          </p:cNvSpPr>
          <p:nvPr/>
        </p:nvSpPr>
        <p:spPr>
          <a:xfrm xmlns:a="http://schemas.openxmlformats.org/drawingml/2006/main">
            <a:off x="7667625" y="4829175"/>
            <a:ext cx="4067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i="0">
                <a:solidFill>
                  <a:srgbClr val="FFAD62"/>
                </a:solidFill>
                <a:latin typeface="JetBrains Mono"/>
                <a:ea typeface="JetBrains Mono"/>
                <a:cs typeface="JetBrains Mono"/>
              </a:defRPr>
            </a:pPr>
            <a:r>
              <a:rPr sz="2025" b="1" i="0">
                <a:solidFill>
                  <a:srgbClr val="FFAD62"/>
                </a:solidFill>
                <a:latin typeface="JetBrains Mono"/>
                <a:ea typeface="JetBrains Mono"/>
                <a:cs typeface="JetBrains Mono"/>
              </a:rPr>
              <a:t>e &lt; 0</a:t>
            </a:r>
          </a:p>
        </p:txBody>
      </p:sp>
      <p:sp>
        <p:nvSpPr>
          <p:cNvPr id="57" name="overprediction-explanation">
            <a:extLst xmlns:a="http://schemas.openxmlformats.org/drawingml/2006/main">
              <a:ext uri="{FF2B5EF4-FFF2-40B4-BE49-F238E27FC236}">
                <a16:creationId xmlns:a16="http://schemas.microsoft.com/office/drawing/2014/main" id="{74D51309-3F99-4335-B3C2-AAD3F584763A}"/>
              </a:ext>
            </a:extLst>
          </p:cNvPr>
          <p:cNvSpPr>
            <a:spLocks xmlns:a="http://schemas.openxmlformats.org/drawingml/2006/main" noGrp="1"/>
          </p:cNvSpPr>
          <p:nvPr/>
        </p:nvSpPr>
        <p:spPr>
          <a:xfrm xmlns:a="http://schemas.openxmlformats.org/drawingml/2006/main">
            <a:off x="7667625" y="5305425"/>
            <a:ext cx="4067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A previsão fica acima</a:t>
            </a:r>
          </a:p>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do valor observado.</a:t>
            </a:r>
          </a:p>
        </p:txBody>
      </p:sp>
      <p:sp>
        <p:nvSpPr>
          <p:cNvPr id="58" name="caption">
            <a:extLst xmlns:a="http://schemas.openxmlformats.org/drawingml/2006/main">
              <a:ext uri="{FF2B5EF4-FFF2-40B4-BE49-F238E27FC236}">
                <a16:creationId xmlns:a16="http://schemas.microsoft.com/office/drawing/2014/main" id="{20B12768-97B4-49FF-8768-4CE584878FA4}"/>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Mesmo exemplo do slide anterior. O sinal do resíduo segue e = y − ŷ.</a:t>
            </a:r>
          </a:p>
        </p:txBody>
      </p:sp>
    </p:spTree>
    <p:extLst>
      <p:ext uri="{BB962C8B-B14F-4D97-AF65-F5344CB8AC3E}">
        <p14:creationId xmlns:p14="http://schemas.microsoft.com/office/powerpoint/2010/main" val="33801002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1" name="Imagem 13"/>
          <p:cNvPicPr>
            <a:picLocks xmlns:a="http://schemas.openxmlformats.org/drawingml/2006/main" noChangeAspect="1"/>
          </p:cNvPicPr>
          <p:nvPr/>
        </p:nvPicPr>
        <p:blipFill>
          <a:blip xmlns:r="http://schemas.openxmlformats.org/officeDocument/2006/relationships" xmlns:a="http://schemas.openxmlformats.org/drawingml/2006/main" r:embed="R48c6cb593a554f70"/>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MSE e influência dos erros</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4" name="Chart"/>
          <p:cNvGraphicFramePr/>
          <p:nvPr/>
        </p:nvGraphicFramePr>
        <p:xfrm>
          <a:off xmlns:a="http://schemas.openxmlformats.org/drawingml/2006/main" x="457200" y="2676525"/>
          <a:ext xmlns:a="http://schemas.openxmlformats.org/drawingml/2006/main" cx="5905500" cy="2990850"/>
        </p:xfrm>
        <a:graphic xmlns:a="http://schemas.openxmlformats.org/drawingml/2006/main">
          <a:graphicData uri="http://schemas.openxmlformats.org/drawingml/2006/chart">
            <c:chart xmlns:r="http://schemas.openxmlformats.org/officeDocument/2006/relationships" xmlns:c="http://schemas.openxmlformats.org/drawingml/2006/chart" r:id="Rd6dcf09c962e44a7"/>
          </a:graphicData>
        </a:graphic>
      </p:graphicFrame>
      <p:sp>
        <p:nvSpPr>
          <p:cNvPr id="53" name="mse-equation">
            <a:extLst xmlns:a="http://schemas.openxmlformats.org/drawingml/2006/main">
              <a:ext uri="{FF2B5EF4-FFF2-40B4-BE49-F238E27FC236}">
                <a16:creationId xmlns:a16="http://schemas.microsoft.com/office/drawing/2014/main" id="{85F52335-A7F4-4E95-91A0-CD9242259C59}"/>
              </a:ext>
            </a:extLst>
          </p:cNvPr>
          <p:cNvSpPr>
            <a:spLocks xmlns:a="http://schemas.openxmlformats.org/drawingml/2006/main" noGrp="1"/>
          </p:cNvSpPr>
          <p:nvPr/>
        </p:nvSpPr>
        <p:spPr>
          <a:xfrm xmlns:a="http://schemas.openxmlformats.org/drawingml/2006/main">
            <a:off x="6953250" y="2505075"/>
            <a:ext cx="4781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83DFFF"/>
                </a:solidFill>
                <a:latin typeface="JetBrains Mono"/>
                <a:ea typeface="JetBrains Mono"/>
                <a:cs typeface="JetBrains Mono"/>
              </a:defRPr>
            </a:pPr>
            <a:r>
              <a:rPr sz="2175" b="0" i="0">
                <a:solidFill>
                  <a:srgbClr val="83DFFF"/>
                </a:solidFill>
                <a:latin typeface="JetBrains Mono"/>
                <a:ea typeface="JetBrains Mono"/>
                <a:cs typeface="JetBrains Mono"/>
              </a:rPr>
              <a:t>MSE = (1/N) ∑ᵢ eᵢ²</a:t>
            </a:r>
          </a:p>
        </p:txBody>
      </p:sp>
      <p:sp>
        <p:nvSpPr>
          <p:cNvPr id="54" name="mse-calculation">
            <a:extLst xmlns:a="http://schemas.openxmlformats.org/drawingml/2006/main">
              <a:ext uri="{FF2B5EF4-FFF2-40B4-BE49-F238E27FC236}">
                <a16:creationId xmlns:a16="http://schemas.microsoft.com/office/drawing/2014/main" id="{FB1A5DF4-8D02-4D33-A5E9-694CD9A44A7C}"/>
              </a:ext>
            </a:extLst>
          </p:cNvPr>
          <p:cNvSpPr>
            <a:spLocks xmlns:a="http://schemas.openxmlformats.org/drawingml/2006/main" noGrp="1"/>
          </p:cNvSpPr>
          <p:nvPr/>
        </p:nvSpPr>
        <p:spPr>
          <a:xfrm xmlns:a="http://schemas.openxmlformats.org/drawingml/2006/main">
            <a:off x="6953250" y="3448050"/>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FFFFFF"/>
                </a:solidFill>
                <a:latin typeface="JetBrains Mono"/>
                <a:ea typeface="JetBrains Mono"/>
                <a:cs typeface="JetBrains Mono"/>
              </a:defRPr>
            </a:pPr>
            <a:r>
              <a:rPr sz="2025" b="0" i="0">
                <a:solidFill>
                  <a:srgbClr val="FFFFFF"/>
                </a:solidFill>
                <a:latin typeface="JetBrains Mono"/>
                <a:ea typeface="JetBrains Mono"/>
                <a:cs typeface="JetBrains Mono"/>
              </a:rPr>
              <a:t>(0 + 1 + 4 + 1 + 0)/5</a:t>
            </a:r>
          </a:p>
        </p:txBody>
      </p:sp>
      <p:sp>
        <p:nvSpPr>
          <p:cNvPr id="55" name="mse-result">
            <a:extLst xmlns:a="http://schemas.openxmlformats.org/drawingml/2006/main">
              <a:ext uri="{FF2B5EF4-FFF2-40B4-BE49-F238E27FC236}">
                <a16:creationId xmlns:a16="http://schemas.microsoft.com/office/drawing/2014/main" id="{45226CC2-56E5-4195-A3AC-DDC16BA6E4D0}"/>
              </a:ext>
            </a:extLst>
          </p:cNvPr>
          <p:cNvSpPr>
            <a:spLocks xmlns:a="http://schemas.openxmlformats.org/drawingml/2006/main" noGrp="1"/>
          </p:cNvSpPr>
          <p:nvPr/>
        </p:nvSpPr>
        <p:spPr>
          <a:xfrm xmlns:a="http://schemas.openxmlformats.org/drawingml/2006/main">
            <a:off x="6953250" y="4105275"/>
            <a:ext cx="478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i="0">
                <a:solidFill>
                  <a:srgbClr val="71E7BD"/>
                </a:solidFill>
                <a:latin typeface="JetBrains Mono"/>
                <a:ea typeface="JetBrains Mono"/>
                <a:cs typeface="JetBrains Mono"/>
              </a:defRPr>
            </a:pPr>
            <a:r>
              <a:rPr sz="2625" b="0" i="0">
                <a:solidFill>
                  <a:srgbClr val="71E7BD"/>
                </a:solidFill>
                <a:latin typeface="JetBrains Mono"/>
                <a:ea typeface="JetBrains Mono"/>
                <a:cs typeface="JetBrains Mono"/>
              </a:rPr>
              <a:t>MSE = 1,2</a:t>
            </a:r>
          </a:p>
        </p:txBody>
      </p:sp>
      <p:sp>
        <p:nvSpPr>
          <p:cNvPr id="56" name="squared-error-weight">
            <a:extLst xmlns:a="http://schemas.openxmlformats.org/drawingml/2006/main">
              <a:ext uri="{FF2B5EF4-FFF2-40B4-BE49-F238E27FC236}">
                <a16:creationId xmlns:a16="http://schemas.microsoft.com/office/drawing/2014/main" id="{EC2EDCA0-576E-4962-9138-7EDA45A0A013}"/>
              </a:ext>
            </a:extLst>
          </p:cNvPr>
          <p:cNvSpPr>
            <a:spLocks xmlns:a="http://schemas.openxmlformats.org/drawingml/2006/main" noGrp="1"/>
          </p:cNvSpPr>
          <p:nvPr/>
        </p:nvSpPr>
        <p:spPr>
          <a:xfrm xmlns:a="http://schemas.openxmlformats.org/drawingml/2006/main">
            <a:off x="6953250" y="5095875"/>
            <a:ext cx="4781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Um erro duas vezes maior</a:t>
            </a:r>
          </a:p>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contribui quatro vezes mais.</a:t>
            </a:r>
          </a:p>
        </p:txBody>
      </p:sp>
      <p:sp>
        <p:nvSpPr>
          <p:cNvPr id="57" name="caption">
            <a:extLst xmlns:a="http://schemas.openxmlformats.org/drawingml/2006/main">
              <a:ext uri="{FF2B5EF4-FFF2-40B4-BE49-F238E27FC236}">
                <a16:creationId xmlns:a16="http://schemas.microsoft.com/office/drawing/2014/main" id="{19716585-1C39-4278-91F5-E354920602DD}"/>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Exemplo adimensional. Para Q em m³/s, o MSE tem unidade (m³/s)².</a:t>
            </a:r>
          </a:p>
        </p:txBody>
      </p:sp>
    </p:spTree>
    <p:extLst>
      <p:ext uri="{BB962C8B-B14F-4D97-AF65-F5344CB8AC3E}">
        <p14:creationId xmlns:p14="http://schemas.microsoft.com/office/powerpoint/2010/main" val="33801002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5" name="Imagem 13"/>
          <p:cNvPicPr>
            <a:picLocks xmlns:a="http://schemas.openxmlformats.org/drawingml/2006/main" noChangeAspect="1"/>
          </p:cNvPicPr>
          <p:nvPr/>
        </p:nvPicPr>
        <p:blipFill>
          <a:blip xmlns:r="http://schemas.openxmlformats.org/officeDocument/2006/relationships" xmlns:a="http://schemas.openxmlformats.org/drawingml/2006/main" r:embed="Rc856f3e1752e45a6"/>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Funções de ativação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activation-title-0">
            <a:extLst xmlns:a="http://schemas.openxmlformats.org/drawingml/2006/main">
              <a:ext uri="{FF2B5EF4-FFF2-40B4-BE49-F238E27FC236}">
                <a16:creationId xmlns:a16="http://schemas.microsoft.com/office/drawing/2014/main" id="{347EB50E-0843-4C98-88AE-5E02B7248AA4}"/>
              </a:ext>
            </a:extLst>
          </p:cNvPr>
          <p:cNvSpPr>
            <a:spLocks xmlns:a="http://schemas.openxmlformats.org/drawingml/2006/main" noGrp="1"/>
          </p:cNvSpPr>
          <p:nvPr/>
        </p:nvSpPr>
        <p:spPr>
          <a:xfrm xmlns:a="http://schemas.openxmlformats.org/drawingml/2006/main">
            <a:off x="457200" y="2438400"/>
            <a:ext cx="3543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83DFFF"/>
                </a:solidFill>
                <a:latin typeface="JetBrains Mono"/>
                <a:ea typeface="JetBrains Mono"/>
                <a:cs typeface="JetBrains Mono"/>
              </a:defRPr>
            </a:pPr>
            <a:r>
              <a:rPr sz="2100" b="1" i="0">
                <a:solidFill>
                  <a:srgbClr val="83DFFF"/>
                </a:solidFill>
                <a:latin typeface="JetBrains Mono"/>
                <a:ea typeface="JetBrains Mono"/>
                <a:cs typeface="JetBrains Mono"/>
              </a:rPr>
              <a:t>ReLU</a:t>
            </a:r>
          </a:p>
        </p:txBody>
      </p:sp>
      <p:graphicFrame>
        <p:nvGraphicFramePr>
          <p:cNvPr id="69" name="Chart"/>
          <p:cNvGraphicFramePr/>
          <p:nvPr/>
        </p:nvGraphicFramePr>
        <p:xfrm>
          <a:off xmlns:a="http://schemas.openxmlformats.org/drawingml/2006/main" x="457200" y="2981325"/>
          <a:ext xmlns:a="http://schemas.openxmlformats.org/drawingml/2006/main" cx="3562350" cy="2295525"/>
        </p:xfrm>
        <a:graphic xmlns:a="http://schemas.openxmlformats.org/drawingml/2006/main">
          <a:graphicData uri="http://schemas.openxmlformats.org/drawingml/2006/chart">
            <c:chart xmlns:r="http://schemas.openxmlformats.org/officeDocument/2006/relationships" xmlns:c="http://schemas.openxmlformats.org/drawingml/2006/chart" r:id="R7a5003cf1a334bcb"/>
          </a:graphicData>
        </a:graphic>
      </p:graphicFrame>
      <p:sp>
        <p:nvSpPr>
          <p:cNvPr id="54" name="activation-formula-0">
            <a:extLst xmlns:a="http://schemas.openxmlformats.org/drawingml/2006/main">
              <a:ext uri="{FF2B5EF4-FFF2-40B4-BE49-F238E27FC236}">
                <a16:creationId xmlns:a16="http://schemas.microsoft.com/office/drawing/2014/main" id="{FD03167A-8AA8-457E-9C7E-2C69F82F8139}"/>
              </a:ext>
            </a:extLst>
          </p:cNvPr>
          <p:cNvSpPr>
            <a:spLocks xmlns:a="http://schemas.openxmlformats.org/drawingml/2006/main" noGrp="1"/>
          </p:cNvSpPr>
          <p:nvPr/>
        </p:nvSpPr>
        <p:spPr>
          <a:xfrm xmlns:a="http://schemas.openxmlformats.org/drawingml/2006/main">
            <a:off x="457200" y="5457825"/>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0">
                <a:solidFill>
                  <a:srgbClr val="83DFFF"/>
                </a:solidFill>
                <a:latin typeface="JetBrains Mono"/>
                <a:ea typeface="JetBrains Mono"/>
                <a:cs typeface="JetBrains Mono"/>
              </a:defRPr>
            </a:pPr>
            <a:r>
              <a:rPr sz="1725" b="0" i="0">
                <a:solidFill>
                  <a:srgbClr val="83DFFF"/>
                </a:solidFill>
                <a:latin typeface="JetBrains Mono"/>
                <a:ea typeface="JetBrains Mono"/>
                <a:cs typeface="JetBrains Mono"/>
              </a:rPr>
              <a:t>max(0, z)</a:t>
            </a:r>
          </a:p>
        </p:txBody>
      </p:sp>
      <p:sp>
        <p:nvSpPr>
          <p:cNvPr id="55" name="activation-title-1">
            <a:extLst xmlns:a="http://schemas.openxmlformats.org/drawingml/2006/main">
              <a:ext uri="{FF2B5EF4-FFF2-40B4-BE49-F238E27FC236}">
                <a16:creationId xmlns:a16="http://schemas.microsoft.com/office/drawing/2014/main" id="{4AAD7A00-5CD7-422A-8FD6-A3775997A83D}"/>
              </a:ext>
            </a:extLst>
          </p:cNvPr>
          <p:cNvSpPr>
            <a:spLocks xmlns:a="http://schemas.openxmlformats.org/drawingml/2006/main" noGrp="1"/>
          </p:cNvSpPr>
          <p:nvPr/>
        </p:nvSpPr>
        <p:spPr>
          <a:xfrm xmlns:a="http://schemas.openxmlformats.org/drawingml/2006/main">
            <a:off x="4267200" y="2438400"/>
            <a:ext cx="3543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71E7BD"/>
                </a:solidFill>
                <a:latin typeface="JetBrains Mono"/>
                <a:ea typeface="JetBrains Mono"/>
                <a:cs typeface="JetBrains Mono"/>
              </a:defRPr>
            </a:pPr>
            <a:r>
              <a:rPr sz="2100" b="1" i="0">
                <a:solidFill>
                  <a:srgbClr val="71E7BD"/>
                </a:solidFill>
                <a:latin typeface="JetBrains Mono"/>
                <a:ea typeface="JetBrains Mono"/>
                <a:cs typeface="JetBrains Mono"/>
              </a:rPr>
              <a:t>Sigmoide</a:t>
            </a:r>
          </a:p>
        </p:txBody>
      </p:sp>
      <p:graphicFrame>
        <p:nvGraphicFramePr>
          <p:cNvPr id="72" name="Chart"/>
          <p:cNvGraphicFramePr/>
          <p:nvPr/>
        </p:nvGraphicFramePr>
        <p:xfrm>
          <a:off xmlns:a="http://schemas.openxmlformats.org/drawingml/2006/main" x="4267200" y="2981325"/>
          <a:ext xmlns:a="http://schemas.openxmlformats.org/drawingml/2006/main" cx="3562350" cy="2295525"/>
        </p:xfrm>
        <a:graphic xmlns:a="http://schemas.openxmlformats.org/drawingml/2006/main">
          <a:graphicData uri="http://schemas.openxmlformats.org/drawingml/2006/chart">
            <c:chart xmlns:r="http://schemas.openxmlformats.org/officeDocument/2006/relationships" xmlns:c="http://schemas.openxmlformats.org/drawingml/2006/chart" r:id="R32c708e62b5b4f91"/>
          </a:graphicData>
        </a:graphic>
      </p:graphicFrame>
      <p:sp>
        <p:nvSpPr>
          <p:cNvPr id="57" name="activation-formula-1">
            <a:extLst xmlns:a="http://schemas.openxmlformats.org/drawingml/2006/main">
              <a:ext uri="{FF2B5EF4-FFF2-40B4-BE49-F238E27FC236}">
                <a16:creationId xmlns:a16="http://schemas.microsoft.com/office/drawing/2014/main" id="{CF757AE3-A9A9-4A94-82EC-C681A043D476}"/>
              </a:ext>
            </a:extLst>
          </p:cNvPr>
          <p:cNvSpPr>
            <a:spLocks xmlns:a="http://schemas.openxmlformats.org/drawingml/2006/main" noGrp="1"/>
          </p:cNvSpPr>
          <p:nvPr/>
        </p:nvSpPr>
        <p:spPr>
          <a:xfrm xmlns:a="http://schemas.openxmlformats.org/drawingml/2006/main">
            <a:off x="4267200" y="5457825"/>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0">
                <a:solidFill>
                  <a:srgbClr val="71E7BD"/>
                </a:solidFill>
                <a:latin typeface="JetBrains Mono"/>
                <a:ea typeface="JetBrains Mono"/>
                <a:cs typeface="JetBrains Mono"/>
              </a:defRPr>
            </a:pPr>
            <a:r>
              <a:rPr sz="1725" b="0" i="0">
                <a:solidFill>
                  <a:srgbClr val="71E7BD"/>
                </a:solidFill>
                <a:latin typeface="JetBrains Mono"/>
                <a:ea typeface="JetBrains Mono"/>
                <a:cs typeface="JetBrains Mono"/>
              </a:rPr>
              <a:t>1/(1 + exp(−z))</a:t>
            </a:r>
          </a:p>
        </p:txBody>
      </p:sp>
      <p:sp>
        <p:nvSpPr>
          <p:cNvPr id="58" name="activation-title-2">
            <a:extLst xmlns:a="http://schemas.openxmlformats.org/drawingml/2006/main">
              <a:ext uri="{FF2B5EF4-FFF2-40B4-BE49-F238E27FC236}">
                <a16:creationId xmlns:a16="http://schemas.microsoft.com/office/drawing/2014/main" id="{103457D0-B898-4A57-987C-89F16FA1AC55}"/>
              </a:ext>
            </a:extLst>
          </p:cNvPr>
          <p:cNvSpPr>
            <a:spLocks xmlns:a="http://schemas.openxmlformats.org/drawingml/2006/main" noGrp="1"/>
          </p:cNvSpPr>
          <p:nvPr/>
        </p:nvSpPr>
        <p:spPr>
          <a:xfrm xmlns:a="http://schemas.openxmlformats.org/drawingml/2006/main">
            <a:off x="8077200" y="2438400"/>
            <a:ext cx="3543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FFAD62"/>
                </a:solidFill>
                <a:latin typeface="JetBrains Mono"/>
                <a:ea typeface="JetBrains Mono"/>
                <a:cs typeface="JetBrains Mono"/>
              </a:defRPr>
            </a:pPr>
            <a:r>
              <a:rPr sz="2100" b="1" i="0">
                <a:solidFill>
                  <a:srgbClr val="FFAD62"/>
                </a:solidFill>
                <a:latin typeface="JetBrains Mono"/>
                <a:ea typeface="JetBrains Mono"/>
                <a:cs typeface="JetBrains Mono"/>
              </a:rPr>
              <a:t>tanh</a:t>
            </a:r>
          </a:p>
        </p:txBody>
      </p:sp>
      <p:graphicFrame>
        <p:nvGraphicFramePr>
          <p:cNvPr id="75" name="Chart"/>
          <p:cNvGraphicFramePr/>
          <p:nvPr/>
        </p:nvGraphicFramePr>
        <p:xfrm>
          <a:off xmlns:a="http://schemas.openxmlformats.org/drawingml/2006/main" x="8077200" y="2981325"/>
          <a:ext xmlns:a="http://schemas.openxmlformats.org/drawingml/2006/main" cx="3562350" cy="2295525"/>
        </p:xfrm>
        <a:graphic xmlns:a="http://schemas.openxmlformats.org/drawingml/2006/main">
          <a:graphicData uri="http://schemas.openxmlformats.org/drawingml/2006/chart">
            <c:chart xmlns:r="http://schemas.openxmlformats.org/officeDocument/2006/relationships" xmlns:c="http://schemas.openxmlformats.org/drawingml/2006/chart" r:id="Re0e6dec41e464a16"/>
          </a:graphicData>
        </a:graphic>
      </p:graphicFrame>
      <p:sp>
        <p:nvSpPr>
          <p:cNvPr id="60" name="activation-formula-2">
            <a:extLst xmlns:a="http://schemas.openxmlformats.org/drawingml/2006/main">
              <a:ext uri="{FF2B5EF4-FFF2-40B4-BE49-F238E27FC236}">
                <a16:creationId xmlns:a16="http://schemas.microsoft.com/office/drawing/2014/main" id="{DE218912-3BE9-470E-B298-508E55D440D3}"/>
              </a:ext>
            </a:extLst>
          </p:cNvPr>
          <p:cNvSpPr>
            <a:spLocks xmlns:a="http://schemas.openxmlformats.org/drawingml/2006/main" noGrp="1"/>
          </p:cNvSpPr>
          <p:nvPr/>
        </p:nvSpPr>
        <p:spPr>
          <a:xfrm xmlns:a="http://schemas.openxmlformats.org/drawingml/2006/main">
            <a:off x="8077200" y="5457825"/>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0">
                <a:solidFill>
                  <a:srgbClr val="FFAD62"/>
                </a:solidFill>
                <a:latin typeface="JetBrains Mono"/>
                <a:ea typeface="JetBrains Mono"/>
                <a:cs typeface="JetBrains Mono"/>
              </a:defRPr>
            </a:pPr>
            <a:r>
              <a:rPr sz="1725" b="0" i="0">
                <a:solidFill>
                  <a:srgbClr val="FFAD62"/>
                </a:solidFill>
                <a:latin typeface="JetBrains Mono"/>
                <a:ea typeface="JetBrains Mono"/>
                <a:cs typeface="JetBrains Mono"/>
              </a:rPr>
              <a:t>tanh(z)</a:t>
            </a:r>
          </a:p>
        </p:txBody>
      </p:sp>
      <p:sp>
        <p:nvSpPr>
          <p:cNvPr id="61" name="caption">
            <a:extLst xmlns:a="http://schemas.openxmlformats.org/drawingml/2006/main">
              <a:ext uri="{FF2B5EF4-FFF2-40B4-BE49-F238E27FC236}">
                <a16:creationId xmlns:a16="http://schemas.microsoft.com/office/drawing/2014/main" id="{63DAEDEC-35EE-40CF-887A-FD4C7CE9CBCA}"/>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Sigmoide e tanh saturam. A ReLU tem derivada zero para z &lt; 0.</a:t>
            </a:r>
          </a:p>
        </p:txBody>
      </p:sp>
    </p:spTree>
    <p:extLst>
      <p:ext uri="{BB962C8B-B14F-4D97-AF65-F5344CB8AC3E}">
        <p14:creationId xmlns:p14="http://schemas.microsoft.com/office/powerpoint/2010/main" val="338010029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0" name="Imagem 13"/>
          <p:cNvPicPr>
            <a:picLocks xmlns:a="http://schemas.openxmlformats.org/drawingml/2006/main" noChangeAspect="1"/>
          </p:cNvPicPr>
          <p:nvPr/>
        </p:nvPicPr>
        <p:blipFill>
          <a:blip xmlns:r="http://schemas.openxmlformats.org/officeDocument/2006/relationships" xmlns:a="http://schemas.openxmlformats.org/drawingml/2006/main" r:embed="R1f9947c5daef4711"/>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Camadas lineares e não linearidade</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affine-composition">
            <a:extLst xmlns:a="http://schemas.openxmlformats.org/drawingml/2006/main">
              <a:ext uri="{FF2B5EF4-FFF2-40B4-BE49-F238E27FC236}">
                <a16:creationId xmlns:a16="http://schemas.microsoft.com/office/drawing/2014/main" id="{51BF457E-D3B1-4BDC-9A03-2679309F497E}"/>
              </a:ext>
            </a:extLst>
          </p:cNvPr>
          <p:cNvSpPr>
            <a:spLocks xmlns:a="http://schemas.openxmlformats.org/drawingml/2006/main" noGrp="1"/>
          </p:cNvSpPr>
          <p:nvPr/>
        </p:nvSpPr>
        <p:spPr>
          <a:xfrm xmlns:a="http://schemas.openxmlformats.org/drawingml/2006/main">
            <a:off x="457200" y="2409825"/>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Sem ativação não linear:</a:t>
            </a:r>
          </a:p>
        </p:txBody>
      </p:sp>
      <p:sp>
        <p:nvSpPr>
          <p:cNvPr id="53" name="affine-equation">
            <a:extLst xmlns:a="http://schemas.openxmlformats.org/drawingml/2006/main">
              <a:ext uri="{FF2B5EF4-FFF2-40B4-BE49-F238E27FC236}">
                <a16:creationId xmlns:a16="http://schemas.microsoft.com/office/drawing/2014/main" id="{CEAD3EDC-A07A-4110-BD73-1DE8B36023C0}"/>
              </a:ext>
            </a:extLst>
          </p:cNvPr>
          <p:cNvSpPr>
            <a:spLocks xmlns:a="http://schemas.openxmlformats.org/drawingml/2006/main" noGrp="1"/>
          </p:cNvSpPr>
          <p:nvPr/>
        </p:nvSpPr>
        <p:spPr>
          <a:xfrm xmlns:a="http://schemas.openxmlformats.org/drawingml/2006/main">
            <a:off x="457200" y="3048000"/>
            <a:ext cx="11277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i="0">
                <a:solidFill>
                  <a:srgbClr val="83DFFF"/>
                </a:solidFill>
                <a:latin typeface="JetBrains Mono"/>
                <a:ea typeface="JetBrains Mono"/>
                <a:cs typeface="JetBrains Mono"/>
              </a:defRPr>
            </a:pPr>
            <a:r>
              <a:rPr sz="2325" b="0" i="0">
                <a:solidFill>
                  <a:srgbClr val="83DFFF"/>
                </a:solidFill>
                <a:latin typeface="JetBrains Mono"/>
                <a:ea typeface="JetBrains Mono"/>
                <a:cs typeface="JetBrains Mono"/>
              </a:rPr>
              <a:t>ŷ = W₂(W₁x + b₁) + b₂ = Wₑx + bₑ</a:t>
            </a:r>
          </a:p>
        </p:txBody>
      </p:sp>
      <p:sp>
        <p:nvSpPr>
          <p:cNvPr id="54" name="affine-description">
            <a:extLst xmlns:a="http://schemas.openxmlformats.org/drawingml/2006/main">
              <a:ext uri="{FF2B5EF4-FFF2-40B4-BE49-F238E27FC236}">
                <a16:creationId xmlns:a16="http://schemas.microsoft.com/office/drawing/2014/main" id="{FABB7135-44E1-4E69-82C2-FFF82405E49D}"/>
              </a:ext>
            </a:extLst>
          </p:cNvPr>
          <p:cNvSpPr>
            <a:spLocks xmlns:a="http://schemas.openxmlformats.org/drawingml/2006/main" noGrp="1"/>
          </p:cNvSpPr>
          <p:nvPr/>
        </p:nvSpPr>
        <p:spPr>
          <a:xfrm xmlns:a="http://schemas.openxmlformats.org/drawingml/2006/main">
            <a:off x="457200" y="3867150"/>
            <a:ext cx="11277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A composição de camadas afins continua sendo uma função afim.</a:t>
            </a:r>
          </a:p>
        </p:txBody>
      </p:sp>
      <p:sp>
        <p:nvSpPr>
          <p:cNvPr id="55" name="nonlinear-composition">
            <a:extLst xmlns:a="http://schemas.openxmlformats.org/drawingml/2006/main">
              <a:ext uri="{FF2B5EF4-FFF2-40B4-BE49-F238E27FC236}">
                <a16:creationId xmlns:a16="http://schemas.microsoft.com/office/drawing/2014/main" id="{65DEBAA5-BDBB-4EC3-AF75-637057AB125A}"/>
              </a:ext>
            </a:extLst>
          </p:cNvPr>
          <p:cNvSpPr>
            <a:spLocks xmlns:a="http://schemas.openxmlformats.org/drawingml/2006/main" noGrp="1"/>
          </p:cNvSpPr>
          <p:nvPr/>
        </p:nvSpPr>
        <p:spPr>
          <a:xfrm xmlns:a="http://schemas.openxmlformats.org/drawingml/2006/main">
            <a:off x="457200" y="4733925"/>
            <a:ext cx="1127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Com uma ativação não linear:</a:t>
            </a:r>
          </a:p>
        </p:txBody>
      </p:sp>
      <p:sp>
        <p:nvSpPr>
          <p:cNvPr id="56" name="nonlinear-equation">
            <a:extLst xmlns:a="http://schemas.openxmlformats.org/drawingml/2006/main">
              <a:ext uri="{FF2B5EF4-FFF2-40B4-BE49-F238E27FC236}">
                <a16:creationId xmlns:a16="http://schemas.microsoft.com/office/drawing/2014/main" id="{2CF4BF58-656A-4AC1-A5C0-27A6A923D88F}"/>
              </a:ext>
            </a:extLst>
          </p:cNvPr>
          <p:cNvSpPr>
            <a:spLocks xmlns:a="http://schemas.openxmlformats.org/drawingml/2006/main" noGrp="1"/>
          </p:cNvSpPr>
          <p:nvPr/>
        </p:nvSpPr>
        <p:spPr>
          <a:xfrm xmlns:a="http://schemas.openxmlformats.org/drawingml/2006/main">
            <a:off x="457200" y="5324475"/>
            <a:ext cx="11277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i="0">
                <a:solidFill>
                  <a:srgbClr val="71E7BD"/>
                </a:solidFill>
                <a:latin typeface="JetBrains Mono"/>
                <a:ea typeface="JetBrains Mono"/>
                <a:cs typeface="JetBrains Mono"/>
              </a:defRPr>
            </a:pPr>
            <a:r>
              <a:rPr sz="2325" b="0" i="0">
                <a:solidFill>
                  <a:srgbClr val="71E7BD"/>
                </a:solidFill>
                <a:latin typeface="JetBrains Mono"/>
                <a:ea typeface="JetBrains Mono"/>
                <a:cs typeface="JetBrains Mono"/>
              </a:rPr>
              <a:t>h = φ(W₁x + b₁)     ŷ = W₂h + b₂</a:t>
            </a:r>
          </a:p>
        </p:txBody>
      </p:sp>
    </p:spTree>
    <p:extLst>
      <p:ext uri="{BB962C8B-B14F-4D97-AF65-F5344CB8AC3E}">
        <p14:creationId xmlns:p14="http://schemas.microsoft.com/office/powerpoint/2010/main" val="33801002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9" name="Imagem 13"/>
          <p:cNvPicPr>
            <a:picLocks xmlns:a="http://schemas.openxmlformats.org/drawingml/2006/main" noChangeAspect="1"/>
          </p:cNvPicPr>
          <p:nvPr/>
        </p:nvPicPr>
        <p:blipFill>
          <a:blip xmlns:r="http://schemas.openxmlformats.org/officeDocument/2006/relationships" xmlns:a="http://schemas.openxmlformats.org/drawingml/2006/main" r:embed="R9dd124643b554e69"/>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Perceptron e separação linear</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2" name="Chart"/>
          <p:cNvGraphicFramePr/>
          <p:nvPr/>
        </p:nvGraphicFramePr>
        <p:xfrm>
          <a:off xmlns:a="http://schemas.openxmlformats.org/drawingml/2006/main" x="457200" y="2466975"/>
          <a:ext xmlns:a="http://schemas.openxmlformats.org/drawingml/2006/main" cx="4953000" cy="3314700"/>
        </p:xfrm>
        <a:graphic xmlns:a="http://schemas.openxmlformats.org/drawingml/2006/main">
          <a:graphicData uri="http://schemas.openxmlformats.org/drawingml/2006/chart">
            <c:chart xmlns:r="http://schemas.openxmlformats.org/officeDocument/2006/relationships" xmlns:c="http://schemas.openxmlformats.org/drawingml/2006/chart" r:id="Rc14391d7cae44f13"/>
          </a:graphicData>
        </a:graphic>
      </p:graphicFrame>
      <p:sp>
        <p:nvSpPr>
          <p:cNvPr id="53" name="and-label">
            <a:extLst xmlns:a="http://schemas.openxmlformats.org/drawingml/2006/main">
              <a:ext uri="{FF2B5EF4-FFF2-40B4-BE49-F238E27FC236}">
                <a16:creationId xmlns:a16="http://schemas.microsoft.com/office/drawing/2014/main" id="{CA16F9C2-2486-4903-9250-AD6942206094}"/>
              </a:ext>
            </a:extLst>
          </p:cNvPr>
          <p:cNvSpPr>
            <a:spLocks xmlns:a="http://schemas.openxmlformats.org/drawingml/2006/main" noGrp="1"/>
          </p:cNvSpPr>
          <p:nvPr/>
        </p:nvSpPr>
        <p:spPr>
          <a:xfrm xmlns:a="http://schemas.openxmlformats.org/drawingml/2006/main">
            <a:off x="6410325" y="2447925"/>
            <a:ext cx="5324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i="0">
                <a:solidFill>
                  <a:srgbClr val="83DFFF"/>
                </a:solidFill>
                <a:latin typeface="JetBrains Mono"/>
                <a:ea typeface="JetBrains Mono"/>
                <a:cs typeface="JetBrains Mono"/>
              </a:defRPr>
            </a:pPr>
            <a:r>
              <a:rPr sz="2025" b="1" i="0">
                <a:solidFill>
                  <a:srgbClr val="83DFFF"/>
                </a:solidFill>
                <a:latin typeface="JetBrains Mono"/>
                <a:ea typeface="JetBrains Mono"/>
                <a:cs typeface="JetBrains Mono"/>
              </a:rPr>
              <a:t>Exemplo AND</a:t>
            </a:r>
          </a:p>
        </p:txBody>
      </p:sp>
      <p:sp>
        <p:nvSpPr>
          <p:cNvPr id="54" name="perceptron-rule">
            <a:extLst xmlns:a="http://schemas.openxmlformats.org/drawingml/2006/main">
              <a:ext uri="{FF2B5EF4-FFF2-40B4-BE49-F238E27FC236}">
                <a16:creationId xmlns:a16="http://schemas.microsoft.com/office/drawing/2014/main" id="{71DF9EC9-184E-4F18-8E84-8DC50975C4B7}"/>
              </a:ext>
            </a:extLst>
          </p:cNvPr>
          <p:cNvSpPr>
            <a:spLocks xmlns:a="http://schemas.openxmlformats.org/drawingml/2006/main" noGrp="1"/>
          </p:cNvSpPr>
          <p:nvPr/>
        </p:nvSpPr>
        <p:spPr>
          <a:xfrm xmlns:a="http://schemas.openxmlformats.org/drawingml/2006/main">
            <a:off x="6410325" y="3086100"/>
            <a:ext cx="53244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83DFFF"/>
                </a:solidFill>
                <a:latin typeface="JetBrains Mono"/>
                <a:ea typeface="JetBrains Mono"/>
                <a:cs typeface="JetBrains Mono"/>
              </a:defRPr>
            </a:pPr>
            <a:r>
              <a:rPr sz="2025" b="0" i="0">
                <a:solidFill>
                  <a:srgbClr val="83DFFF"/>
                </a:solidFill>
                <a:latin typeface="JetBrains Mono"/>
                <a:ea typeface="JetBrains Mono"/>
                <a:cs typeface="JetBrains Mono"/>
              </a:rPr>
              <a:t>z = x₁ + x₂ − 1,5</a:t>
            </a:r>
          </a:p>
          <a:p xmlns:a="http://schemas.openxmlformats.org/drawingml/2006/main">
            <a:pPr algn="l">
              <a:defRPr sz="2025" b="0" i="0">
                <a:solidFill>
                  <a:srgbClr val="83DFFF"/>
                </a:solidFill>
                <a:latin typeface="JetBrains Mono"/>
                <a:ea typeface="JetBrains Mono"/>
                <a:cs typeface="JetBrains Mono"/>
              </a:defRPr>
            </a:pPr>
            <a:r>
              <a:rPr sz="2025" b="0" i="0">
                <a:solidFill>
                  <a:srgbClr val="83DFFF"/>
                </a:solidFill>
                <a:latin typeface="JetBrains Mono"/>
                <a:ea typeface="JetBrains Mono"/>
                <a:cs typeface="JetBrains Mono"/>
              </a:rPr>
              <a:t>ŷ = 1 se z ≥ 0</a:t>
            </a:r>
          </a:p>
          <a:p xmlns:a="http://schemas.openxmlformats.org/drawingml/2006/main">
            <a:pPr algn="l">
              <a:defRPr sz="2025" b="0" i="0">
                <a:solidFill>
                  <a:srgbClr val="83DFFF"/>
                </a:solidFill>
                <a:latin typeface="JetBrains Mono"/>
                <a:ea typeface="JetBrains Mono"/>
                <a:cs typeface="JetBrains Mono"/>
              </a:defRPr>
            </a:pPr>
            <a:r>
              <a:rPr sz="2025" b="0" i="0">
                <a:solidFill>
                  <a:srgbClr val="83DFFF"/>
                </a:solidFill>
                <a:latin typeface="JetBrains Mono"/>
                <a:ea typeface="JetBrains Mono"/>
                <a:cs typeface="JetBrains Mono"/>
              </a:rPr>
              <a:t>ŷ = 0 se z &lt; 0</a:t>
            </a:r>
          </a:p>
        </p:txBody>
      </p:sp>
      <p:sp>
        <p:nvSpPr>
          <p:cNvPr id="55" name="perceptron-boundary">
            <a:extLst xmlns:a="http://schemas.openxmlformats.org/drawingml/2006/main">
              <a:ext uri="{FF2B5EF4-FFF2-40B4-BE49-F238E27FC236}">
                <a16:creationId xmlns:a16="http://schemas.microsoft.com/office/drawing/2014/main" id="{9D8B15C8-7CAC-45C3-AEE3-755CA12B9972}"/>
              </a:ext>
            </a:extLst>
          </p:cNvPr>
          <p:cNvSpPr>
            <a:spLocks xmlns:a="http://schemas.openxmlformats.org/drawingml/2006/main" noGrp="1"/>
          </p:cNvSpPr>
          <p:nvPr/>
        </p:nvSpPr>
        <p:spPr>
          <a:xfrm xmlns:a="http://schemas.openxmlformats.org/drawingml/2006/main">
            <a:off x="6410325" y="4895850"/>
            <a:ext cx="53244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A fronteira z = 0 separa</a:t>
            </a:r>
          </a:p>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as quatro combinações.</a:t>
            </a:r>
          </a:p>
        </p:txBody>
      </p:sp>
    </p:spTree>
    <p:extLst>
      <p:ext uri="{BB962C8B-B14F-4D97-AF65-F5344CB8AC3E}">
        <p14:creationId xmlns:p14="http://schemas.microsoft.com/office/powerpoint/2010/main" val="33801002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8" name="Imagem 13"/>
          <p:cNvPicPr>
            <a:picLocks xmlns:a="http://schemas.openxmlformats.org/drawingml/2006/main" noChangeAspect="1"/>
          </p:cNvPicPr>
          <p:nvPr/>
        </p:nvPicPr>
        <p:blipFill>
          <a:blip xmlns:r="http://schemas.openxmlformats.org/officeDocument/2006/relationships" xmlns:a="http://schemas.openxmlformats.org/drawingml/2006/main" r:embed="R4a35e78354fc4c2a"/>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O problema XOR</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1" name="Chart"/>
          <p:cNvGraphicFramePr/>
          <p:nvPr/>
        </p:nvGraphicFramePr>
        <p:xfrm>
          <a:off xmlns:a="http://schemas.openxmlformats.org/drawingml/2006/main" x="457200" y="2571750"/>
          <a:ext xmlns:a="http://schemas.openxmlformats.org/drawingml/2006/main" cx="4876800" cy="3209925"/>
        </p:xfrm>
        <a:graphic xmlns:a="http://schemas.openxmlformats.org/drawingml/2006/main">
          <a:graphicData uri="http://schemas.openxmlformats.org/drawingml/2006/chart">
            <c:chart xmlns:r="http://schemas.openxmlformats.org/officeDocument/2006/relationships" xmlns:c="http://schemas.openxmlformats.org/drawingml/2006/chart" r:id="Rfc8ce2732018438a"/>
          </a:graphicData>
        </a:graphic>
      </p:graphicFrame>
      <p:graphicFrame>
        <p:nvGraphicFramePr>
          <p:cNvPr id="62" name=""/>
          <p:cNvGraphicFramePr/>
          <p:nvPr/>
        </p:nvGraphicFramePr>
        <p:xfrm>
          <a:off xmlns:a="http://schemas.openxmlformats.org/drawingml/2006/main" x="6562725" y="2476500"/>
          <a:ext xmlns:a="http://schemas.openxmlformats.org/drawingml/2006/main" cx="5172075" cy="2381250"/>
        </p:xfrm>
        <a:graphic xmlns:a="http://schemas.openxmlformats.org/drawingml/2006/main">
          <a:graphicData uri="http://schemas.openxmlformats.org/drawingml/2006/table">
            <a:tbl>
              <a:tblPr firstRow="1" bandRow="0"/>
              <a:tblGrid>
                <a:gridCol w="1724025"/>
                <a:gridCol w="1724025"/>
                <a:gridCol w="1724025"/>
              </a:tblGrid>
              <a:tr h="476250">
                <a:tc>
                  <a:txBody>
                    <a:bodyPr lIns="95250" tIns="57150" rIns="95250" bIns="57150">
                      <a:noAutofit/>
                    </a:bodyPr>
                    <a:lstStyle/>
                    <a:p>
                      <a:pPr algn="ctr"/>
                      <a:r>
                        <a:rPr sz="1725" b="1">
                          <a:solidFill>
                            <a:srgbClr val="FFFFFF"/>
                          </a:solidFill>
                          <a:latin typeface="JetBrains Mono"/>
                          <a:ea typeface="JetBrains Mono"/>
                          <a:cs typeface="JetBrains Mono"/>
                        </a:rPr>
                        <a:t>x₁</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x₂</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XOR</a:t>
                      </a:r>
                    </a:p>
                  </a:txBody>
                  <a:tcPr marL="91440" marR="91440" marT="45720" marB="45720" anchor="ctr">
                    <a:solidFill>
                      <a:srgbClr val="0053EB"/>
                    </a:solidFill>
                  </a:tcPr>
                </a:tc>
              </a:tr>
              <a:tr h="476250">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r>
              <a:tr h="476250">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31A39"/>
                    </a:solidFill>
                  </a:tcPr>
                </a:tc>
              </a:tr>
              <a:tr h="476250">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82950"/>
                    </a:solidFill>
                  </a:tcPr>
                </a:tc>
              </a:tr>
              <a:tr h="476250">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31A39"/>
                    </a:solidFill>
                  </a:tcPr>
                </a:tc>
              </a:tr>
            </a:tbl>
          </a:graphicData>
        </a:graphic>
      </p:graphicFrame>
      <p:sp>
        <p:nvSpPr>
          <p:cNvPr id="54" name="xor-explanation">
            <a:extLst xmlns:a="http://schemas.openxmlformats.org/drawingml/2006/main">
              <a:ext uri="{FF2B5EF4-FFF2-40B4-BE49-F238E27FC236}">
                <a16:creationId xmlns:a16="http://schemas.microsoft.com/office/drawing/2014/main" id="{4D277368-6391-44A8-AE3B-E1A2B3A9963D}"/>
              </a:ext>
            </a:extLst>
          </p:cNvPr>
          <p:cNvSpPr>
            <a:spLocks xmlns:a="http://schemas.openxmlformats.org/drawingml/2006/main" noGrp="1"/>
          </p:cNvSpPr>
          <p:nvPr/>
        </p:nvSpPr>
        <p:spPr>
          <a:xfrm xmlns:a="http://schemas.openxmlformats.org/drawingml/2006/main">
            <a:off x="6562725" y="5238750"/>
            <a:ext cx="51720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Uma única reta não separa</a:t>
            </a:r>
          </a:p>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essas classes.</a:t>
            </a:r>
          </a:p>
        </p:txBody>
      </p:sp>
    </p:spTree>
    <p:extLst>
      <p:ext uri="{BB962C8B-B14F-4D97-AF65-F5344CB8AC3E}">
        <p14:creationId xmlns:p14="http://schemas.microsoft.com/office/powerpoint/2010/main" val="33801002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73" name="Imagem 13"/>
          <p:cNvPicPr>
            <a:picLocks xmlns:a="http://schemas.openxmlformats.org/drawingml/2006/main" noChangeAspect="1"/>
          </p:cNvPicPr>
          <p:nvPr/>
        </p:nvPicPr>
        <p:blipFill>
          <a:blip xmlns:r="http://schemas.openxmlformats.org/officeDocument/2006/relationships" xmlns:a="http://schemas.openxmlformats.org/drawingml/2006/main" r:embed="R4aa84ffd6fff4bb2"/>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XOR com uma camada oculta</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xor-x1">
            <a:extLst xmlns:a="http://schemas.openxmlformats.org/drawingml/2006/main">
              <a:ext uri="{FF2B5EF4-FFF2-40B4-BE49-F238E27FC236}">
                <a16:creationId xmlns:a16="http://schemas.microsoft.com/office/drawing/2014/main" id="{9DBFE206-C087-46D0-9AE9-250668416320}"/>
              </a:ext>
            </a:extLst>
          </p:cNvPr>
          <p:cNvSpPr>
            <a:spLocks xmlns:a="http://schemas.openxmlformats.org/drawingml/2006/main" noGrp="1"/>
          </p:cNvSpPr>
          <p:nvPr/>
        </p:nvSpPr>
        <p:spPr>
          <a:xfrm xmlns:a="http://schemas.openxmlformats.org/drawingml/2006/main">
            <a:off x="638175" y="3219450"/>
            <a:ext cx="742950" cy="628650"/>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x₁</a:t>
            </a:r>
          </a:p>
        </p:txBody>
      </p:sp>
      <p:sp>
        <p:nvSpPr>
          <p:cNvPr id="53" name="xor-x2">
            <a:extLst xmlns:a="http://schemas.openxmlformats.org/drawingml/2006/main">
              <a:ext uri="{FF2B5EF4-FFF2-40B4-BE49-F238E27FC236}">
                <a16:creationId xmlns:a16="http://schemas.microsoft.com/office/drawing/2014/main" id="{738BB93F-1D3D-444C-BD89-92129E7B78F8}"/>
              </a:ext>
            </a:extLst>
          </p:cNvPr>
          <p:cNvSpPr>
            <a:spLocks xmlns:a="http://schemas.openxmlformats.org/drawingml/2006/main" noGrp="1"/>
          </p:cNvSpPr>
          <p:nvPr/>
        </p:nvSpPr>
        <p:spPr>
          <a:xfrm xmlns:a="http://schemas.openxmlformats.org/drawingml/2006/main">
            <a:off x="638175" y="4657725"/>
            <a:ext cx="742950" cy="628650"/>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025" b="1">
                <a:solidFill>
                  <a:srgbClr val="83DFFF"/>
                </a:solidFill>
                <a:latin typeface="JetBrains Mono"/>
                <a:ea typeface="JetBrains Mono"/>
                <a:cs typeface="JetBrains Mono"/>
              </a:defRPr>
            </a:pPr>
            <a:r>
              <a:rPr sz="2025" b="1">
                <a:solidFill>
                  <a:srgbClr val="83DFFF"/>
                </a:solidFill>
                <a:latin typeface="JetBrains Mono"/>
                <a:ea typeface="JetBrains Mono"/>
                <a:cs typeface="JetBrains Mono"/>
              </a:rPr>
              <a:t>x₂</a:t>
            </a:r>
          </a:p>
        </p:txBody>
      </p:sp>
      <p:sp>
        <p:nvSpPr>
          <p:cNvPr id="54" name="xor-h1">
            <a:extLst xmlns:a="http://schemas.openxmlformats.org/drawingml/2006/main">
              <a:ext uri="{FF2B5EF4-FFF2-40B4-BE49-F238E27FC236}">
                <a16:creationId xmlns:a16="http://schemas.microsoft.com/office/drawing/2014/main" id="{C1915974-0938-4510-BB60-15B15A517AE7}"/>
              </a:ext>
            </a:extLst>
          </p:cNvPr>
          <p:cNvSpPr>
            <a:spLocks xmlns:a="http://schemas.openxmlformats.org/drawingml/2006/main" noGrp="1"/>
          </p:cNvSpPr>
          <p:nvPr/>
        </p:nvSpPr>
        <p:spPr>
          <a:xfrm xmlns:a="http://schemas.openxmlformats.org/drawingml/2006/main">
            <a:off x="3181350" y="3219450"/>
            <a:ext cx="819150" cy="628650"/>
          </a:xfrm>
          <a:prstGeom xmlns:a="http://schemas.openxmlformats.org/drawingml/2006/main" prst="ellipse">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025" b="1">
                <a:solidFill>
                  <a:srgbClr val="71E7BD"/>
                </a:solidFill>
                <a:latin typeface="JetBrains Mono"/>
                <a:ea typeface="JetBrains Mono"/>
                <a:cs typeface="JetBrains Mono"/>
              </a:defRPr>
            </a:pPr>
            <a:r>
              <a:rPr sz="2025" b="1">
                <a:solidFill>
                  <a:srgbClr val="71E7BD"/>
                </a:solidFill>
                <a:latin typeface="JetBrains Mono"/>
                <a:ea typeface="JetBrains Mono"/>
                <a:cs typeface="JetBrains Mono"/>
              </a:rPr>
              <a:t>h₁</a:t>
            </a:r>
          </a:p>
        </p:txBody>
      </p:sp>
      <p:sp>
        <p:nvSpPr>
          <p:cNvPr id="55" name="xor-h2">
            <a:extLst xmlns:a="http://schemas.openxmlformats.org/drawingml/2006/main">
              <a:ext uri="{FF2B5EF4-FFF2-40B4-BE49-F238E27FC236}">
                <a16:creationId xmlns:a16="http://schemas.microsoft.com/office/drawing/2014/main" id="{177A36F9-E620-4C03-89BD-BE6166B8C770}"/>
              </a:ext>
            </a:extLst>
          </p:cNvPr>
          <p:cNvSpPr>
            <a:spLocks xmlns:a="http://schemas.openxmlformats.org/drawingml/2006/main" noGrp="1"/>
          </p:cNvSpPr>
          <p:nvPr/>
        </p:nvSpPr>
        <p:spPr>
          <a:xfrm xmlns:a="http://schemas.openxmlformats.org/drawingml/2006/main">
            <a:off x="3181350" y="4657725"/>
            <a:ext cx="819150" cy="628650"/>
          </a:xfrm>
          <a:prstGeom xmlns:a="http://schemas.openxmlformats.org/drawingml/2006/main" prst="ellipse">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025" b="1">
                <a:solidFill>
                  <a:srgbClr val="71E7BD"/>
                </a:solidFill>
                <a:latin typeface="JetBrains Mono"/>
                <a:ea typeface="JetBrains Mono"/>
                <a:cs typeface="JetBrains Mono"/>
              </a:defRPr>
            </a:pPr>
            <a:r>
              <a:rPr sz="2025" b="1">
                <a:solidFill>
                  <a:srgbClr val="71E7BD"/>
                </a:solidFill>
                <a:latin typeface="JetBrains Mono"/>
                <a:ea typeface="JetBrains Mono"/>
                <a:cs typeface="JetBrains Mono"/>
              </a:rPr>
              <a:t>h₂</a:t>
            </a:r>
          </a:p>
        </p:txBody>
      </p:sp>
      <p:sp>
        <p:nvSpPr>
          <p:cNvPr id="56" name="xor-out">
            <a:extLst xmlns:a="http://schemas.openxmlformats.org/drawingml/2006/main">
              <a:ext uri="{FF2B5EF4-FFF2-40B4-BE49-F238E27FC236}">
                <a16:creationId xmlns:a16="http://schemas.microsoft.com/office/drawing/2014/main" id="{6FF63E48-B242-4D05-B0CA-38A802EC7408}"/>
              </a:ext>
            </a:extLst>
          </p:cNvPr>
          <p:cNvSpPr>
            <a:spLocks xmlns:a="http://schemas.openxmlformats.org/drawingml/2006/main" noGrp="1"/>
          </p:cNvSpPr>
          <p:nvPr/>
        </p:nvSpPr>
        <p:spPr>
          <a:xfrm xmlns:a="http://schemas.openxmlformats.org/drawingml/2006/main">
            <a:off x="5695950" y="3924300"/>
            <a:ext cx="819150" cy="723900"/>
          </a:xfrm>
          <a:prstGeom xmlns:a="http://schemas.openxmlformats.org/drawingml/2006/main" prst="ellipse">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250" b="1">
                <a:solidFill>
                  <a:srgbClr val="FFAD62"/>
                </a:solidFill>
                <a:latin typeface="JetBrains Mono"/>
                <a:ea typeface="JetBrains Mono"/>
                <a:cs typeface="JetBrains Mono"/>
              </a:defRPr>
            </a:pPr>
            <a:r>
              <a:rPr sz="2250" b="1">
                <a:solidFill>
                  <a:srgbClr val="FFAD62"/>
                </a:solidFill>
                <a:latin typeface="JetBrains Mono"/>
                <a:ea typeface="JetBrains Mono"/>
                <a:cs typeface="JetBrains Mono"/>
              </a:rPr>
              <a:t>ŷ</a:t>
            </a:r>
          </a:p>
        </p:txBody>
      </p:sp>
      <p:cxnSp>
        <p:nvCxnSpPr>
          <p:cNvPr id="81" name=""/>
          <p:cNvCxnSpPr>
            <a:stCxn xmlns:a="http://schemas.openxmlformats.org/drawingml/2006/main" id="52" idx="6"/>
            <a:endCxn xmlns:a="http://schemas.openxmlformats.org/drawingml/2006/main" id="54" idx="2"/>
          </p:cNvCxnSpPr>
          <p:nvPr/>
        </p:nvCxnSpPr>
        <p:spPr>
          <a:xfrm xmlns:a="http://schemas.openxmlformats.org/drawingml/2006/main">
            <a:off x="1381125" y="3533775"/>
            <a:ext cx="1800225" cy="0"/>
          </a:xfrm>
          <a:prstGeom xmlns:a="http://schemas.openxmlformats.org/drawingml/2006/main" prst="straightConnector1">
            <a:avLst/>
          </a:prstGeom>
          <a:ln xmlns:a="http://schemas.openxmlformats.org/drawingml/2006/main" w="15240">
            <a:solidFill>
              <a:srgbClr val="91A4BD"/>
            </a:solidFill>
            <a:tailEnd type="triangle" w="sm" len="sm"/>
          </a:ln>
        </p:spPr>
      </p:cxnSp>
      <p:cxnSp>
        <p:nvCxnSpPr>
          <p:cNvPr id="82" name=""/>
          <p:cNvCxnSpPr>
            <a:stCxn xmlns:a="http://schemas.openxmlformats.org/drawingml/2006/main" id="53" idx="6"/>
            <a:endCxn xmlns:a="http://schemas.openxmlformats.org/drawingml/2006/main" id="54" idx="2"/>
          </p:cNvCxnSpPr>
          <p:nvPr/>
        </p:nvCxnSpPr>
        <p:spPr>
          <a:xfrm xmlns:a="http://schemas.openxmlformats.org/drawingml/2006/main" flipV="1">
            <a:off x="1381125" y="3533775"/>
            <a:ext cx="1800225" cy="1438275"/>
          </a:xfrm>
          <a:prstGeom xmlns:a="http://schemas.openxmlformats.org/drawingml/2006/main" prst="straightConnector1">
            <a:avLst/>
          </a:prstGeom>
          <a:ln xmlns:a="http://schemas.openxmlformats.org/drawingml/2006/main" w="15240">
            <a:solidFill>
              <a:srgbClr val="91A4BD"/>
            </a:solidFill>
            <a:tailEnd type="triangle" w="sm" len="sm"/>
          </a:ln>
        </p:spPr>
      </p:cxnSp>
      <p:cxnSp>
        <p:nvCxnSpPr>
          <p:cNvPr id="83" name=""/>
          <p:cNvCxnSpPr>
            <a:stCxn xmlns:a="http://schemas.openxmlformats.org/drawingml/2006/main" id="52" idx="6"/>
            <a:endCxn xmlns:a="http://schemas.openxmlformats.org/drawingml/2006/main" id="55" idx="2"/>
          </p:cNvCxnSpPr>
          <p:nvPr/>
        </p:nvCxnSpPr>
        <p:spPr>
          <a:xfrm xmlns:a="http://schemas.openxmlformats.org/drawingml/2006/main">
            <a:off x="1381125" y="3533775"/>
            <a:ext cx="1800225" cy="1438275"/>
          </a:xfrm>
          <a:prstGeom xmlns:a="http://schemas.openxmlformats.org/drawingml/2006/main" prst="straightConnector1">
            <a:avLst/>
          </a:prstGeom>
          <a:ln xmlns:a="http://schemas.openxmlformats.org/drawingml/2006/main" w="15240">
            <a:solidFill>
              <a:srgbClr val="91A4BD"/>
            </a:solidFill>
            <a:tailEnd type="triangle" w="sm" len="sm"/>
          </a:ln>
        </p:spPr>
      </p:cxnSp>
      <p:cxnSp>
        <p:nvCxnSpPr>
          <p:cNvPr id="84" name=""/>
          <p:cNvCxnSpPr>
            <a:stCxn xmlns:a="http://schemas.openxmlformats.org/drawingml/2006/main" id="53" idx="6"/>
            <a:endCxn xmlns:a="http://schemas.openxmlformats.org/drawingml/2006/main" id="55" idx="2"/>
          </p:cNvCxnSpPr>
          <p:nvPr/>
        </p:nvCxnSpPr>
        <p:spPr>
          <a:xfrm xmlns:a="http://schemas.openxmlformats.org/drawingml/2006/main">
            <a:off x="1381125" y="4972050"/>
            <a:ext cx="1800225" cy="0"/>
          </a:xfrm>
          <a:prstGeom xmlns:a="http://schemas.openxmlformats.org/drawingml/2006/main" prst="straightConnector1">
            <a:avLst/>
          </a:prstGeom>
          <a:ln xmlns:a="http://schemas.openxmlformats.org/drawingml/2006/main" w="15240">
            <a:solidFill>
              <a:srgbClr val="91A4BD"/>
            </a:solidFill>
            <a:tailEnd type="triangle" w="sm" len="sm"/>
          </a:ln>
        </p:spPr>
      </p:cxnSp>
      <p:cxnSp>
        <p:nvCxnSpPr>
          <p:cNvPr id="85" name=""/>
          <p:cNvCxnSpPr>
            <a:stCxn xmlns:a="http://schemas.openxmlformats.org/drawingml/2006/main" id="54" idx="6"/>
            <a:endCxn xmlns:a="http://schemas.openxmlformats.org/drawingml/2006/main" id="56" idx="2"/>
          </p:cNvCxnSpPr>
          <p:nvPr/>
        </p:nvCxnSpPr>
        <p:spPr>
          <a:xfrm xmlns:a="http://schemas.openxmlformats.org/drawingml/2006/main">
            <a:off x="4000500" y="3533775"/>
            <a:ext cx="1695450" cy="752475"/>
          </a:xfrm>
          <a:prstGeom xmlns:a="http://schemas.openxmlformats.org/drawingml/2006/main" prst="straightConnector1">
            <a:avLst/>
          </a:prstGeom>
          <a:ln xmlns:a="http://schemas.openxmlformats.org/drawingml/2006/main" w="15240">
            <a:solidFill>
              <a:srgbClr val="71E7BD"/>
            </a:solidFill>
            <a:tailEnd type="triangle" w="sm" len="sm"/>
          </a:ln>
        </p:spPr>
      </p:cxnSp>
      <p:cxnSp>
        <p:nvCxnSpPr>
          <p:cNvPr id="86" name=""/>
          <p:cNvCxnSpPr>
            <a:stCxn xmlns:a="http://schemas.openxmlformats.org/drawingml/2006/main" id="55" idx="6"/>
            <a:endCxn xmlns:a="http://schemas.openxmlformats.org/drawingml/2006/main" id="56" idx="2"/>
          </p:cNvCxnSpPr>
          <p:nvPr/>
        </p:nvCxnSpPr>
        <p:spPr>
          <a:xfrm xmlns:a="http://schemas.openxmlformats.org/drawingml/2006/main" flipV="1">
            <a:off x="4000500" y="4286250"/>
            <a:ext cx="1695450" cy="685800"/>
          </a:xfrm>
          <a:prstGeom xmlns:a="http://schemas.openxmlformats.org/drawingml/2006/main" prst="straightConnector1">
            <a:avLst/>
          </a:prstGeom>
          <a:ln xmlns:a="http://schemas.openxmlformats.org/drawingml/2006/main" w="15240">
            <a:solidFill>
              <a:srgbClr val="71E7BD"/>
            </a:solidFill>
            <a:tailEnd type="triangle" w="sm" len="sm"/>
          </a:ln>
        </p:spPr>
      </p:cxnSp>
      <p:sp>
        <p:nvSpPr>
          <p:cNvPr id="63" name="xor-weight-a">
            <a:extLst xmlns:a="http://schemas.openxmlformats.org/drawingml/2006/main">
              <a:ext uri="{FF2B5EF4-FFF2-40B4-BE49-F238E27FC236}">
                <a16:creationId xmlns:a16="http://schemas.microsoft.com/office/drawing/2014/main" id="{03A4E49D-362C-490C-B9FA-C436B354522E}"/>
              </a:ext>
            </a:extLst>
          </p:cNvPr>
          <p:cNvSpPr>
            <a:spLocks xmlns:a="http://schemas.openxmlformats.org/drawingml/2006/main" noGrp="1"/>
          </p:cNvSpPr>
          <p:nvPr/>
        </p:nvSpPr>
        <p:spPr>
          <a:xfrm xmlns:a="http://schemas.openxmlformats.org/drawingml/2006/main">
            <a:off x="1971675" y="3076575"/>
            <a:ext cx="657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91A4BD"/>
                </a:solidFill>
                <a:latin typeface="JetBrains Mono"/>
                <a:ea typeface="JetBrains Mono"/>
                <a:cs typeface="JetBrains Mono"/>
              </a:defRPr>
            </a:pPr>
            <a:r>
              <a:rPr sz="1650" b="0" i="0">
                <a:solidFill>
                  <a:srgbClr val="91A4BD"/>
                </a:solidFill>
                <a:latin typeface="JetBrains Mono"/>
                <a:ea typeface="JetBrains Mono"/>
                <a:cs typeface="JetBrains Mono"/>
              </a:rPr>
              <a:t>+1</a:t>
            </a:r>
          </a:p>
        </p:txBody>
      </p:sp>
      <p:sp>
        <p:nvSpPr>
          <p:cNvPr id="64" name="xor-weight-b">
            <a:extLst xmlns:a="http://schemas.openxmlformats.org/drawingml/2006/main">
              <a:ext uri="{FF2B5EF4-FFF2-40B4-BE49-F238E27FC236}">
                <a16:creationId xmlns:a16="http://schemas.microsoft.com/office/drawing/2014/main" id="{B99B1DC9-B270-48C8-BBAC-4B844D6F06A6}"/>
              </a:ext>
            </a:extLst>
          </p:cNvPr>
          <p:cNvSpPr>
            <a:spLocks xmlns:a="http://schemas.openxmlformats.org/drawingml/2006/main" noGrp="1"/>
          </p:cNvSpPr>
          <p:nvPr/>
        </p:nvSpPr>
        <p:spPr>
          <a:xfrm xmlns:a="http://schemas.openxmlformats.org/drawingml/2006/main">
            <a:off x="2495550" y="35528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91A4BD"/>
                </a:solidFill>
                <a:latin typeface="JetBrains Mono"/>
                <a:ea typeface="JetBrains Mono"/>
                <a:cs typeface="JetBrains Mono"/>
              </a:defRPr>
            </a:pPr>
            <a:r>
              <a:rPr sz="1650" b="0" i="0">
                <a:solidFill>
                  <a:srgbClr val="91A4BD"/>
                </a:solidFill>
                <a:latin typeface="JetBrains Mono"/>
                <a:ea typeface="JetBrains Mono"/>
                <a:cs typeface="JetBrains Mono"/>
              </a:rPr>
              <a:t>−1</a:t>
            </a:r>
          </a:p>
        </p:txBody>
      </p:sp>
      <p:sp>
        <p:nvSpPr>
          <p:cNvPr id="65" name="xor-weight-c">
            <a:extLst xmlns:a="http://schemas.openxmlformats.org/drawingml/2006/main">
              <a:ext uri="{FF2B5EF4-FFF2-40B4-BE49-F238E27FC236}">
                <a16:creationId xmlns:a16="http://schemas.microsoft.com/office/drawing/2014/main" id="{B4C2EC31-2BC0-44B8-9517-69E456A99132}"/>
              </a:ext>
            </a:extLst>
          </p:cNvPr>
          <p:cNvSpPr>
            <a:spLocks xmlns:a="http://schemas.openxmlformats.org/drawingml/2006/main" noGrp="1"/>
          </p:cNvSpPr>
          <p:nvPr/>
        </p:nvSpPr>
        <p:spPr>
          <a:xfrm xmlns:a="http://schemas.openxmlformats.org/drawingml/2006/main">
            <a:off x="2495550" y="46577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91A4BD"/>
                </a:solidFill>
                <a:latin typeface="JetBrains Mono"/>
                <a:ea typeface="JetBrains Mono"/>
                <a:cs typeface="JetBrains Mono"/>
              </a:defRPr>
            </a:pPr>
            <a:r>
              <a:rPr sz="1650" b="0" i="0">
                <a:solidFill>
                  <a:srgbClr val="91A4BD"/>
                </a:solidFill>
                <a:latin typeface="JetBrains Mono"/>
                <a:ea typeface="JetBrains Mono"/>
                <a:cs typeface="JetBrains Mono"/>
              </a:rPr>
              <a:t>−1</a:t>
            </a:r>
          </a:p>
        </p:txBody>
      </p:sp>
      <p:sp>
        <p:nvSpPr>
          <p:cNvPr id="66" name="xor-weight-d">
            <a:extLst xmlns:a="http://schemas.openxmlformats.org/drawingml/2006/main">
              <a:ext uri="{FF2B5EF4-FFF2-40B4-BE49-F238E27FC236}">
                <a16:creationId xmlns:a16="http://schemas.microsoft.com/office/drawing/2014/main" id="{CA0171C0-3D16-4903-82FB-BAD263170DAB}"/>
              </a:ext>
            </a:extLst>
          </p:cNvPr>
          <p:cNvSpPr>
            <a:spLocks xmlns:a="http://schemas.openxmlformats.org/drawingml/2006/main" noGrp="1"/>
          </p:cNvSpPr>
          <p:nvPr/>
        </p:nvSpPr>
        <p:spPr>
          <a:xfrm xmlns:a="http://schemas.openxmlformats.org/drawingml/2006/main">
            <a:off x="1971675" y="5162550"/>
            <a:ext cx="657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91A4BD"/>
                </a:solidFill>
                <a:latin typeface="JetBrains Mono"/>
                <a:ea typeface="JetBrains Mono"/>
                <a:cs typeface="JetBrains Mono"/>
              </a:defRPr>
            </a:pPr>
            <a:r>
              <a:rPr sz="1650" b="0" i="0">
                <a:solidFill>
                  <a:srgbClr val="91A4BD"/>
                </a:solidFill>
                <a:latin typeface="JetBrains Mono"/>
                <a:ea typeface="JetBrains Mono"/>
                <a:cs typeface="JetBrains Mono"/>
              </a:rPr>
              <a:t>+1</a:t>
            </a:r>
          </a:p>
        </p:txBody>
      </p:sp>
      <p:sp>
        <p:nvSpPr>
          <p:cNvPr id="67" name="xor-hidden-equations">
            <a:extLst xmlns:a="http://schemas.openxmlformats.org/drawingml/2006/main">
              <a:ext uri="{FF2B5EF4-FFF2-40B4-BE49-F238E27FC236}">
                <a16:creationId xmlns:a16="http://schemas.microsoft.com/office/drawing/2014/main" id="{D0295DCF-17ED-4AF1-9F03-48B2FE95F491}"/>
              </a:ext>
            </a:extLst>
          </p:cNvPr>
          <p:cNvSpPr>
            <a:spLocks xmlns:a="http://schemas.openxmlformats.org/drawingml/2006/main" noGrp="1"/>
          </p:cNvSpPr>
          <p:nvPr/>
        </p:nvSpPr>
        <p:spPr>
          <a:xfrm xmlns:a="http://schemas.openxmlformats.org/drawingml/2006/main">
            <a:off x="447675" y="2419350"/>
            <a:ext cx="6648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71E7BD"/>
                </a:solidFill>
                <a:latin typeface="JetBrains Mono"/>
                <a:ea typeface="JetBrains Mono"/>
                <a:cs typeface="JetBrains Mono"/>
              </a:defRPr>
            </a:pPr>
            <a:r>
              <a:rPr sz="1725" b="0" i="0">
                <a:solidFill>
                  <a:srgbClr val="71E7BD"/>
                </a:solidFill>
                <a:latin typeface="JetBrains Mono"/>
                <a:ea typeface="JetBrains Mono"/>
                <a:cs typeface="JetBrains Mono"/>
              </a:rPr>
              <a:t>h₁ = ReLU(x₁ − x₂)</a:t>
            </a:r>
          </a:p>
          <a:p xmlns:a="http://schemas.openxmlformats.org/drawingml/2006/main">
            <a:pPr algn="l">
              <a:defRPr sz="1725" b="0" i="0">
                <a:solidFill>
                  <a:srgbClr val="71E7BD"/>
                </a:solidFill>
                <a:latin typeface="JetBrains Mono"/>
                <a:ea typeface="JetBrains Mono"/>
                <a:cs typeface="JetBrains Mono"/>
              </a:defRPr>
            </a:pPr>
            <a:r>
              <a:rPr sz="1725" b="0" i="0">
                <a:solidFill>
                  <a:srgbClr val="71E7BD"/>
                </a:solidFill>
                <a:latin typeface="JetBrains Mono"/>
                <a:ea typeface="JetBrains Mono"/>
                <a:cs typeface="JetBrains Mono"/>
              </a:rPr>
              <a:t>h₂ = ReLU(x₂ − x₁)</a:t>
            </a:r>
          </a:p>
        </p:txBody>
      </p:sp>
      <p:sp>
        <p:nvSpPr>
          <p:cNvPr id="68" name="xor-output-equation">
            <a:extLst xmlns:a="http://schemas.openxmlformats.org/drawingml/2006/main">
              <a:ext uri="{FF2B5EF4-FFF2-40B4-BE49-F238E27FC236}">
                <a16:creationId xmlns:a16="http://schemas.microsoft.com/office/drawing/2014/main" id="{90D7B0D9-EFC1-42FF-9D84-FA06010CE1B0}"/>
              </a:ext>
            </a:extLst>
          </p:cNvPr>
          <p:cNvSpPr>
            <a:spLocks xmlns:a="http://schemas.openxmlformats.org/drawingml/2006/main" noGrp="1"/>
          </p:cNvSpPr>
          <p:nvPr/>
        </p:nvSpPr>
        <p:spPr>
          <a:xfrm xmlns:a="http://schemas.openxmlformats.org/drawingml/2006/main">
            <a:off x="3495675" y="5553075"/>
            <a:ext cx="3600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FFAD62"/>
                </a:solidFill>
                <a:latin typeface="JetBrains Mono"/>
                <a:ea typeface="JetBrains Mono"/>
                <a:cs typeface="JetBrains Mono"/>
              </a:defRPr>
            </a:pPr>
            <a:r>
              <a:rPr sz="2025" b="0" i="0">
                <a:solidFill>
                  <a:srgbClr val="FFAD62"/>
                </a:solidFill>
                <a:latin typeface="JetBrains Mono"/>
                <a:ea typeface="JetBrains Mono"/>
                <a:cs typeface="JetBrains Mono"/>
              </a:rPr>
              <a:t>ŷ = h₁ + h₂</a:t>
            </a:r>
          </a:p>
        </p:txBody>
      </p:sp>
      <p:graphicFrame>
        <p:nvGraphicFramePr>
          <p:cNvPr id="93" name=""/>
          <p:cNvGraphicFramePr/>
          <p:nvPr/>
        </p:nvGraphicFramePr>
        <p:xfrm>
          <a:off xmlns:a="http://schemas.openxmlformats.org/drawingml/2006/main" x="7296150" y="3086100"/>
          <a:ext xmlns:a="http://schemas.openxmlformats.org/drawingml/2006/main" cx="4438650" cy="2590800"/>
        </p:xfrm>
        <a:graphic xmlns:a="http://schemas.openxmlformats.org/drawingml/2006/main">
          <a:graphicData uri="http://schemas.openxmlformats.org/drawingml/2006/table">
            <a:tbl>
              <a:tblPr firstRow="1" bandRow="0"/>
              <a:tblGrid>
                <a:gridCol w="1238250"/>
                <a:gridCol w="1066800"/>
                <a:gridCol w="1066800"/>
                <a:gridCol w="1066800"/>
              </a:tblGrid>
              <a:tr h="533400">
                <a:tc>
                  <a:txBody>
                    <a:bodyPr lIns="95250" tIns="57150" rIns="95250" bIns="57150">
                      <a:noAutofit/>
                    </a:bodyPr>
                    <a:lstStyle/>
                    <a:p>
                      <a:pPr algn="ctr"/>
                      <a:r>
                        <a:rPr sz="1725" b="1">
                          <a:solidFill>
                            <a:srgbClr val="FFFFFF"/>
                          </a:solidFill>
                          <a:latin typeface="JetBrains Mono"/>
                          <a:ea typeface="JetBrains Mono"/>
                          <a:cs typeface="JetBrains Mono"/>
                        </a:rPr>
                        <a:t>x₁x₂</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h₁</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h₂</a:t>
                      </a:r>
                    </a:p>
                  </a:txBody>
                  <a:tcPr marL="91440" marR="91440" marT="45720" marB="45720" anchor="ctr">
                    <a:solidFill>
                      <a:srgbClr val="0053EB"/>
                    </a:solidFill>
                  </a:tcPr>
                </a:tc>
                <a:tc>
                  <a:txBody>
                    <a:bodyPr lIns="95250" tIns="57150" rIns="95250" bIns="57150">
                      <a:noAutofit/>
                    </a:bodyPr>
                    <a:lstStyle/>
                    <a:p>
                      <a:pPr algn="ctr"/>
                      <a:r>
                        <a:rPr sz="1725" b="1">
                          <a:solidFill>
                            <a:srgbClr val="FFFFFF"/>
                          </a:solidFill>
                          <a:latin typeface="JetBrains Mono"/>
                          <a:ea typeface="JetBrains Mono"/>
                          <a:cs typeface="JetBrains Mono"/>
                        </a:rPr>
                        <a:t>ŷ</a:t>
                      </a:r>
                    </a:p>
                  </a:txBody>
                  <a:tcPr marL="91440" marR="91440" marT="45720" marB="45720" anchor="ctr">
                    <a:solidFill>
                      <a:srgbClr val="0053EB"/>
                    </a:solidFill>
                  </a:tcPr>
                </a:tc>
              </a:tr>
              <a:tr h="514350">
                <a:tc>
                  <a:txBody>
                    <a:bodyPr lIns="95250" tIns="57150" rIns="95250" bIns="57150">
                      <a:noAutofit/>
                    </a:bodyPr>
                    <a:lstStyle/>
                    <a:p>
                      <a:pPr algn="ctr"/>
                      <a:r>
                        <a:rPr sz="1725" b="0">
                          <a:solidFill>
                            <a:srgbClr val="FFFFFF"/>
                          </a:solidFill>
                          <a:latin typeface="JetBrains Mono"/>
                          <a:ea typeface="JetBrains Mono"/>
                          <a:cs typeface="JetBrains Mono"/>
                        </a:rPr>
                        <a:t>00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r>
              <a:tr h="514350">
                <a:tc>
                  <a:txBody>
                    <a:bodyPr lIns="95250" tIns="57150" rIns="95250" bIns="57150">
                      <a:noAutofit/>
                    </a:bodyPr>
                    <a:lstStyle/>
                    <a:p>
                      <a:pPr algn="ctr"/>
                      <a:r>
                        <a:rPr sz="1725" b="0">
                          <a:solidFill>
                            <a:srgbClr val="FFFFFF"/>
                          </a:solidFill>
                          <a:latin typeface="JetBrains Mono"/>
                          <a:ea typeface="JetBrains Mono"/>
                          <a:cs typeface="JetBrains Mono"/>
                        </a:rPr>
                        <a:t>01</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31A39"/>
                    </a:solidFill>
                  </a:tcPr>
                </a:tc>
              </a:tr>
              <a:tr h="514350">
                <a:tc>
                  <a:txBody>
                    <a:bodyPr lIns="95250" tIns="57150" rIns="95250" bIns="57150">
                      <a:noAutofit/>
                    </a:bodyPr>
                    <a:lstStyle/>
                    <a:p>
                      <a:pPr algn="ctr"/>
                      <a:r>
                        <a:rPr sz="1725" b="0">
                          <a:solidFill>
                            <a:srgbClr val="FFFFFF"/>
                          </a:solidFill>
                          <a:latin typeface="JetBrains Mono"/>
                          <a:ea typeface="JetBrains Mono"/>
                          <a:cs typeface="JetBrains Mono"/>
                        </a:rPr>
                        <a:t>10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82950"/>
                    </a:solidFill>
                  </a:tcPr>
                </a:tc>
                <a:tc>
                  <a:txBody>
                    <a:bodyPr lIns="95250" tIns="57150" rIns="95250" bIns="57150">
                      <a:noAutofit/>
                    </a:bodyPr>
                    <a:lstStyle/>
                    <a:p>
                      <a:pPr algn="ctr"/>
                      <a:r>
                        <a:rPr sz="1725" b="0">
                          <a:solidFill>
                            <a:srgbClr val="FFFFFF"/>
                          </a:solidFill>
                          <a:latin typeface="JetBrains Mono"/>
                          <a:ea typeface="JetBrains Mono"/>
                          <a:cs typeface="JetBrains Mono"/>
                        </a:rPr>
                        <a:t>1</a:t>
                      </a:r>
                    </a:p>
                  </a:txBody>
                  <a:tcPr marL="91440" marR="91440" marT="45720" marB="45720" anchor="ctr">
                    <a:solidFill>
                      <a:srgbClr val="082950"/>
                    </a:solidFill>
                  </a:tcPr>
                </a:tc>
              </a:tr>
              <a:tr h="514350">
                <a:tc>
                  <a:txBody>
                    <a:bodyPr lIns="95250" tIns="57150" rIns="95250" bIns="57150">
                      <a:noAutofit/>
                    </a:bodyPr>
                    <a:lstStyle/>
                    <a:p>
                      <a:pPr algn="ctr"/>
                      <a:r>
                        <a:rPr sz="1725" b="0">
                          <a:solidFill>
                            <a:srgbClr val="FFFFFF"/>
                          </a:solidFill>
                          <a:latin typeface="JetBrains Mono"/>
                          <a:ea typeface="JetBrains Mono"/>
                          <a:cs typeface="JetBrains Mono"/>
                        </a:rPr>
                        <a:t>11</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31A39"/>
                    </a:solidFill>
                  </a:tcPr>
                </a:tc>
                <a:tc>
                  <a:txBody>
                    <a:bodyPr lIns="95250" tIns="57150" rIns="95250" bIns="57150">
                      <a:noAutofit/>
                    </a:bodyPr>
                    <a:lstStyle/>
                    <a:p>
                      <a:pPr algn="ctr"/>
                      <a:r>
                        <a:rPr sz="1725" b="0">
                          <a:solidFill>
                            <a:srgbClr val="FFFFFF"/>
                          </a:solidFill>
                          <a:latin typeface="JetBrains Mono"/>
                          <a:ea typeface="JetBrains Mono"/>
                          <a:cs typeface="JetBrains Mono"/>
                        </a:rPr>
                        <a:t>0</a:t>
                      </a:r>
                    </a:p>
                  </a:txBody>
                  <a:tcPr marL="91440" marR="91440" marT="45720" marB="45720" anchor="ctr">
                    <a:solidFill>
                      <a:srgbClr val="031A39"/>
                    </a:solidFill>
                  </a:tcPr>
                </a:tc>
              </a:tr>
            </a:tbl>
          </a:graphicData>
        </a:graphic>
      </p:graphicFrame>
    </p:spTree>
    <p:extLst>
      <p:ext uri="{BB962C8B-B14F-4D97-AF65-F5344CB8AC3E}">
        <p14:creationId xmlns:p14="http://schemas.microsoft.com/office/powerpoint/2010/main" val="33801002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85" name="Imagem 13"/>
          <p:cNvPicPr>
            <a:picLocks xmlns:a="http://schemas.openxmlformats.org/drawingml/2006/main" noChangeAspect="1"/>
          </p:cNvPicPr>
          <p:nvPr/>
        </p:nvPicPr>
        <p:blipFill>
          <a:blip xmlns:r="http://schemas.openxmlformats.org/officeDocument/2006/relationships" xmlns:a="http://schemas.openxmlformats.org/drawingml/2006/main" r:embed="Rf9019c4f21b44fbf"/>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Arquitetura de uma MLP</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mlp-input-title">
            <a:extLst xmlns:a="http://schemas.openxmlformats.org/drawingml/2006/main">
              <a:ext uri="{FF2B5EF4-FFF2-40B4-BE49-F238E27FC236}">
                <a16:creationId xmlns:a16="http://schemas.microsoft.com/office/drawing/2014/main" id="{755EF2A3-2DF5-4A5C-B49C-6826FEC51A45}"/>
              </a:ext>
            </a:extLst>
          </p:cNvPr>
          <p:cNvSpPr>
            <a:spLocks xmlns:a="http://schemas.openxmlformats.org/drawingml/2006/main" noGrp="1"/>
          </p:cNvSpPr>
          <p:nvPr/>
        </p:nvSpPr>
        <p:spPr>
          <a:xfrm xmlns:a="http://schemas.openxmlformats.org/drawingml/2006/main">
            <a:off x="457200" y="24193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83DFFF"/>
                </a:solidFill>
                <a:latin typeface="JetBrains Mono"/>
                <a:ea typeface="JetBrains Mono"/>
                <a:cs typeface="JetBrains Mono"/>
              </a:defRPr>
            </a:pPr>
            <a:r>
              <a:rPr sz="1800" b="1" i="0">
                <a:solidFill>
                  <a:srgbClr val="83DFFF"/>
                </a:solidFill>
                <a:latin typeface="JetBrains Mono"/>
                <a:ea typeface="JetBrains Mono"/>
                <a:cs typeface="JetBrains Mono"/>
              </a:rPr>
              <a:t>3 entradas</a:t>
            </a:r>
          </a:p>
        </p:txBody>
      </p:sp>
      <p:sp>
        <p:nvSpPr>
          <p:cNvPr id="53" name="mlp-hidden-title">
            <a:extLst xmlns:a="http://schemas.openxmlformats.org/drawingml/2006/main">
              <a:ext uri="{FF2B5EF4-FFF2-40B4-BE49-F238E27FC236}">
                <a16:creationId xmlns:a16="http://schemas.microsoft.com/office/drawing/2014/main" id="{CE50CA4B-0039-4159-AE5D-7B6067200578}"/>
              </a:ext>
            </a:extLst>
          </p:cNvPr>
          <p:cNvSpPr>
            <a:spLocks xmlns:a="http://schemas.openxmlformats.org/drawingml/2006/main" noGrp="1"/>
          </p:cNvSpPr>
          <p:nvPr/>
        </p:nvSpPr>
        <p:spPr>
          <a:xfrm xmlns:a="http://schemas.openxmlformats.org/drawingml/2006/main">
            <a:off x="4286250" y="2419350"/>
            <a:ext cx="3933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71E7BD"/>
                </a:solidFill>
                <a:latin typeface="JetBrains Mono"/>
                <a:ea typeface="JetBrains Mono"/>
                <a:cs typeface="JetBrains Mono"/>
              </a:defRPr>
            </a:pPr>
            <a:r>
              <a:rPr sz="1800" b="1" i="0">
                <a:solidFill>
                  <a:srgbClr val="71E7BD"/>
                </a:solidFill>
                <a:latin typeface="JetBrains Mono"/>
                <a:ea typeface="JetBrains Mono"/>
                <a:cs typeface="JetBrains Mono"/>
              </a:rPr>
              <a:t>4 neurônios ocultos</a:t>
            </a:r>
          </a:p>
        </p:txBody>
      </p:sp>
      <p:sp>
        <p:nvSpPr>
          <p:cNvPr id="54" name="mlp-output-title">
            <a:extLst xmlns:a="http://schemas.openxmlformats.org/drawingml/2006/main">
              <a:ext uri="{FF2B5EF4-FFF2-40B4-BE49-F238E27FC236}">
                <a16:creationId xmlns:a16="http://schemas.microsoft.com/office/drawing/2014/main" id="{E663F5F5-9645-4CE6-A567-DC2347793ACB}"/>
              </a:ext>
            </a:extLst>
          </p:cNvPr>
          <p:cNvSpPr>
            <a:spLocks xmlns:a="http://schemas.openxmlformats.org/drawingml/2006/main" noGrp="1"/>
          </p:cNvSpPr>
          <p:nvPr/>
        </p:nvSpPr>
        <p:spPr>
          <a:xfrm xmlns:a="http://schemas.openxmlformats.org/drawingml/2006/main">
            <a:off x="9715500" y="2419350"/>
            <a:ext cx="2019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FFAD62"/>
                </a:solidFill>
                <a:latin typeface="JetBrains Mono"/>
                <a:ea typeface="JetBrains Mono"/>
                <a:cs typeface="JetBrains Mono"/>
              </a:defRPr>
            </a:pPr>
            <a:r>
              <a:rPr sz="1800" b="1" i="0">
                <a:solidFill>
                  <a:srgbClr val="FFAD62"/>
                </a:solidFill>
                <a:latin typeface="JetBrains Mono"/>
                <a:ea typeface="JetBrains Mono"/>
                <a:cs typeface="JetBrains Mono"/>
              </a:rPr>
              <a:t>1 saída</a:t>
            </a:r>
          </a:p>
        </p:txBody>
      </p:sp>
      <p:sp>
        <p:nvSpPr>
          <p:cNvPr id="55" name="mlp-input-0">
            <a:extLst xmlns:a="http://schemas.openxmlformats.org/drawingml/2006/main">
              <a:ext uri="{FF2B5EF4-FFF2-40B4-BE49-F238E27FC236}">
                <a16:creationId xmlns:a16="http://schemas.microsoft.com/office/drawing/2014/main" id="{EA1B0D88-5AA7-497A-AAF7-68B4BE42D3CA}"/>
              </a:ext>
            </a:extLst>
          </p:cNvPr>
          <p:cNvSpPr>
            <a:spLocks xmlns:a="http://schemas.openxmlformats.org/drawingml/2006/main" noGrp="1"/>
          </p:cNvSpPr>
          <p:nvPr/>
        </p:nvSpPr>
        <p:spPr>
          <a:xfrm xmlns:a="http://schemas.openxmlformats.org/drawingml/2006/main">
            <a:off x="1352550" y="3105150"/>
            <a:ext cx="695325" cy="571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x₁</a:t>
            </a:r>
          </a:p>
        </p:txBody>
      </p:sp>
      <p:sp>
        <p:nvSpPr>
          <p:cNvPr id="56" name="mlp-input-1">
            <a:extLst xmlns:a="http://schemas.openxmlformats.org/drawingml/2006/main">
              <a:ext uri="{FF2B5EF4-FFF2-40B4-BE49-F238E27FC236}">
                <a16:creationId xmlns:a16="http://schemas.microsoft.com/office/drawing/2014/main" id="{F22A31CE-BADF-45AC-BBE9-F6D0EF2536DE}"/>
              </a:ext>
            </a:extLst>
          </p:cNvPr>
          <p:cNvSpPr>
            <a:spLocks xmlns:a="http://schemas.openxmlformats.org/drawingml/2006/main" noGrp="1"/>
          </p:cNvSpPr>
          <p:nvPr/>
        </p:nvSpPr>
        <p:spPr>
          <a:xfrm xmlns:a="http://schemas.openxmlformats.org/drawingml/2006/main">
            <a:off x="1352550" y="4114800"/>
            <a:ext cx="695325" cy="571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x₂</a:t>
            </a:r>
          </a:p>
        </p:txBody>
      </p:sp>
      <p:sp>
        <p:nvSpPr>
          <p:cNvPr id="57" name="mlp-input-2">
            <a:extLst xmlns:a="http://schemas.openxmlformats.org/drawingml/2006/main">
              <a:ext uri="{FF2B5EF4-FFF2-40B4-BE49-F238E27FC236}">
                <a16:creationId xmlns:a16="http://schemas.microsoft.com/office/drawing/2014/main" id="{C8B14CFE-59D0-4816-9BDB-BB5AEFE22BA8}"/>
              </a:ext>
            </a:extLst>
          </p:cNvPr>
          <p:cNvSpPr>
            <a:spLocks xmlns:a="http://schemas.openxmlformats.org/drawingml/2006/main" noGrp="1"/>
          </p:cNvSpPr>
          <p:nvPr/>
        </p:nvSpPr>
        <p:spPr>
          <a:xfrm xmlns:a="http://schemas.openxmlformats.org/drawingml/2006/main">
            <a:off x="1352550" y="5124450"/>
            <a:ext cx="695325" cy="571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800" b="1">
                <a:solidFill>
                  <a:srgbClr val="83DFFF"/>
                </a:solidFill>
                <a:latin typeface="JetBrains Mono"/>
                <a:ea typeface="JetBrains Mono"/>
                <a:cs typeface="JetBrains Mono"/>
              </a:defRPr>
            </a:pPr>
            <a:r>
              <a:rPr sz="1800" b="1">
                <a:solidFill>
                  <a:srgbClr val="83DFFF"/>
                </a:solidFill>
                <a:latin typeface="JetBrains Mono"/>
                <a:ea typeface="JetBrains Mono"/>
                <a:cs typeface="JetBrains Mono"/>
              </a:rPr>
              <a:t>x₃</a:t>
            </a:r>
          </a:p>
        </p:txBody>
      </p:sp>
      <p:sp>
        <p:nvSpPr>
          <p:cNvPr id="58" name="mlp-hidden-0">
            <a:extLst xmlns:a="http://schemas.openxmlformats.org/drawingml/2006/main">
              <a:ext uri="{FF2B5EF4-FFF2-40B4-BE49-F238E27FC236}">
                <a16:creationId xmlns:a16="http://schemas.microsoft.com/office/drawing/2014/main" id="{232AD47C-258F-40F5-BA0B-6DD3F8F61828}"/>
              </a:ext>
            </a:extLst>
          </p:cNvPr>
          <p:cNvSpPr>
            <a:spLocks xmlns:a="http://schemas.openxmlformats.org/drawingml/2006/main" noGrp="1"/>
          </p:cNvSpPr>
          <p:nvPr/>
        </p:nvSpPr>
        <p:spPr>
          <a:xfrm xmlns:a="http://schemas.openxmlformats.org/drawingml/2006/main">
            <a:off x="5791200" y="2933700"/>
            <a:ext cx="695325" cy="571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800" b="1">
                <a:solidFill>
                  <a:srgbClr val="71E7BD"/>
                </a:solidFill>
                <a:latin typeface="JetBrains Mono"/>
                <a:ea typeface="JetBrains Mono"/>
                <a:cs typeface="JetBrains Mono"/>
              </a:defRPr>
            </a:pPr>
            <a:r>
              <a:rPr sz="1800" b="1">
                <a:solidFill>
                  <a:srgbClr val="71E7BD"/>
                </a:solidFill>
                <a:latin typeface="JetBrains Mono"/>
                <a:ea typeface="JetBrains Mono"/>
                <a:cs typeface="JetBrains Mono"/>
              </a:rPr>
              <a:t>h₁</a:t>
            </a:r>
          </a:p>
        </p:txBody>
      </p:sp>
      <p:sp>
        <p:nvSpPr>
          <p:cNvPr id="59" name="mlp-hidden-1">
            <a:extLst xmlns:a="http://schemas.openxmlformats.org/drawingml/2006/main">
              <a:ext uri="{FF2B5EF4-FFF2-40B4-BE49-F238E27FC236}">
                <a16:creationId xmlns:a16="http://schemas.microsoft.com/office/drawing/2014/main" id="{0BA58A15-9573-4E40-9495-454EC5DA0791}"/>
              </a:ext>
            </a:extLst>
          </p:cNvPr>
          <p:cNvSpPr>
            <a:spLocks xmlns:a="http://schemas.openxmlformats.org/drawingml/2006/main" noGrp="1"/>
          </p:cNvSpPr>
          <p:nvPr/>
        </p:nvSpPr>
        <p:spPr>
          <a:xfrm xmlns:a="http://schemas.openxmlformats.org/drawingml/2006/main">
            <a:off x="5791200" y="3638550"/>
            <a:ext cx="695325" cy="571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800" b="1">
                <a:solidFill>
                  <a:srgbClr val="71E7BD"/>
                </a:solidFill>
                <a:latin typeface="JetBrains Mono"/>
                <a:ea typeface="JetBrains Mono"/>
                <a:cs typeface="JetBrains Mono"/>
              </a:defRPr>
            </a:pPr>
            <a:r>
              <a:rPr sz="1800" b="1">
                <a:solidFill>
                  <a:srgbClr val="71E7BD"/>
                </a:solidFill>
                <a:latin typeface="JetBrains Mono"/>
                <a:ea typeface="JetBrains Mono"/>
                <a:cs typeface="JetBrains Mono"/>
              </a:rPr>
              <a:t>h₂</a:t>
            </a:r>
          </a:p>
        </p:txBody>
      </p:sp>
      <p:sp>
        <p:nvSpPr>
          <p:cNvPr id="60" name="mlp-hidden-2">
            <a:extLst xmlns:a="http://schemas.openxmlformats.org/drawingml/2006/main">
              <a:ext uri="{FF2B5EF4-FFF2-40B4-BE49-F238E27FC236}">
                <a16:creationId xmlns:a16="http://schemas.microsoft.com/office/drawing/2014/main" id="{1C8E4ACA-4FD1-44B5-BD41-04741FDCCC50}"/>
              </a:ext>
            </a:extLst>
          </p:cNvPr>
          <p:cNvSpPr>
            <a:spLocks xmlns:a="http://schemas.openxmlformats.org/drawingml/2006/main" noGrp="1"/>
          </p:cNvSpPr>
          <p:nvPr/>
        </p:nvSpPr>
        <p:spPr>
          <a:xfrm xmlns:a="http://schemas.openxmlformats.org/drawingml/2006/main">
            <a:off x="5791200" y="4343400"/>
            <a:ext cx="695325" cy="571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800" b="1">
                <a:solidFill>
                  <a:srgbClr val="71E7BD"/>
                </a:solidFill>
                <a:latin typeface="JetBrains Mono"/>
                <a:ea typeface="JetBrains Mono"/>
                <a:cs typeface="JetBrains Mono"/>
              </a:defRPr>
            </a:pPr>
            <a:r>
              <a:rPr sz="1800" b="1">
                <a:solidFill>
                  <a:srgbClr val="71E7BD"/>
                </a:solidFill>
                <a:latin typeface="JetBrains Mono"/>
                <a:ea typeface="JetBrains Mono"/>
                <a:cs typeface="JetBrains Mono"/>
              </a:rPr>
              <a:t>h₃</a:t>
            </a:r>
          </a:p>
        </p:txBody>
      </p:sp>
      <p:sp>
        <p:nvSpPr>
          <p:cNvPr id="61" name="mlp-hidden-3">
            <a:extLst xmlns:a="http://schemas.openxmlformats.org/drawingml/2006/main">
              <a:ext uri="{FF2B5EF4-FFF2-40B4-BE49-F238E27FC236}">
                <a16:creationId xmlns:a16="http://schemas.microsoft.com/office/drawing/2014/main" id="{0206C2AF-C2C9-4A13-B788-5315F2A9D474}"/>
              </a:ext>
            </a:extLst>
          </p:cNvPr>
          <p:cNvSpPr>
            <a:spLocks xmlns:a="http://schemas.openxmlformats.org/drawingml/2006/main" noGrp="1"/>
          </p:cNvSpPr>
          <p:nvPr/>
        </p:nvSpPr>
        <p:spPr>
          <a:xfrm xmlns:a="http://schemas.openxmlformats.org/drawingml/2006/main">
            <a:off x="5791200" y="5048250"/>
            <a:ext cx="695325" cy="571500"/>
          </a:xfrm>
          <a:prstGeom xmlns:a="http://schemas.openxmlformats.org/drawingml/2006/main" prst="ellipse">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800" b="1">
                <a:solidFill>
                  <a:srgbClr val="71E7BD"/>
                </a:solidFill>
                <a:latin typeface="JetBrains Mono"/>
                <a:ea typeface="JetBrains Mono"/>
                <a:cs typeface="JetBrains Mono"/>
              </a:defRPr>
            </a:pPr>
            <a:r>
              <a:rPr sz="1800" b="1">
                <a:solidFill>
                  <a:srgbClr val="71E7BD"/>
                </a:solidFill>
                <a:latin typeface="JetBrains Mono"/>
                <a:ea typeface="JetBrains Mono"/>
                <a:cs typeface="JetBrains Mono"/>
              </a:rPr>
              <a:t>h₄</a:t>
            </a:r>
          </a:p>
        </p:txBody>
      </p:sp>
      <p:sp>
        <p:nvSpPr>
          <p:cNvPr id="62" name="mlp-output">
            <a:extLst xmlns:a="http://schemas.openxmlformats.org/drawingml/2006/main">
              <a:ext uri="{FF2B5EF4-FFF2-40B4-BE49-F238E27FC236}">
                <a16:creationId xmlns:a16="http://schemas.microsoft.com/office/drawing/2014/main" id="{917EC3B4-4A8F-4415-A95E-4436E6626001}"/>
              </a:ext>
            </a:extLst>
          </p:cNvPr>
          <p:cNvSpPr>
            <a:spLocks xmlns:a="http://schemas.openxmlformats.org/drawingml/2006/main" noGrp="1"/>
          </p:cNvSpPr>
          <p:nvPr/>
        </p:nvSpPr>
        <p:spPr>
          <a:xfrm xmlns:a="http://schemas.openxmlformats.org/drawingml/2006/main">
            <a:off x="10334625" y="4057650"/>
            <a:ext cx="781050" cy="685800"/>
          </a:xfrm>
          <a:prstGeom xmlns:a="http://schemas.openxmlformats.org/drawingml/2006/main" prst="ellipse">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100" b="1">
                <a:solidFill>
                  <a:srgbClr val="FFAD62"/>
                </a:solidFill>
                <a:latin typeface="JetBrains Mono"/>
                <a:ea typeface="JetBrains Mono"/>
                <a:cs typeface="JetBrains Mono"/>
              </a:defRPr>
            </a:pPr>
            <a:r>
              <a:rPr sz="2100" b="1">
                <a:solidFill>
                  <a:srgbClr val="FFAD62"/>
                </a:solidFill>
                <a:latin typeface="JetBrains Mono"/>
                <a:ea typeface="JetBrains Mono"/>
                <a:cs typeface="JetBrains Mono"/>
              </a:rPr>
              <a:t>Q̂</a:t>
            </a:r>
          </a:p>
        </p:txBody>
      </p:sp>
      <p:cxnSp>
        <p:nvCxnSpPr>
          <p:cNvPr id="99" name=""/>
          <p:cNvCxnSpPr>
            <a:stCxn xmlns:a="http://schemas.openxmlformats.org/drawingml/2006/main" id="55" idx="6"/>
            <a:endCxn xmlns:a="http://schemas.openxmlformats.org/drawingml/2006/main" id="58" idx="2"/>
          </p:cNvCxnSpPr>
          <p:nvPr/>
        </p:nvCxnSpPr>
        <p:spPr>
          <a:xfrm xmlns:a="http://schemas.openxmlformats.org/drawingml/2006/main" flipV="1">
            <a:off x="2047875" y="3219450"/>
            <a:ext cx="3743325" cy="171450"/>
          </a:xfrm>
          <a:prstGeom xmlns:a="http://schemas.openxmlformats.org/drawingml/2006/main" prst="straightConnector1">
            <a:avLst/>
          </a:prstGeom>
          <a:ln xmlns:a="http://schemas.openxmlformats.org/drawingml/2006/main" w="15240">
            <a:solidFill>
              <a:srgbClr val="4C6D91"/>
            </a:solidFill>
          </a:ln>
        </p:spPr>
      </p:cxnSp>
      <p:cxnSp>
        <p:nvCxnSpPr>
          <p:cNvPr id="100" name=""/>
          <p:cNvCxnSpPr>
            <a:stCxn xmlns:a="http://schemas.openxmlformats.org/drawingml/2006/main" id="55" idx="6"/>
            <a:endCxn xmlns:a="http://schemas.openxmlformats.org/drawingml/2006/main" id="59" idx="2"/>
          </p:cNvCxnSpPr>
          <p:nvPr/>
        </p:nvCxnSpPr>
        <p:spPr>
          <a:xfrm xmlns:a="http://schemas.openxmlformats.org/drawingml/2006/main">
            <a:off x="2047875" y="3390900"/>
            <a:ext cx="3743325" cy="533400"/>
          </a:xfrm>
          <a:prstGeom xmlns:a="http://schemas.openxmlformats.org/drawingml/2006/main" prst="straightConnector1">
            <a:avLst/>
          </a:prstGeom>
          <a:ln xmlns:a="http://schemas.openxmlformats.org/drawingml/2006/main" w="15240">
            <a:solidFill>
              <a:srgbClr val="4C6D91"/>
            </a:solidFill>
          </a:ln>
        </p:spPr>
      </p:cxnSp>
      <p:cxnSp>
        <p:nvCxnSpPr>
          <p:cNvPr id="101" name=""/>
          <p:cNvCxnSpPr>
            <a:stCxn xmlns:a="http://schemas.openxmlformats.org/drawingml/2006/main" id="55" idx="6"/>
            <a:endCxn xmlns:a="http://schemas.openxmlformats.org/drawingml/2006/main" id="60" idx="2"/>
          </p:cNvCxnSpPr>
          <p:nvPr/>
        </p:nvCxnSpPr>
        <p:spPr>
          <a:xfrm xmlns:a="http://schemas.openxmlformats.org/drawingml/2006/main">
            <a:off x="2047875" y="3390900"/>
            <a:ext cx="3743325" cy="1238250"/>
          </a:xfrm>
          <a:prstGeom xmlns:a="http://schemas.openxmlformats.org/drawingml/2006/main" prst="straightConnector1">
            <a:avLst/>
          </a:prstGeom>
          <a:ln xmlns:a="http://schemas.openxmlformats.org/drawingml/2006/main" w="15240">
            <a:solidFill>
              <a:srgbClr val="4C6D91"/>
            </a:solidFill>
          </a:ln>
        </p:spPr>
      </p:cxnSp>
      <p:cxnSp>
        <p:nvCxnSpPr>
          <p:cNvPr id="102" name=""/>
          <p:cNvCxnSpPr>
            <a:stCxn xmlns:a="http://schemas.openxmlformats.org/drawingml/2006/main" id="55" idx="6"/>
            <a:endCxn xmlns:a="http://schemas.openxmlformats.org/drawingml/2006/main" id="61" idx="2"/>
          </p:cNvCxnSpPr>
          <p:nvPr/>
        </p:nvCxnSpPr>
        <p:spPr>
          <a:xfrm xmlns:a="http://schemas.openxmlformats.org/drawingml/2006/main">
            <a:off x="2047875" y="3390900"/>
            <a:ext cx="3743325" cy="1943100"/>
          </a:xfrm>
          <a:prstGeom xmlns:a="http://schemas.openxmlformats.org/drawingml/2006/main" prst="straightConnector1">
            <a:avLst/>
          </a:prstGeom>
          <a:ln xmlns:a="http://schemas.openxmlformats.org/drawingml/2006/main" w="15240">
            <a:solidFill>
              <a:srgbClr val="4C6D91"/>
            </a:solidFill>
          </a:ln>
        </p:spPr>
      </p:cxnSp>
      <p:cxnSp>
        <p:nvCxnSpPr>
          <p:cNvPr id="103" name=""/>
          <p:cNvCxnSpPr>
            <a:stCxn xmlns:a="http://schemas.openxmlformats.org/drawingml/2006/main" id="56" idx="6"/>
            <a:endCxn xmlns:a="http://schemas.openxmlformats.org/drawingml/2006/main" id="58" idx="2"/>
          </p:cNvCxnSpPr>
          <p:nvPr/>
        </p:nvCxnSpPr>
        <p:spPr>
          <a:xfrm xmlns:a="http://schemas.openxmlformats.org/drawingml/2006/main" flipV="1">
            <a:off x="2047875" y="3219450"/>
            <a:ext cx="3743325" cy="1181100"/>
          </a:xfrm>
          <a:prstGeom xmlns:a="http://schemas.openxmlformats.org/drawingml/2006/main" prst="straightConnector1">
            <a:avLst/>
          </a:prstGeom>
          <a:ln xmlns:a="http://schemas.openxmlformats.org/drawingml/2006/main" w="15240">
            <a:solidFill>
              <a:srgbClr val="4C6D91"/>
            </a:solidFill>
          </a:ln>
        </p:spPr>
      </p:cxnSp>
      <p:cxnSp>
        <p:nvCxnSpPr>
          <p:cNvPr id="104" name=""/>
          <p:cNvCxnSpPr>
            <a:stCxn xmlns:a="http://schemas.openxmlformats.org/drawingml/2006/main" id="56" idx="6"/>
            <a:endCxn xmlns:a="http://schemas.openxmlformats.org/drawingml/2006/main" id="59" idx="2"/>
          </p:cNvCxnSpPr>
          <p:nvPr/>
        </p:nvCxnSpPr>
        <p:spPr>
          <a:xfrm xmlns:a="http://schemas.openxmlformats.org/drawingml/2006/main" flipV="1">
            <a:off x="2047875" y="3924300"/>
            <a:ext cx="3743325" cy="476250"/>
          </a:xfrm>
          <a:prstGeom xmlns:a="http://schemas.openxmlformats.org/drawingml/2006/main" prst="straightConnector1">
            <a:avLst/>
          </a:prstGeom>
          <a:ln xmlns:a="http://schemas.openxmlformats.org/drawingml/2006/main" w="15240">
            <a:solidFill>
              <a:srgbClr val="4C6D91"/>
            </a:solidFill>
          </a:ln>
        </p:spPr>
      </p:cxnSp>
      <p:cxnSp>
        <p:nvCxnSpPr>
          <p:cNvPr id="105" name=""/>
          <p:cNvCxnSpPr>
            <a:stCxn xmlns:a="http://schemas.openxmlformats.org/drawingml/2006/main" id="56" idx="6"/>
            <a:endCxn xmlns:a="http://schemas.openxmlformats.org/drawingml/2006/main" id="60" idx="2"/>
          </p:cNvCxnSpPr>
          <p:nvPr/>
        </p:nvCxnSpPr>
        <p:spPr>
          <a:xfrm xmlns:a="http://schemas.openxmlformats.org/drawingml/2006/main">
            <a:off x="2047875" y="4400550"/>
            <a:ext cx="3743325" cy="228600"/>
          </a:xfrm>
          <a:prstGeom xmlns:a="http://schemas.openxmlformats.org/drawingml/2006/main" prst="straightConnector1">
            <a:avLst/>
          </a:prstGeom>
          <a:ln xmlns:a="http://schemas.openxmlformats.org/drawingml/2006/main" w="15240">
            <a:solidFill>
              <a:srgbClr val="4C6D91"/>
            </a:solidFill>
          </a:ln>
        </p:spPr>
      </p:cxnSp>
      <p:cxnSp>
        <p:nvCxnSpPr>
          <p:cNvPr id="106" name=""/>
          <p:cNvCxnSpPr>
            <a:stCxn xmlns:a="http://schemas.openxmlformats.org/drawingml/2006/main" id="56" idx="6"/>
            <a:endCxn xmlns:a="http://schemas.openxmlformats.org/drawingml/2006/main" id="61" idx="2"/>
          </p:cNvCxnSpPr>
          <p:nvPr/>
        </p:nvCxnSpPr>
        <p:spPr>
          <a:xfrm xmlns:a="http://schemas.openxmlformats.org/drawingml/2006/main">
            <a:off x="2047875" y="4400550"/>
            <a:ext cx="3743325" cy="933450"/>
          </a:xfrm>
          <a:prstGeom xmlns:a="http://schemas.openxmlformats.org/drawingml/2006/main" prst="straightConnector1">
            <a:avLst/>
          </a:prstGeom>
          <a:ln xmlns:a="http://schemas.openxmlformats.org/drawingml/2006/main" w="15240">
            <a:solidFill>
              <a:srgbClr val="4C6D91"/>
            </a:solidFill>
          </a:ln>
        </p:spPr>
      </p:cxnSp>
      <p:cxnSp>
        <p:nvCxnSpPr>
          <p:cNvPr id="107" name=""/>
          <p:cNvCxnSpPr>
            <a:stCxn xmlns:a="http://schemas.openxmlformats.org/drawingml/2006/main" id="57" idx="6"/>
            <a:endCxn xmlns:a="http://schemas.openxmlformats.org/drawingml/2006/main" id="58" idx="2"/>
          </p:cNvCxnSpPr>
          <p:nvPr/>
        </p:nvCxnSpPr>
        <p:spPr>
          <a:xfrm xmlns:a="http://schemas.openxmlformats.org/drawingml/2006/main" flipV="1">
            <a:off x="2047875" y="3219450"/>
            <a:ext cx="3743325" cy="2190750"/>
          </a:xfrm>
          <a:prstGeom xmlns:a="http://schemas.openxmlformats.org/drawingml/2006/main" prst="straightConnector1">
            <a:avLst/>
          </a:prstGeom>
          <a:ln xmlns:a="http://schemas.openxmlformats.org/drawingml/2006/main" w="15240">
            <a:solidFill>
              <a:srgbClr val="4C6D91"/>
            </a:solidFill>
          </a:ln>
        </p:spPr>
      </p:cxnSp>
      <p:cxnSp>
        <p:nvCxnSpPr>
          <p:cNvPr id="108" name=""/>
          <p:cNvCxnSpPr>
            <a:stCxn xmlns:a="http://schemas.openxmlformats.org/drawingml/2006/main" id="57" idx="6"/>
            <a:endCxn xmlns:a="http://schemas.openxmlformats.org/drawingml/2006/main" id="59" idx="2"/>
          </p:cNvCxnSpPr>
          <p:nvPr/>
        </p:nvCxnSpPr>
        <p:spPr>
          <a:xfrm xmlns:a="http://schemas.openxmlformats.org/drawingml/2006/main" flipV="1">
            <a:off x="2047875" y="3924300"/>
            <a:ext cx="3743325" cy="1485900"/>
          </a:xfrm>
          <a:prstGeom xmlns:a="http://schemas.openxmlformats.org/drawingml/2006/main" prst="straightConnector1">
            <a:avLst/>
          </a:prstGeom>
          <a:ln xmlns:a="http://schemas.openxmlformats.org/drawingml/2006/main" w="15240">
            <a:solidFill>
              <a:srgbClr val="4C6D91"/>
            </a:solidFill>
          </a:ln>
        </p:spPr>
      </p:cxnSp>
      <p:cxnSp>
        <p:nvCxnSpPr>
          <p:cNvPr id="109" name=""/>
          <p:cNvCxnSpPr>
            <a:stCxn xmlns:a="http://schemas.openxmlformats.org/drawingml/2006/main" id="57" idx="6"/>
            <a:endCxn xmlns:a="http://schemas.openxmlformats.org/drawingml/2006/main" id="60" idx="2"/>
          </p:cNvCxnSpPr>
          <p:nvPr/>
        </p:nvCxnSpPr>
        <p:spPr>
          <a:xfrm xmlns:a="http://schemas.openxmlformats.org/drawingml/2006/main" flipV="1">
            <a:off x="2047875" y="4629150"/>
            <a:ext cx="3743325" cy="781050"/>
          </a:xfrm>
          <a:prstGeom xmlns:a="http://schemas.openxmlformats.org/drawingml/2006/main" prst="straightConnector1">
            <a:avLst/>
          </a:prstGeom>
          <a:ln xmlns:a="http://schemas.openxmlformats.org/drawingml/2006/main" w="15240">
            <a:solidFill>
              <a:srgbClr val="4C6D91"/>
            </a:solidFill>
          </a:ln>
        </p:spPr>
      </p:cxnSp>
      <p:cxnSp>
        <p:nvCxnSpPr>
          <p:cNvPr id="110" name=""/>
          <p:cNvCxnSpPr>
            <a:stCxn xmlns:a="http://schemas.openxmlformats.org/drawingml/2006/main" id="57" idx="6"/>
            <a:endCxn xmlns:a="http://schemas.openxmlformats.org/drawingml/2006/main" id="61" idx="2"/>
          </p:cNvCxnSpPr>
          <p:nvPr/>
        </p:nvCxnSpPr>
        <p:spPr>
          <a:xfrm xmlns:a="http://schemas.openxmlformats.org/drawingml/2006/main" flipV="1">
            <a:off x="2047875" y="5334000"/>
            <a:ext cx="3743325" cy="76200"/>
          </a:xfrm>
          <a:prstGeom xmlns:a="http://schemas.openxmlformats.org/drawingml/2006/main" prst="straightConnector1">
            <a:avLst/>
          </a:prstGeom>
          <a:ln xmlns:a="http://schemas.openxmlformats.org/drawingml/2006/main" w="15240">
            <a:solidFill>
              <a:srgbClr val="4C6D91"/>
            </a:solidFill>
          </a:ln>
        </p:spPr>
      </p:cxnSp>
      <p:cxnSp>
        <p:nvCxnSpPr>
          <p:cNvPr id="111" name=""/>
          <p:cNvCxnSpPr>
            <a:stCxn xmlns:a="http://schemas.openxmlformats.org/drawingml/2006/main" id="58" idx="6"/>
            <a:endCxn xmlns:a="http://schemas.openxmlformats.org/drawingml/2006/main" id="62" idx="2"/>
          </p:cNvCxnSpPr>
          <p:nvPr/>
        </p:nvCxnSpPr>
        <p:spPr>
          <a:xfrm xmlns:a="http://schemas.openxmlformats.org/drawingml/2006/main">
            <a:off x="6486525" y="3219450"/>
            <a:ext cx="3848100" cy="1181100"/>
          </a:xfrm>
          <a:prstGeom xmlns:a="http://schemas.openxmlformats.org/drawingml/2006/main" prst="straightConnector1">
            <a:avLst/>
          </a:prstGeom>
          <a:ln xmlns:a="http://schemas.openxmlformats.org/drawingml/2006/main" w="15240">
            <a:solidFill>
              <a:srgbClr val="4C6D91"/>
            </a:solidFill>
          </a:ln>
        </p:spPr>
      </p:cxnSp>
      <p:cxnSp>
        <p:nvCxnSpPr>
          <p:cNvPr id="112" name=""/>
          <p:cNvCxnSpPr>
            <a:stCxn xmlns:a="http://schemas.openxmlformats.org/drawingml/2006/main" id="59" idx="6"/>
            <a:endCxn xmlns:a="http://schemas.openxmlformats.org/drawingml/2006/main" id="62" idx="2"/>
          </p:cNvCxnSpPr>
          <p:nvPr/>
        </p:nvCxnSpPr>
        <p:spPr>
          <a:xfrm xmlns:a="http://schemas.openxmlformats.org/drawingml/2006/main">
            <a:off x="6486525" y="3924300"/>
            <a:ext cx="3848100" cy="476250"/>
          </a:xfrm>
          <a:prstGeom xmlns:a="http://schemas.openxmlformats.org/drawingml/2006/main" prst="straightConnector1">
            <a:avLst/>
          </a:prstGeom>
          <a:ln xmlns:a="http://schemas.openxmlformats.org/drawingml/2006/main" w="15240">
            <a:solidFill>
              <a:srgbClr val="4C6D91"/>
            </a:solidFill>
          </a:ln>
        </p:spPr>
      </p:cxnSp>
      <p:cxnSp>
        <p:nvCxnSpPr>
          <p:cNvPr id="113" name=""/>
          <p:cNvCxnSpPr>
            <a:stCxn xmlns:a="http://schemas.openxmlformats.org/drawingml/2006/main" id="60" idx="6"/>
            <a:endCxn xmlns:a="http://schemas.openxmlformats.org/drawingml/2006/main" id="62" idx="2"/>
          </p:cNvCxnSpPr>
          <p:nvPr/>
        </p:nvCxnSpPr>
        <p:spPr>
          <a:xfrm xmlns:a="http://schemas.openxmlformats.org/drawingml/2006/main" flipV="1">
            <a:off x="6486525" y="4400550"/>
            <a:ext cx="3848100" cy="228600"/>
          </a:xfrm>
          <a:prstGeom xmlns:a="http://schemas.openxmlformats.org/drawingml/2006/main" prst="straightConnector1">
            <a:avLst/>
          </a:prstGeom>
          <a:ln xmlns:a="http://schemas.openxmlformats.org/drawingml/2006/main" w="15240">
            <a:solidFill>
              <a:srgbClr val="4C6D91"/>
            </a:solidFill>
          </a:ln>
        </p:spPr>
      </p:cxnSp>
      <p:cxnSp>
        <p:nvCxnSpPr>
          <p:cNvPr id="114" name=""/>
          <p:cNvCxnSpPr>
            <a:stCxn xmlns:a="http://schemas.openxmlformats.org/drawingml/2006/main" id="61" idx="6"/>
            <a:endCxn xmlns:a="http://schemas.openxmlformats.org/drawingml/2006/main" id="62" idx="2"/>
          </p:cNvCxnSpPr>
          <p:nvPr/>
        </p:nvCxnSpPr>
        <p:spPr>
          <a:xfrm xmlns:a="http://schemas.openxmlformats.org/drawingml/2006/main" flipV="1">
            <a:off x="6486525" y="4400550"/>
            <a:ext cx="3848100" cy="933450"/>
          </a:xfrm>
          <a:prstGeom xmlns:a="http://schemas.openxmlformats.org/drawingml/2006/main" prst="straightConnector1">
            <a:avLst/>
          </a:prstGeom>
          <a:ln xmlns:a="http://schemas.openxmlformats.org/drawingml/2006/main" w="15240">
            <a:solidFill>
              <a:srgbClr val="4C6D91"/>
            </a:solidFill>
          </a:ln>
        </p:spPr>
      </p:cxnSp>
      <p:sp>
        <p:nvSpPr>
          <p:cNvPr id="79" name="hidden-activation">
            <a:extLst xmlns:a="http://schemas.openxmlformats.org/drawingml/2006/main">
              <a:ext uri="{FF2B5EF4-FFF2-40B4-BE49-F238E27FC236}">
                <a16:creationId xmlns:a16="http://schemas.microsoft.com/office/drawing/2014/main" id="{DD897E6A-B314-4C37-B56C-0EFAF6CA6CD2}"/>
              </a:ext>
            </a:extLst>
          </p:cNvPr>
          <p:cNvSpPr>
            <a:spLocks xmlns:a="http://schemas.openxmlformats.org/drawingml/2006/main" noGrp="1"/>
          </p:cNvSpPr>
          <p:nvPr/>
        </p:nvSpPr>
        <p:spPr>
          <a:xfrm xmlns:a="http://schemas.openxmlformats.org/drawingml/2006/main">
            <a:off x="4838700" y="5715000"/>
            <a:ext cx="26003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0">
                <a:solidFill>
                  <a:srgbClr val="71E7BD"/>
                </a:solidFill>
                <a:latin typeface="JetBrains Mono"/>
                <a:ea typeface="JetBrains Mono"/>
                <a:cs typeface="JetBrains Mono"/>
              </a:defRPr>
            </a:pPr>
            <a:r>
              <a:rPr sz="1725" b="0" i="0">
                <a:solidFill>
                  <a:srgbClr val="71E7BD"/>
                </a:solidFill>
                <a:latin typeface="JetBrains Mono"/>
                <a:ea typeface="JetBrains Mono"/>
                <a:cs typeface="JetBrains Mono"/>
              </a:rPr>
              <a:t>ReLU</a:t>
            </a:r>
          </a:p>
        </p:txBody>
      </p:sp>
      <p:sp>
        <p:nvSpPr>
          <p:cNvPr id="80" name="output-activation">
            <a:extLst xmlns:a="http://schemas.openxmlformats.org/drawingml/2006/main">
              <a:ext uri="{FF2B5EF4-FFF2-40B4-BE49-F238E27FC236}">
                <a16:creationId xmlns:a16="http://schemas.microsoft.com/office/drawing/2014/main" id="{AEFF500C-6E82-4FFA-8909-FE4870D09EEA}"/>
              </a:ext>
            </a:extLst>
          </p:cNvPr>
          <p:cNvSpPr>
            <a:spLocks xmlns:a="http://schemas.openxmlformats.org/drawingml/2006/main" noGrp="1"/>
          </p:cNvSpPr>
          <p:nvPr/>
        </p:nvSpPr>
        <p:spPr>
          <a:xfrm xmlns:a="http://schemas.openxmlformats.org/drawingml/2006/main">
            <a:off x="9172575" y="5143500"/>
            <a:ext cx="25622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AD62"/>
                </a:solidFill>
                <a:latin typeface="JetBrains Mono"/>
                <a:ea typeface="JetBrains Mono"/>
                <a:cs typeface="JetBrains Mono"/>
              </a:defRPr>
            </a:pPr>
            <a:r>
              <a:rPr sz="1650" b="0" i="0">
                <a:solidFill>
                  <a:srgbClr val="FFAD62"/>
                </a:solidFill>
                <a:latin typeface="JetBrains Mono"/>
                <a:ea typeface="JetBrains Mono"/>
                <a:cs typeface="JetBrains Mono"/>
              </a:rPr>
              <a:t>Identidade</a:t>
            </a:r>
          </a:p>
        </p:txBody>
      </p:sp>
      <p:sp>
        <p:nvSpPr>
          <p:cNvPr id="81" name="caption">
            <a:extLst xmlns:a="http://schemas.openxmlformats.org/drawingml/2006/main">
              <a:ext uri="{FF2B5EF4-FFF2-40B4-BE49-F238E27FC236}">
                <a16:creationId xmlns:a16="http://schemas.microsoft.com/office/drawing/2014/main" id="{234018E9-75F3-499A-BFF8-024AE399934A}"/>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Parâmetros: 3×4 pesos + 4 vieses + 4×1 pesos + 1 viés = 21.</a:t>
            </a:r>
          </a:p>
        </p:txBody>
      </p:sp>
    </p:spTree>
    <p:extLst>
      <p:ext uri="{BB962C8B-B14F-4D97-AF65-F5344CB8AC3E}">
        <p14:creationId xmlns:p14="http://schemas.microsoft.com/office/powerpoint/2010/main" val="338010029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72" name="Imagem 13"/>
          <p:cNvPicPr>
            <a:picLocks xmlns:a="http://schemas.openxmlformats.org/drawingml/2006/main" noChangeAspect="1"/>
          </p:cNvPicPr>
          <p:nvPr/>
        </p:nvPicPr>
        <p:blipFill>
          <a:blip xmlns:r="http://schemas.openxmlformats.org/officeDocument/2006/relationships" xmlns:a="http://schemas.openxmlformats.org/drawingml/2006/main" r:embed="Rff33954f10da4468"/>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Propagação direta: cálculo da previsão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forward-parameters">
            <a:extLst xmlns:a="http://schemas.openxmlformats.org/drawingml/2006/main">
              <a:ext uri="{FF2B5EF4-FFF2-40B4-BE49-F238E27FC236}">
                <a16:creationId xmlns:a16="http://schemas.microsoft.com/office/drawing/2014/main" id="{ABDCE97B-ED15-438E-920E-A572A4EF2BCE}"/>
              </a:ext>
            </a:extLst>
          </p:cNvPr>
          <p:cNvSpPr>
            <a:spLocks xmlns:a="http://schemas.openxmlformats.org/drawingml/2006/main" noGrp="1"/>
          </p:cNvSpPr>
          <p:nvPr/>
        </p:nvSpPr>
        <p:spPr>
          <a:xfrm xmlns:a="http://schemas.openxmlformats.org/drawingml/2006/main">
            <a:off x="457200" y="2362200"/>
            <a:ext cx="11277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FFFFF"/>
                </a:solidFill>
                <a:latin typeface="JetBrains Mono"/>
                <a:ea typeface="JetBrains Mono"/>
                <a:cs typeface="JetBrains Mono"/>
              </a:defRPr>
            </a:pPr>
            <a:r>
              <a:rPr sz="1875" b="0" i="0">
                <a:solidFill>
                  <a:srgbClr val="FFFFFF"/>
                </a:solidFill>
                <a:latin typeface="JetBrains Mono"/>
                <a:ea typeface="JetBrains Mono"/>
                <a:cs typeface="JetBrains Mono"/>
              </a:rPr>
              <a:t>x = 2    u = 0,5    bₕ = −0,2    v = 2    bₒ = 0,4</a:t>
            </a:r>
          </a:p>
        </p:txBody>
      </p:sp>
      <p:sp>
        <p:nvSpPr>
          <p:cNvPr id="53" name="stage-0-title">
            <a:extLst xmlns:a="http://schemas.openxmlformats.org/drawingml/2006/main">
              <a:ext uri="{FF2B5EF4-FFF2-40B4-BE49-F238E27FC236}">
                <a16:creationId xmlns:a16="http://schemas.microsoft.com/office/drawing/2014/main" id="{1770EB38-99CA-461A-AE6E-4EEC849F6170}"/>
              </a:ext>
            </a:extLst>
          </p:cNvPr>
          <p:cNvSpPr>
            <a:spLocks xmlns:a="http://schemas.openxmlformats.org/drawingml/2006/main" noGrp="1"/>
          </p:cNvSpPr>
          <p:nvPr/>
        </p:nvSpPr>
        <p:spPr>
          <a:xfrm xmlns:a="http://schemas.openxmlformats.org/drawingml/2006/main">
            <a:off x="457200" y="28956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Entrada</a:t>
            </a:r>
          </a:p>
        </p:txBody>
      </p:sp>
      <p:sp>
        <p:nvSpPr>
          <p:cNvPr id="54" name="stage-0">
            <a:extLst xmlns:a="http://schemas.openxmlformats.org/drawingml/2006/main">
              <a:ext uri="{FF2B5EF4-FFF2-40B4-BE49-F238E27FC236}">
                <a16:creationId xmlns:a16="http://schemas.microsoft.com/office/drawing/2014/main" id="{1F301B52-B6E7-4DCC-880F-57D3E6874553}"/>
              </a:ext>
            </a:extLst>
          </p:cNvPr>
          <p:cNvSpPr>
            <a:spLocks xmlns:a="http://schemas.openxmlformats.org/drawingml/2006/main" noGrp="1"/>
          </p:cNvSpPr>
          <p:nvPr/>
        </p:nvSpPr>
        <p:spPr>
          <a:xfrm xmlns:a="http://schemas.openxmlformats.org/drawingml/2006/main">
            <a:off x="457200" y="34385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x = 2</a:t>
            </a:r>
          </a:p>
        </p:txBody>
      </p:sp>
      <p:sp>
        <p:nvSpPr>
          <p:cNvPr id="55" name="stage-1-title">
            <a:extLst xmlns:a="http://schemas.openxmlformats.org/drawingml/2006/main">
              <a:ext uri="{FF2B5EF4-FFF2-40B4-BE49-F238E27FC236}">
                <a16:creationId xmlns:a16="http://schemas.microsoft.com/office/drawing/2014/main" id="{AE3E1E46-1C52-4CAC-8FC4-AA95D2AF0503}"/>
              </a:ext>
            </a:extLst>
          </p:cNvPr>
          <p:cNvSpPr>
            <a:spLocks xmlns:a="http://schemas.openxmlformats.org/drawingml/2006/main" noGrp="1"/>
          </p:cNvSpPr>
          <p:nvPr/>
        </p:nvSpPr>
        <p:spPr>
          <a:xfrm xmlns:a="http://schemas.openxmlformats.org/drawingml/2006/main">
            <a:off x="3343275" y="28956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Soma</a:t>
            </a:r>
          </a:p>
        </p:txBody>
      </p:sp>
      <p:sp>
        <p:nvSpPr>
          <p:cNvPr id="56" name="stage-1">
            <a:extLst xmlns:a="http://schemas.openxmlformats.org/drawingml/2006/main">
              <a:ext uri="{FF2B5EF4-FFF2-40B4-BE49-F238E27FC236}">
                <a16:creationId xmlns:a16="http://schemas.microsoft.com/office/drawing/2014/main" id="{F87AAFBC-8EF9-41D9-8ABD-FAAA429DC20B}"/>
              </a:ext>
            </a:extLst>
          </p:cNvPr>
          <p:cNvSpPr>
            <a:spLocks xmlns:a="http://schemas.openxmlformats.org/drawingml/2006/main" noGrp="1"/>
          </p:cNvSpPr>
          <p:nvPr/>
        </p:nvSpPr>
        <p:spPr>
          <a:xfrm xmlns:a="http://schemas.openxmlformats.org/drawingml/2006/main">
            <a:off x="3343275" y="34385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z = 0,8</a:t>
            </a:r>
          </a:p>
        </p:txBody>
      </p:sp>
      <p:sp>
        <p:nvSpPr>
          <p:cNvPr id="57" name="stage-1-detail">
            <a:extLst xmlns:a="http://schemas.openxmlformats.org/drawingml/2006/main">
              <a:ext uri="{FF2B5EF4-FFF2-40B4-BE49-F238E27FC236}">
                <a16:creationId xmlns:a16="http://schemas.microsoft.com/office/drawing/2014/main" id="{A7BB4040-0197-4AE0-A207-C27B5391BF34}"/>
              </a:ext>
            </a:extLst>
          </p:cNvPr>
          <p:cNvSpPr>
            <a:spLocks xmlns:a="http://schemas.openxmlformats.org/drawingml/2006/main" noGrp="1"/>
          </p:cNvSpPr>
          <p:nvPr/>
        </p:nvSpPr>
        <p:spPr>
          <a:xfrm xmlns:a="http://schemas.openxmlformats.org/drawingml/2006/main">
            <a:off x="3343275" y="446722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z = ux + bₕ</a:t>
            </a:r>
          </a:p>
        </p:txBody>
      </p:sp>
      <p:sp>
        <p:nvSpPr>
          <p:cNvPr id="58" name="stage-2-title">
            <a:extLst xmlns:a="http://schemas.openxmlformats.org/drawingml/2006/main">
              <a:ext uri="{FF2B5EF4-FFF2-40B4-BE49-F238E27FC236}">
                <a16:creationId xmlns:a16="http://schemas.microsoft.com/office/drawing/2014/main" id="{81520CAE-9DAA-4F0F-B507-C9BFE7537B96}"/>
              </a:ext>
            </a:extLst>
          </p:cNvPr>
          <p:cNvSpPr>
            <a:spLocks xmlns:a="http://schemas.openxmlformats.org/drawingml/2006/main" noGrp="1"/>
          </p:cNvSpPr>
          <p:nvPr/>
        </p:nvSpPr>
        <p:spPr>
          <a:xfrm xmlns:a="http://schemas.openxmlformats.org/drawingml/2006/main">
            <a:off x="6229350" y="28956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ReLU</a:t>
            </a:r>
          </a:p>
        </p:txBody>
      </p:sp>
      <p:sp>
        <p:nvSpPr>
          <p:cNvPr id="59" name="stage-2">
            <a:extLst xmlns:a="http://schemas.openxmlformats.org/drawingml/2006/main">
              <a:ext uri="{FF2B5EF4-FFF2-40B4-BE49-F238E27FC236}">
                <a16:creationId xmlns:a16="http://schemas.microsoft.com/office/drawing/2014/main" id="{E4172A6E-F32A-4498-8C83-796A4A08F4FF}"/>
              </a:ext>
            </a:extLst>
          </p:cNvPr>
          <p:cNvSpPr>
            <a:spLocks xmlns:a="http://schemas.openxmlformats.org/drawingml/2006/main" noGrp="1"/>
          </p:cNvSpPr>
          <p:nvPr/>
        </p:nvSpPr>
        <p:spPr>
          <a:xfrm xmlns:a="http://schemas.openxmlformats.org/drawingml/2006/main">
            <a:off x="6229350" y="34385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h = 0,8</a:t>
            </a:r>
          </a:p>
        </p:txBody>
      </p:sp>
      <p:sp>
        <p:nvSpPr>
          <p:cNvPr id="60" name="stage-2-detail">
            <a:extLst xmlns:a="http://schemas.openxmlformats.org/drawingml/2006/main">
              <a:ext uri="{FF2B5EF4-FFF2-40B4-BE49-F238E27FC236}">
                <a16:creationId xmlns:a16="http://schemas.microsoft.com/office/drawing/2014/main" id="{51C42C4C-418B-400A-850C-AC5ECE4C9B0B}"/>
              </a:ext>
            </a:extLst>
          </p:cNvPr>
          <p:cNvSpPr>
            <a:spLocks xmlns:a="http://schemas.openxmlformats.org/drawingml/2006/main" noGrp="1"/>
          </p:cNvSpPr>
          <p:nvPr/>
        </p:nvSpPr>
        <p:spPr>
          <a:xfrm xmlns:a="http://schemas.openxmlformats.org/drawingml/2006/main">
            <a:off x="6229350" y="446722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h = max(0,z)</a:t>
            </a:r>
          </a:p>
        </p:txBody>
      </p:sp>
      <p:sp>
        <p:nvSpPr>
          <p:cNvPr id="61" name="stage-3-title">
            <a:extLst xmlns:a="http://schemas.openxmlformats.org/drawingml/2006/main">
              <a:ext uri="{FF2B5EF4-FFF2-40B4-BE49-F238E27FC236}">
                <a16:creationId xmlns:a16="http://schemas.microsoft.com/office/drawing/2014/main" id="{22CED2CE-7E99-473F-AA3F-A577A5817315}"/>
              </a:ext>
            </a:extLst>
          </p:cNvPr>
          <p:cNvSpPr>
            <a:spLocks xmlns:a="http://schemas.openxmlformats.org/drawingml/2006/main" noGrp="1"/>
          </p:cNvSpPr>
          <p:nvPr/>
        </p:nvSpPr>
        <p:spPr>
          <a:xfrm xmlns:a="http://schemas.openxmlformats.org/drawingml/2006/main">
            <a:off x="9115425" y="28956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Saída</a:t>
            </a:r>
          </a:p>
        </p:txBody>
      </p:sp>
      <p:sp>
        <p:nvSpPr>
          <p:cNvPr id="62" name="stage-3">
            <a:extLst xmlns:a="http://schemas.openxmlformats.org/drawingml/2006/main">
              <a:ext uri="{FF2B5EF4-FFF2-40B4-BE49-F238E27FC236}">
                <a16:creationId xmlns:a16="http://schemas.microsoft.com/office/drawing/2014/main" id="{1E260A9D-1214-427F-A8B1-26F52734AB6A}"/>
              </a:ext>
            </a:extLst>
          </p:cNvPr>
          <p:cNvSpPr>
            <a:spLocks xmlns:a="http://schemas.openxmlformats.org/drawingml/2006/main" noGrp="1"/>
          </p:cNvSpPr>
          <p:nvPr/>
        </p:nvSpPr>
        <p:spPr>
          <a:xfrm xmlns:a="http://schemas.openxmlformats.org/drawingml/2006/main">
            <a:off x="9115425" y="34385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ŷ = 2</a:t>
            </a:r>
          </a:p>
        </p:txBody>
      </p:sp>
      <p:sp>
        <p:nvSpPr>
          <p:cNvPr id="63" name="stage-3-detail">
            <a:extLst xmlns:a="http://schemas.openxmlformats.org/drawingml/2006/main">
              <a:ext uri="{FF2B5EF4-FFF2-40B4-BE49-F238E27FC236}">
                <a16:creationId xmlns:a16="http://schemas.microsoft.com/office/drawing/2014/main" id="{8124E06B-C37A-4D4B-8C1D-D77F09ACBC89}"/>
              </a:ext>
            </a:extLst>
          </p:cNvPr>
          <p:cNvSpPr>
            <a:spLocks xmlns:a="http://schemas.openxmlformats.org/drawingml/2006/main" noGrp="1"/>
          </p:cNvSpPr>
          <p:nvPr/>
        </p:nvSpPr>
        <p:spPr>
          <a:xfrm xmlns:a="http://schemas.openxmlformats.org/drawingml/2006/main">
            <a:off x="9115425" y="446722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ŷ = vh + bₒ</a:t>
            </a:r>
          </a:p>
        </p:txBody>
      </p:sp>
      <p:cxnSp>
        <p:nvCxnSpPr>
          <p:cNvPr id="87" name=""/>
          <p:cNvCxnSpPr>
            <a:stCxn xmlns:a="http://schemas.openxmlformats.org/drawingml/2006/main" id="54" idx="3"/>
            <a:endCxn xmlns:a="http://schemas.openxmlformats.org/drawingml/2006/main" id="56" idx="1"/>
          </p:cNvCxnSpPr>
          <p:nvPr/>
        </p:nvCxnSpPr>
        <p:spPr>
          <a:xfrm xmlns:a="http://schemas.openxmlformats.org/drawingml/2006/main">
            <a:off x="3076575" y="3805238"/>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88" name=""/>
          <p:cNvCxnSpPr>
            <a:stCxn xmlns:a="http://schemas.openxmlformats.org/drawingml/2006/main" id="56" idx="3"/>
            <a:endCxn xmlns:a="http://schemas.openxmlformats.org/drawingml/2006/main" id="59" idx="1"/>
          </p:cNvCxnSpPr>
          <p:nvPr/>
        </p:nvCxnSpPr>
        <p:spPr>
          <a:xfrm xmlns:a="http://schemas.openxmlformats.org/drawingml/2006/main">
            <a:off x="5962650" y="3805238"/>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89" name=""/>
          <p:cNvCxnSpPr>
            <a:stCxn xmlns:a="http://schemas.openxmlformats.org/drawingml/2006/main" id="59" idx="3"/>
            <a:endCxn xmlns:a="http://schemas.openxmlformats.org/drawingml/2006/main" id="62" idx="1"/>
          </p:cNvCxnSpPr>
          <p:nvPr/>
        </p:nvCxnSpPr>
        <p:spPr>
          <a:xfrm xmlns:a="http://schemas.openxmlformats.org/drawingml/2006/main">
            <a:off x="8848725" y="3805238"/>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sp>
        <p:nvSpPr>
          <p:cNvPr id="67" name="observed-value">
            <a:extLst xmlns:a="http://schemas.openxmlformats.org/drawingml/2006/main">
              <a:ext uri="{FF2B5EF4-FFF2-40B4-BE49-F238E27FC236}">
                <a16:creationId xmlns:a16="http://schemas.microsoft.com/office/drawing/2014/main" id="{F7DB03AA-8FAD-46D0-BBBE-C045171B9577}"/>
              </a:ext>
            </a:extLst>
          </p:cNvPr>
          <p:cNvSpPr>
            <a:spLocks xmlns:a="http://schemas.openxmlformats.org/drawingml/2006/main" noGrp="1"/>
          </p:cNvSpPr>
          <p:nvPr/>
        </p:nvSpPr>
        <p:spPr>
          <a:xfrm xmlns:a="http://schemas.openxmlformats.org/drawingml/2006/main">
            <a:off x="457200" y="5362575"/>
            <a:ext cx="4610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FFAD62"/>
                </a:solidFill>
                <a:latin typeface="JetBrains Mono"/>
                <a:ea typeface="JetBrains Mono"/>
                <a:cs typeface="JetBrains Mono"/>
              </a:defRPr>
            </a:pPr>
            <a:r>
              <a:rPr sz="1950" b="0" i="0">
                <a:solidFill>
                  <a:srgbClr val="FFAD62"/>
                </a:solidFill>
                <a:latin typeface="JetBrains Mono"/>
                <a:ea typeface="JetBrains Mono"/>
                <a:cs typeface="JetBrains Mono"/>
              </a:rPr>
              <a:t>Observação: y = 3</a:t>
            </a:r>
          </a:p>
        </p:txBody>
      </p:sp>
      <p:sp>
        <p:nvSpPr>
          <p:cNvPr id="68" name="one-example-loss">
            <a:extLst xmlns:a="http://schemas.openxmlformats.org/drawingml/2006/main">
              <a:ext uri="{FF2B5EF4-FFF2-40B4-BE49-F238E27FC236}">
                <a16:creationId xmlns:a16="http://schemas.microsoft.com/office/drawing/2014/main" id="{9EAEDB97-993A-4BBF-A9B1-08F06F81705A}"/>
              </a:ext>
            </a:extLst>
          </p:cNvPr>
          <p:cNvSpPr>
            <a:spLocks xmlns:a="http://schemas.openxmlformats.org/drawingml/2006/main" noGrp="1"/>
          </p:cNvSpPr>
          <p:nvPr/>
        </p:nvSpPr>
        <p:spPr>
          <a:xfrm xmlns:a="http://schemas.openxmlformats.org/drawingml/2006/main">
            <a:off x="5905500" y="5362575"/>
            <a:ext cx="5829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71E7BD"/>
                </a:solidFill>
                <a:latin typeface="JetBrains Mono"/>
                <a:ea typeface="JetBrains Mono"/>
                <a:cs typeface="JetBrains Mono"/>
              </a:defRPr>
            </a:pPr>
            <a:r>
              <a:rPr sz="2100" b="0" i="0">
                <a:solidFill>
                  <a:srgbClr val="71E7BD"/>
                </a:solidFill>
                <a:latin typeface="JetBrains Mono"/>
                <a:ea typeface="JetBrains Mono"/>
                <a:cs typeface="JetBrains Mono"/>
              </a:rPr>
              <a:t>e = 1     L = e² = 1</a:t>
            </a:r>
          </a:p>
        </p:txBody>
      </p:sp>
    </p:spTree>
    <p:extLst>
      <p:ext uri="{BB962C8B-B14F-4D97-AF65-F5344CB8AC3E}">
        <p14:creationId xmlns:p14="http://schemas.microsoft.com/office/powerpoint/2010/main" val="338010029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71" name="Imagem 13"/>
          <p:cNvPicPr>
            <a:picLocks xmlns:a="http://schemas.openxmlformats.org/drawingml/2006/main" noChangeAspect="1"/>
          </p:cNvPicPr>
          <p:nvPr/>
        </p:nvPicPr>
        <p:blipFill>
          <a:blip xmlns:r="http://schemas.openxmlformats.org/officeDocument/2006/relationships" xmlns:a="http://schemas.openxmlformats.org/drawingml/2006/main" r:embed="R40a333f1a99041c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O ciclo de treinamento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stage-0-title">
            <a:extLst xmlns:a="http://schemas.openxmlformats.org/drawingml/2006/main">
              <a:ext uri="{FF2B5EF4-FFF2-40B4-BE49-F238E27FC236}">
                <a16:creationId xmlns:a16="http://schemas.microsoft.com/office/drawing/2014/main" id="{BE166D2E-0B88-4D2E-8E37-F27AFD5B97D1}"/>
              </a:ext>
            </a:extLst>
          </p:cNvPr>
          <p:cNvSpPr>
            <a:spLocks xmlns:a="http://schemas.openxmlformats.org/drawingml/2006/main" noGrp="1"/>
          </p:cNvSpPr>
          <p:nvPr/>
        </p:nvSpPr>
        <p:spPr>
          <a:xfrm xmlns:a="http://schemas.openxmlformats.org/drawingml/2006/main">
            <a:off x="457200" y="27432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1 Previsão</a:t>
            </a:r>
          </a:p>
        </p:txBody>
      </p:sp>
      <p:sp>
        <p:nvSpPr>
          <p:cNvPr id="53" name="stage-0">
            <a:extLst xmlns:a="http://schemas.openxmlformats.org/drawingml/2006/main">
              <a:ext uri="{FF2B5EF4-FFF2-40B4-BE49-F238E27FC236}">
                <a16:creationId xmlns:a16="http://schemas.microsoft.com/office/drawing/2014/main" id="{1E46BECC-0EFE-4B26-9000-A468A2BB48A9}"/>
              </a:ext>
            </a:extLst>
          </p:cNvPr>
          <p:cNvSpPr>
            <a:spLocks xmlns:a="http://schemas.openxmlformats.org/drawingml/2006/main" noGrp="1"/>
          </p:cNvSpPr>
          <p:nvPr/>
        </p:nvSpPr>
        <p:spPr>
          <a:xfrm xmlns:a="http://schemas.openxmlformats.org/drawingml/2006/main">
            <a:off x="457200" y="32861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ŷ</a:t>
            </a:r>
          </a:p>
        </p:txBody>
      </p:sp>
      <p:sp>
        <p:nvSpPr>
          <p:cNvPr id="54" name="stage-0-detail">
            <a:extLst xmlns:a="http://schemas.openxmlformats.org/drawingml/2006/main">
              <a:ext uri="{FF2B5EF4-FFF2-40B4-BE49-F238E27FC236}">
                <a16:creationId xmlns:a16="http://schemas.microsoft.com/office/drawing/2014/main" id="{578B5CCB-7521-4D8F-8F29-DD30016A9015}"/>
              </a:ext>
            </a:extLst>
          </p:cNvPr>
          <p:cNvSpPr>
            <a:spLocks xmlns:a="http://schemas.openxmlformats.org/drawingml/2006/main" noGrp="1"/>
          </p:cNvSpPr>
          <p:nvPr/>
        </p:nvSpPr>
        <p:spPr>
          <a:xfrm xmlns:a="http://schemas.openxmlformats.org/drawingml/2006/main">
            <a:off x="457200" y="431482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Propagação direta</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com os pesos atuais.</a:t>
            </a:r>
          </a:p>
        </p:txBody>
      </p:sp>
      <p:sp>
        <p:nvSpPr>
          <p:cNvPr id="55" name="stage-1-title">
            <a:extLst xmlns:a="http://schemas.openxmlformats.org/drawingml/2006/main">
              <a:ext uri="{FF2B5EF4-FFF2-40B4-BE49-F238E27FC236}">
                <a16:creationId xmlns:a16="http://schemas.microsoft.com/office/drawing/2014/main" id="{3E81C10E-6E2D-4101-99DC-24A5A0EA93F5}"/>
              </a:ext>
            </a:extLst>
          </p:cNvPr>
          <p:cNvSpPr>
            <a:spLocks xmlns:a="http://schemas.openxmlformats.org/drawingml/2006/main" noGrp="1"/>
          </p:cNvSpPr>
          <p:nvPr/>
        </p:nvSpPr>
        <p:spPr>
          <a:xfrm xmlns:a="http://schemas.openxmlformats.org/drawingml/2006/main">
            <a:off x="3343275" y="27432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2 Perda</a:t>
            </a:r>
          </a:p>
        </p:txBody>
      </p:sp>
      <p:sp>
        <p:nvSpPr>
          <p:cNvPr id="56" name="stage-1">
            <a:extLst xmlns:a="http://schemas.openxmlformats.org/drawingml/2006/main">
              <a:ext uri="{FF2B5EF4-FFF2-40B4-BE49-F238E27FC236}">
                <a16:creationId xmlns:a16="http://schemas.microsoft.com/office/drawing/2014/main" id="{B1D3FCF3-66CB-4E82-9A3B-459D6C37F8C3}"/>
              </a:ext>
            </a:extLst>
          </p:cNvPr>
          <p:cNvSpPr>
            <a:spLocks xmlns:a="http://schemas.openxmlformats.org/drawingml/2006/main" noGrp="1"/>
          </p:cNvSpPr>
          <p:nvPr/>
        </p:nvSpPr>
        <p:spPr>
          <a:xfrm xmlns:a="http://schemas.openxmlformats.org/drawingml/2006/main">
            <a:off x="3343275" y="32861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L</a:t>
            </a:r>
          </a:p>
        </p:txBody>
      </p:sp>
      <p:sp>
        <p:nvSpPr>
          <p:cNvPr id="57" name="stage-1-detail">
            <a:extLst xmlns:a="http://schemas.openxmlformats.org/drawingml/2006/main">
              <a:ext uri="{FF2B5EF4-FFF2-40B4-BE49-F238E27FC236}">
                <a16:creationId xmlns:a16="http://schemas.microsoft.com/office/drawing/2014/main" id="{818E493C-A879-40BD-B551-C55B01C55F45}"/>
              </a:ext>
            </a:extLst>
          </p:cNvPr>
          <p:cNvSpPr>
            <a:spLocks xmlns:a="http://schemas.openxmlformats.org/drawingml/2006/main" noGrp="1"/>
          </p:cNvSpPr>
          <p:nvPr/>
        </p:nvSpPr>
        <p:spPr>
          <a:xfrm xmlns:a="http://schemas.openxmlformats.org/drawingml/2006/main">
            <a:off x="3343275" y="431482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Comparação entre</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a previsão e y.</a:t>
            </a:r>
          </a:p>
        </p:txBody>
      </p:sp>
      <p:sp>
        <p:nvSpPr>
          <p:cNvPr id="58" name="stage-2-title">
            <a:extLst xmlns:a="http://schemas.openxmlformats.org/drawingml/2006/main">
              <a:ext uri="{FF2B5EF4-FFF2-40B4-BE49-F238E27FC236}">
                <a16:creationId xmlns:a16="http://schemas.microsoft.com/office/drawing/2014/main" id="{74801D0B-5D79-4652-9855-DC6D6239F413}"/>
              </a:ext>
            </a:extLst>
          </p:cNvPr>
          <p:cNvSpPr>
            <a:spLocks xmlns:a="http://schemas.openxmlformats.org/drawingml/2006/main" noGrp="1"/>
          </p:cNvSpPr>
          <p:nvPr/>
        </p:nvSpPr>
        <p:spPr>
          <a:xfrm xmlns:a="http://schemas.openxmlformats.org/drawingml/2006/main">
            <a:off x="6229350" y="27432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3 Gradientes</a:t>
            </a:r>
          </a:p>
        </p:txBody>
      </p:sp>
      <p:sp>
        <p:nvSpPr>
          <p:cNvPr id="59" name="stage-2">
            <a:extLst xmlns:a="http://schemas.openxmlformats.org/drawingml/2006/main">
              <a:ext uri="{FF2B5EF4-FFF2-40B4-BE49-F238E27FC236}">
                <a16:creationId xmlns:a16="http://schemas.microsoft.com/office/drawing/2014/main" id="{84EE0206-97B8-4EFD-B30F-D39B0581CC39}"/>
              </a:ext>
            </a:extLst>
          </p:cNvPr>
          <p:cNvSpPr>
            <a:spLocks xmlns:a="http://schemas.openxmlformats.org/drawingml/2006/main" noGrp="1"/>
          </p:cNvSpPr>
          <p:nvPr/>
        </p:nvSpPr>
        <p:spPr>
          <a:xfrm xmlns:a="http://schemas.openxmlformats.org/drawingml/2006/main">
            <a:off x="6229350" y="32861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∇θL</a:t>
            </a:r>
          </a:p>
        </p:txBody>
      </p:sp>
      <p:sp>
        <p:nvSpPr>
          <p:cNvPr id="60" name="stage-2-detail">
            <a:extLst xmlns:a="http://schemas.openxmlformats.org/drawingml/2006/main">
              <a:ext uri="{FF2B5EF4-FFF2-40B4-BE49-F238E27FC236}">
                <a16:creationId xmlns:a16="http://schemas.microsoft.com/office/drawing/2014/main" id="{9A823094-E833-4EEA-96EC-4C652A141922}"/>
              </a:ext>
            </a:extLst>
          </p:cNvPr>
          <p:cNvSpPr>
            <a:spLocks xmlns:a="http://schemas.openxmlformats.org/drawingml/2006/main" noGrp="1"/>
          </p:cNvSpPr>
          <p:nvPr/>
        </p:nvSpPr>
        <p:spPr>
          <a:xfrm xmlns:a="http://schemas.openxmlformats.org/drawingml/2006/main">
            <a:off x="6229350" y="431482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Retropropagação</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pela regra da cadeia.</a:t>
            </a:r>
          </a:p>
        </p:txBody>
      </p:sp>
      <p:sp>
        <p:nvSpPr>
          <p:cNvPr id="61" name="stage-3-title">
            <a:extLst xmlns:a="http://schemas.openxmlformats.org/drawingml/2006/main">
              <a:ext uri="{FF2B5EF4-FFF2-40B4-BE49-F238E27FC236}">
                <a16:creationId xmlns:a16="http://schemas.microsoft.com/office/drawing/2014/main" id="{CA6F2A3F-44E9-4E55-85C3-E58A12535780}"/>
              </a:ext>
            </a:extLst>
          </p:cNvPr>
          <p:cNvSpPr>
            <a:spLocks xmlns:a="http://schemas.openxmlformats.org/drawingml/2006/main" noGrp="1"/>
          </p:cNvSpPr>
          <p:nvPr/>
        </p:nvSpPr>
        <p:spPr>
          <a:xfrm xmlns:a="http://schemas.openxmlformats.org/drawingml/2006/main">
            <a:off x="9115425" y="274320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4 Atualização</a:t>
            </a:r>
          </a:p>
        </p:txBody>
      </p:sp>
      <p:sp>
        <p:nvSpPr>
          <p:cNvPr id="62" name="stage-3">
            <a:extLst xmlns:a="http://schemas.openxmlformats.org/drawingml/2006/main">
              <a:ext uri="{FF2B5EF4-FFF2-40B4-BE49-F238E27FC236}">
                <a16:creationId xmlns:a16="http://schemas.microsoft.com/office/drawing/2014/main" id="{47D31B02-8B26-415D-B384-B532C6979F09}"/>
              </a:ext>
            </a:extLst>
          </p:cNvPr>
          <p:cNvSpPr>
            <a:spLocks xmlns:a="http://schemas.openxmlformats.org/drawingml/2006/main" noGrp="1"/>
          </p:cNvSpPr>
          <p:nvPr/>
        </p:nvSpPr>
        <p:spPr>
          <a:xfrm xmlns:a="http://schemas.openxmlformats.org/drawingml/2006/main">
            <a:off x="9115425" y="3286125"/>
            <a:ext cx="2619375"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θ novo</a:t>
            </a:r>
          </a:p>
        </p:txBody>
      </p:sp>
      <p:sp>
        <p:nvSpPr>
          <p:cNvPr id="63" name="stage-3-detail">
            <a:extLst xmlns:a="http://schemas.openxmlformats.org/drawingml/2006/main">
              <a:ext uri="{FF2B5EF4-FFF2-40B4-BE49-F238E27FC236}">
                <a16:creationId xmlns:a16="http://schemas.microsoft.com/office/drawing/2014/main" id="{1DC5447D-533E-4654-A5BA-DD473AE7E3AC}"/>
              </a:ext>
            </a:extLst>
          </p:cNvPr>
          <p:cNvSpPr>
            <a:spLocks xmlns:a="http://schemas.openxmlformats.org/drawingml/2006/main" noGrp="1"/>
          </p:cNvSpPr>
          <p:nvPr/>
        </p:nvSpPr>
        <p:spPr>
          <a:xfrm xmlns:a="http://schemas.openxmlformats.org/drawingml/2006/main">
            <a:off x="9115425" y="431482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Otimizador ajusta</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pesos e vieses.</a:t>
            </a:r>
          </a:p>
        </p:txBody>
      </p:sp>
      <p:cxnSp>
        <p:nvCxnSpPr>
          <p:cNvPr id="86" name=""/>
          <p:cNvCxnSpPr>
            <a:stCxn xmlns:a="http://schemas.openxmlformats.org/drawingml/2006/main" id="53" idx="3"/>
            <a:endCxn xmlns:a="http://schemas.openxmlformats.org/drawingml/2006/main" id="56" idx="1"/>
          </p:cNvCxnSpPr>
          <p:nvPr/>
        </p:nvCxnSpPr>
        <p:spPr>
          <a:xfrm xmlns:a="http://schemas.openxmlformats.org/drawingml/2006/main">
            <a:off x="3076575" y="3652838"/>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87" name=""/>
          <p:cNvCxnSpPr>
            <a:stCxn xmlns:a="http://schemas.openxmlformats.org/drawingml/2006/main" id="56" idx="3"/>
            <a:endCxn xmlns:a="http://schemas.openxmlformats.org/drawingml/2006/main" id="59" idx="1"/>
          </p:cNvCxnSpPr>
          <p:nvPr/>
        </p:nvCxnSpPr>
        <p:spPr>
          <a:xfrm xmlns:a="http://schemas.openxmlformats.org/drawingml/2006/main">
            <a:off x="5962650" y="3652838"/>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88" name=""/>
          <p:cNvCxnSpPr>
            <a:stCxn xmlns:a="http://schemas.openxmlformats.org/drawingml/2006/main" id="59" idx="3"/>
            <a:endCxn xmlns:a="http://schemas.openxmlformats.org/drawingml/2006/main" id="62" idx="1"/>
          </p:cNvCxnSpPr>
          <p:nvPr/>
        </p:nvCxnSpPr>
        <p:spPr>
          <a:xfrm xmlns:a="http://schemas.openxmlformats.org/drawingml/2006/main">
            <a:off x="8848725" y="3652838"/>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sp>
        <p:nvSpPr>
          <p:cNvPr id="67" name="training-repetition">
            <a:extLst xmlns:a="http://schemas.openxmlformats.org/drawingml/2006/main">
              <a:ext uri="{FF2B5EF4-FFF2-40B4-BE49-F238E27FC236}">
                <a16:creationId xmlns:a16="http://schemas.microsoft.com/office/drawing/2014/main" id="{7C38FB48-72E3-4D78-9E18-3823DD638EBF}"/>
              </a:ext>
            </a:extLst>
          </p:cNvPr>
          <p:cNvSpPr>
            <a:spLocks xmlns:a="http://schemas.openxmlformats.org/drawingml/2006/main" noGrp="1"/>
          </p:cNvSpPr>
          <p:nvPr/>
        </p:nvSpPr>
        <p:spPr>
          <a:xfrm xmlns:a="http://schemas.openxmlformats.org/drawingml/2006/main">
            <a:off x="457200" y="5600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O ciclo se repete ao longo dos lotes e das épocas.</a:t>
            </a:r>
          </a:p>
        </p:txBody>
      </p:sp>
    </p:spTree>
    <p:extLst>
      <p:ext uri="{BB962C8B-B14F-4D97-AF65-F5344CB8AC3E}">
        <p14:creationId xmlns:p14="http://schemas.microsoft.com/office/powerpoint/2010/main" val="338010029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71" name="Imagem 13"/>
          <p:cNvPicPr>
            <a:picLocks xmlns:a="http://schemas.openxmlformats.org/drawingml/2006/main" noChangeAspect="1"/>
          </p:cNvPicPr>
          <p:nvPr/>
        </p:nvPicPr>
        <p:blipFill>
          <a:blip xmlns:r="http://schemas.openxmlformats.org/officeDocument/2006/relationships" xmlns:a="http://schemas.openxmlformats.org/drawingml/2006/main" r:embed="R1ddb148f113f4ae0"/>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Retropropagação e regra da cadeia</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gradient-loss-sign">
            <a:extLst xmlns:a="http://schemas.openxmlformats.org/drawingml/2006/main">
              <a:ext uri="{FF2B5EF4-FFF2-40B4-BE49-F238E27FC236}">
                <a16:creationId xmlns:a16="http://schemas.microsoft.com/office/drawing/2014/main" id="{EBC87088-2485-44D5-B9BC-D52309757E55}"/>
              </a:ext>
            </a:extLst>
          </p:cNvPr>
          <p:cNvSpPr>
            <a:spLocks xmlns:a="http://schemas.openxmlformats.org/drawingml/2006/main" noGrp="1"/>
          </p:cNvSpPr>
          <p:nvPr/>
        </p:nvSpPr>
        <p:spPr>
          <a:xfrm xmlns:a="http://schemas.openxmlformats.org/drawingml/2006/main">
            <a:off x="457200" y="23717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83DFFF"/>
                </a:solidFill>
                <a:latin typeface="JetBrains Mono"/>
                <a:ea typeface="JetBrains Mono"/>
                <a:cs typeface="JetBrains Mono"/>
              </a:defRPr>
            </a:pPr>
            <a:r>
              <a:rPr sz="2100" b="0" i="0">
                <a:solidFill>
                  <a:srgbClr val="83DFFF"/>
                </a:solidFill>
                <a:latin typeface="JetBrains Mono"/>
                <a:ea typeface="JetBrains Mono"/>
                <a:cs typeface="JetBrains Mono"/>
              </a:rPr>
              <a:t>e = y − ŷ       ∂L/∂ŷ = 2(ŷ − y) = −2e</a:t>
            </a:r>
          </a:p>
        </p:txBody>
      </p:sp>
      <p:sp>
        <p:nvSpPr>
          <p:cNvPr id="53" name="chain-node-0">
            <a:extLst xmlns:a="http://schemas.openxmlformats.org/drawingml/2006/main">
              <a:ext uri="{FF2B5EF4-FFF2-40B4-BE49-F238E27FC236}">
                <a16:creationId xmlns:a16="http://schemas.microsoft.com/office/drawing/2014/main" id="{8416570F-C243-4A84-9E2B-AD46CE349E54}"/>
              </a:ext>
            </a:extLst>
          </p:cNvPr>
          <p:cNvSpPr>
            <a:spLocks xmlns:a="http://schemas.openxmlformats.org/drawingml/2006/main" noGrp="1"/>
          </p:cNvSpPr>
          <p:nvPr/>
        </p:nvSpPr>
        <p:spPr>
          <a:xfrm xmlns:a="http://schemas.openxmlformats.org/drawingml/2006/main">
            <a:off x="809625" y="3362325"/>
            <a:ext cx="1114425" cy="7620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83DFFF"/>
                </a:solidFill>
                <a:latin typeface="JetBrains Mono"/>
                <a:ea typeface="JetBrains Mono"/>
                <a:cs typeface="JetBrains Mono"/>
              </a:defRPr>
            </a:pPr>
            <a:r>
              <a:rPr sz="2325" b="1">
                <a:solidFill>
                  <a:srgbClr val="83DFFF"/>
                </a:solidFill>
                <a:latin typeface="JetBrains Mono"/>
                <a:ea typeface="JetBrains Mono"/>
                <a:cs typeface="JetBrains Mono"/>
              </a:rPr>
              <a:t>u</a:t>
            </a:r>
          </a:p>
        </p:txBody>
      </p:sp>
      <p:sp>
        <p:nvSpPr>
          <p:cNvPr id="54" name="chain-derivative-0">
            <a:extLst xmlns:a="http://schemas.openxmlformats.org/drawingml/2006/main">
              <a:ext uri="{FF2B5EF4-FFF2-40B4-BE49-F238E27FC236}">
                <a16:creationId xmlns:a16="http://schemas.microsoft.com/office/drawing/2014/main" id="{ABDB4CEF-ACAE-4148-B761-FE3AD30FC7BC}"/>
              </a:ext>
            </a:extLst>
          </p:cNvPr>
          <p:cNvSpPr>
            <a:spLocks xmlns:a="http://schemas.openxmlformats.org/drawingml/2006/main" noGrp="1"/>
          </p:cNvSpPr>
          <p:nvPr/>
        </p:nvSpPr>
        <p:spPr>
          <a:xfrm xmlns:a="http://schemas.openxmlformats.org/drawingml/2006/main">
            <a:off x="457200" y="4381500"/>
            <a:ext cx="2133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∂z/∂u = x = 2</a:t>
            </a:r>
          </a:p>
        </p:txBody>
      </p:sp>
      <p:sp>
        <p:nvSpPr>
          <p:cNvPr id="55" name="chain-node-1">
            <a:extLst xmlns:a="http://schemas.openxmlformats.org/drawingml/2006/main">
              <a:ext uri="{FF2B5EF4-FFF2-40B4-BE49-F238E27FC236}">
                <a16:creationId xmlns:a16="http://schemas.microsoft.com/office/drawing/2014/main" id="{C81C36E3-405A-44C3-86BC-AF5F7E4F8155}"/>
              </a:ext>
            </a:extLst>
          </p:cNvPr>
          <p:cNvSpPr>
            <a:spLocks xmlns:a="http://schemas.openxmlformats.org/drawingml/2006/main" noGrp="1"/>
          </p:cNvSpPr>
          <p:nvPr/>
        </p:nvSpPr>
        <p:spPr>
          <a:xfrm xmlns:a="http://schemas.openxmlformats.org/drawingml/2006/main">
            <a:off x="3086100" y="3362325"/>
            <a:ext cx="1114425" cy="7620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83DFFF"/>
                </a:solidFill>
                <a:latin typeface="JetBrains Mono"/>
                <a:ea typeface="JetBrains Mono"/>
                <a:cs typeface="JetBrains Mono"/>
              </a:defRPr>
            </a:pPr>
            <a:r>
              <a:rPr sz="2325" b="1">
                <a:solidFill>
                  <a:srgbClr val="83DFFF"/>
                </a:solidFill>
                <a:latin typeface="JetBrains Mono"/>
                <a:ea typeface="JetBrains Mono"/>
                <a:cs typeface="JetBrains Mono"/>
              </a:rPr>
              <a:t>z</a:t>
            </a:r>
          </a:p>
        </p:txBody>
      </p:sp>
      <p:sp>
        <p:nvSpPr>
          <p:cNvPr id="56" name="chain-derivative-1">
            <a:extLst xmlns:a="http://schemas.openxmlformats.org/drawingml/2006/main">
              <a:ext uri="{FF2B5EF4-FFF2-40B4-BE49-F238E27FC236}">
                <a16:creationId xmlns:a16="http://schemas.microsoft.com/office/drawing/2014/main" id="{5C34C577-145B-4F28-A180-4E00478EC25C}"/>
              </a:ext>
            </a:extLst>
          </p:cNvPr>
          <p:cNvSpPr>
            <a:spLocks xmlns:a="http://schemas.openxmlformats.org/drawingml/2006/main" noGrp="1"/>
          </p:cNvSpPr>
          <p:nvPr/>
        </p:nvSpPr>
        <p:spPr>
          <a:xfrm xmlns:a="http://schemas.openxmlformats.org/drawingml/2006/main">
            <a:off x="2733675" y="4381500"/>
            <a:ext cx="2133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∂h/∂z = 1</a:t>
            </a:r>
          </a:p>
        </p:txBody>
      </p:sp>
      <p:sp>
        <p:nvSpPr>
          <p:cNvPr id="57" name="chain-node-2">
            <a:extLst xmlns:a="http://schemas.openxmlformats.org/drawingml/2006/main">
              <a:ext uri="{FF2B5EF4-FFF2-40B4-BE49-F238E27FC236}">
                <a16:creationId xmlns:a16="http://schemas.microsoft.com/office/drawing/2014/main" id="{68A6CD1D-21D3-4649-AC8F-2319EC1A8034}"/>
              </a:ext>
            </a:extLst>
          </p:cNvPr>
          <p:cNvSpPr>
            <a:spLocks xmlns:a="http://schemas.openxmlformats.org/drawingml/2006/main" noGrp="1"/>
          </p:cNvSpPr>
          <p:nvPr/>
        </p:nvSpPr>
        <p:spPr>
          <a:xfrm xmlns:a="http://schemas.openxmlformats.org/drawingml/2006/main">
            <a:off x="5362575" y="3362325"/>
            <a:ext cx="1114425" cy="7620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83DFFF"/>
                </a:solidFill>
                <a:latin typeface="JetBrains Mono"/>
                <a:ea typeface="JetBrains Mono"/>
                <a:cs typeface="JetBrains Mono"/>
              </a:defRPr>
            </a:pPr>
            <a:r>
              <a:rPr sz="2325" b="1">
                <a:solidFill>
                  <a:srgbClr val="83DFFF"/>
                </a:solidFill>
                <a:latin typeface="JetBrains Mono"/>
                <a:ea typeface="JetBrains Mono"/>
                <a:cs typeface="JetBrains Mono"/>
              </a:rPr>
              <a:t>h</a:t>
            </a:r>
          </a:p>
        </p:txBody>
      </p:sp>
      <p:sp>
        <p:nvSpPr>
          <p:cNvPr id="58" name="chain-derivative-2">
            <a:extLst xmlns:a="http://schemas.openxmlformats.org/drawingml/2006/main">
              <a:ext uri="{FF2B5EF4-FFF2-40B4-BE49-F238E27FC236}">
                <a16:creationId xmlns:a16="http://schemas.microsoft.com/office/drawing/2014/main" id="{2619BF5C-734A-4AD2-A717-468E0B17112A}"/>
              </a:ext>
            </a:extLst>
          </p:cNvPr>
          <p:cNvSpPr>
            <a:spLocks xmlns:a="http://schemas.openxmlformats.org/drawingml/2006/main" noGrp="1"/>
          </p:cNvSpPr>
          <p:nvPr/>
        </p:nvSpPr>
        <p:spPr>
          <a:xfrm xmlns:a="http://schemas.openxmlformats.org/drawingml/2006/main">
            <a:off x="5010150" y="4381500"/>
            <a:ext cx="2133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∂ŷ/∂h = v = 2</a:t>
            </a:r>
          </a:p>
        </p:txBody>
      </p:sp>
      <p:sp>
        <p:nvSpPr>
          <p:cNvPr id="59" name="chain-node-3">
            <a:extLst xmlns:a="http://schemas.openxmlformats.org/drawingml/2006/main">
              <a:ext uri="{FF2B5EF4-FFF2-40B4-BE49-F238E27FC236}">
                <a16:creationId xmlns:a16="http://schemas.microsoft.com/office/drawing/2014/main" id="{035E4834-C849-4851-B53D-E6BF10ED77C5}"/>
              </a:ext>
            </a:extLst>
          </p:cNvPr>
          <p:cNvSpPr>
            <a:spLocks xmlns:a="http://schemas.openxmlformats.org/drawingml/2006/main" noGrp="1"/>
          </p:cNvSpPr>
          <p:nvPr/>
        </p:nvSpPr>
        <p:spPr>
          <a:xfrm xmlns:a="http://schemas.openxmlformats.org/drawingml/2006/main">
            <a:off x="7639050" y="3362325"/>
            <a:ext cx="1114425" cy="762000"/>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83DFFF"/>
                </a:solidFill>
                <a:latin typeface="JetBrains Mono"/>
                <a:ea typeface="JetBrains Mono"/>
                <a:cs typeface="JetBrains Mono"/>
              </a:defRPr>
            </a:pPr>
            <a:r>
              <a:rPr sz="2325" b="1">
                <a:solidFill>
                  <a:srgbClr val="83DFFF"/>
                </a:solidFill>
                <a:latin typeface="JetBrains Mono"/>
                <a:ea typeface="JetBrains Mono"/>
                <a:cs typeface="JetBrains Mono"/>
              </a:rPr>
              <a:t>ŷ</a:t>
            </a:r>
          </a:p>
        </p:txBody>
      </p:sp>
      <p:sp>
        <p:nvSpPr>
          <p:cNvPr id="60" name="chain-derivative-3">
            <a:extLst xmlns:a="http://schemas.openxmlformats.org/drawingml/2006/main">
              <a:ext uri="{FF2B5EF4-FFF2-40B4-BE49-F238E27FC236}">
                <a16:creationId xmlns:a16="http://schemas.microsoft.com/office/drawing/2014/main" id="{1690CDC8-44C1-4636-8F27-7545E0A9B936}"/>
              </a:ext>
            </a:extLst>
          </p:cNvPr>
          <p:cNvSpPr>
            <a:spLocks xmlns:a="http://schemas.openxmlformats.org/drawingml/2006/main" noGrp="1"/>
          </p:cNvSpPr>
          <p:nvPr/>
        </p:nvSpPr>
        <p:spPr>
          <a:xfrm xmlns:a="http://schemas.openxmlformats.org/drawingml/2006/main">
            <a:off x="7286625" y="4381500"/>
            <a:ext cx="2133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∂L/∂ŷ = −2</a:t>
            </a:r>
          </a:p>
        </p:txBody>
      </p:sp>
      <p:sp>
        <p:nvSpPr>
          <p:cNvPr id="61" name="chain-node-4">
            <a:extLst xmlns:a="http://schemas.openxmlformats.org/drawingml/2006/main">
              <a:ext uri="{FF2B5EF4-FFF2-40B4-BE49-F238E27FC236}">
                <a16:creationId xmlns:a16="http://schemas.microsoft.com/office/drawing/2014/main" id="{AAFDCB41-AA0B-4DD7-8AEB-EA5D2959BCD7}"/>
              </a:ext>
            </a:extLst>
          </p:cNvPr>
          <p:cNvSpPr>
            <a:spLocks xmlns:a="http://schemas.openxmlformats.org/drawingml/2006/main" noGrp="1"/>
          </p:cNvSpPr>
          <p:nvPr/>
        </p:nvSpPr>
        <p:spPr>
          <a:xfrm xmlns:a="http://schemas.openxmlformats.org/drawingml/2006/main">
            <a:off x="9915525" y="3362325"/>
            <a:ext cx="1114425" cy="762000"/>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325" b="1">
                <a:solidFill>
                  <a:srgbClr val="FFAD62"/>
                </a:solidFill>
                <a:latin typeface="JetBrains Mono"/>
                <a:ea typeface="JetBrains Mono"/>
                <a:cs typeface="JetBrains Mono"/>
              </a:defRPr>
            </a:pPr>
            <a:r>
              <a:rPr sz="2325" b="1">
                <a:solidFill>
                  <a:srgbClr val="FFAD62"/>
                </a:solidFill>
                <a:latin typeface="JetBrains Mono"/>
                <a:ea typeface="JetBrains Mono"/>
                <a:cs typeface="JetBrains Mono"/>
              </a:rPr>
              <a:t>L</a:t>
            </a:r>
          </a:p>
        </p:txBody>
      </p:sp>
      <p:sp>
        <p:nvSpPr>
          <p:cNvPr id="62" name="chain-derivative-4">
            <a:extLst xmlns:a="http://schemas.openxmlformats.org/drawingml/2006/main">
              <a:ext uri="{FF2B5EF4-FFF2-40B4-BE49-F238E27FC236}">
                <a16:creationId xmlns:a16="http://schemas.microsoft.com/office/drawing/2014/main" id="{F2BAD428-7426-4788-9004-7FA7E403537B}"/>
              </a:ext>
            </a:extLst>
          </p:cNvPr>
          <p:cNvSpPr>
            <a:spLocks xmlns:a="http://schemas.openxmlformats.org/drawingml/2006/main" noGrp="1"/>
          </p:cNvSpPr>
          <p:nvPr/>
        </p:nvSpPr>
        <p:spPr>
          <a:xfrm xmlns:a="http://schemas.openxmlformats.org/drawingml/2006/main">
            <a:off x="9563100" y="4381500"/>
            <a:ext cx="2133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L = 1</a:t>
            </a:r>
          </a:p>
        </p:txBody>
      </p:sp>
      <p:cxnSp>
        <p:nvCxnSpPr>
          <p:cNvPr id="85" name=""/>
          <p:cNvCxnSpPr>
            <a:stCxn xmlns:a="http://schemas.openxmlformats.org/drawingml/2006/main" id="61" idx="1"/>
            <a:endCxn xmlns:a="http://schemas.openxmlformats.org/drawingml/2006/main" id="59" idx="3"/>
          </p:cNvCxnSpPr>
          <p:nvPr/>
        </p:nvCxnSpPr>
        <p:spPr>
          <a:xfrm xmlns:a="http://schemas.openxmlformats.org/drawingml/2006/main" flipH="1">
            <a:off x="8753475" y="3743325"/>
            <a:ext cx="1162050" cy="0"/>
          </a:xfrm>
          <a:prstGeom xmlns:a="http://schemas.openxmlformats.org/drawingml/2006/main" prst="straightConnector1">
            <a:avLst/>
          </a:prstGeom>
          <a:ln xmlns:a="http://schemas.openxmlformats.org/drawingml/2006/main" w="15240">
            <a:solidFill>
              <a:srgbClr val="FFAD62"/>
            </a:solidFill>
            <a:tailEnd type="triangle" w="sm" len="sm"/>
          </a:ln>
        </p:spPr>
      </p:cxnSp>
      <p:cxnSp>
        <p:nvCxnSpPr>
          <p:cNvPr id="86" name=""/>
          <p:cNvCxnSpPr>
            <a:stCxn xmlns:a="http://schemas.openxmlformats.org/drawingml/2006/main" id="59" idx="1"/>
            <a:endCxn xmlns:a="http://schemas.openxmlformats.org/drawingml/2006/main" id="57" idx="3"/>
          </p:cNvCxnSpPr>
          <p:nvPr/>
        </p:nvCxnSpPr>
        <p:spPr>
          <a:xfrm xmlns:a="http://schemas.openxmlformats.org/drawingml/2006/main" flipH="1">
            <a:off x="6477000" y="3743325"/>
            <a:ext cx="1162050" cy="0"/>
          </a:xfrm>
          <a:prstGeom xmlns:a="http://schemas.openxmlformats.org/drawingml/2006/main" prst="straightConnector1">
            <a:avLst/>
          </a:prstGeom>
          <a:ln xmlns:a="http://schemas.openxmlformats.org/drawingml/2006/main" w="15240">
            <a:solidFill>
              <a:srgbClr val="FFAD62"/>
            </a:solidFill>
            <a:tailEnd type="triangle" w="sm" len="sm"/>
          </a:ln>
        </p:spPr>
      </p:cxnSp>
      <p:cxnSp>
        <p:nvCxnSpPr>
          <p:cNvPr id="87" name=""/>
          <p:cNvCxnSpPr>
            <a:stCxn xmlns:a="http://schemas.openxmlformats.org/drawingml/2006/main" id="57" idx="1"/>
            <a:endCxn xmlns:a="http://schemas.openxmlformats.org/drawingml/2006/main" id="55" idx="3"/>
          </p:cNvCxnSpPr>
          <p:nvPr/>
        </p:nvCxnSpPr>
        <p:spPr>
          <a:xfrm xmlns:a="http://schemas.openxmlformats.org/drawingml/2006/main" flipH="1">
            <a:off x="4200525" y="3743325"/>
            <a:ext cx="1162050" cy="0"/>
          </a:xfrm>
          <a:prstGeom xmlns:a="http://schemas.openxmlformats.org/drawingml/2006/main" prst="straightConnector1">
            <a:avLst/>
          </a:prstGeom>
          <a:ln xmlns:a="http://schemas.openxmlformats.org/drawingml/2006/main" w="15240">
            <a:solidFill>
              <a:srgbClr val="FFAD62"/>
            </a:solidFill>
            <a:tailEnd type="triangle" w="sm" len="sm"/>
          </a:ln>
        </p:spPr>
      </p:cxnSp>
      <p:cxnSp>
        <p:nvCxnSpPr>
          <p:cNvPr id="88" name=""/>
          <p:cNvCxnSpPr>
            <a:stCxn xmlns:a="http://schemas.openxmlformats.org/drawingml/2006/main" id="55" idx="1"/>
            <a:endCxn xmlns:a="http://schemas.openxmlformats.org/drawingml/2006/main" id="53" idx="3"/>
          </p:cNvCxnSpPr>
          <p:nvPr/>
        </p:nvCxnSpPr>
        <p:spPr>
          <a:xfrm xmlns:a="http://schemas.openxmlformats.org/drawingml/2006/main" flipH="1">
            <a:off x="1924050" y="3743325"/>
            <a:ext cx="1162050" cy="0"/>
          </a:xfrm>
          <a:prstGeom xmlns:a="http://schemas.openxmlformats.org/drawingml/2006/main" prst="straightConnector1">
            <a:avLst/>
          </a:prstGeom>
          <a:ln xmlns:a="http://schemas.openxmlformats.org/drawingml/2006/main" w="15240">
            <a:solidFill>
              <a:srgbClr val="FFAD62"/>
            </a:solidFill>
            <a:tailEnd type="triangle" w="sm" len="sm"/>
          </a:ln>
        </p:spPr>
      </p:cxnSp>
      <p:sp>
        <p:nvSpPr>
          <p:cNvPr id="67" name="chain-product">
            <a:extLst xmlns:a="http://schemas.openxmlformats.org/drawingml/2006/main">
              <a:ext uri="{FF2B5EF4-FFF2-40B4-BE49-F238E27FC236}">
                <a16:creationId xmlns:a16="http://schemas.microsoft.com/office/drawing/2014/main" id="{432B4CDD-4649-4AC9-9D94-A5608717C945}"/>
              </a:ext>
            </a:extLst>
          </p:cNvPr>
          <p:cNvSpPr>
            <a:spLocks xmlns:a="http://schemas.openxmlformats.org/drawingml/2006/main" noGrp="1"/>
          </p:cNvSpPr>
          <p:nvPr/>
        </p:nvSpPr>
        <p:spPr>
          <a:xfrm xmlns:a="http://schemas.openxmlformats.org/drawingml/2006/main">
            <a:off x="457200" y="5400675"/>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i="0">
                <a:solidFill>
                  <a:srgbClr val="71E7BD"/>
                </a:solidFill>
                <a:latin typeface="JetBrains Mono"/>
                <a:ea typeface="JetBrains Mono"/>
                <a:cs typeface="JetBrains Mono"/>
              </a:defRPr>
            </a:pPr>
            <a:r>
              <a:rPr sz="2475" b="0" i="0">
                <a:solidFill>
                  <a:srgbClr val="71E7BD"/>
                </a:solidFill>
                <a:latin typeface="JetBrains Mono"/>
                <a:ea typeface="JetBrains Mono"/>
                <a:cs typeface="JetBrains Mono"/>
              </a:rPr>
              <a:t>∂L/∂u = (−2) × 2 × 1 × 2 = −8</a:t>
            </a:r>
          </a:p>
        </p:txBody>
      </p:sp>
    </p:spTree>
    <p:extLst>
      <p:ext uri="{BB962C8B-B14F-4D97-AF65-F5344CB8AC3E}">
        <p14:creationId xmlns:p14="http://schemas.microsoft.com/office/powerpoint/2010/main" val="338010029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9" name="Imagem 13"/>
          <p:cNvPicPr>
            <a:picLocks xmlns:a="http://schemas.openxmlformats.org/drawingml/2006/main" noChangeAspect="1"/>
          </p:cNvPicPr>
          <p:nvPr/>
        </p:nvPicPr>
        <p:blipFill>
          <a:blip xmlns:r="http://schemas.openxmlformats.org/officeDocument/2006/relationships" xmlns:a="http://schemas.openxmlformats.org/drawingml/2006/main" r:embed="R29a12fcff7ff42e3"/>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Atualização dos parâmetros</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update-rule">
            <a:extLst xmlns:a="http://schemas.openxmlformats.org/drawingml/2006/main">
              <a:ext uri="{FF2B5EF4-FFF2-40B4-BE49-F238E27FC236}">
                <a16:creationId xmlns:a16="http://schemas.microsoft.com/office/drawing/2014/main" id="{6CAA5997-4E20-4A85-9ED9-930799E915FB}"/>
              </a:ext>
            </a:extLst>
          </p:cNvPr>
          <p:cNvSpPr>
            <a:spLocks xmlns:a="http://schemas.openxmlformats.org/drawingml/2006/main" noGrp="1"/>
          </p:cNvSpPr>
          <p:nvPr/>
        </p:nvSpPr>
        <p:spPr>
          <a:xfrm xmlns:a="http://schemas.openxmlformats.org/drawingml/2006/main">
            <a:off x="457200" y="2333625"/>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83DFFF"/>
                </a:solidFill>
                <a:latin typeface="JetBrains Mono"/>
                <a:ea typeface="JetBrains Mono"/>
                <a:cs typeface="JetBrains Mono"/>
              </a:defRPr>
            </a:pPr>
            <a:r>
              <a:rPr sz="2250" b="0" i="0">
                <a:solidFill>
                  <a:srgbClr val="83DFFF"/>
                </a:solidFill>
                <a:latin typeface="JetBrains Mono"/>
                <a:ea typeface="JetBrains Mono"/>
                <a:cs typeface="JetBrains Mono"/>
              </a:rPr>
              <a:t>θ novo = θ − η∇θL       η = 0,01</a:t>
            </a:r>
          </a:p>
        </p:txBody>
      </p:sp>
      <p:graphicFrame>
        <p:nvGraphicFramePr>
          <p:cNvPr id="63" name=""/>
          <p:cNvGraphicFramePr/>
          <p:nvPr/>
        </p:nvGraphicFramePr>
        <p:xfrm>
          <a:off xmlns:a="http://schemas.openxmlformats.org/drawingml/2006/main" x="457200" y="3162300"/>
          <a:ext xmlns:a="http://schemas.openxmlformats.org/drawingml/2006/main" cx="6457950" cy="2486025"/>
        </p:xfrm>
        <a:graphic xmlns:a="http://schemas.openxmlformats.org/drawingml/2006/main">
          <a:graphicData uri="http://schemas.openxmlformats.org/drawingml/2006/table">
            <a:tbl>
              <a:tblPr firstRow="1" bandRow="0"/>
              <a:tblGrid>
                <a:gridCol w="1809750"/>
                <a:gridCol w="1447800"/>
                <a:gridCol w="1600200"/>
                <a:gridCol w="1600200"/>
              </a:tblGrid>
              <a:tr h="581025">
                <a:tc>
                  <a:txBody>
                    <a:bodyPr lIns="95250" tIns="57150" rIns="95250" bIns="57150">
                      <a:noAutofit/>
                    </a:bodyPr>
                    <a:lstStyle/>
                    <a:p>
                      <a:pPr algn="ctr"/>
                      <a:r>
                        <a:rPr sz="1650" b="1">
                          <a:solidFill>
                            <a:srgbClr val="FFFFFF"/>
                          </a:solidFill>
                          <a:latin typeface="JetBrains Mono"/>
                          <a:ea typeface="JetBrains Mono"/>
                          <a:cs typeface="JetBrains Mono"/>
                        </a:rPr>
                        <a:t>Parâmetro</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Antes</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Gradiente</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Depois</a:t>
                      </a:r>
                    </a:p>
                  </a:txBody>
                  <a:tcPr marL="91440" marR="91440" marT="45720" marB="45720" anchor="ctr">
                    <a:solidFill>
                      <a:srgbClr val="0053EB"/>
                    </a:solidFill>
                  </a:tcPr>
                </a:tc>
              </a:tr>
              <a:tr h="476250">
                <a:tc>
                  <a:txBody>
                    <a:bodyPr lIns="95250" tIns="57150" rIns="95250" bIns="57150">
                      <a:noAutofit/>
                    </a:bodyPr>
                    <a:lstStyle/>
                    <a:p>
                      <a:pPr algn="ctr"/>
                      <a:r>
                        <a:rPr sz="1650" b="0">
                          <a:solidFill>
                            <a:srgbClr val="FFFFFF"/>
                          </a:solidFill>
                          <a:latin typeface="JetBrains Mono"/>
                          <a:ea typeface="JetBrains Mono"/>
                          <a:cs typeface="JetBrains Mono"/>
                        </a:rPr>
                        <a:t>u</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0,50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-8,00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0,580</a:t>
                      </a:r>
                    </a:p>
                  </a:txBody>
                  <a:tcPr marL="91440" marR="91440" marT="45720" marB="45720" anchor="ctr">
                    <a:solidFill>
                      <a:srgbClr val="082950"/>
                    </a:solidFill>
                  </a:tcPr>
                </a:tc>
              </a:tr>
              <a:tr h="476250">
                <a:tc>
                  <a:txBody>
                    <a:bodyPr lIns="95250" tIns="57150" rIns="95250" bIns="57150">
                      <a:noAutofit/>
                    </a:bodyPr>
                    <a:lstStyle/>
                    <a:p>
                      <a:pPr algn="ctr"/>
                      <a:r>
                        <a:rPr sz="1650" b="0">
                          <a:solidFill>
                            <a:srgbClr val="FFFFFF"/>
                          </a:solidFill>
                          <a:latin typeface="JetBrains Mono"/>
                          <a:ea typeface="JetBrains Mono"/>
                          <a:cs typeface="JetBrains Mono"/>
                        </a:rPr>
                        <a:t>bₕ</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-0,20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-4,00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-0,160</a:t>
                      </a:r>
                    </a:p>
                  </a:txBody>
                  <a:tcPr marL="91440" marR="91440" marT="45720" marB="45720" anchor="ctr">
                    <a:solidFill>
                      <a:srgbClr val="031A39"/>
                    </a:solidFill>
                  </a:tcPr>
                </a:tc>
              </a:tr>
              <a:tr h="476250">
                <a:tc>
                  <a:txBody>
                    <a:bodyPr lIns="95250" tIns="57150" rIns="95250" bIns="57150">
                      <a:noAutofit/>
                    </a:bodyPr>
                    <a:lstStyle/>
                    <a:p>
                      <a:pPr algn="ctr"/>
                      <a:r>
                        <a:rPr sz="1650" b="0">
                          <a:solidFill>
                            <a:srgbClr val="FFFFFF"/>
                          </a:solidFill>
                          <a:latin typeface="JetBrains Mono"/>
                          <a:ea typeface="JetBrains Mono"/>
                          <a:cs typeface="JetBrains Mono"/>
                        </a:rPr>
                        <a:t>v</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2,00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-1,60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2,016</a:t>
                      </a:r>
                    </a:p>
                  </a:txBody>
                  <a:tcPr marL="91440" marR="91440" marT="45720" marB="45720" anchor="ctr">
                    <a:solidFill>
                      <a:srgbClr val="082950"/>
                    </a:solidFill>
                  </a:tcPr>
                </a:tc>
              </a:tr>
              <a:tr h="476250">
                <a:tc>
                  <a:txBody>
                    <a:bodyPr lIns="95250" tIns="57150" rIns="95250" bIns="57150">
                      <a:noAutofit/>
                    </a:bodyPr>
                    <a:lstStyle/>
                    <a:p>
                      <a:pPr algn="ctr"/>
                      <a:r>
                        <a:rPr sz="1650" b="0">
                          <a:solidFill>
                            <a:srgbClr val="FFFFFF"/>
                          </a:solidFill>
                          <a:latin typeface="JetBrains Mono"/>
                          <a:ea typeface="JetBrains Mono"/>
                          <a:cs typeface="JetBrains Mono"/>
                        </a:rPr>
                        <a:t>bₒ</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0,40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-2,00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0,420</a:t>
                      </a:r>
                    </a:p>
                  </a:txBody>
                  <a:tcPr marL="91440" marR="91440" marT="45720" marB="45720" anchor="ctr">
                    <a:solidFill>
                      <a:srgbClr val="031A39"/>
                    </a:solidFill>
                  </a:tcPr>
                </a:tc>
              </a:tr>
            </a:tbl>
          </a:graphicData>
        </a:graphic>
      </p:graphicFrame>
      <p:graphicFrame>
        <p:nvGraphicFramePr>
          <p:cNvPr id="64" name="Chart"/>
          <p:cNvGraphicFramePr/>
          <p:nvPr/>
        </p:nvGraphicFramePr>
        <p:xfrm>
          <a:off xmlns:a="http://schemas.openxmlformats.org/drawingml/2006/main" x="7562850" y="3124200"/>
          <a:ext xmlns:a="http://schemas.openxmlformats.org/drawingml/2006/main" cx="4171950" cy="2133600"/>
        </p:xfrm>
        <a:graphic xmlns:a="http://schemas.openxmlformats.org/drawingml/2006/main">
          <a:graphicData uri="http://schemas.openxmlformats.org/drawingml/2006/chart">
            <c:chart xmlns:r="http://schemas.openxmlformats.org/officeDocument/2006/relationships" xmlns:c="http://schemas.openxmlformats.org/drawingml/2006/chart" r:id="Re0e6fe2fa2084d15"/>
          </a:graphicData>
        </a:graphic>
      </p:graphicFrame>
      <p:sp>
        <p:nvSpPr>
          <p:cNvPr id="55" name="updated-prediction">
            <a:extLst xmlns:a="http://schemas.openxmlformats.org/drawingml/2006/main">
              <a:ext uri="{FF2B5EF4-FFF2-40B4-BE49-F238E27FC236}">
                <a16:creationId xmlns:a16="http://schemas.microsoft.com/office/drawing/2014/main" id="{17D7A0B6-BF8E-4125-9EA6-686EEB72BFCB}"/>
              </a:ext>
            </a:extLst>
          </p:cNvPr>
          <p:cNvSpPr>
            <a:spLocks xmlns:a="http://schemas.openxmlformats.org/drawingml/2006/main" noGrp="1"/>
          </p:cNvSpPr>
          <p:nvPr/>
        </p:nvSpPr>
        <p:spPr>
          <a:xfrm xmlns:a="http://schemas.openxmlformats.org/drawingml/2006/main">
            <a:off x="7553325" y="5381625"/>
            <a:ext cx="41814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71E7BD"/>
                </a:solidFill>
                <a:latin typeface="JetBrains Mono"/>
                <a:ea typeface="JetBrains Mono"/>
                <a:cs typeface="JetBrains Mono"/>
              </a:defRPr>
            </a:pPr>
            <a:r>
              <a:rPr sz="1800" b="0" i="0">
                <a:solidFill>
                  <a:srgbClr val="71E7BD"/>
                </a:solidFill>
                <a:latin typeface="JetBrains Mono"/>
                <a:ea typeface="JetBrains Mono"/>
                <a:cs typeface="JetBrains Mono"/>
              </a:rPr>
              <a:t>ŷ novo = 2,436</a:t>
            </a:r>
          </a:p>
          <a:p xmlns:a="http://schemas.openxmlformats.org/drawingml/2006/main">
            <a:pPr algn="l">
              <a:defRPr sz="1800" b="0" i="0">
                <a:solidFill>
                  <a:srgbClr val="71E7BD"/>
                </a:solidFill>
                <a:latin typeface="JetBrains Mono"/>
                <a:ea typeface="JetBrains Mono"/>
                <a:cs typeface="JetBrains Mono"/>
              </a:defRPr>
            </a:pPr>
            <a:r>
              <a:rPr sz="1800" b="0" i="0">
                <a:solidFill>
                  <a:srgbClr val="71E7BD"/>
                </a:solidFill>
                <a:latin typeface="JetBrains Mono"/>
                <a:ea typeface="JetBrains Mono"/>
                <a:cs typeface="JetBrains Mono"/>
              </a:rPr>
              <a:t>L novo ≈ 0,318</a:t>
            </a:r>
          </a:p>
        </p:txBody>
      </p:sp>
    </p:spTree>
    <p:extLst>
      <p:ext uri="{BB962C8B-B14F-4D97-AF65-F5344CB8AC3E}">
        <p14:creationId xmlns:p14="http://schemas.microsoft.com/office/powerpoint/2010/main" val="33801002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3" name="Imagem 13"/>
          <p:cNvPicPr>
            <a:picLocks xmlns:a="http://schemas.openxmlformats.org/drawingml/2006/main" noChangeAspect="1"/>
          </p:cNvPicPr>
          <p:nvPr/>
        </p:nvPicPr>
        <p:blipFill>
          <a:blip xmlns:r="http://schemas.openxmlformats.org/officeDocument/2006/relationships" xmlns:a="http://schemas.openxmlformats.org/drawingml/2006/main" r:embed="R06071dd7631d43f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Taxa de aprendizado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6" name="Chart"/>
          <p:cNvGraphicFramePr/>
          <p:nvPr/>
        </p:nvGraphicFramePr>
        <p:xfrm>
          <a:off xmlns:a="http://schemas.openxmlformats.org/drawingml/2006/main" x="457200" y="2609850"/>
          <a:ext xmlns:a="http://schemas.openxmlformats.org/drawingml/2006/main" cx="7391400" cy="3133725"/>
        </p:xfrm>
        <a:graphic xmlns:a="http://schemas.openxmlformats.org/drawingml/2006/main">
          <a:graphicData uri="http://schemas.openxmlformats.org/drawingml/2006/chart">
            <c:chart xmlns:r="http://schemas.openxmlformats.org/officeDocument/2006/relationships" xmlns:c="http://schemas.openxmlformats.org/drawingml/2006/chart" r:id="R73fb951e94bd4ba7"/>
          </a:graphicData>
        </a:graphic>
      </p:graphicFrame>
      <p:sp>
        <p:nvSpPr>
          <p:cNvPr id="53" name="rate-0">
            <a:extLst xmlns:a="http://schemas.openxmlformats.org/drawingml/2006/main">
              <a:ext uri="{FF2B5EF4-FFF2-40B4-BE49-F238E27FC236}">
                <a16:creationId xmlns:a16="http://schemas.microsoft.com/office/drawing/2014/main" id="{53787588-1039-4C7E-81EF-B208D688AFAC}"/>
              </a:ext>
            </a:extLst>
          </p:cNvPr>
          <p:cNvSpPr>
            <a:spLocks xmlns:a="http://schemas.openxmlformats.org/drawingml/2006/main" noGrp="1"/>
          </p:cNvSpPr>
          <p:nvPr/>
        </p:nvSpPr>
        <p:spPr>
          <a:xfrm xmlns:a="http://schemas.openxmlformats.org/drawingml/2006/main">
            <a:off x="8429625" y="2524125"/>
            <a:ext cx="3305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83DFFF"/>
                </a:solidFill>
                <a:latin typeface="JetBrains Mono"/>
                <a:ea typeface="JetBrains Mono"/>
                <a:cs typeface="JetBrains Mono"/>
              </a:defRPr>
            </a:pPr>
            <a:r>
              <a:rPr sz="1875" b="1" i="0">
                <a:solidFill>
                  <a:srgbClr val="83DFFF"/>
                </a:solidFill>
                <a:latin typeface="JetBrains Mono"/>
                <a:ea typeface="JetBrains Mono"/>
                <a:cs typeface="JetBrains Mono"/>
              </a:rPr>
              <a:t>η = 0,05</a:t>
            </a:r>
          </a:p>
        </p:txBody>
      </p:sp>
      <p:sp>
        <p:nvSpPr>
          <p:cNvPr id="54" name="rate-desc-0">
            <a:extLst xmlns:a="http://schemas.openxmlformats.org/drawingml/2006/main">
              <a:ext uri="{FF2B5EF4-FFF2-40B4-BE49-F238E27FC236}">
                <a16:creationId xmlns:a16="http://schemas.microsoft.com/office/drawing/2014/main" id="{AE96DA0E-EA89-4C52-BB31-22F0C5C3021D}"/>
              </a:ext>
            </a:extLst>
          </p:cNvPr>
          <p:cNvSpPr>
            <a:spLocks xmlns:a="http://schemas.openxmlformats.org/drawingml/2006/main" noGrp="1"/>
          </p:cNvSpPr>
          <p:nvPr/>
        </p:nvSpPr>
        <p:spPr>
          <a:xfrm xmlns:a="http://schemas.openxmlformats.org/drawingml/2006/main">
            <a:off x="8429625" y="2981325"/>
            <a:ext cx="33051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Redução lenta.</a:t>
            </a:r>
          </a:p>
        </p:txBody>
      </p:sp>
      <p:sp>
        <p:nvSpPr>
          <p:cNvPr id="55" name="rate-1">
            <a:extLst xmlns:a="http://schemas.openxmlformats.org/drawingml/2006/main">
              <a:ext uri="{FF2B5EF4-FFF2-40B4-BE49-F238E27FC236}">
                <a16:creationId xmlns:a16="http://schemas.microsoft.com/office/drawing/2014/main" id="{EEF53628-3B68-489F-B37F-045EE6B0542E}"/>
              </a:ext>
            </a:extLst>
          </p:cNvPr>
          <p:cNvSpPr>
            <a:spLocks xmlns:a="http://schemas.openxmlformats.org/drawingml/2006/main" noGrp="1"/>
          </p:cNvSpPr>
          <p:nvPr/>
        </p:nvSpPr>
        <p:spPr>
          <a:xfrm xmlns:a="http://schemas.openxmlformats.org/drawingml/2006/main">
            <a:off x="8429625" y="3638550"/>
            <a:ext cx="3305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71E7BD"/>
                </a:solidFill>
                <a:latin typeface="JetBrains Mono"/>
                <a:ea typeface="JetBrains Mono"/>
                <a:cs typeface="JetBrains Mono"/>
              </a:defRPr>
            </a:pPr>
            <a:r>
              <a:rPr sz="1875" b="1" i="0">
                <a:solidFill>
                  <a:srgbClr val="71E7BD"/>
                </a:solidFill>
                <a:latin typeface="JetBrains Mono"/>
                <a:ea typeface="JetBrains Mono"/>
                <a:cs typeface="JetBrains Mono"/>
              </a:rPr>
              <a:t>η = 0,40</a:t>
            </a:r>
          </a:p>
        </p:txBody>
      </p:sp>
      <p:sp>
        <p:nvSpPr>
          <p:cNvPr id="56" name="rate-desc-1">
            <a:extLst xmlns:a="http://schemas.openxmlformats.org/drawingml/2006/main">
              <a:ext uri="{FF2B5EF4-FFF2-40B4-BE49-F238E27FC236}">
                <a16:creationId xmlns:a16="http://schemas.microsoft.com/office/drawing/2014/main" id="{D6D0141E-A05D-4A16-8FA6-026D0CB904BD}"/>
              </a:ext>
            </a:extLst>
          </p:cNvPr>
          <p:cNvSpPr>
            <a:spLocks xmlns:a="http://schemas.openxmlformats.org/drawingml/2006/main" noGrp="1"/>
          </p:cNvSpPr>
          <p:nvPr/>
        </p:nvSpPr>
        <p:spPr>
          <a:xfrm xmlns:a="http://schemas.openxmlformats.org/drawingml/2006/main">
            <a:off x="8429625" y="4095750"/>
            <a:ext cx="33051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Redução rápida</a:t>
            </a:r>
          </a:p>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neste exemplo.</a:t>
            </a:r>
          </a:p>
        </p:txBody>
      </p:sp>
      <p:sp>
        <p:nvSpPr>
          <p:cNvPr id="57" name="rate-2">
            <a:extLst xmlns:a="http://schemas.openxmlformats.org/drawingml/2006/main">
              <a:ext uri="{FF2B5EF4-FFF2-40B4-BE49-F238E27FC236}">
                <a16:creationId xmlns:a16="http://schemas.microsoft.com/office/drawing/2014/main" id="{AF8E5442-0A09-499C-8C41-EFB11575DBBE}"/>
              </a:ext>
            </a:extLst>
          </p:cNvPr>
          <p:cNvSpPr>
            <a:spLocks xmlns:a="http://schemas.openxmlformats.org/drawingml/2006/main" noGrp="1"/>
          </p:cNvSpPr>
          <p:nvPr/>
        </p:nvSpPr>
        <p:spPr>
          <a:xfrm xmlns:a="http://schemas.openxmlformats.org/drawingml/2006/main">
            <a:off x="8429625" y="4752975"/>
            <a:ext cx="3305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FFAD62"/>
                </a:solidFill>
                <a:latin typeface="JetBrains Mono"/>
                <a:ea typeface="JetBrains Mono"/>
                <a:cs typeface="JetBrains Mono"/>
              </a:defRPr>
            </a:pPr>
            <a:r>
              <a:rPr sz="1875" b="1" i="0">
                <a:solidFill>
                  <a:srgbClr val="FFAD62"/>
                </a:solidFill>
                <a:latin typeface="JetBrains Mono"/>
                <a:ea typeface="JetBrains Mono"/>
                <a:cs typeface="JetBrains Mono"/>
              </a:rPr>
              <a:t>η = 1,05</a:t>
            </a:r>
          </a:p>
        </p:txBody>
      </p:sp>
      <p:sp>
        <p:nvSpPr>
          <p:cNvPr id="58" name="rate-desc-2">
            <a:extLst xmlns:a="http://schemas.openxmlformats.org/drawingml/2006/main">
              <a:ext uri="{FF2B5EF4-FFF2-40B4-BE49-F238E27FC236}">
                <a16:creationId xmlns:a16="http://schemas.microsoft.com/office/drawing/2014/main" id="{3EF73EC4-66DE-4E21-AD09-3CFF94AEB612}"/>
              </a:ext>
            </a:extLst>
          </p:cNvPr>
          <p:cNvSpPr>
            <a:spLocks xmlns:a="http://schemas.openxmlformats.org/drawingml/2006/main" noGrp="1"/>
          </p:cNvSpPr>
          <p:nvPr/>
        </p:nvSpPr>
        <p:spPr>
          <a:xfrm xmlns:a="http://schemas.openxmlformats.org/drawingml/2006/main">
            <a:off x="8429625" y="5210175"/>
            <a:ext cx="33051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Passos instáveis.</a:t>
            </a:r>
          </a:p>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A perda cresce.</a:t>
            </a:r>
          </a:p>
        </p:txBody>
      </p:sp>
      <p:sp>
        <p:nvSpPr>
          <p:cNvPr id="59" name="caption">
            <a:extLst xmlns:a="http://schemas.openxmlformats.org/drawingml/2006/main">
              <a:ext uri="{FF2B5EF4-FFF2-40B4-BE49-F238E27FC236}">
                <a16:creationId xmlns:a16="http://schemas.microsoft.com/office/drawing/2014/main" id="{7C414148-E091-44EF-A768-8DCAEB8E34C0}"/>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Exemplo exato: L(w) = (w − 2)², w inicial = −2. Não são taxas recomendadas para uma RNA.</a:t>
            </a:r>
          </a:p>
        </p:txBody>
      </p:sp>
    </p:spTree>
    <p:extLst>
      <p:ext uri="{BB962C8B-B14F-4D97-AF65-F5344CB8AC3E}">
        <p14:creationId xmlns:p14="http://schemas.microsoft.com/office/powerpoint/2010/main" val="338010029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0" name="Imagem 13"/>
          <p:cNvPicPr>
            <a:picLocks xmlns:a="http://schemas.openxmlformats.org/drawingml/2006/main" noChangeAspect="1"/>
          </p:cNvPicPr>
          <p:nvPr/>
        </p:nvPicPr>
        <p:blipFill>
          <a:blip xmlns:r="http://schemas.openxmlformats.org/officeDocument/2006/relationships" xmlns:a="http://schemas.openxmlformats.org/drawingml/2006/main" r:embed="R1ce6d203e43848c1"/>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Paisagem da perda e inicialização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3" name="Chart"/>
          <p:cNvGraphicFramePr/>
          <p:nvPr/>
        </p:nvGraphicFramePr>
        <p:xfrm>
          <a:off xmlns:a="http://schemas.openxmlformats.org/drawingml/2006/main" x="457200" y="2638425"/>
          <a:ext xmlns:a="http://schemas.openxmlformats.org/drawingml/2006/main" cx="6981825" cy="3048000"/>
        </p:xfrm>
        <a:graphic xmlns:a="http://schemas.openxmlformats.org/drawingml/2006/main">
          <a:graphicData uri="http://schemas.openxmlformats.org/drawingml/2006/chart">
            <c:chart xmlns:r="http://schemas.openxmlformats.org/officeDocument/2006/relationships" xmlns:c="http://schemas.openxmlformats.org/drawingml/2006/chart" r:id="R6430170413cc467d"/>
          </a:graphicData>
        </a:graphic>
      </p:graphicFrame>
      <p:sp>
        <p:nvSpPr>
          <p:cNvPr id="53" name="nonconvex-comment">
            <a:extLst xmlns:a="http://schemas.openxmlformats.org/drawingml/2006/main">
              <a:ext uri="{FF2B5EF4-FFF2-40B4-BE49-F238E27FC236}">
                <a16:creationId xmlns:a16="http://schemas.microsoft.com/office/drawing/2014/main" id="{8ADD7520-0557-4BE2-8547-00F246300BA3}"/>
              </a:ext>
            </a:extLst>
          </p:cNvPr>
          <p:cNvSpPr>
            <a:spLocks xmlns:a="http://schemas.openxmlformats.org/drawingml/2006/main" noGrp="1"/>
          </p:cNvSpPr>
          <p:nvPr/>
        </p:nvSpPr>
        <p:spPr>
          <a:xfrm xmlns:a="http://schemas.openxmlformats.org/drawingml/2006/main">
            <a:off x="8010525" y="2543175"/>
            <a:ext cx="37242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Redes com ativações</a:t>
            </a:r>
          </a:p>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não lineares costumam</a:t>
            </a:r>
          </a:p>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ter perdas não convexas.</a:t>
            </a:r>
          </a:p>
        </p:txBody>
      </p:sp>
      <p:sp>
        <p:nvSpPr>
          <p:cNvPr id="54" name="initialization-comment">
            <a:extLst xmlns:a="http://schemas.openxmlformats.org/drawingml/2006/main">
              <a:ext uri="{FF2B5EF4-FFF2-40B4-BE49-F238E27FC236}">
                <a16:creationId xmlns:a16="http://schemas.microsoft.com/office/drawing/2014/main" id="{0B05B89D-E256-4C15-B105-D697E9344079}"/>
              </a:ext>
            </a:extLst>
          </p:cNvPr>
          <p:cNvSpPr>
            <a:spLocks xmlns:a="http://schemas.openxmlformats.org/drawingml/2006/main" noGrp="1"/>
          </p:cNvSpPr>
          <p:nvPr/>
        </p:nvSpPr>
        <p:spPr>
          <a:xfrm xmlns:a="http://schemas.openxmlformats.org/drawingml/2006/main">
            <a:off x="8010525" y="4086225"/>
            <a:ext cx="3724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83DFFF"/>
                </a:solidFill>
                <a:latin typeface="JetBrains Mono"/>
                <a:ea typeface="JetBrains Mono"/>
                <a:cs typeface="JetBrains Mono"/>
              </a:defRPr>
            </a:pPr>
            <a:r>
              <a:rPr sz="1725" b="0" i="0">
                <a:solidFill>
                  <a:srgbClr val="83DFFF"/>
                </a:solidFill>
                <a:latin typeface="JetBrains Mono"/>
                <a:ea typeface="JetBrains Mono"/>
                <a:cs typeface="JetBrains Mono"/>
              </a:rPr>
              <a:t>A inicialização influencia</a:t>
            </a:r>
          </a:p>
          <a:p xmlns:a="http://schemas.openxmlformats.org/drawingml/2006/main">
            <a:pPr algn="l">
              <a:defRPr sz="1725" b="0" i="0">
                <a:solidFill>
                  <a:srgbClr val="83DFFF"/>
                </a:solidFill>
                <a:latin typeface="JetBrains Mono"/>
                <a:ea typeface="JetBrains Mono"/>
                <a:cs typeface="JetBrains Mono"/>
              </a:defRPr>
            </a:pPr>
            <a:r>
              <a:rPr sz="1725" b="0" i="0">
                <a:solidFill>
                  <a:srgbClr val="83DFFF"/>
                </a:solidFill>
                <a:latin typeface="JetBrains Mono"/>
                <a:ea typeface="JetBrains Mono"/>
                <a:cs typeface="JetBrains Mono"/>
              </a:rPr>
              <a:t>o caminho do ajuste.</a:t>
            </a:r>
          </a:p>
        </p:txBody>
      </p:sp>
      <p:sp>
        <p:nvSpPr>
          <p:cNvPr id="55" name="global-minimum-comment">
            <a:extLst xmlns:a="http://schemas.openxmlformats.org/drawingml/2006/main">
              <a:ext uri="{FF2B5EF4-FFF2-40B4-BE49-F238E27FC236}">
                <a16:creationId xmlns:a16="http://schemas.microsoft.com/office/drawing/2014/main" id="{D1155A9C-8614-480C-9763-0A38182BB74A}"/>
              </a:ext>
            </a:extLst>
          </p:cNvPr>
          <p:cNvSpPr>
            <a:spLocks xmlns:a="http://schemas.openxmlformats.org/drawingml/2006/main" noGrp="1"/>
          </p:cNvSpPr>
          <p:nvPr/>
        </p:nvSpPr>
        <p:spPr>
          <a:xfrm xmlns:a="http://schemas.openxmlformats.org/drawingml/2006/main">
            <a:off x="8010525" y="5133975"/>
            <a:ext cx="3724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AD62"/>
                </a:solidFill>
                <a:latin typeface="JetBrains Mono"/>
                <a:ea typeface="JetBrains Mono"/>
                <a:cs typeface="JetBrains Mono"/>
              </a:defRPr>
            </a:pPr>
            <a:r>
              <a:rPr sz="1650" b="0" i="0">
                <a:solidFill>
                  <a:srgbClr val="FFAD62"/>
                </a:solidFill>
                <a:latin typeface="JetBrains Mono"/>
                <a:ea typeface="JetBrains Mono"/>
                <a:cs typeface="JetBrains Mono"/>
              </a:rPr>
              <a:t>Gradiente descendente</a:t>
            </a:r>
          </a:p>
          <a:p xmlns:a="http://schemas.openxmlformats.org/drawingml/2006/main">
            <a:pPr algn="l">
              <a:defRPr sz="1650" b="0" i="0">
                <a:solidFill>
                  <a:srgbClr val="FFAD62"/>
                </a:solidFill>
                <a:latin typeface="JetBrains Mono"/>
                <a:ea typeface="JetBrains Mono"/>
                <a:cs typeface="JetBrains Mono"/>
              </a:defRPr>
            </a:pPr>
            <a:r>
              <a:rPr sz="1650" b="0" i="0">
                <a:solidFill>
                  <a:srgbClr val="FFAD62"/>
                </a:solidFill>
                <a:latin typeface="JetBrains Mono"/>
                <a:ea typeface="JetBrains Mono"/>
                <a:cs typeface="JetBrains Mono"/>
              </a:rPr>
              <a:t>não garante o mínimo</a:t>
            </a:r>
          </a:p>
          <a:p xmlns:a="http://schemas.openxmlformats.org/drawingml/2006/main">
            <a:pPr algn="l">
              <a:defRPr sz="1650" b="0" i="0">
                <a:solidFill>
                  <a:srgbClr val="FFAD62"/>
                </a:solidFill>
                <a:latin typeface="JetBrains Mono"/>
                <a:ea typeface="JetBrains Mono"/>
                <a:cs typeface="JetBrains Mono"/>
              </a:defRPr>
            </a:pPr>
            <a:r>
              <a:rPr sz="1650" b="0" i="0">
                <a:solidFill>
                  <a:srgbClr val="FFAD62"/>
                </a:solidFill>
                <a:latin typeface="JetBrains Mono"/>
                <a:ea typeface="JetBrains Mono"/>
                <a:cs typeface="JetBrains Mono"/>
              </a:rPr>
              <a:t>global.</a:t>
            </a:r>
          </a:p>
        </p:txBody>
      </p:sp>
      <p:sp>
        <p:nvSpPr>
          <p:cNvPr id="56" name="caption">
            <a:extLst xmlns:a="http://schemas.openxmlformats.org/drawingml/2006/main">
              <a:ext uri="{FF2B5EF4-FFF2-40B4-BE49-F238E27FC236}">
                <a16:creationId xmlns:a16="http://schemas.microsoft.com/office/drawing/2014/main" id="{10C1007B-143B-4426-93A0-0319C32C6F59}"/>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Corte esquemático: L(w) = (w² − 1)² + 0,25w + 0,5.</a:t>
            </a:r>
          </a:p>
        </p:txBody>
      </p:sp>
    </p:spTree>
    <p:extLst>
      <p:ext uri="{BB962C8B-B14F-4D97-AF65-F5344CB8AC3E}">
        <p14:creationId xmlns:p14="http://schemas.microsoft.com/office/powerpoint/2010/main" val="338010029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5" name="Imagem 13"/>
          <p:cNvPicPr>
            <a:picLocks xmlns:a="http://schemas.openxmlformats.org/drawingml/2006/main" noChangeAspect="1"/>
          </p:cNvPicPr>
          <p:nvPr/>
        </p:nvPicPr>
        <p:blipFill>
          <a:blip xmlns:r="http://schemas.openxmlformats.org/officeDocument/2006/relationships" xmlns:a="http://schemas.openxmlformats.org/drawingml/2006/main" r:embed="R37c2427983a24293"/>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Underfitting e overfitting</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capacity-title-0">
            <a:extLst xmlns:a="http://schemas.openxmlformats.org/drawingml/2006/main">
              <a:ext uri="{FF2B5EF4-FFF2-40B4-BE49-F238E27FC236}">
                <a16:creationId xmlns:a16="http://schemas.microsoft.com/office/drawing/2014/main" id="{35894B19-938A-4364-AC4D-F598B2E5ECA9}"/>
              </a:ext>
            </a:extLst>
          </p:cNvPr>
          <p:cNvSpPr>
            <a:spLocks xmlns:a="http://schemas.openxmlformats.org/drawingml/2006/main" noGrp="1"/>
          </p:cNvSpPr>
          <p:nvPr/>
        </p:nvSpPr>
        <p:spPr>
          <a:xfrm xmlns:a="http://schemas.openxmlformats.org/drawingml/2006/main">
            <a:off x="457200" y="2438400"/>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FFAD62"/>
                </a:solidFill>
                <a:latin typeface="JetBrains Mono"/>
                <a:ea typeface="JetBrains Mono"/>
                <a:cs typeface="JetBrains Mono"/>
              </a:defRPr>
            </a:pPr>
            <a:r>
              <a:rPr sz="1575" b="1" i="0">
                <a:solidFill>
                  <a:srgbClr val="FFAD62"/>
                </a:solidFill>
                <a:latin typeface="JetBrains Mono"/>
                <a:ea typeface="JetBrains Mono"/>
                <a:cs typeface="JetBrains Mono"/>
              </a:rPr>
              <a:t>Underfitting</a:t>
            </a:r>
          </a:p>
        </p:txBody>
      </p:sp>
      <p:graphicFrame>
        <p:nvGraphicFramePr>
          <p:cNvPr id="69" name="Chart"/>
          <p:cNvGraphicFramePr/>
          <p:nvPr/>
        </p:nvGraphicFramePr>
        <p:xfrm>
          <a:off xmlns:a="http://schemas.openxmlformats.org/drawingml/2006/main" x="457200" y="2943225"/>
          <a:ext xmlns:a="http://schemas.openxmlformats.org/drawingml/2006/main" cx="3562350" cy="2390775"/>
        </p:xfrm>
        <a:graphic xmlns:a="http://schemas.openxmlformats.org/drawingml/2006/main">
          <a:graphicData uri="http://schemas.openxmlformats.org/drawingml/2006/chart">
            <c:chart xmlns:r="http://schemas.openxmlformats.org/officeDocument/2006/relationships" xmlns:c="http://schemas.openxmlformats.org/drawingml/2006/chart" r:id="R9733a71f36c0489c"/>
          </a:graphicData>
        </a:graphic>
      </p:graphicFrame>
      <p:sp>
        <p:nvSpPr>
          <p:cNvPr id="54" name="capacity-mse-0">
            <a:extLst xmlns:a="http://schemas.openxmlformats.org/drawingml/2006/main">
              <a:ext uri="{FF2B5EF4-FFF2-40B4-BE49-F238E27FC236}">
                <a16:creationId xmlns:a16="http://schemas.microsoft.com/office/drawing/2014/main" id="{FF3220BD-C84A-4EC0-A9F8-E6D08A8B919E}"/>
              </a:ext>
            </a:extLst>
          </p:cNvPr>
          <p:cNvSpPr>
            <a:spLocks xmlns:a="http://schemas.openxmlformats.org/drawingml/2006/main" noGrp="1"/>
          </p:cNvSpPr>
          <p:nvPr/>
        </p:nvSpPr>
        <p:spPr>
          <a:xfrm xmlns:a="http://schemas.openxmlformats.org/drawingml/2006/main">
            <a:off x="457200" y="5457825"/>
            <a:ext cx="3562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MSE treino: 0,0412</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MSE valid.: 0,0342</a:t>
            </a:r>
          </a:p>
        </p:txBody>
      </p:sp>
      <p:sp>
        <p:nvSpPr>
          <p:cNvPr id="55" name="capacity-title-1">
            <a:extLst xmlns:a="http://schemas.openxmlformats.org/drawingml/2006/main">
              <a:ext uri="{FF2B5EF4-FFF2-40B4-BE49-F238E27FC236}">
                <a16:creationId xmlns:a16="http://schemas.microsoft.com/office/drawing/2014/main" id="{7E74C9E0-9C23-4B2D-BB3F-6735E192BC16}"/>
              </a:ext>
            </a:extLst>
          </p:cNvPr>
          <p:cNvSpPr>
            <a:spLocks xmlns:a="http://schemas.openxmlformats.org/drawingml/2006/main" noGrp="1"/>
          </p:cNvSpPr>
          <p:nvPr/>
        </p:nvSpPr>
        <p:spPr>
          <a:xfrm xmlns:a="http://schemas.openxmlformats.org/drawingml/2006/main">
            <a:off x="4267200" y="2438400"/>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83DFFF"/>
                </a:solidFill>
                <a:latin typeface="JetBrains Mono"/>
                <a:ea typeface="JetBrains Mono"/>
                <a:cs typeface="JetBrains Mono"/>
              </a:defRPr>
            </a:pPr>
            <a:r>
              <a:rPr sz="1575" b="1" i="0">
                <a:solidFill>
                  <a:srgbClr val="83DFFF"/>
                </a:solidFill>
                <a:latin typeface="JetBrains Mono"/>
                <a:ea typeface="JetBrains Mono"/>
                <a:cs typeface="JetBrains Mono"/>
              </a:rPr>
              <a:t>Ajuste intermediário</a:t>
            </a:r>
          </a:p>
        </p:txBody>
      </p:sp>
      <p:graphicFrame>
        <p:nvGraphicFramePr>
          <p:cNvPr id="72" name="Chart"/>
          <p:cNvGraphicFramePr/>
          <p:nvPr/>
        </p:nvGraphicFramePr>
        <p:xfrm>
          <a:off xmlns:a="http://schemas.openxmlformats.org/drawingml/2006/main" x="4267200" y="2943225"/>
          <a:ext xmlns:a="http://schemas.openxmlformats.org/drawingml/2006/main" cx="3562350" cy="2390775"/>
        </p:xfrm>
        <a:graphic xmlns:a="http://schemas.openxmlformats.org/drawingml/2006/main">
          <a:graphicData uri="http://schemas.openxmlformats.org/drawingml/2006/chart">
            <c:chart xmlns:r="http://schemas.openxmlformats.org/officeDocument/2006/relationships" xmlns:c="http://schemas.openxmlformats.org/drawingml/2006/chart" r:id="R4df267e724dd4b9a"/>
          </a:graphicData>
        </a:graphic>
      </p:graphicFrame>
      <p:sp>
        <p:nvSpPr>
          <p:cNvPr id="57" name="capacity-mse-1">
            <a:extLst xmlns:a="http://schemas.openxmlformats.org/drawingml/2006/main">
              <a:ext uri="{FF2B5EF4-FFF2-40B4-BE49-F238E27FC236}">
                <a16:creationId xmlns:a16="http://schemas.microsoft.com/office/drawing/2014/main" id="{42355E71-5840-49EA-9848-C048D3E10DFA}"/>
              </a:ext>
            </a:extLst>
          </p:cNvPr>
          <p:cNvSpPr>
            <a:spLocks xmlns:a="http://schemas.openxmlformats.org/drawingml/2006/main" noGrp="1"/>
          </p:cNvSpPr>
          <p:nvPr/>
        </p:nvSpPr>
        <p:spPr>
          <a:xfrm xmlns:a="http://schemas.openxmlformats.org/drawingml/2006/main">
            <a:off x="4267200" y="5457825"/>
            <a:ext cx="3562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MSE treino: 0,0036</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MSE valid.: 0,0048</a:t>
            </a:r>
          </a:p>
        </p:txBody>
      </p:sp>
      <p:sp>
        <p:nvSpPr>
          <p:cNvPr id="58" name="capacity-title-2">
            <a:extLst xmlns:a="http://schemas.openxmlformats.org/drawingml/2006/main">
              <a:ext uri="{FF2B5EF4-FFF2-40B4-BE49-F238E27FC236}">
                <a16:creationId xmlns:a16="http://schemas.microsoft.com/office/drawing/2014/main" id="{2FFD2F42-3C61-4530-8ABD-078B4B8A5A47}"/>
              </a:ext>
            </a:extLst>
          </p:cNvPr>
          <p:cNvSpPr>
            <a:spLocks xmlns:a="http://schemas.openxmlformats.org/drawingml/2006/main" noGrp="1"/>
          </p:cNvSpPr>
          <p:nvPr/>
        </p:nvSpPr>
        <p:spPr>
          <a:xfrm xmlns:a="http://schemas.openxmlformats.org/drawingml/2006/main">
            <a:off x="8077200" y="2438400"/>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71E7BD"/>
                </a:solidFill>
                <a:latin typeface="JetBrains Mono"/>
                <a:ea typeface="JetBrains Mono"/>
                <a:cs typeface="JetBrains Mono"/>
              </a:defRPr>
            </a:pPr>
            <a:r>
              <a:rPr sz="1575" b="1" i="0">
                <a:solidFill>
                  <a:srgbClr val="71E7BD"/>
                </a:solidFill>
                <a:latin typeface="JetBrains Mono"/>
                <a:ea typeface="JetBrains Mono"/>
                <a:cs typeface="JetBrains Mono"/>
              </a:rPr>
              <a:t>Overfitting</a:t>
            </a:r>
          </a:p>
        </p:txBody>
      </p:sp>
      <p:graphicFrame>
        <p:nvGraphicFramePr>
          <p:cNvPr id="75" name="Chart"/>
          <p:cNvGraphicFramePr/>
          <p:nvPr/>
        </p:nvGraphicFramePr>
        <p:xfrm>
          <a:off xmlns:a="http://schemas.openxmlformats.org/drawingml/2006/main" x="8077200" y="2943225"/>
          <a:ext xmlns:a="http://schemas.openxmlformats.org/drawingml/2006/main" cx="3562350" cy="2390775"/>
        </p:xfrm>
        <a:graphic xmlns:a="http://schemas.openxmlformats.org/drawingml/2006/main">
          <a:graphicData uri="http://schemas.openxmlformats.org/drawingml/2006/chart">
            <c:chart xmlns:r="http://schemas.openxmlformats.org/officeDocument/2006/relationships" xmlns:c="http://schemas.openxmlformats.org/drawingml/2006/chart" r:id="R9b9914d7c2b6409d"/>
          </a:graphicData>
        </a:graphic>
      </p:graphicFrame>
      <p:sp>
        <p:nvSpPr>
          <p:cNvPr id="60" name="capacity-mse-2">
            <a:extLst xmlns:a="http://schemas.openxmlformats.org/drawingml/2006/main">
              <a:ext uri="{FF2B5EF4-FFF2-40B4-BE49-F238E27FC236}">
                <a16:creationId xmlns:a16="http://schemas.microsoft.com/office/drawing/2014/main" id="{C5FFDD80-49F2-4C60-9CB7-A1DE4FF58BF7}"/>
              </a:ext>
            </a:extLst>
          </p:cNvPr>
          <p:cNvSpPr>
            <a:spLocks xmlns:a="http://schemas.openxmlformats.org/drawingml/2006/main" noGrp="1"/>
          </p:cNvSpPr>
          <p:nvPr/>
        </p:nvSpPr>
        <p:spPr>
          <a:xfrm xmlns:a="http://schemas.openxmlformats.org/drawingml/2006/main">
            <a:off x="8077200" y="5457825"/>
            <a:ext cx="3562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MSE treino: 0,0005</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MSE valid.: 0,0125</a:t>
            </a:r>
          </a:p>
        </p:txBody>
      </p:sp>
      <p:sp>
        <p:nvSpPr>
          <p:cNvPr id="61" name="caption">
            <a:extLst xmlns:a="http://schemas.openxmlformats.org/drawingml/2006/main">
              <a:ext uri="{FF2B5EF4-FFF2-40B4-BE49-F238E27FC236}">
                <a16:creationId xmlns:a16="http://schemas.microsoft.com/office/drawing/2014/main" id="{F2F87768-B5FB-42F8-86FE-26EA8DB4C2FE}"/>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Dados sintéticos. Comparação com polinômios de graus 1, 2 e 12, como analogia da capacidade.</a:t>
            </a:r>
          </a:p>
        </p:txBody>
      </p:sp>
    </p:spTree>
    <p:extLst>
      <p:ext uri="{BB962C8B-B14F-4D97-AF65-F5344CB8AC3E}">
        <p14:creationId xmlns:p14="http://schemas.microsoft.com/office/powerpoint/2010/main" val="338010029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5" name="Imagem 13"/>
          <p:cNvPicPr>
            <a:picLocks xmlns:a="http://schemas.openxmlformats.org/drawingml/2006/main" noChangeAspect="1"/>
          </p:cNvPicPr>
          <p:nvPr/>
        </p:nvPicPr>
        <p:blipFill>
          <a:blip xmlns:r="http://schemas.openxmlformats.org/officeDocument/2006/relationships" xmlns:a="http://schemas.openxmlformats.org/drawingml/2006/main" r:embed="Ra2b9812a4d72468d"/>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Validação temporal</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temporal-order">
            <a:extLst xmlns:a="http://schemas.openxmlformats.org/drawingml/2006/main">
              <a:ext uri="{FF2B5EF4-FFF2-40B4-BE49-F238E27FC236}">
                <a16:creationId xmlns:a16="http://schemas.microsoft.com/office/drawing/2014/main" id="{E7CF974A-4E39-42C5-B59C-39E68487D41E}"/>
              </a:ext>
            </a:extLst>
          </p:cNvPr>
          <p:cNvSpPr>
            <a:spLocks xmlns:a="http://schemas.openxmlformats.org/drawingml/2006/main" noGrp="1"/>
          </p:cNvSpPr>
          <p:nvPr/>
        </p:nvSpPr>
        <p:spPr>
          <a:xfrm xmlns:a="http://schemas.openxmlformats.org/drawingml/2006/main">
            <a:off x="457200" y="2362200"/>
            <a:ext cx="11277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A avaliação de uma previsão usa períodos posteriores ao ajuste.</a:t>
            </a:r>
          </a:p>
        </p:txBody>
      </p:sp>
      <p:sp>
        <p:nvSpPr>
          <p:cNvPr id="53" name="training-period">
            <a:extLst xmlns:a="http://schemas.openxmlformats.org/drawingml/2006/main">
              <a:ext uri="{FF2B5EF4-FFF2-40B4-BE49-F238E27FC236}">
                <a16:creationId xmlns:a16="http://schemas.microsoft.com/office/drawing/2014/main" id="{978E9ED7-3948-48FA-92C8-A007A4837B43}"/>
              </a:ext>
            </a:extLst>
          </p:cNvPr>
          <p:cNvSpPr>
            <a:spLocks xmlns:a="http://schemas.openxmlformats.org/drawingml/2006/main" noGrp="1"/>
          </p:cNvSpPr>
          <p:nvPr/>
        </p:nvSpPr>
        <p:spPr>
          <a:xfrm xmlns:a="http://schemas.openxmlformats.org/drawingml/2006/main">
            <a:off x="457200" y="3343275"/>
            <a:ext cx="6153150" cy="79057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2100" b="1">
                <a:solidFill>
                  <a:srgbClr val="83DFFF"/>
                </a:solidFill>
                <a:latin typeface="JetBrains Mono"/>
                <a:ea typeface="JetBrains Mono"/>
                <a:cs typeface="JetBrains Mono"/>
              </a:defRPr>
            </a:pPr>
            <a:r>
              <a:rPr sz="2100" b="1">
                <a:solidFill>
                  <a:srgbClr val="83DFFF"/>
                </a:solidFill>
                <a:latin typeface="JetBrains Mono"/>
                <a:ea typeface="JetBrains Mono"/>
                <a:cs typeface="JetBrains Mono"/>
              </a:rPr>
              <a:t>Treino</a:t>
            </a:r>
          </a:p>
        </p:txBody>
      </p:sp>
      <p:sp>
        <p:nvSpPr>
          <p:cNvPr id="54" name="validation-period">
            <a:extLst xmlns:a="http://schemas.openxmlformats.org/drawingml/2006/main">
              <a:ext uri="{FF2B5EF4-FFF2-40B4-BE49-F238E27FC236}">
                <a16:creationId xmlns:a16="http://schemas.microsoft.com/office/drawing/2014/main" id="{D292C659-94E7-408E-A6D1-D73D862C513F}"/>
              </a:ext>
            </a:extLst>
          </p:cNvPr>
          <p:cNvSpPr>
            <a:spLocks xmlns:a="http://schemas.openxmlformats.org/drawingml/2006/main" noGrp="1"/>
          </p:cNvSpPr>
          <p:nvPr/>
        </p:nvSpPr>
        <p:spPr>
          <a:xfrm xmlns:a="http://schemas.openxmlformats.org/drawingml/2006/main">
            <a:off x="6743700" y="3343275"/>
            <a:ext cx="2352675" cy="790575"/>
          </a:xfrm>
          <a:prstGeom xmlns:a="http://schemas.openxmlformats.org/drawingml/2006/main" prst="rect">
            <a:avLst/>
          </a:prstGeom>
          <a:solidFill xmlns:a="http://schemas.openxmlformats.org/drawingml/2006/main">
            <a:srgbClr val="000F29"/>
          </a:solidFill>
          <a:ln xmlns:a="http://schemas.openxmlformats.org/drawingml/2006/main" w="19050">
            <a:solidFill>
              <a:srgbClr val="71E7BD"/>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950" b="1">
                <a:solidFill>
                  <a:srgbClr val="71E7BD"/>
                </a:solidFill>
                <a:latin typeface="JetBrains Mono"/>
                <a:ea typeface="JetBrains Mono"/>
                <a:cs typeface="JetBrains Mono"/>
              </a:defRPr>
            </a:pPr>
            <a:r>
              <a:rPr sz="1950" b="1">
                <a:solidFill>
                  <a:srgbClr val="71E7BD"/>
                </a:solidFill>
                <a:latin typeface="JetBrains Mono"/>
                <a:ea typeface="JetBrains Mono"/>
                <a:cs typeface="JetBrains Mono"/>
              </a:rPr>
              <a:t>Validação</a:t>
            </a:r>
          </a:p>
        </p:txBody>
      </p:sp>
      <p:sp>
        <p:nvSpPr>
          <p:cNvPr id="55" name="test-period">
            <a:extLst xmlns:a="http://schemas.openxmlformats.org/drawingml/2006/main">
              <a:ext uri="{FF2B5EF4-FFF2-40B4-BE49-F238E27FC236}">
                <a16:creationId xmlns:a16="http://schemas.microsoft.com/office/drawing/2014/main" id="{57FCD4F6-E34F-4612-8DDD-555E0D91CB95}"/>
              </a:ext>
            </a:extLst>
          </p:cNvPr>
          <p:cNvSpPr>
            <a:spLocks xmlns:a="http://schemas.openxmlformats.org/drawingml/2006/main" noGrp="1"/>
          </p:cNvSpPr>
          <p:nvPr/>
        </p:nvSpPr>
        <p:spPr>
          <a:xfrm xmlns:a="http://schemas.openxmlformats.org/drawingml/2006/main">
            <a:off x="9229725" y="3343275"/>
            <a:ext cx="2505075" cy="790575"/>
          </a:xfrm>
          <a:prstGeom xmlns:a="http://schemas.openxmlformats.org/drawingml/2006/main" prst="rect">
            <a:avLst/>
          </a:prstGeom>
          <a:solidFill xmlns:a="http://schemas.openxmlformats.org/drawingml/2006/main">
            <a:srgbClr val="000F29"/>
          </a:solidFill>
          <a:ln xmlns:a="http://schemas.openxmlformats.org/drawingml/2006/main" w="19050">
            <a:solidFill>
              <a:srgbClr val="FFAD62"/>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950" b="1">
                <a:solidFill>
                  <a:srgbClr val="FFAD62"/>
                </a:solidFill>
                <a:latin typeface="JetBrains Mono"/>
                <a:ea typeface="JetBrains Mono"/>
                <a:cs typeface="JetBrains Mono"/>
              </a:defRPr>
            </a:pPr>
            <a:r>
              <a:rPr sz="1950" b="1">
                <a:solidFill>
                  <a:srgbClr val="FFAD62"/>
                </a:solidFill>
                <a:latin typeface="JetBrains Mono"/>
                <a:ea typeface="JetBrains Mono"/>
                <a:cs typeface="JetBrains Mono"/>
              </a:rPr>
              <a:t>Teste</a:t>
            </a:r>
          </a:p>
        </p:txBody>
      </p:sp>
      <p:cxnSp>
        <p:nvCxnSpPr>
          <p:cNvPr id="72" name=""/>
          <p:cNvCxnSpPr>
            <a:stCxn xmlns:a="http://schemas.openxmlformats.org/drawingml/2006/main" id="53" idx="3"/>
            <a:endCxn xmlns:a="http://schemas.openxmlformats.org/drawingml/2006/main" id="54" idx="1"/>
          </p:cNvCxnSpPr>
          <p:nvPr/>
        </p:nvCxnSpPr>
        <p:spPr>
          <a:xfrm xmlns:a="http://schemas.openxmlformats.org/drawingml/2006/main">
            <a:off x="6610350" y="3738563"/>
            <a:ext cx="133350" cy="0"/>
          </a:xfrm>
          <a:prstGeom xmlns:a="http://schemas.openxmlformats.org/drawingml/2006/main" prst="straightConnector1">
            <a:avLst/>
          </a:prstGeom>
          <a:ln xmlns:a="http://schemas.openxmlformats.org/drawingml/2006/main" w="15240">
            <a:solidFill>
              <a:srgbClr val="91A4BD"/>
            </a:solidFill>
            <a:tailEnd type="triangle" w="sm" len="sm"/>
          </a:ln>
        </p:spPr>
      </p:cxnSp>
      <p:cxnSp>
        <p:nvCxnSpPr>
          <p:cNvPr id="73" name=""/>
          <p:cNvCxnSpPr>
            <a:stCxn xmlns:a="http://schemas.openxmlformats.org/drawingml/2006/main" id="54" idx="3"/>
            <a:endCxn xmlns:a="http://schemas.openxmlformats.org/drawingml/2006/main" id="55" idx="1"/>
          </p:cNvCxnSpPr>
          <p:nvPr/>
        </p:nvCxnSpPr>
        <p:spPr>
          <a:xfrm xmlns:a="http://schemas.openxmlformats.org/drawingml/2006/main">
            <a:off x="9096375" y="3738563"/>
            <a:ext cx="133350" cy="0"/>
          </a:xfrm>
          <a:prstGeom xmlns:a="http://schemas.openxmlformats.org/drawingml/2006/main" prst="straightConnector1">
            <a:avLst/>
          </a:prstGeom>
          <a:ln xmlns:a="http://schemas.openxmlformats.org/drawingml/2006/main" w="15240">
            <a:solidFill>
              <a:srgbClr val="91A4BD"/>
            </a:solidFill>
            <a:tailEnd type="triangle" w="sm" len="sm"/>
          </a:ln>
        </p:spPr>
      </p:cxnSp>
      <p:sp>
        <p:nvSpPr>
          <p:cNvPr id="58" name="training-role">
            <a:extLst xmlns:a="http://schemas.openxmlformats.org/drawingml/2006/main">
              <a:ext uri="{FF2B5EF4-FFF2-40B4-BE49-F238E27FC236}">
                <a16:creationId xmlns:a16="http://schemas.microsoft.com/office/drawing/2014/main" id="{4E92EC65-E291-4122-8452-402BE502353C}"/>
              </a:ext>
            </a:extLst>
          </p:cNvPr>
          <p:cNvSpPr>
            <a:spLocks xmlns:a="http://schemas.openxmlformats.org/drawingml/2006/main" noGrp="1"/>
          </p:cNvSpPr>
          <p:nvPr/>
        </p:nvSpPr>
        <p:spPr>
          <a:xfrm xmlns:a="http://schemas.openxmlformats.org/drawingml/2006/main">
            <a:off x="457200" y="44767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83DFFF"/>
                </a:solidFill>
                <a:latin typeface="JetBrains Mono"/>
                <a:ea typeface="JetBrains Mono"/>
                <a:cs typeface="JetBrains Mono"/>
              </a:defRPr>
            </a:pPr>
            <a:r>
              <a:rPr sz="1800" b="0" i="0">
                <a:solidFill>
                  <a:srgbClr val="83DFFF"/>
                </a:solidFill>
                <a:latin typeface="JetBrains Mono"/>
                <a:ea typeface="JetBrains Mono"/>
                <a:cs typeface="JetBrains Mono"/>
              </a:rPr>
              <a:t>Ajuste dos pesos</a:t>
            </a:r>
          </a:p>
          <a:p xmlns:a="http://schemas.openxmlformats.org/drawingml/2006/main">
            <a:pPr algn="l">
              <a:defRPr sz="1800" b="0" i="0">
                <a:solidFill>
                  <a:srgbClr val="83DFFF"/>
                </a:solidFill>
                <a:latin typeface="JetBrains Mono"/>
                <a:ea typeface="JetBrains Mono"/>
                <a:cs typeface="JetBrains Mono"/>
              </a:defRPr>
            </a:pPr>
            <a:r>
              <a:rPr sz="1800" b="0" i="0">
                <a:solidFill>
                  <a:srgbClr val="83DFFF"/>
                </a:solidFill>
                <a:latin typeface="JetBrains Mono"/>
                <a:ea typeface="JetBrains Mono"/>
                <a:cs typeface="JetBrains Mono"/>
              </a:rPr>
              <a:t>e das transformações.</a:t>
            </a:r>
          </a:p>
        </p:txBody>
      </p:sp>
      <p:sp>
        <p:nvSpPr>
          <p:cNvPr id="59" name="validation-role">
            <a:extLst xmlns:a="http://schemas.openxmlformats.org/drawingml/2006/main">
              <a:ext uri="{FF2B5EF4-FFF2-40B4-BE49-F238E27FC236}">
                <a16:creationId xmlns:a16="http://schemas.microsoft.com/office/drawing/2014/main" id="{4FDA5D1A-9284-4F96-81DC-C2C010ED66A4}"/>
              </a:ext>
            </a:extLst>
          </p:cNvPr>
          <p:cNvSpPr>
            <a:spLocks xmlns:a="http://schemas.openxmlformats.org/drawingml/2006/main" noGrp="1"/>
          </p:cNvSpPr>
          <p:nvPr/>
        </p:nvSpPr>
        <p:spPr>
          <a:xfrm xmlns:a="http://schemas.openxmlformats.org/drawingml/2006/main">
            <a:off x="6743700" y="4476750"/>
            <a:ext cx="23526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71E7BD"/>
                </a:solidFill>
                <a:latin typeface="JetBrains Mono"/>
                <a:ea typeface="JetBrains Mono"/>
                <a:cs typeface="JetBrains Mono"/>
              </a:defRPr>
            </a:pPr>
            <a:r>
              <a:rPr sz="1650" b="0" i="0">
                <a:solidFill>
                  <a:srgbClr val="71E7BD"/>
                </a:solidFill>
                <a:latin typeface="JetBrains Mono"/>
                <a:ea typeface="JetBrains Mono"/>
                <a:cs typeface="JetBrains Mono"/>
              </a:rPr>
              <a:t>Escolha da rede</a:t>
            </a:r>
          </a:p>
          <a:p xmlns:a="http://schemas.openxmlformats.org/drawingml/2006/main">
            <a:pPr algn="l">
              <a:defRPr sz="1650" b="0" i="0">
                <a:solidFill>
                  <a:srgbClr val="71E7BD"/>
                </a:solidFill>
                <a:latin typeface="JetBrains Mono"/>
                <a:ea typeface="JetBrains Mono"/>
                <a:cs typeface="JetBrains Mono"/>
              </a:defRPr>
            </a:pPr>
            <a:r>
              <a:rPr sz="1650" b="0" i="0">
                <a:solidFill>
                  <a:srgbClr val="71E7BD"/>
                </a:solidFill>
                <a:latin typeface="JetBrains Mono"/>
                <a:ea typeface="JetBrains Mono"/>
                <a:cs typeface="JetBrains Mono"/>
              </a:rPr>
              <a:t>e da parada.</a:t>
            </a:r>
          </a:p>
        </p:txBody>
      </p:sp>
      <p:sp>
        <p:nvSpPr>
          <p:cNvPr id="60" name="test-role">
            <a:extLst xmlns:a="http://schemas.openxmlformats.org/drawingml/2006/main">
              <a:ext uri="{FF2B5EF4-FFF2-40B4-BE49-F238E27FC236}">
                <a16:creationId xmlns:a16="http://schemas.microsoft.com/office/drawing/2014/main" id="{1AAC88FC-F9BE-4B51-A882-E702A440108E}"/>
              </a:ext>
            </a:extLst>
          </p:cNvPr>
          <p:cNvSpPr>
            <a:spLocks xmlns:a="http://schemas.openxmlformats.org/drawingml/2006/main" noGrp="1"/>
          </p:cNvSpPr>
          <p:nvPr/>
        </p:nvSpPr>
        <p:spPr>
          <a:xfrm xmlns:a="http://schemas.openxmlformats.org/drawingml/2006/main">
            <a:off x="9229725" y="4476750"/>
            <a:ext cx="25050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AD62"/>
                </a:solidFill>
                <a:latin typeface="JetBrains Mono"/>
                <a:ea typeface="JetBrains Mono"/>
                <a:cs typeface="JetBrains Mono"/>
              </a:defRPr>
            </a:pPr>
            <a:r>
              <a:rPr sz="1650" b="0" i="0">
                <a:solidFill>
                  <a:srgbClr val="FFAD62"/>
                </a:solidFill>
                <a:latin typeface="JetBrains Mono"/>
                <a:ea typeface="JetBrains Mono"/>
                <a:cs typeface="JetBrains Mono"/>
              </a:rPr>
              <a:t>Avaliação final</a:t>
            </a:r>
          </a:p>
          <a:p xmlns:a="http://schemas.openxmlformats.org/drawingml/2006/main">
            <a:pPr algn="l">
              <a:defRPr sz="1650" b="0" i="0">
                <a:solidFill>
                  <a:srgbClr val="FFAD62"/>
                </a:solidFill>
                <a:latin typeface="JetBrains Mono"/>
                <a:ea typeface="JetBrains Mono"/>
                <a:cs typeface="JetBrains Mono"/>
              </a:defRPr>
            </a:pPr>
            <a:r>
              <a:rPr sz="1650" b="0" i="0">
                <a:solidFill>
                  <a:srgbClr val="FFAD62"/>
                </a:solidFill>
                <a:latin typeface="JetBrains Mono"/>
                <a:ea typeface="JetBrains Mono"/>
                <a:cs typeface="JetBrains Mono"/>
              </a:rPr>
              <a:t>reservada.</a:t>
            </a:r>
          </a:p>
        </p:txBody>
      </p:sp>
      <p:sp>
        <p:nvSpPr>
          <p:cNvPr id="61" name="caption">
            <a:extLst xmlns:a="http://schemas.openxmlformats.org/drawingml/2006/main">
              <a:ext uri="{FF2B5EF4-FFF2-40B4-BE49-F238E27FC236}">
                <a16:creationId xmlns:a16="http://schemas.microsoft.com/office/drawing/2014/main" id="{C8C18826-67E0-4C08-AC3D-1E0E079F4BAC}"/>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Linha do tempo ilustrativa. As larguras não definem uma proporção obrigatória.</a:t>
            </a:r>
          </a:p>
        </p:txBody>
      </p:sp>
    </p:spTree>
    <p:extLst>
      <p:ext uri="{BB962C8B-B14F-4D97-AF65-F5344CB8AC3E}">
        <p14:creationId xmlns:p14="http://schemas.microsoft.com/office/powerpoint/2010/main" val="33801002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9" name="Imagem 13"/>
          <p:cNvPicPr>
            <a:picLocks xmlns:a="http://schemas.openxmlformats.org/drawingml/2006/main" noChangeAspect="1"/>
          </p:cNvPicPr>
          <p:nvPr/>
        </p:nvPicPr>
        <p:blipFill>
          <a:blip xmlns:r="http://schemas.openxmlformats.org/officeDocument/2006/relationships" xmlns:a="http://schemas.openxmlformats.org/drawingml/2006/main" r:embed="R30d638fbdfa247cb"/>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Padronização sem vazamento de dados</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scaling-equation">
            <a:extLst xmlns:a="http://schemas.openxmlformats.org/drawingml/2006/main">
              <a:ext uri="{FF2B5EF4-FFF2-40B4-BE49-F238E27FC236}">
                <a16:creationId xmlns:a16="http://schemas.microsoft.com/office/drawing/2014/main" id="{F29F27F9-0DFA-4A37-978F-7D08BF5542D3}"/>
              </a:ext>
            </a:extLst>
          </p:cNvPr>
          <p:cNvSpPr>
            <a:spLocks xmlns:a="http://schemas.openxmlformats.org/drawingml/2006/main" noGrp="1"/>
          </p:cNvSpPr>
          <p:nvPr/>
        </p:nvSpPr>
        <p:spPr>
          <a:xfrm xmlns:a="http://schemas.openxmlformats.org/drawingml/2006/main">
            <a:off x="457200" y="2390775"/>
            <a:ext cx="6353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i="0">
                <a:solidFill>
                  <a:srgbClr val="83DFFF"/>
                </a:solidFill>
                <a:latin typeface="JetBrains Mono"/>
                <a:ea typeface="JetBrains Mono"/>
                <a:cs typeface="JetBrains Mono"/>
              </a:defRPr>
            </a:pPr>
            <a:r>
              <a:rPr sz="2550" b="0" i="0">
                <a:solidFill>
                  <a:srgbClr val="83DFFF"/>
                </a:solidFill>
                <a:latin typeface="JetBrains Mono"/>
                <a:ea typeface="JetBrains Mono"/>
                <a:cs typeface="JetBrains Mono"/>
              </a:rPr>
              <a:t>zⱼ = (xⱼ − μⱼ)/sⱼ</a:t>
            </a:r>
          </a:p>
        </p:txBody>
      </p:sp>
      <p:sp>
        <p:nvSpPr>
          <p:cNvPr id="53" name="scaling-training">
            <a:extLst xmlns:a="http://schemas.openxmlformats.org/drawingml/2006/main">
              <a:ext uri="{FF2B5EF4-FFF2-40B4-BE49-F238E27FC236}">
                <a16:creationId xmlns:a16="http://schemas.microsoft.com/office/drawing/2014/main" id="{47E71987-E9C7-425E-A7CC-B2720F1E2180}"/>
              </a:ext>
            </a:extLst>
          </p:cNvPr>
          <p:cNvSpPr>
            <a:spLocks xmlns:a="http://schemas.openxmlformats.org/drawingml/2006/main" noGrp="1"/>
          </p:cNvSpPr>
          <p:nvPr/>
        </p:nvSpPr>
        <p:spPr>
          <a:xfrm xmlns:a="http://schemas.openxmlformats.org/drawingml/2006/main">
            <a:off x="7286625" y="2476500"/>
            <a:ext cx="4448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71E7BD"/>
                </a:solidFill>
                <a:latin typeface="JetBrains Mono"/>
                <a:ea typeface="JetBrains Mono"/>
                <a:cs typeface="JetBrains Mono"/>
              </a:defRPr>
            </a:pPr>
            <a:r>
              <a:rPr sz="1950" b="0" i="0">
                <a:solidFill>
                  <a:srgbClr val="71E7BD"/>
                </a:solidFill>
                <a:latin typeface="JetBrains Mono"/>
                <a:ea typeface="JetBrains Mono"/>
                <a:cs typeface="JetBrains Mono"/>
              </a:rPr>
              <a:t>μ e s vêm do treino.</a:t>
            </a:r>
          </a:p>
        </p:txBody>
      </p:sp>
      <p:graphicFrame>
        <p:nvGraphicFramePr>
          <p:cNvPr id="64" name=""/>
          <p:cNvGraphicFramePr/>
          <p:nvPr/>
        </p:nvGraphicFramePr>
        <p:xfrm>
          <a:off xmlns:a="http://schemas.openxmlformats.org/drawingml/2006/main" x="457200" y="3381375"/>
          <a:ext xmlns:a="http://schemas.openxmlformats.org/drawingml/2006/main" cx="11277600" cy="2228850"/>
        </p:xfrm>
        <a:graphic xmlns:a="http://schemas.openxmlformats.org/drawingml/2006/main">
          <a:graphicData uri="http://schemas.openxmlformats.org/drawingml/2006/table">
            <a:tbl>
              <a:tblPr firstRow="1" bandRow="0"/>
              <a:tblGrid>
                <a:gridCol w="3733800"/>
                <a:gridCol w="1885950"/>
                <a:gridCol w="1885950"/>
                <a:gridCol w="1885950"/>
                <a:gridCol w="1885950"/>
              </a:tblGrid>
              <a:tr h="628650">
                <a:tc>
                  <a:txBody>
                    <a:bodyPr lIns="95250" tIns="57150" rIns="95250" bIns="57150">
                      <a:noAutofit/>
                    </a:bodyPr>
                    <a:lstStyle/>
                    <a:p>
                      <a:pPr algn="ctr"/>
                      <a:r>
                        <a:rPr sz="1650" b="1">
                          <a:solidFill>
                            <a:srgbClr val="FFFFFF"/>
                          </a:solidFill>
                          <a:latin typeface="JetBrains Mono"/>
                          <a:ea typeface="JetBrains Mono"/>
                          <a:cs typeface="JetBrains Mono"/>
                        </a:rPr>
                        <a:t>Variável</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μ</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s</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x</a:t>
                      </a:r>
                    </a:p>
                  </a:txBody>
                  <a:tcPr marL="91440" marR="91440" marT="45720" marB="45720" anchor="ctr">
                    <a:solidFill>
                      <a:srgbClr val="0053EB"/>
                    </a:solidFill>
                  </a:tcPr>
                </a:tc>
                <a:tc>
                  <a:txBody>
                    <a:bodyPr lIns="95250" tIns="57150" rIns="95250" bIns="57150">
                      <a:noAutofit/>
                    </a:bodyPr>
                    <a:lstStyle/>
                    <a:p>
                      <a:pPr algn="ctr"/>
                      <a:r>
                        <a:rPr sz="1650" b="1">
                          <a:solidFill>
                            <a:srgbClr val="FFFFFF"/>
                          </a:solidFill>
                          <a:latin typeface="JetBrains Mono"/>
                          <a:ea typeface="JetBrains Mono"/>
                          <a:cs typeface="JetBrains Mono"/>
                        </a:rPr>
                        <a:t>z</a:t>
                      </a:r>
                    </a:p>
                  </a:txBody>
                  <a:tcPr marL="91440" marR="91440" marT="45720" marB="45720" anchor="ctr">
                    <a:solidFill>
                      <a:srgbClr val="0053EB"/>
                    </a:solidFill>
                  </a:tcPr>
                </a:tc>
              </a:tr>
              <a:tr h="533400">
                <a:tc>
                  <a:txBody>
                    <a:bodyPr lIns="95250" tIns="57150" rIns="95250" bIns="57150">
                      <a:noAutofit/>
                    </a:bodyPr>
                    <a:lstStyle/>
                    <a:p>
                      <a:pPr algn="ctr"/>
                      <a:r>
                        <a:rPr sz="1650" b="0">
                          <a:solidFill>
                            <a:srgbClr val="FFFFFF"/>
                          </a:solidFill>
                          <a:latin typeface="JetBrains Mono"/>
                          <a:ea typeface="JetBrains Mono"/>
                          <a:cs typeface="JetBrains Mono"/>
                        </a:rPr>
                        <a:t>P (mm)</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10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20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30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1,0</a:t>
                      </a:r>
                    </a:p>
                  </a:txBody>
                  <a:tcPr marL="91440" marR="91440" marT="45720" marB="45720" anchor="ctr">
                    <a:solidFill>
                      <a:srgbClr val="082950"/>
                    </a:solidFill>
                  </a:tcPr>
                </a:tc>
              </a:tr>
              <a:tr h="533400">
                <a:tc>
                  <a:txBody>
                    <a:bodyPr lIns="95250" tIns="57150" rIns="95250" bIns="57150">
                      <a:noAutofit/>
                    </a:bodyPr>
                    <a:lstStyle/>
                    <a:p>
                      <a:pPr algn="ctr"/>
                      <a:r>
                        <a:rPr sz="1650" b="0">
                          <a:solidFill>
                            <a:srgbClr val="FFFFFF"/>
                          </a:solidFill>
                          <a:latin typeface="JetBrains Mono"/>
                          <a:ea typeface="JetBrains Mono"/>
                          <a:cs typeface="JetBrains Mono"/>
                        </a:rPr>
                        <a:t>Q(t) (m³/s)</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100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40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140</a:t>
                      </a:r>
                    </a:p>
                  </a:txBody>
                  <a:tcPr marL="91440" marR="91440" marT="45720" marB="45720" anchor="ctr">
                    <a:solidFill>
                      <a:srgbClr val="031A39"/>
                    </a:solidFill>
                  </a:tcPr>
                </a:tc>
                <a:tc>
                  <a:txBody>
                    <a:bodyPr lIns="95250" tIns="57150" rIns="95250" bIns="57150">
                      <a:noAutofit/>
                    </a:bodyPr>
                    <a:lstStyle/>
                    <a:p>
                      <a:pPr algn="ctr"/>
                      <a:r>
                        <a:rPr sz="1650" b="0">
                          <a:solidFill>
                            <a:srgbClr val="FFFFFF"/>
                          </a:solidFill>
                          <a:latin typeface="JetBrains Mono"/>
                          <a:ea typeface="JetBrains Mono"/>
                          <a:cs typeface="JetBrains Mono"/>
                        </a:rPr>
                        <a:t>1,0</a:t>
                      </a:r>
                    </a:p>
                  </a:txBody>
                  <a:tcPr marL="91440" marR="91440" marT="45720" marB="45720" anchor="ctr">
                    <a:solidFill>
                      <a:srgbClr val="031A39"/>
                    </a:solidFill>
                  </a:tcPr>
                </a:tc>
              </a:tr>
              <a:tr h="533400">
                <a:tc>
                  <a:txBody>
                    <a:bodyPr lIns="95250" tIns="57150" rIns="95250" bIns="57150">
                      <a:noAutofit/>
                    </a:bodyPr>
                    <a:lstStyle/>
                    <a:p>
                      <a:pPr algn="ctr"/>
                      <a:r>
                        <a:rPr sz="1650" b="0">
                          <a:solidFill>
                            <a:srgbClr val="FFFFFF"/>
                          </a:solidFill>
                          <a:latin typeface="JetBrains Mono"/>
                          <a:ea typeface="JetBrains Mono"/>
                          <a:cs typeface="JetBrains Mono"/>
                        </a:rPr>
                        <a:t>Q(t−1) (m³/s)</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100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40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80</a:t>
                      </a:r>
                    </a:p>
                  </a:txBody>
                  <a:tcPr marL="91440" marR="91440" marT="45720" marB="45720" anchor="ctr">
                    <a:solidFill>
                      <a:srgbClr val="082950"/>
                    </a:solidFill>
                  </a:tcPr>
                </a:tc>
                <a:tc>
                  <a:txBody>
                    <a:bodyPr lIns="95250" tIns="57150" rIns="95250" bIns="57150">
                      <a:noAutofit/>
                    </a:bodyPr>
                    <a:lstStyle/>
                    <a:p>
                      <a:pPr algn="ctr"/>
                      <a:r>
                        <a:rPr sz="1650" b="0">
                          <a:solidFill>
                            <a:srgbClr val="FFFFFF"/>
                          </a:solidFill>
                          <a:latin typeface="JetBrains Mono"/>
                          <a:ea typeface="JetBrains Mono"/>
                          <a:cs typeface="JetBrains Mono"/>
                        </a:rPr>
                        <a:t>−0,5</a:t>
                      </a:r>
                    </a:p>
                  </a:txBody>
                  <a:tcPr marL="91440" marR="91440" marT="45720" marB="45720" anchor="ctr">
                    <a:solidFill>
                      <a:srgbClr val="082950"/>
                    </a:solidFill>
                  </a:tcPr>
                </a:tc>
              </a:tr>
            </a:tbl>
          </a:graphicData>
        </a:graphic>
      </p:graphicFrame>
      <p:sp>
        <p:nvSpPr>
          <p:cNvPr id="55" name="caption">
            <a:extLst xmlns:a="http://schemas.openxmlformats.org/drawingml/2006/main">
              <a:ext uri="{FF2B5EF4-FFF2-40B4-BE49-F238E27FC236}">
                <a16:creationId xmlns:a16="http://schemas.microsoft.com/office/drawing/2014/main" id="{C39D147F-B9BE-41F0-BEB4-FCFEE5657FA7}"/>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Escalas hipotéticas. A mesma transformação vale para validação e teste.</a:t>
            </a:r>
          </a:p>
        </p:txBody>
      </p:sp>
    </p:spTree>
    <p:extLst>
      <p:ext uri="{BB962C8B-B14F-4D97-AF65-F5344CB8AC3E}">
        <p14:creationId xmlns:p14="http://schemas.microsoft.com/office/powerpoint/2010/main" val="338010029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1" name="Imagem 13"/>
          <p:cNvPicPr>
            <a:picLocks xmlns:a="http://schemas.openxmlformats.org/drawingml/2006/main" noChangeAspect="1"/>
          </p:cNvPicPr>
          <p:nvPr/>
        </p:nvPicPr>
        <p:blipFill>
          <a:blip xmlns:r="http://schemas.openxmlformats.org/officeDocument/2006/relationships" xmlns:a="http://schemas.openxmlformats.org/drawingml/2006/main" r:embed="Rc927c8ad22844035"/>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Curvas de perda por época</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4" name="Chart"/>
          <p:cNvGraphicFramePr/>
          <p:nvPr/>
        </p:nvGraphicFramePr>
        <p:xfrm>
          <a:off xmlns:a="http://schemas.openxmlformats.org/drawingml/2006/main" x="457200" y="2533650"/>
          <a:ext xmlns:a="http://schemas.openxmlformats.org/drawingml/2006/main" cx="7477125" cy="3248025"/>
        </p:xfrm>
        <a:graphic xmlns:a="http://schemas.openxmlformats.org/drawingml/2006/main">
          <a:graphicData uri="http://schemas.openxmlformats.org/drawingml/2006/chart">
            <c:chart xmlns:r="http://schemas.openxmlformats.org/officeDocument/2006/relationships" xmlns:c="http://schemas.openxmlformats.org/drawingml/2006/chart" r:id="R494c32381ee94159"/>
          </a:graphicData>
        </a:graphic>
      </p:graphicFrame>
      <p:sp>
        <p:nvSpPr>
          <p:cNvPr id="53" name="checkpoint-title">
            <a:extLst xmlns:a="http://schemas.openxmlformats.org/drawingml/2006/main">
              <a:ext uri="{FF2B5EF4-FFF2-40B4-BE49-F238E27FC236}">
                <a16:creationId xmlns:a16="http://schemas.microsoft.com/office/drawing/2014/main" id="{172F7783-3744-4425-9E05-F89B0A61B01D}"/>
              </a:ext>
            </a:extLst>
          </p:cNvPr>
          <p:cNvSpPr>
            <a:spLocks xmlns:a="http://schemas.openxmlformats.org/drawingml/2006/main" noGrp="1"/>
          </p:cNvSpPr>
          <p:nvPr/>
        </p:nvSpPr>
        <p:spPr>
          <a:xfrm xmlns:a="http://schemas.openxmlformats.org/drawingml/2006/main">
            <a:off x="8477250" y="2543175"/>
            <a:ext cx="3257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FFAD62"/>
                </a:solidFill>
                <a:latin typeface="JetBrains Mono"/>
                <a:ea typeface="JetBrains Mono"/>
                <a:cs typeface="JetBrains Mono"/>
              </a:defRPr>
            </a:pPr>
            <a:r>
              <a:rPr sz="1725" b="1" i="0">
                <a:solidFill>
                  <a:srgbClr val="FFAD62"/>
                </a:solidFill>
                <a:latin typeface="JetBrains Mono"/>
                <a:ea typeface="JetBrains Mono"/>
                <a:cs typeface="JetBrains Mono"/>
              </a:rPr>
              <a:t>Melhor validação</a:t>
            </a:r>
          </a:p>
        </p:txBody>
      </p:sp>
      <p:sp>
        <p:nvSpPr>
          <p:cNvPr id="54" name="checkpoint-values">
            <a:extLst xmlns:a="http://schemas.openxmlformats.org/drawingml/2006/main">
              <a:ext uri="{FF2B5EF4-FFF2-40B4-BE49-F238E27FC236}">
                <a16:creationId xmlns:a16="http://schemas.microsoft.com/office/drawing/2014/main" id="{E359A285-C6C5-4181-AD49-91B8935BB47A}"/>
              </a:ext>
            </a:extLst>
          </p:cNvPr>
          <p:cNvSpPr>
            <a:spLocks xmlns:a="http://schemas.openxmlformats.org/drawingml/2006/main" noGrp="1"/>
          </p:cNvSpPr>
          <p:nvPr/>
        </p:nvSpPr>
        <p:spPr>
          <a:xfrm xmlns:a="http://schemas.openxmlformats.org/drawingml/2006/main">
            <a:off x="8477250" y="3286125"/>
            <a:ext cx="32575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Época 29</a:t>
            </a:r>
          </a:p>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Perda ≈ 0,096</a:t>
            </a:r>
          </a:p>
        </p:txBody>
      </p:sp>
      <p:sp>
        <p:nvSpPr>
          <p:cNvPr id="55" name="patience-title">
            <a:extLst xmlns:a="http://schemas.openxmlformats.org/drawingml/2006/main">
              <a:ext uri="{FF2B5EF4-FFF2-40B4-BE49-F238E27FC236}">
                <a16:creationId xmlns:a16="http://schemas.microsoft.com/office/drawing/2014/main" id="{482F1755-6C25-413F-A5DF-46D6CCEAA8B6}"/>
              </a:ext>
            </a:extLst>
          </p:cNvPr>
          <p:cNvSpPr>
            <a:spLocks xmlns:a="http://schemas.openxmlformats.org/drawingml/2006/main" noGrp="1"/>
          </p:cNvSpPr>
          <p:nvPr/>
        </p:nvSpPr>
        <p:spPr>
          <a:xfrm xmlns:a="http://schemas.openxmlformats.org/drawingml/2006/main">
            <a:off x="8477250" y="440055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71E7BD"/>
                </a:solidFill>
                <a:latin typeface="JetBrains Mono"/>
                <a:ea typeface="JetBrains Mono"/>
                <a:cs typeface="JetBrains Mono"/>
              </a:defRPr>
            </a:pPr>
            <a:r>
              <a:rPr sz="1650" b="1" i="0">
                <a:solidFill>
                  <a:srgbClr val="71E7BD"/>
                </a:solidFill>
                <a:latin typeface="JetBrains Mono"/>
                <a:ea typeface="JetBrains Mono"/>
                <a:cs typeface="JetBrains Mono"/>
              </a:rPr>
              <a:t>Parada antecipada</a:t>
            </a:r>
          </a:p>
        </p:txBody>
      </p:sp>
      <p:sp>
        <p:nvSpPr>
          <p:cNvPr id="56" name="patience-values">
            <a:extLst xmlns:a="http://schemas.openxmlformats.org/drawingml/2006/main">
              <a:ext uri="{FF2B5EF4-FFF2-40B4-BE49-F238E27FC236}">
                <a16:creationId xmlns:a16="http://schemas.microsoft.com/office/drawing/2014/main" id="{FB2AA447-3320-4A9E-9033-5B7AC5B72FEF}"/>
              </a:ext>
            </a:extLst>
          </p:cNvPr>
          <p:cNvSpPr>
            <a:spLocks xmlns:a="http://schemas.openxmlformats.org/drawingml/2006/main" noGrp="1"/>
          </p:cNvSpPr>
          <p:nvPr/>
        </p:nvSpPr>
        <p:spPr>
          <a:xfrm xmlns:a="http://schemas.openxmlformats.org/drawingml/2006/main">
            <a:off x="8477250" y="5162550"/>
            <a:ext cx="3257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6 épocas sem melhora.</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Parada na época 35.</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Restaura a época 29.</a:t>
            </a:r>
          </a:p>
        </p:txBody>
      </p:sp>
      <p:sp>
        <p:nvSpPr>
          <p:cNvPr id="57" name="caption">
            <a:extLst xmlns:a="http://schemas.openxmlformats.org/drawingml/2006/main">
              <a:ext uri="{FF2B5EF4-FFF2-40B4-BE49-F238E27FC236}">
                <a16:creationId xmlns:a16="http://schemas.microsoft.com/office/drawing/2014/main" id="{4CF27C25-EA66-4484-B0C3-AC672AD26BD1}"/>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Curvas esquemáticas, sem treino real. O teste permanece reservado.</a:t>
            </a:r>
          </a:p>
        </p:txBody>
      </p:sp>
    </p:spTree>
    <p:extLst>
      <p:ext uri="{BB962C8B-B14F-4D97-AF65-F5344CB8AC3E}">
        <p14:creationId xmlns:p14="http://schemas.microsoft.com/office/powerpoint/2010/main" val="338010029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1" name="Imagem 13"/>
          <p:cNvPicPr>
            <a:picLocks xmlns:a="http://schemas.openxmlformats.org/drawingml/2006/main" noChangeAspect="1"/>
          </p:cNvPicPr>
          <p:nvPr/>
        </p:nvPicPr>
        <p:blipFill>
          <a:blip xmlns:r="http://schemas.openxmlformats.org/officeDocument/2006/relationships" xmlns:a="http://schemas.openxmlformats.org/drawingml/2006/main" r:embed="Rb5c92326181247a0"/>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Controle do overfitting</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l2-objective">
            <a:extLst xmlns:a="http://schemas.openxmlformats.org/drawingml/2006/main">
              <a:ext uri="{FF2B5EF4-FFF2-40B4-BE49-F238E27FC236}">
                <a16:creationId xmlns:a16="http://schemas.microsoft.com/office/drawing/2014/main" id="{D9BC85A6-1D36-414C-89D8-3BD85D1522EC}"/>
              </a:ext>
            </a:extLst>
          </p:cNvPr>
          <p:cNvSpPr>
            <a:spLocks xmlns:a="http://schemas.openxmlformats.org/drawingml/2006/main" noGrp="1"/>
          </p:cNvSpPr>
          <p:nvPr/>
        </p:nvSpPr>
        <p:spPr>
          <a:xfrm xmlns:a="http://schemas.openxmlformats.org/drawingml/2006/main">
            <a:off x="457200" y="23717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i="0">
                <a:solidFill>
                  <a:srgbClr val="83DFFF"/>
                </a:solidFill>
                <a:latin typeface="JetBrains Mono"/>
                <a:ea typeface="JetBrains Mono"/>
                <a:cs typeface="JetBrains Mono"/>
              </a:defRPr>
            </a:pPr>
            <a:r>
              <a:rPr sz="2325" b="0" i="0">
                <a:solidFill>
                  <a:srgbClr val="83DFFF"/>
                </a:solidFill>
                <a:latin typeface="JetBrains Mono"/>
                <a:ea typeface="JetBrains Mono"/>
                <a:cs typeface="JetBrains Mono"/>
              </a:rPr>
              <a:t>J = MSE + λ∑ⱼ wⱼ²</a:t>
            </a:r>
          </a:p>
        </p:txBody>
      </p:sp>
      <p:graphicFrame>
        <p:nvGraphicFramePr>
          <p:cNvPr id="65" name="Chart"/>
          <p:cNvGraphicFramePr/>
          <p:nvPr/>
        </p:nvGraphicFramePr>
        <p:xfrm>
          <a:off xmlns:a="http://schemas.openxmlformats.org/drawingml/2006/main" x="457200" y="3200400"/>
          <a:ext xmlns:a="http://schemas.openxmlformats.org/drawingml/2006/main" cx="5791200" cy="2447925"/>
        </p:xfrm>
        <a:graphic xmlns:a="http://schemas.openxmlformats.org/drawingml/2006/main">
          <a:graphicData uri="http://schemas.openxmlformats.org/drawingml/2006/chart">
            <c:chart xmlns:r="http://schemas.openxmlformats.org/officeDocument/2006/relationships" xmlns:c="http://schemas.openxmlformats.org/drawingml/2006/chart" r:id="Rf7633ffed5f04d04"/>
          </a:graphicData>
        </a:graphic>
      </p:graphicFrame>
      <p:sp>
        <p:nvSpPr>
          <p:cNvPr id="54" name="regularization-role">
            <a:extLst xmlns:a="http://schemas.openxmlformats.org/drawingml/2006/main">
              <a:ext uri="{FF2B5EF4-FFF2-40B4-BE49-F238E27FC236}">
                <a16:creationId xmlns:a16="http://schemas.microsoft.com/office/drawing/2014/main" id="{9E772A42-E620-4E55-B8FA-44C46FEC58A4}"/>
              </a:ext>
            </a:extLst>
          </p:cNvPr>
          <p:cNvSpPr>
            <a:spLocks xmlns:a="http://schemas.openxmlformats.org/drawingml/2006/main" noGrp="1"/>
          </p:cNvSpPr>
          <p:nvPr/>
        </p:nvSpPr>
        <p:spPr>
          <a:xfrm xmlns:a="http://schemas.openxmlformats.org/drawingml/2006/main">
            <a:off x="6800850" y="3105150"/>
            <a:ext cx="4933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83DFFF"/>
                </a:solidFill>
                <a:latin typeface="JetBrains Mono"/>
                <a:ea typeface="JetBrains Mono"/>
                <a:cs typeface="JetBrains Mono"/>
              </a:defRPr>
            </a:pPr>
            <a:r>
              <a:rPr sz="1875" b="1" i="0">
                <a:solidFill>
                  <a:srgbClr val="83DFFF"/>
                </a:solidFill>
                <a:latin typeface="JetBrains Mono"/>
                <a:ea typeface="JetBrains Mono"/>
                <a:cs typeface="JetBrains Mono"/>
              </a:rPr>
              <a:t>Regularização L2</a:t>
            </a:r>
          </a:p>
        </p:txBody>
      </p:sp>
      <p:sp>
        <p:nvSpPr>
          <p:cNvPr id="55" name="regularization-desc">
            <a:extLst xmlns:a="http://schemas.openxmlformats.org/drawingml/2006/main">
              <a:ext uri="{FF2B5EF4-FFF2-40B4-BE49-F238E27FC236}">
                <a16:creationId xmlns:a16="http://schemas.microsoft.com/office/drawing/2014/main" id="{4EF04803-FB0E-4F40-887B-037BC9D865F2}"/>
              </a:ext>
            </a:extLst>
          </p:cNvPr>
          <p:cNvSpPr>
            <a:spLocks xmlns:a="http://schemas.openxmlformats.org/drawingml/2006/main" noGrp="1"/>
          </p:cNvSpPr>
          <p:nvPr/>
        </p:nvSpPr>
        <p:spPr>
          <a:xfrm xmlns:a="http://schemas.openxmlformats.org/drawingml/2006/main">
            <a:off x="6800850" y="3629025"/>
            <a:ext cx="4933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Penaliza pesos de grande</a:t>
            </a:r>
          </a:p>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magnitude. λ controla</a:t>
            </a:r>
          </a:p>
          <a:p xmlns:a="http://schemas.openxmlformats.org/drawingml/2006/main">
            <a:pPr algn="l">
              <a:defRPr sz="1725" b="0" i="0">
                <a:solidFill>
                  <a:srgbClr val="FFFFFF"/>
                </a:solidFill>
                <a:latin typeface="JetBrains Mono"/>
                <a:ea typeface="JetBrains Mono"/>
                <a:cs typeface="JetBrains Mono"/>
              </a:defRPr>
            </a:pPr>
            <a:r>
              <a:rPr sz="1725" b="0" i="0">
                <a:solidFill>
                  <a:srgbClr val="FFFFFF"/>
                </a:solidFill>
                <a:latin typeface="JetBrains Mono"/>
                <a:ea typeface="JetBrains Mono"/>
                <a:cs typeface="JetBrains Mono"/>
              </a:rPr>
              <a:t>a intensidade.</a:t>
            </a:r>
          </a:p>
        </p:txBody>
      </p:sp>
      <p:sp>
        <p:nvSpPr>
          <p:cNvPr id="56" name="other-controls">
            <a:extLst xmlns:a="http://schemas.openxmlformats.org/drawingml/2006/main">
              <a:ext uri="{FF2B5EF4-FFF2-40B4-BE49-F238E27FC236}">
                <a16:creationId xmlns:a16="http://schemas.microsoft.com/office/drawing/2014/main" id="{865E0F63-F976-4837-B4BD-D0AC0C19F1CC}"/>
              </a:ext>
            </a:extLst>
          </p:cNvPr>
          <p:cNvSpPr>
            <a:spLocks xmlns:a="http://schemas.openxmlformats.org/drawingml/2006/main" noGrp="1"/>
          </p:cNvSpPr>
          <p:nvPr/>
        </p:nvSpPr>
        <p:spPr>
          <a:xfrm xmlns:a="http://schemas.openxmlformats.org/drawingml/2006/main">
            <a:off x="6800850" y="5029200"/>
            <a:ext cx="4933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71E7BD"/>
                </a:solidFill>
                <a:latin typeface="JetBrains Mono"/>
                <a:ea typeface="JetBrains Mono"/>
                <a:cs typeface="JetBrains Mono"/>
              </a:defRPr>
            </a:pPr>
            <a:r>
              <a:rPr sz="1650" b="0" i="0">
                <a:solidFill>
                  <a:srgbClr val="71E7BD"/>
                </a:solidFill>
                <a:latin typeface="JetBrains Mono"/>
                <a:ea typeface="JetBrains Mono"/>
                <a:cs typeface="JetBrains Mono"/>
              </a:rPr>
              <a:t>Capacidade da rede e parada</a:t>
            </a:r>
          </a:p>
          <a:p xmlns:a="http://schemas.openxmlformats.org/drawingml/2006/main">
            <a:pPr algn="l">
              <a:defRPr sz="1650" b="0" i="0">
                <a:solidFill>
                  <a:srgbClr val="71E7BD"/>
                </a:solidFill>
                <a:latin typeface="JetBrains Mono"/>
                <a:ea typeface="JetBrains Mono"/>
                <a:cs typeface="JetBrains Mono"/>
              </a:defRPr>
            </a:pPr>
            <a:r>
              <a:rPr sz="1650" b="0" i="0">
                <a:solidFill>
                  <a:srgbClr val="71E7BD"/>
                </a:solidFill>
                <a:latin typeface="JetBrains Mono"/>
                <a:ea typeface="JetBrains Mono"/>
                <a:cs typeface="JetBrains Mono"/>
              </a:rPr>
              <a:t>antecipada também exigem</a:t>
            </a:r>
          </a:p>
          <a:p xmlns:a="http://schemas.openxmlformats.org/drawingml/2006/main">
            <a:pPr algn="l">
              <a:defRPr sz="1650" b="0" i="0">
                <a:solidFill>
                  <a:srgbClr val="71E7BD"/>
                </a:solidFill>
                <a:latin typeface="JetBrains Mono"/>
                <a:ea typeface="JetBrains Mono"/>
                <a:cs typeface="JetBrains Mono"/>
              </a:defRPr>
            </a:pPr>
            <a:r>
              <a:rPr sz="1650" b="0" i="0">
                <a:solidFill>
                  <a:srgbClr val="71E7BD"/>
                </a:solidFill>
                <a:latin typeface="JetBrains Mono"/>
                <a:ea typeface="JetBrains Mono"/>
                <a:cs typeface="JetBrains Mono"/>
              </a:rPr>
              <a:t>seleção na validação.</a:t>
            </a:r>
          </a:p>
        </p:txBody>
      </p:sp>
      <p:sp>
        <p:nvSpPr>
          <p:cNvPr id="57" name="caption">
            <a:extLst xmlns:a="http://schemas.openxmlformats.org/drawingml/2006/main">
              <a:ext uri="{FF2B5EF4-FFF2-40B4-BE49-F238E27FC236}">
                <a16:creationId xmlns:a16="http://schemas.microsoft.com/office/drawing/2014/main" id="{A447FAAE-5808-461F-B406-0F0C9B30DCE9}"/>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Aumentar λ demais pode levar a underfitting.</a:t>
            </a:r>
          </a:p>
        </p:txBody>
      </p:sp>
    </p:spTree>
    <p:extLst>
      <p:ext uri="{BB962C8B-B14F-4D97-AF65-F5344CB8AC3E}">
        <p14:creationId xmlns:p14="http://schemas.microsoft.com/office/powerpoint/2010/main" val="338010029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9" name="Imagem 13"/>
          <p:cNvPicPr>
            <a:picLocks xmlns:a="http://schemas.openxmlformats.org/drawingml/2006/main" noChangeAspect="1"/>
          </p:cNvPicPr>
          <p:nvPr/>
        </p:nvPicPr>
        <p:blipFill>
          <a:blip xmlns:r="http://schemas.openxmlformats.org/officeDocument/2006/relationships" xmlns:a="http://schemas.openxmlformats.org/drawingml/2006/main" r:embed="Re29cfbebb91b4bf1"/>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Avaliação da previsão hidrológica</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2" name="Chart"/>
          <p:cNvGraphicFramePr/>
          <p:nvPr/>
        </p:nvGraphicFramePr>
        <p:xfrm>
          <a:off xmlns:a="http://schemas.openxmlformats.org/drawingml/2006/main" x="457200" y="2419350"/>
          <a:ext xmlns:a="http://schemas.openxmlformats.org/drawingml/2006/main" cx="6962775" cy="3324225"/>
        </p:xfrm>
        <a:graphic xmlns:a="http://schemas.openxmlformats.org/drawingml/2006/main">
          <a:graphicData uri="http://schemas.openxmlformats.org/drawingml/2006/chart">
            <c:chart xmlns:r="http://schemas.openxmlformats.org/officeDocument/2006/relationships" xmlns:c="http://schemas.openxmlformats.org/drawingml/2006/chart" r:id="R5839e41626b94694"/>
          </a:graphicData>
        </a:graphic>
      </p:graphicFrame>
      <p:graphicFrame>
        <p:nvGraphicFramePr>
          <p:cNvPr id="63" name=""/>
          <p:cNvGraphicFramePr/>
          <p:nvPr/>
        </p:nvGraphicFramePr>
        <p:xfrm>
          <a:off xmlns:a="http://schemas.openxmlformats.org/drawingml/2006/main" x="7877175" y="2476500"/>
          <a:ext xmlns:a="http://schemas.openxmlformats.org/drawingml/2006/main" cx="3857625" cy="2438400"/>
        </p:xfrm>
        <a:graphic xmlns:a="http://schemas.openxmlformats.org/drawingml/2006/main">
          <a:graphicData uri="http://schemas.openxmlformats.org/drawingml/2006/table">
            <a:tbl>
              <a:tblPr firstRow="1" bandRow="0"/>
              <a:tblGrid>
                <a:gridCol w="1362075"/>
                <a:gridCol w="1200150"/>
                <a:gridCol w="1295400"/>
              </a:tblGrid>
              <a:tr h="552450">
                <a:tc>
                  <a:txBody>
                    <a:bodyPr lIns="95250" tIns="57150" rIns="95250" bIns="57150">
                      <a:noAutofit/>
                    </a:bodyPr>
                    <a:lstStyle/>
                    <a:p>
                      <a:pPr algn="ctr"/>
                      <a:r>
                        <a:rPr sz="1500" b="1">
                          <a:solidFill>
                            <a:srgbClr val="FFFFFF"/>
                          </a:solidFill>
                          <a:latin typeface="JetBrains Mono"/>
                          <a:ea typeface="JetBrains Mono"/>
                          <a:cs typeface="JetBrains Mono"/>
                        </a:rPr>
                        <a:t>Métrica</a:t>
                      </a:r>
                    </a:p>
                  </a:txBody>
                  <a:tcPr marL="91440" marR="91440" marT="45720" marB="45720" anchor="ctr">
                    <a:solidFill>
                      <a:srgbClr val="0053EB"/>
                    </a:solidFill>
                  </a:tcPr>
                </a:tc>
                <a:tc>
                  <a:txBody>
                    <a:bodyPr lIns="95250" tIns="57150" rIns="95250" bIns="57150">
                      <a:noAutofit/>
                    </a:bodyPr>
                    <a:lstStyle/>
                    <a:p>
                      <a:pPr algn="ctr"/>
                      <a:r>
                        <a:rPr sz="1500" b="1">
                          <a:solidFill>
                            <a:srgbClr val="FFFFFF"/>
                          </a:solidFill>
                          <a:latin typeface="JetBrains Mono"/>
                          <a:ea typeface="JetBrains Mono"/>
                          <a:cs typeface="JetBrains Mono"/>
                        </a:rPr>
                        <a:t>RNA</a:t>
                      </a:r>
                    </a:p>
                  </a:txBody>
                  <a:tcPr marL="91440" marR="91440" marT="45720" marB="45720" anchor="ctr">
                    <a:solidFill>
                      <a:srgbClr val="0053EB"/>
                    </a:solidFill>
                  </a:tcPr>
                </a:tc>
                <a:tc>
                  <a:txBody>
                    <a:bodyPr lIns="95250" tIns="57150" rIns="95250" bIns="57150">
                      <a:noAutofit/>
                    </a:bodyPr>
                    <a:lstStyle/>
                    <a:p>
                      <a:pPr algn="ctr"/>
                      <a:r>
                        <a:rPr sz="1500" b="1">
                          <a:solidFill>
                            <a:srgbClr val="FFFFFF"/>
                          </a:solidFill>
                          <a:latin typeface="JetBrains Mono"/>
                          <a:ea typeface="JetBrains Mono"/>
                          <a:cs typeface="JetBrains Mono"/>
                        </a:rPr>
                        <a:t>Persist.</a:t>
                      </a:r>
                    </a:p>
                  </a:txBody>
                  <a:tcPr marL="91440" marR="91440" marT="45720" marB="45720" anchor="ctr">
                    <a:solidFill>
                      <a:srgbClr val="0053EB"/>
                    </a:solidFill>
                  </a:tcPr>
                </a:tc>
              </a:tr>
              <a:tr h="676275">
                <a:tc>
                  <a:txBody>
                    <a:bodyPr lIns="95250" tIns="57150" rIns="95250" bIns="57150">
                      <a:noAutofit/>
                    </a:bodyPr>
                    <a:lstStyle/>
                    <a:p>
                      <a:pPr algn="ctr"/>
                      <a:r>
                        <a:rPr sz="1500" b="0">
                          <a:solidFill>
                            <a:srgbClr val="FFFFFF"/>
                          </a:solidFill>
                          <a:latin typeface="JetBrains Mono"/>
                          <a:ea typeface="JetBrains Mono"/>
                          <a:cs typeface="JetBrains Mono"/>
                        </a:rPr>
                        <a:t>MAE</a:t>
                      </a:r>
                    </a:p>
                    <a:p>
                      <a:pPr algn="ctr"/>
                      <a:r>
                        <a:rPr sz="1500" b="0">
                          <a:solidFill>
                            <a:srgbClr val="FFFFFF"/>
                          </a:solidFill>
                          <a:latin typeface="JetBrains Mono"/>
                          <a:ea typeface="JetBrains Mono"/>
                          <a:cs typeface="JetBrains Mono"/>
                        </a:rPr>
                        <a:t>m³/s</a:t>
                      </a:r>
                    </a:p>
                  </a:txBody>
                  <a:tcPr marL="91440" marR="91440" marT="45720" marB="45720" anchor="ctr">
                    <a:solidFill>
                      <a:srgbClr val="082950"/>
                    </a:solidFill>
                  </a:tcPr>
                </a:tc>
                <a:tc>
                  <a:txBody>
                    <a:bodyPr lIns="95250" tIns="57150" rIns="95250" bIns="57150">
                      <a:noAutofit/>
                    </a:bodyPr>
                    <a:lstStyle/>
                    <a:p>
                      <a:pPr algn="ctr"/>
                      <a:r>
                        <a:rPr sz="1500" b="0">
                          <a:solidFill>
                            <a:srgbClr val="FFFFFF"/>
                          </a:solidFill>
                          <a:latin typeface="JetBrains Mono"/>
                          <a:ea typeface="JetBrains Mono"/>
                          <a:cs typeface="JetBrains Mono"/>
                        </a:rPr>
                        <a:t>9,1</a:t>
                      </a:r>
                    </a:p>
                  </a:txBody>
                  <a:tcPr marL="91440" marR="91440" marT="45720" marB="45720" anchor="ctr">
                    <a:solidFill>
                      <a:srgbClr val="082950"/>
                    </a:solidFill>
                  </a:tcPr>
                </a:tc>
                <a:tc>
                  <a:txBody>
                    <a:bodyPr lIns="95250" tIns="57150" rIns="95250" bIns="57150">
                      <a:noAutofit/>
                    </a:bodyPr>
                    <a:lstStyle/>
                    <a:p>
                      <a:pPr algn="ctr"/>
                      <a:r>
                        <a:rPr sz="1500" b="0">
                          <a:solidFill>
                            <a:srgbClr val="FFFFFF"/>
                          </a:solidFill>
                          <a:latin typeface="JetBrains Mono"/>
                          <a:ea typeface="JetBrains Mono"/>
                          <a:cs typeface="JetBrains Mono"/>
                        </a:rPr>
                        <a:t>23,6</a:t>
                      </a:r>
                    </a:p>
                  </a:txBody>
                  <a:tcPr marL="91440" marR="91440" marT="45720" marB="45720" anchor="ctr">
                    <a:solidFill>
                      <a:srgbClr val="082950"/>
                    </a:solidFill>
                  </a:tcPr>
                </a:tc>
              </a:tr>
              <a:tr h="676275">
                <a:tc>
                  <a:txBody>
                    <a:bodyPr lIns="95250" tIns="57150" rIns="95250" bIns="57150">
                      <a:noAutofit/>
                    </a:bodyPr>
                    <a:lstStyle/>
                    <a:p>
                      <a:pPr algn="ctr"/>
                      <a:r>
                        <a:rPr sz="1500" b="0">
                          <a:solidFill>
                            <a:srgbClr val="FFFFFF"/>
                          </a:solidFill>
                          <a:latin typeface="JetBrains Mono"/>
                          <a:ea typeface="JetBrains Mono"/>
                          <a:cs typeface="JetBrains Mono"/>
                        </a:rPr>
                        <a:t>RMSE</a:t>
                      </a:r>
                    </a:p>
                    <a:p>
                      <a:pPr algn="ctr"/>
                      <a:r>
                        <a:rPr sz="1500" b="0">
                          <a:solidFill>
                            <a:srgbClr val="FFFFFF"/>
                          </a:solidFill>
                          <a:latin typeface="JetBrains Mono"/>
                          <a:ea typeface="JetBrains Mono"/>
                          <a:cs typeface="JetBrains Mono"/>
                        </a:rPr>
                        <a:t>m³/s</a:t>
                      </a:r>
                    </a:p>
                  </a:txBody>
                  <a:tcPr marL="91440" marR="91440" marT="45720" marB="45720" anchor="ctr">
                    <a:solidFill>
                      <a:srgbClr val="031A39"/>
                    </a:solidFill>
                  </a:tcPr>
                </a:tc>
                <a:tc>
                  <a:txBody>
                    <a:bodyPr lIns="95250" tIns="57150" rIns="95250" bIns="57150">
                      <a:noAutofit/>
                    </a:bodyPr>
                    <a:lstStyle/>
                    <a:p>
                      <a:pPr algn="ctr"/>
                      <a:r>
                        <a:rPr sz="1500" b="0">
                          <a:solidFill>
                            <a:srgbClr val="FFFFFF"/>
                          </a:solidFill>
                          <a:latin typeface="JetBrains Mono"/>
                          <a:ea typeface="JetBrains Mono"/>
                          <a:cs typeface="JetBrains Mono"/>
                        </a:rPr>
                        <a:t>14,1</a:t>
                      </a:r>
                    </a:p>
                  </a:txBody>
                  <a:tcPr marL="91440" marR="91440" marT="45720" marB="45720" anchor="ctr">
                    <a:solidFill>
                      <a:srgbClr val="031A39"/>
                    </a:solidFill>
                  </a:tcPr>
                </a:tc>
                <a:tc>
                  <a:txBody>
                    <a:bodyPr lIns="95250" tIns="57150" rIns="95250" bIns="57150">
                      <a:noAutofit/>
                    </a:bodyPr>
                    <a:lstStyle/>
                    <a:p>
                      <a:pPr algn="ctr"/>
                      <a:r>
                        <a:rPr sz="1500" b="0">
                          <a:solidFill>
                            <a:srgbClr val="FFFFFF"/>
                          </a:solidFill>
                          <a:latin typeface="JetBrains Mono"/>
                          <a:ea typeface="JetBrains Mono"/>
                          <a:cs typeface="JetBrains Mono"/>
                        </a:rPr>
                        <a:t>33,2</a:t>
                      </a:r>
                    </a:p>
                  </a:txBody>
                  <a:tcPr marL="91440" marR="91440" marT="45720" marB="45720" anchor="ctr">
                    <a:solidFill>
                      <a:srgbClr val="031A39"/>
                    </a:solidFill>
                  </a:tcPr>
                </a:tc>
              </a:tr>
              <a:tr h="533400">
                <a:tc>
                  <a:txBody>
                    <a:bodyPr lIns="95250" tIns="57150" rIns="95250" bIns="57150">
                      <a:noAutofit/>
                    </a:bodyPr>
                    <a:lstStyle/>
                    <a:p>
                      <a:pPr algn="ctr"/>
                      <a:r>
                        <a:rPr sz="1500" b="0">
                          <a:solidFill>
                            <a:srgbClr val="FFFFFF"/>
                          </a:solidFill>
                          <a:latin typeface="JetBrains Mono"/>
                          <a:ea typeface="JetBrains Mono"/>
                          <a:cs typeface="JetBrains Mono"/>
                        </a:rPr>
                        <a:t>NSE</a:t>
                      </a:r>
                    </a:p>
                  </a:txBody>
                  <a:tcPr marL="91440" marR="91440" marT="45720" marB="45720" anchor="ctr">
                    <a:solidFill>
                      <a:srgbClr val="082950"/>
                    </a:solidFill>
                  </a:tcPr>
                </a:tc>
                <a:tc>
                  <a:txBody>
                    <a:bodyPr lIns="95250" tIns="57150" rIns="95250" bIns="57150">
                      <a:noAutofit/>
                    </a:bodyPr>
                    <a:lstStyle/>
                    <a:p>
                      <a:pPr algn="ctr"/>
                      <a:r>
                        <a:rPr sz="1500" b="0">
                          <a:solidFill>
                            <a:srgbClr val="FFFFFF"/>
                          </a:solidFill>
                          <a:latin typeface="JetBrains Mono"/>
                          <a:ea typeface="JetBrains Mono"/>
                          <a:cs typeface="JetBrains Mono"/>
                        </a:rPr>
                        <a:t>0,920</a:t>
                      </a:r>
                    </a:p>
                  </a:txBody>
                  <a:tcPr marL="91440" marR="91440" marT="45720" marB="45720" anchor="ctr">
                    <a:solidFill>
                      <a:srgbClr val="082950"/>
                    </a:solidFill>
                  </a:tcPr>
                </a:tc>
                <a:tc>
                  <a:txBody>
                    <a:bodyPr lIns="95250" tIns="57150" rIns="95250" bIns="57150">
                      <a:noAutofit/>
                    </a:bodyPr>
                    <a:lstStyle/>
                    <a:p>
                      <a:pPr algn="ctr"/>
                      <a:r>
                        <a:rPr sz="1500" b="0">
                          <a:solidFill>
                            <a:srgbClr val="FFFFFF"/>
                          </a:solidFill>
                          <a:latin typeface="JetBrains Mono"/>
                          <a:ea typeface="JetBrains Mono"/>
                          <a:cs typeface="JetBrains Mono"/>
                        </a:rPr>
                        <a:t>0,557</a:t>
                      </a:r>
                    </a:p>
                  </a:txBody>
                  <a:tcPr marL="91440" marR="91440" marT="45720" marB="45720" anchor="ctr">
                    <a:solidFill>
                      <a:srgbClr val="082950"/>
                    </a:solidFill>
                  </a:tcPr>
                </a:tc>
              </a:tr>
            </a:tbl>
          </a:graphicData>
        </a:graphic>
      </p:graphicFrame>
      <p:sp>
        <p:nvSpPr>
          <p:cNvPr id="54" name="peak-comparison">
            <a:extLst xmlns:a="http://schemas.openxmlformats.org/drawingml/2006/main">
              <a:ext uri="{FF2B5EF4-FFF2-40B4-BE49-F238E27FC236}">
                <a16:creationId xmlns:a16="http://schemas.microsoft.com/office/drawing/2014/main" id="{18E50725-D6A6-40CB-A82E-FC376D8B7F75}"/>
              </a:ext>
            </a:extLst>
          </p:cNvPr>
          <p:cNvSpPr>
            <a:spLocks xmlns:a="http://schemas.openxmlformats.org/drawingml/2006/main" noGrp="1"/>
          </p:cNvSpPr>
          <p:nvPr/>
        </p:nvSpPr>
        <p:spPr>
          <a:xfrm xmlns:a="http://schemas.openxmlformats.org/drawingml/2006/main">
            <a:off x="7877175" y="5238750"/>
            <a:ext cx="3857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O pico, o atraso e o viés</a:t>
            </a:r>
          </a:p>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completam a leitura</a:t>
            </a:r>
          </a:p>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das métricas.</a:t>
            </a:r>
          </a:p>
        </p:txBody>
      </p:sp>
      <p:sp>
        <p:nvSpPr>
          <p:cNvPr id="55" name="caption">
            <a:extLst xmlns:a="http://schemas.openxmlformats.org/drawingml/2006/main">
              <a:ext uri="{FF2B5EF4-FFF2-40B4-BE49-F238E27FC236}">
                <a16:creationId xmlns:a16="http://schemas.microsoft.com/office/drawing/2014/main" id="{F76D4DCE-B506-4B67-95BB-51612156A6BD}"/>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Séries sintéticas e previsões hipotéticas. Persistência: Q̂(t + 1) = Q(t).</a:t>
            </a:r>
          </a:p>
        </p:txBody>
      </p:sp>
    </p:spTree>
    <p:extLst>
      <p:ext uri="{BB962C8B-B14F-4D97-AF65-F5344CB8AC3E}">
        <p14:creationId xmlns:p14="http://schemas.microsoft.com/office/powerpoint/2010/main" val="338010029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75" name="Imagem 13"/>
          <p:cNvPicPr>
            <a:picLocks xmlns:a="http://schemas.openxmlformats.org/drawingml/2006/main" noChangeAspect="1"/>
          </p:cNvPicPr>
          <p:nvPr/>
        </p:nvPicPr>
        <p:blipFill>
          <a:blip xmlns:r="http://schemas.openxmlformats.org/officeDocument/2006/relationships" xmlns:a="http://schemas.openxmlformats.org/drawingml/2006/main" r:embed="R3e76fefd676d4e5d"/>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Fluxo de uma aplicação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stage-0-title">
            <a:extLst xmlns:a="http://schemas.openxmlformats.org/drawingml/2006/main">
              <a:ext uri="{FF2B5EF4-FFF2-40B4-BE49-F238E27FC236}">
                <a16:creationId xmlns:a16="http://schemas.microsoft.com/office/drawing/2014/main" id="{D6FC900C-B9D1-4582-9967-1F3BD489B9D9}"/>
              </a:ext>
            </a:extLst>
          </p:cNvPr>
          <p:cNvSpPr>
            <a:spLocks xmlns:a="http://schemas.openxmlformats.org/drawingml/2006/main" noGrp="1"/>
          </p:cNvSpPr>
          <p:nvPr/>
        </p:nvSpPr>
        <p:spPr>
          <a:xfrm xmlns:a="http://schemas.openxmlformats.org/drawingml/2006/main">
            <a:off x="457200" y="2809875"/>
            <a:ext cx="204216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Dados</a:t>
            </a:r>
          </a:p>
        </p:txBody>
      </p:sp>
      <p:sp>
        <p:nvSpPr>
          <p:cNvPr id="53" name="stage-0">
            <a:extLst xmlns:a="http://schemas.openxmlformats.org/drawingml/2006/main">
              <a:ext uri="{FF2B5EF4-FFF2-40B4-BE49-F238E27FC236}">
                <a16:creationId xmlns:a16="http://schemas.microsoft.com/office/drawing/2014/main" id="{7E24D224-A62C-4E4D-AD99-3A0F26CEEA06}"/>
              </a:ext>
            </a:extLst>
          </p:cNvPr>
          <p:cNvSpPr>
            <a:spLocks xmlns:a="http://schemas.openxmlformats.org/drawingml/2006/main" noGrp="1"/>
          </p:cNvSpPr>
          <p:nvPr/>
        </p:nvSpPr>
        <p:spPr>
          <a:xfrm xmlns:a="http://schemas.openxmlformats.org/drawingml/2006/main">
            <a:off x="457200" y="3352800"/>
            <a:ext cx="2042160"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Séries</a:t>
            </a:r>
          </a:p>
        </p:txBody>
      </p:sp>
      <p:sp>
        <p:nvSpPr>
          <p:cNvPr id="54" name="stage-0-detail">
            <a:extLst xmlns:a="http://schemas.openxmlformats.org/drawingml/2006/main">
              <a:ext uri="{FF2B5EF4-FFF2-40B4-BE49-F238E27FC236}">
                <a16:creationId xmlns:a16="http://schemas.microsoft.com/office/drawing/2014/main" id="{3E167DF8-8AC5-4535-ACC6-3AE9EB911EBF}"/>
              </a:ext>
            </a:extLst>
          </p:cNvPr>
          <p:cNvSpPr>
            <a:spLocks xmlns:a="http://schemas.openxmlformats.org/drawingml/2006/main" noGrp="1"/>
          </p:cNvSpPr>
          <p:nvPr/>
        </p:nvSpPr>
        <p:spPr>
          <a:xfrm xmlns:a="http://schemas.openxmlformats.org/drawingml/2006/main">
            <a:off x="457200" y="4381500"/>
            <a:ext cx="204216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Verificar unidades,</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falhas e datas.</a:t>
            </a:r>
          </a:p>
        </p:txBody>
      </p:sp>
      <p:sp>
        <p:nvSpPr>
          <p:cNvPr id="55" name="stage-1-title">
            <a:extLst xmlns:a="http://schemas.openxmlformats.org/drawingml/2006/main">
              <a:ext uri="{FF2B5EF4-FFF2-40B4-BE49-F238E27FC236}">
                <a16:creationId xmlns:a16="http://schemas.microsoft.com/office/drawing/2014/main" id="{770C75DC-1418-4352-8355-0C0B57135DAB}"/>
              </a:ext>
            </a:extLst>
          </p:cNvPr>
          <p:cNvSpPr>
            <a:spLocks xmlns:a="http://schemas.openxmlformats.org/drawingml/2006/main" noGrp="1"/>
          </p:cNvSpPr>
          <p:nvPr/>
        </p:nvSpPr>
        <p:spPr>
          <a:xfrm xmlns:a="http://schemas.openxmlformats.org/drawingml/2006/main">
            <a:off x="2766060" y="2809875"/>
            <a:ext cx="204216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Amostras</a:t>
            </a:r>
          </a:p>
        </p:txBody>
      </p:sp>
      <p:sp>
        <p:nvSpPr>
          <p:cNvPr id="56" name="stage-1">
            <a:extLst xmlns:a="http://schemas.openxmlformats.org/drawingml/2006/main">
              <a:ext uri="{FF2B5EF4-FFF2-40B4-BE49-F238E27FC236}">
                <a16:creationId xmlns:a16="http://schemas.microsoft.com/office/drawing/2014/main" id="{A7467583-8C1D-4971-9972-B40E427E1E00}"/>
              </a:ext>
            </a:extLst>
          </p:cNvPr>
          <p:cNvSpPr>
            <a:spLocks xmlns:a="http://schemas.openxmlformats.org/drawingml/2006/main" noGrp="1"/>
          </p:cNvSpPr>
          <p:nvPr/>
        </p:nvSpPr>
        <p:spPr>
          <a:xfrm xmlns:a="http://schemas.openxmlformats.org/drawingml/2006/main">
            <a:off x="2766060" y="3352800"/>
            <a:ext cx="2042160"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(xₜ, yₜ)</a:t>
            </a:r>
          </a:p>
        </p:txBody>
      </p:sp>
      <p:sp>
        <p:nvSpPr>
          <p:cNvPr id="57" name="stage-1-detail">
            <a:extLst xmlns:a="http://schemas.openxmlformats.org/drawingml/2006/main">
              <a:ext uri="{FF2B5EF4-FFF2-40B4-BE49-F238E27FC236}">
                <a16:creationId xmlns:a16="http://schemas.microsoft.com/office/drawing/2014/main" id="{15EF971A-7AD9-48FC-982E-0D40D5126BB9}"/>
              </a:ext>
            </a:extLst>
          </p:cNvPr>
          <p:cNvSpPr>
            <a:spLocks xmlns:a="http://schemas.openxmlformats.org/drawingml/2006/main" noGrp="1"/>
          </p:cNvSpPr>
          <p:nvPr/>
        </p:nvSpPr>
        <p:spPr>
          <a:xfrm xmlns:a="http://schemas.openxmlformats.org/drawingml/2006/main">
            <a:off x="2766060" y="4381500"/>
            <a:ext cx="204216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Definir defasagens</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e horizonte.</a:t>
            </a:r>
          </a:p>
        </p:txBody>
      </p:sp>
      <p:sp>
        <p:nvSpPr>
          <p:cNvPr id="58" name="stage-2-title">
            <a:extLst xmlns:a="http://schemas.openxmlformats.org/drawingml/2006/main">
              <a:ext uri="{FF2B5EF4-FFF2-40B4-BE49-F238E27FC236}">
                <a16:creationId xmlns:a16="http://schemas.microsoft.com/office/drawing/2014/main" id="{2E5A525E-68DE-46F9-B026-FE7265DE410F}"/>
              </a:ext>
            </a:extLst>
          </p:cNvPr>
          <p:cNvSpPr>
            <a:spLocks xmlns:a="http://schemas.openxmlformats.org/drawingml/2006/main" noGrp="1"/>
          </p:cNvSpPr>
          <p:nvPr/>
        </p:nvSpPr>
        <p:spPr>
          <a:xfrm xmlns:a="http://schemas.openxmlformats.org/drawingml/2006/main">
            <a:off x="5074920" y="2809875"/>
            <a:ext cx="204216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Separação</a:t>
            </a:r>
          </a:p>
        </p:txBody>
      </p:sp>
      <p:sp>
        <p:nvSpPr>
          <p:cNvPr id="59" name="stage-2">
            <a:extLst xmlns:a="http://schemas.openxmlformats.org/drawingml/2006/main">
              <a:ext uri="{FF2B5EF4-FFF2-40B4-BE49-F238E27FC236}">
                <a16:creationId xmlns:a16="http://schemas.microsoft.com/office/drawing/2014/main" id="{4B2F8B25-1BB8-4074-9C63-1BD68D9FD041}"/>
              </a:ext>
            </a:extLst>
          </p:cNvPr>
          <p:cNvSpPr>
            <a:spLocks xmlns:a="http://schemas.openxmlformats.org/drawingml/2006/main" noGrp="1"/>
          </p:cNvSpPr>
          <p:nvPr/>
        </p:nvSpPr>
        <p:spPr>
          <a:xfrm xmlns:a="http://schemas.openxmlformats.org/drawingml/2006/main">
            <a:off x="5074920" y="3352800"/>
            <a:ext cx="2042160"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Tempo</a:t>
            </a:r>
          </a:p>
        </p:txBody>
      </p:sp>
      <p:sp>
        <p:nvSpPr>
          <p:cNvPr id="60" name="stage-2-detail">
            <a:extLst xmlns:a="http://schemas.openxmlformats.org/drawingml/2006/main">
              <a:ext uri="{FF2B5EF4-FFF2-40B4-BE49-F238E27FC236}">
                <a16:creationId xmlns:a16="http://schemas.microsoft.com/office/drawing/2014/main" id="{E6F06689-2F2A-406E-B26D-D24027BE9FC6}"/>
              </a:ext>
            </a:extLst>
          </p:cNvPr>
          <p:cNvSpPr>
            <a:spLocks xmlns:a="http://schemas.openxmlformats.org/drawingml/2006/main" noGrp="1"/>
          </p:cNvSpPr>
          <p:nvPr/>
        </p:nvSpPr>
        <p:spPr>
          <a:xfrm xmlns:a="http://schemas.openxmlformats.org/drawingml/2006/main">
            <a:off x="5074920" y="4381500"/>
            <a:ext cx="204216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Reservar validação</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e teste futuro.</a:t>
            </a:r>
          </a:p>
        </p:txBody>
      </p:sp>
      <p:sp>
        <p:nvSpPr>
          <p:cNvPr id="61" name="stage-3-title">
            <a:extLst xmlns:a="http://schemas.openxmlformats.org/drawingml/2006/main">
              <a:ext uri="{FF2B5EF4-FFF2-40B4-BE49-F238E27FC236}">
                <a16:creationId xmlns:a16="http://schemas.microsoft.com/office/drawing/2014/main" id="{BCA1A00F-E88F-4E89-9B03-02EE471321D1}"/>
              </a:ext>
            </a:extLst>
          </p:cNvPr>
          <p:cNvSpPr>
            <a:spLocks xmlns:a="http://schemas.openxmlformats.org/drawingml/2006/main" noGrp="1"/>
          </p:cNvSpPr>
          <p:nvPr/>
        </p:nvSpPr>
        <p:spPr>
          <a:xfrm xmlns:a="http://schemas.openxmlformats.org/drawingml/2006/main">
            <a:off x="7383780" y="2809875"/>
            <a:ext cx="204216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Ajuste</a:t>
            </a:r>
          </a:p>
        </p:txBody>
      </p:sp>
      <p:sp>
        <p:nvSpPr>
          <p:cNvPr id="62" name="stage-3">
            <a:extLst xmlns:a="http://schemas.openxmlformats.org/drawingml/2006/main">
              <a:ext uri="{FF2B5EF4-FFF2-40B4-BE49-F238E27FC236}">
                <a16:creationId xmlns:a16="http://schemas.microsoft.com/office/drawing/2014/main" id="{751BA0DB-5FDB-4A44-B24D-0165A867BA6C}"/>
              </a:ext>
            </a:extLst>
          </p:cNvPr>
          <p:cNvSpPr>
            <a:spLocks xmlns:a="http://schemas.openxmlformats.org/drawingml/2006/main" noGrp="1"/>
          </p:cNvSpPr>
          <p:nvPr/>
        </p:nvSpPr>
        <p:spPr>
          <a:xfrm xmlns:a="http://schemas.openxmlformats.org/drawingml/2006/main">
            <a:off x="7383780" y="3352800"/>
            <a:ext cx="2042160"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Treino</a:t>
            </a:r>
          </a:p>
        </p:txBody>
      </p:sp>
      <p:sp>
        <p:nvSpPr>
          <p:cNvPr id="63" name="stage-3-detail">
            <a:extLst xmlns:a="http://schemas.openxmlformats.org/drawingml/2006/main">
              <a:ext uri="{FF2B5EF4-FFF2-40B4-BE49-F238E27FC236}">
                <a16:creationId xmlns:a16="http://schemas.microsoft.com/office/drawing/2014/main" id="{486BE9E8-6134-4E2F-9E1A-575645711073}"/>
              </a:ext>
            </a:extLst>
          </p:cNvPr>
          <p:cNvSpPr>
            <a:spLocks xmlns:a="http://schemas.openxmlformats.org/drawingml/2006/main" noGrp="1"/>
          </p:cNvSpPr>
          <p:nvPr/>
        </p:nvSpPr>
        <p:spPr>
          <a:xfrm xmlns:a="http://schemas.openxmlformats.org/drawingml/2006/main">
            <a:off x="7383780" y="4381500"/>
            <a:ext cx="204216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Treinar pesos;</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selecionar pela</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validação.</a:t>
            </a:r>
          </a:p>
        </p:txBody>
      </p:sp>
      <p:sp>
        <p:nvSpPr>
          <p:cNvPr id="64" name="stage-4-title">
            <a:extLst xmlns:a="http://schemas.openxmlformats.org/drawingml/2006/main">
              <a:ext uri="{FF2B5EF4-FFF2-40B4-BE49-F238E27FC236}">
                <a16:creationId xmlns:a16="http://schemas.microsoft.com/office/drawing/2014/main" id="{AFFAAED4-3076-4198-87FA-F3BBF6963429}"/>
              </a:ext>
            </a:extLst>
          </p:cNvPr>
          <p:cNvSpPr>
            <a:spLocks xmlns:a="http://schemas.openxmlformats.org/drawingml/2006/main" noGrp="1"/>
          </p:cNvSpPr>
          <p:nvPr/>
        </p:nvSpPr>
        <p:spPr>
          <a:xfrm xmlns:a="http://schemas.openxmlformats.org/drawingml/2006/main">
            <a:off x="9692640" y="2809875"/>
            <a:ext cx="204216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83DFFF"/>
                </a:solidFill>
                <a:latin typeface="JetBrains Mono"/>
                <a:ea typeface="JetBrains Mono"/>
                <a:cs typeface="JetBrains Mono"/>
              </a:defRPr>
            </a:pPr>
            <a:r>
              <a:rPr sz="1650" b="1" i="0">
                <a:solidFill>
                  <a:srgbClr val="83DFFF"/>
                </a:solidFill>
                <a:latin typeface="JetBrains Mono"/>
                <a:ea typeface="JetBrains Mono"/>
                <a:cs typeface="JetBrains Mono"/>
              </a:rPr>
              <a:t>Avaliação</a:t>
            </a:r>
          </a:p>
        </p:txBody>
      </p:sp>
      <p:sp>
        <p:nvSpPr>
          <p:cNvPr id="65" name="stage-4">
            <a:extLst xmlns:a="http://schemas.openxmlformats.org/drawingml/2006/main">
              <a:ext uri="{FF2B5EF4-FFF2-40B4-BE49-F238E27FC236}">
                <a16:creationId xmlns:a16="http://schemas.microsoft.com/office/drawing/2014/main" id="{422943A5-ACD3-4AD8-834B-5BA19C5C61A8}"/>
              </a:ext>
            </a:extLst>
          </p:cNvPr>
          <p:cNvSpPr>
            <a:spLocks xmlns:a="http://schemas.openxmlformats.org/drawingml/2006/main" noGrp="1"/>
          </p:cNvSpPr>
          <p:nvPr/>
        </p:nvSpPr>
        <p:spPr>
          <a:xfrm xmlns:a="http://schemas.openxmlformats.org/drawingml/2006/main">
            <a:off x="9692640" y="3352800"/>
            <a:ext cx="2042160" cy="733425"/>
          </a:xfrm>
          <a:prstGeom xmlns:a="http://schemas.openxmlformats.org/drawingml/2006/main" prst="rect">
            <a:avLst/>
          </a:prstGeom>
          <a:solidFill xmlns:a="http://schemas.openxmlformats.org/drawingml/2006/main">
            <a:srgbClr val="000F29"/>
          </a:solidFill>
          <a:ln xmlns:a="http://schemas.openxmlformats.org/drawingml/2006/main" w="19050">
            <a:solidFill>
              <a:srgbClr val="83DFFF"/>
            </a:solid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defRPr sz="1725" b="1">
                <a:solidFill>
                  <a:srgbClr val="83DFFF"/>
                </a:solidFill>
                <a:latin typeface="JetBrains Mono"/>
                <a:ea typeface="JetBrains Mono"/>
                <a:cs typeface="JetBrains Mono"/>
              </a:defRPr>
            </a:pPr>
            <a:r>
              <a:rPr sz="1725" b="1">
                <a:solidFill>
                  <a:srgbClr val="83DFFF"/>
                </a:solidFill>
                <a:latin typeface="JetBrains Mono"/>
                <a:ea typeface="JetBrains Mono"/>
                <a:cs typeface="JetBrains Mono"/>
              </a:rPr>
              <a:t>Teste</a:t>
            </a:r>
          </a:p>
        </p:txBody>
      </p:sp>
      <p:sp>
        <p:nvSpPr>
          <p:cNvPr id="66" name="stage-4-detail">
            <a:extLst xmlns:a="http://schemas.openxmlformats.org/drawingml/2006/main">
              <a:ext uri="{FF2B5EF4-FFF2-40B4-BE49-F238E27FC236}">
                <a16:creationId xmlns:a16="http://schemas.microsoft.com/office/drawing/2014/main" id="{7DCCF512-57DB-4040-B928-765F42272BCE}"/>
              </a:ext>
            </a:extLst>
          </p:cNvPr>
          <p:cNvSpPr>
            <a:spLocks xmlns:a="http://schemas.openxmlformats.org/drawingml/2006/main" noGrp="1"/>
          </p:cNvSpPr>
          <p:nvPr/>
        </p:nvSpPr>
        <p:spPr>
          <a:xfrm xmlns:a="http://schemas.openxmlformats.org/drawingml/2006/main">
            <a:off x="9692640" y="4381500"/>
            <a:ext cx="204216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Comparar com</a:t>
            </a:r>
          </a:p>
          <a:p xmlns:a="http://schemas.openxmlformats.org/drawingml/2006/main">
            <a:pPr algn="l">
              <a:defRPr sz="1500" b="0" i="0">
                <a:solidFill>
                  <a:srgbClr val="FFFFFF"/>
                </a:solidFill>
                <a:latin typeface="JetBrains Mono"/>
                <a:ea typeface="JetBrains Mono"/>
                <a:cs typeface="JetBrains Mono"/>
              </a:defRPr>
            </a:pPr>
            <a:r>
              <a:rPr sz="1500" b="0" i="0">
                <a:solidFill>
                  <a:srgbClr val="FFFFFF"/>
                </a:solidFill>
                <a:latin typeface="JetBrains Mono"/>
                <a:ea typeface="JetBrains Mono"/>
                <a:cs typeface="JetBrains Mono"/>
              </a:rPr>
              <a:t>persistência.</a:t>
            </a:r>
          </a:p>
        </p:txBody>
      </p:sp>
      <p:cxnSp>
        <p:nvCxnSpPr>
          <p:cNvPr id="93" name=""/>
          <p:cNvCxnSpPr>
            <a:stCxn xmlns:a="http://schemas.openxmlformats.org/drawingml/2006/main" id="53" idx="3"/>
            <a:endCxn xmlns:a="http://schemas.openxmlformats.org/drawingml/2006/main" id="56" idx="1"/>
          </p:cNvCxnSpPr>
          <p:nvPr/>
        </p:nvCxnSpPr>
        <p:spPr>
          <a:xfrm xmlns:a="http://schemas.openxmlformats.org/drawingml/2006/main">
            <a:off x="2499360" y="3719513"/>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94" name=""/>
          <p:cNvCxnSpPr>
            <a:stCxn xmlns:a="http://schemas.openxmlformats.org/drawingml/2006/main" id="56" idx="3"/>
            <a:endCxn xmlns:a="http://schemas.openxmlformats.org/drawingml/2006/main" id="59" idx="1"/>
          </p:cNvCxnSpPr>
          <p:nvPr/>
        </p:nvCxnSpPr>
        <p:spPr>
          <a:xfrm xmlns:a="http://schemas.openxmlformats.org/drawingml/2006/main">
            <a:off x="4808220" y="3719513"/>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95" name=""/>
          <p:cNvCxnSpPr>
            <a:stCxn xmlns:a="http://schemas.openxmlformats.org/drawingml/2006/main" id="59" idx="3"/>
            <a:endCxn xmlns:a="http://schemas.openxmlformats.org/drawingml/2006/main" id="62" idx="1"/>
          </p:cNvCxnSpPr>
          <p:nvPr/>
        </p:nvCxnSpPr>
        <p:spPr>
          <a:xfrm xmlns:a="http://schemas.openxmlformats.org/drawingml/2006/main">
            <a:off x="7117080" y="3719513"/>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cxnSp>
        <p:nvCxnSpPr>
          <p:cNvPr id="96" name=""/>
          <p:cNvCxnSpPr>
            <a:stCxn xmlns:a="http://schemas.openxmlformats.org/drawingml/2006/main" id="62" idx="3"/>
            <a:endCxn xmlns:a="http://schemas.openxmlformats.org/drawingml/2006/main" id="65" idx="1"/>
          </p:cNvCxnSpPr>
          <p:nvPr/>
        </p:nvCxnSpPr>
        <p:spPr>
          <a:xfrm xmlns:a="http://schemas.openxmlformats.org/drawingml/2006/main">
            <a:off x="9425940" y="3719513"/>
            <a:ext cx="266700" cy="0"/>
          </a:xfrm>
          <a:prstGeom xmlns:a="http://schemas.openxmlformats.org/drawingml/2006/main" prst="straightConnector1">
            <a:avLst/>
          </a:prstGeom>
          <a:ln xmlns:a="http://schemas.openxmlformats.org/drawingml/2006/main" w="15240">
            <a:solidFill>
              <a:srgbClr val="83DFFF"/>
            </a:solidFill>
            <a:tailEnd type="triangle" w="sm" len="sm"/>
          </a:ln>
        </p:spPr>
      </p:cxnSp>
      <p:sp>
        <p:nvSpPr>
          <p:cNvPr id="71" name="application-record">
            <a:extLst xmlns:a="http://schemas.openxmlformats.org/drawingml/2006/main">
              <a:ext uri="{FF2B5EF4-FFF2-40B4-BE49-F238E27FC236}">
                <a16:creationId xmlns:a16="http://schemas.microsoft.com/office/drawing/2014/main" id="{FBBAEDC4-E081-4AD1-B935-758C67876FC7}"/>
              </a:ext>
            </a:extLst>
          </p:cNvPr>
          <p:cNvSpPr>
            <a:spLocks xmlns:a="http://schemas.openxmlformats.org/drawingml/2006/main" noGrp="1"/>
          </p:cNvSpPr>
          <p:nvPr/>
        </p:nvSpPr>
        <p:spPr>
          <a:xfrm xmlns:a="http://schemas.openxmlformats.org/drawingml/2006/main">
            <a:off x="457200" y="552450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FFFFFF"/>
                </a:solidFill>
                <a:latin typeface="JetBrains Mono"/>
                <a:ea typeface="JetBrains Mono"/>
                <a:cs typeface="JetBrains Mono"/>
              </a:defRPr>
            </a:pPr>
            <a:r>
              <a:rPr sz="1650" b="0" i="0">
                <a:solidFill>
                  <a:srgbClr val="FFFFFF"/>
                </a:solidFill>
                <a:latin typeface="JetBrains Mono"/>
                <a:ea typeface="JetBrains Mono"/>
                <a:cs typeface="JetBrains Mono"/>
              </a:rPr>
              <a:t>Registro do experimento: entradas, horizonte, arquitetura e critérios de seleção.</a:t>
            </a:r>
          </a:p>
        </p:txBody>
      </p:sp>
    </p:spTree>
    <p:extLst>
      <p:ext uri="{BB962C8B-B14F-4D97-AF65-F5344CB8AC3E}">
        <p14:creationId xmlns:p14="http://schemas.microsoft.com/office/powerpoint/2010/main" val="338010029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8" name="Imagem 13"/>
          <p:cNvPicPr>
            <a:picLocks xmlns:a="http://schemas.openxmlformats.org/drawingml/2006/main" noChangeAspect="1"/>
          </p:cNvPicPr>
          <p:nvPr/>
        </p:nvPicPr>
        <p:blipFill>
          <a:blip xmlns:r="http://schemas.openxmlformats.org/officeDocument/2006/relationships" xmlns:a="http://schemas.openxmlformats.org/drawingml/2006/main" r:embed="R5551cb98008c427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Atividade: uma atualização de um neurônio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exercise-network">
            <a:extLst xmlns:a="http://schemas.openxmlformats.org/drawingml/2006/main">
              <a:ext uri="{FF2B5EF4-FFF2-40B4-BE49-F238E27FC236}">
                <a16:creationId xmlns:a16="http://schemas.microsoft.com/office/drawing/2014/main" id="{14F514F7-2788-402E-AA67-11836775F002}"/>
              </a:ext>
            </a:extLst>
          </p:cNvPr>
          <p:cNvSpPr>
            <a:spLocks xmlns:a="http://schemas.openxmlformats.org/drawingml/2006/main" noGrp="1"/>
          </p:cNvSpPr>
          <p:nvPr/>
        </p:nvSpPr>
        <p:spPr>
          <a:xfrm xmlns:a="http://schemas.openxmlformats.org/drawingml/2006/main">
            <a:off x="457200" y="2400300"/>
            <a:ext cx="11277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83DFFF"/>
                </a:solidFill>
                <a:latin typeface="JetBrains Mono"/>
                <a:ea typeface="JetBrains Mono"/>
                <a:cs typeface="JetBrains Mono"/>
              </a:defRPr>
            </a:pPr>
            <a:r>
              <a:rPr sz="2175" b="0" i="0">
                <a:solidFill>
                  <a:srgbClr val="83DFFF"/>
                </a:solidFill>
                <a:latin typeface="JetBrains Mono"/>
                <a:ea typeface="JetBrains Mono"/>
                <a:cs typeface="JetBrains Mono"/>
              </a:rPr>
              <a:t>Neurônio linear: ŷ = wx + b</a:t>
            </a:r>
          </a:p>
        </p:txBody>
      </p:sp>
      <p:graphicFrame>
        <p:nvGraphicFramePr>
          <p:cNvPr id="62" name=""/>
          <p:cNvGraphicFramePr/>
          <p:nvPr/>
        </p:nvGraphicFramePr>
        <p:xfrm>
          <a:off xmlns:a="http://schemas.openxmlformats.org/drawingml/2006/main" x="457200" y="3190875"/>
          <a:ext xmlns:a="http://schemas.openxmlformats.org/drawingml/2006/main" cx="11277600" cy="1057275"/>
        </p:xfrm>
        <a:graphic xmlns:a="http://schemas.openxmlformats.org/drawingml/2006/main">
          <a:graphicData uri="http://schemas.openxmlformats.org/drawingml/2006/table">
            <a:tbl>
              <a:tblPr firstRow="1" bandRow="0"/>
              <a:tblGrid>
                <a:gridCol w="2257425"/>
                <a:gridCol w="2257425"/>
                <a:gridCol w="2257425"/>
                <a:gridCol w="2257425"/>
                <a:gridCol w="2247900"/>
              </a:tblGrid>
              <a:tr h="542925">
                <a:tc>
                  <a:txBody>
                    <a:bodyPr lIns="95250" tIns="57150" rIns="95250" bIns="57150">
                      <a:noAutofit/>
                    </a:bodyPr>
                    <a:lstStyle/>
                    <a:p>
                      <a:pPr algn="ctr"/>
                      <a:r>
                        <a:rPr sz="1950" b="1">
                          <a:solidFill>
                            <a:srgbClr val="FFFFFF"/>
                          </a:solidFill>
                          <a:latin typeface="JetBrains Mono"/>
                          <a:ea typeface="JetBrains Mono"/>
                          <a:cs typeface="JetBrains Mono"/>
                        </a:rPr>
                        <a:t>x</a:t>
                      </a:r>
                    </a:p>
                  </a:txBody>
                  <a:tcPr marL="91440" marR="91440" marT="45720" marB="45720" anchor="ctr">
                    <a:solidFill>
                      <a:srgbClr val="0053EB"/>
                    </a:solidFill>
                  </a:tcPr>
                </a:tc>
                <a:tc>
                  <a:txBody>
                    <a:bodyPr lIns="95250" tIns="57150" rIns="95250" bIns="57150">
                      <a:noAutofit/>
                    </a:bodyPr>
                    <a:lstStyle/>
                    <a:p>
                      <a:pPr algn="ctr"/>
                      <a:r>
                        <a:rPr sz="1950" b="1">
                          <a:solidFill>
                            <a:srgbClr val="FFFFFF"/>
                          </a:solidFill>
                          <a:latin typeface="JetBrains Mono"/>
                          <a:ea typeface="JetBrains Mono"/>
                          <a:cs typeface="JetBrains Mono"/>
                        </a:rPr>
                        <a:t>y</a:t>
                      </a:r>
                    </a:p>
                  </a:txBody>
                  <a:tcPr marL="91440" marR="91440" marT="45720" marB="45720" anchor="ctr">
                    <a:solidFill>
                      <a:srgbClr val="0053EB"/>
                    </a:solidFill>
                  </a:tcPr>
                </a:tc>
                <a:tc>
                  <a:txBody>
                    <a:bodyPr lIns="95250" tIns="57150" rIns="95250" bIns="57150">
                      <a:noAutofit/>
                    </a:bodyPr>
                    <a:lstStyle/>
                    <a:p>
                      <a:pPr algn="ctr"/>
                      <a:r>
                        <a:rPr sz="1950" b="1">
                          <a:solidFill>
                            <a:srgbClr val="FFFFFF"/>
                          </a:solidFill>
                          <a:latin typeface="JetBrains Mono"/>
                          <a:ea typeface="JetBrains Mono"/>
                          <a:cs typeface="JetBrains Mono"/>
                        </a:rPr>
                        <a:t>w</a:t>
                      </a:r>
                    </a:p>
                  </a:txBody>
                  <a:tcPr marL="91440" marR="91440" marT="45720" marB="45720" anchor="ctr">
                    <a:solidFill>
                      <a:srgbClr val="0053EB"/>
                    </a:solidFill>
                  </a:tcPr>
                </a:tc>
                <a:tc>
                  <a:txBody>
                    <a:bodyPr lIns="95250" tIns="57150" rIns="95250" bIns="57150">
                      <a:noAutofit/>
                    </a:bodyPr>
                    <a:lstStyle/>
                    <a:p>
                      <a:pPr algn="ctr"/>
                      <a:r>
                        <a:rPr sz="1950" b="1">
                          <a:solidFill>
                            <a:srgbClr val="FFFFFF"/>
                          </a:solidFill>
                          <a:latin typeface="JetBrains Mono"/>
                          <a:ea typeface="JetBrains Mono"/>
                          <a:cs typeface="JetBrains Mono"/>
                        </a:rPr>
                        <a:t>b</a:t>
                      </a:r>
                    </a:p>
                  </a:txBody>
                  <a:tcPr marL="91440" marR="91440" marT="45720" marB="45720" anchor="ctr">
                    <a:solidFill>
                      <a:srgbClr val="0053EB"/>
                    </a:solidFill>
                  </a:tcPr>
                </a:tc>
                <a:tc>
                  <a:txBody>
                    <a:bodyPr lIns="95250" tIns="57150" rIns="95250" bIns="57150">
                      <a:noAutofit/>
                    </a:bodyPr>
                    <a:lstStyle/>
                    <a:p>
                      <a:pPr algn="ctr"/>
                      <a:r>
                        <a:rPr sz="1950" b="1">
                          <a:solidFill>
                            <a:srgbClr val="FFFFFF"/>
                          </a:solidFill>
                          <a:latin typeface="JetBrains Mono"/>
                          <a:ea typeface="JetBrains Mono"/>
                          <a:cs typeface="JetBrains Mono"/>
                        </a:rPr>
                        <a:t>η</a:t>
                      </a:r>
                    </a:p>
                  </a:txBody>
                  <a:tcPr marL="91440" marR="91440" marT="45720" marB="45720" anchor="ctr">
                    <a:solidFill>
                      <a:srgbClr val="0053EB"/>
                    </a:solidFill>
                  </a:tcPr>
                </a:tc>
              </a:tr>
              <a:tr h="514350">
                <a:tc>
                  <a:txBody>
                    <a:bodyPr lIns="95250" tIns="57150" rIns="95250" bIns="57150">
                      <a:noAutofit/>
                    </a:bodyPr>
                    <a:lstStyle/>
                    <a:p>
                      <a:pPr algn="ctr"/>
                      <a:r>
                        <a:rPr sz="1950" b="0">
                          <a:solidFill>
                            <a:srgbClr val="FFFFFF"/>
                          </a:solidFill>
                          <a:latin typeface="JetBrains Mono"/>
                          <a:ea typeface="JetBrains Mono"/>
                          <a:cs typeface="JetBrains Mono"/>
                        </a:rPr>
                        <a:t>2</a:t>
                      </a:r>
                    </a:p>
                  </a:txBody>
                  <a:tcPr marL="91440" marR="91440" marT="45720" marB="45720" anchor="ctr">
                    <a:solidFill>
                      <a:srgbClr val="082950"/>
                    </a:solidFill>
                  </a:tcPr>
                </a:tc>
                <a:tc>
                  <a:txBody>
                    <a:bodyPr lIns="95250" tIns="57150" rIns="95250" bIns="57150">
                      <a:noAutofit/>
                    </a:bodyPr>
                    <a:lstStyle/>
                    <a:p>
                      <a:pPr algn="ctr"/>
                      <a:r>
                        <a:rPr sz="1950" b="0">
                          <a:solidFill>
                            <a:srgbClr val="FFFFFF"/>
                          </a:solidFill>
                          <a:latin typeface="JetBrains Mono"/>
                          <a:ea typeface="JetBrains Mono"/>
                          <a:cs typeface="JetBrains Mono"/>
                        </a:rPr>
                        <a:t>6</a:t>
                      </a:r>
                    </a:p>
                  </a:txBody>
                  <a:tcPr marL="91440" marR="91440" marT="45720" marB="45720" anchor="ctr">
                    <a:solidFill>
                      <a:srgbClr val="082950"/>
                    </a:solidFill>
                  </a:tcPr>
                </a:tc>
                <a:tc>
                  <a:txBody>
                    <a:bodyPr lIns="95250" tIns="57150" rIns="95250" bIns="57150">
                      <a:noAutofit/>
                    </a:bodyPr>
                    <a:lstStyle/>
                    <a:p>
                      <a:pPr algn="ctr"/>
                      <a:r>
                        <a:rPr sz="1950" b="0">
                          <a:solidFill>
                            <a:srgbClr val="FFFFFF"/>
                          </a:solidFill>
                          <a:latin typeface="JetBrains Mono"/>
                          <a:ea typeface="JetBrains Mono"/>
                          <a:cs typeface="JetBrains Mono"/>
                        </a:rPr>
                        <a:t>1</a:t>
                      </a:r>
                    </a:p>
                  </a:txBody>
                  <a:tcPr marL="91440" marR="91440" marT="45720" marB="45720" anchor="ctr">
                    <a:solidFill>
                      <a:srgbClr val="082950"/>
                    </a:solidFill>
                  </a:tcPr>
                </a:tc>
                <a:tc>
                  <a:txBody>
                    <a:bodyPr lIns="95250" tIns="57150" rIns="95250" bIns="57150">
                      <a:noAutofit/>
                    </a:bodyPr>
                    <a:lstStyle/>
                    <a:p>
                      <a:pPr algn="ctr"/>
                      <a:r>
                        <a:rPr sz="1950" b="0">
                          <a:solidFill>
                            <a:srgbClr val="FFFFFF"/>
                          </a:solidFill>
                          <a:latin typeface="JetBrains Mono"/>
                          <a:ea typeface="JetBrains Mono"/>
                          <a:cs typeface="JetBrains Mono"/>
                        </a:rPr>
                        <a:t>1</a:t>
                      </a:r>
                    </a:p>
                  </a:txBody>
                  <a:tcPr marL="91440" marR="91440" marT="45720" marB="45720" anchor="ctr">
                    <a:solidFill>
                      <a:srgbClr val="082950"/>
                    </a:solidFill>
                  </a:tcPr>
                </a:tc>
                <a:tc>
                  <a:txBody>
                    <a:bodyPr lIns="95250" tIns="57150" rIns="95250" bIns="57150">
                      <a:noAutofit/>
                    </a:bodyPr>
                    <a:lstStyle/>
                    <a:p>
                      <a:pPr algn="ctr"/>
                      <a:r>
                        <a:rPr sz="1950" b="0">
                          <a:solidFill>
                            <a:srgbClr val="FFFFFF"/>
                          </a:solidFill>
                          <a:latin typeface="JetBrains Mono"/>
                          <a:ea typeface="JetBrains Mono"/>
                          <a:cs typeface="JetBrains Mono"/>
                        </a:rPr>
                        <a:t>0,05</a:t>
                      </a:r>
                    </a:p>
                  </a:txBody>
                  <a:tcPr marL="91440" marR="91440" marT="45720" marB="45720" anchor="ctr">
                    <a:solidFill>
                      <a:srgbClr val="082950"/>
                    </a:solidFill>
                  </a:tcPr>
                </a:tc>
              </a:tr>
            </a:tbl>
          </a:graphicData>
        </a:graphic>
      </p:graphicFrame>
      <p:sp>
        <p:nvSpPr>
          <p:cNvPr id="54" name="exercise-tasks">
            <a:extLst xmlns:a="http://schemas.openxmlformats.org/drawingml/2006/main">
              <a:ext uri="{FF2B5EF4-FFF2-40B4-BE49-F238E27FC236}">
                <a16:creationId xmlns:a16="http://schemas.microsoft.com/office/drawing/2014/main" id="{FA050AA8-9C47-4BF5-A39D-171BEA8E5F41}"/>
              </a:ext>
            </a:extLst>
          </p:cNvPr>
          <p:cNvSpPr>
            <a:spLocks xmlns:a="http://schemas.openxmlformats.org/drawingml/2006/main" noGrp="1"/>
          </p:cNvSpPr>
          <p:nvPr/>
        </p:nvSpPr>
        <p:spPr>
          <a:xfrm xmlns:a="http://schemas.openxmlformats.org/drawingml/2006/main">
            <a:off x="457200" y="4610100"/>
            <a:ext cx="11277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1. Qual é a previsão e a perda L = (y − ŷ)²?</a:t>
            </a:r>
          </a:p>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2. Quais são os gradientes de w e b?</a:t>
            </a:r>
          </a:p>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3. Como ficam w, b e a previsão após um passo?</a:t>
            </a:r>
          </a:p>
        </p:txBody>
      </p:sp>
    </p:spTree>
    <p:extLst>
      <p:ext uri="{BB962C8B-B14F-4D97-AF65-F5344CB8AC3E}">
        <p14:creationId xmlns:p14="http://schemas.microsoft.com/office/powerpoint/2010/main" val="338010029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59" name="Imagem 13"/>
          <p:cNvPicPr>
            <a:picLocks xmlns:a="http://schemas.openxmlformats.org/drawingml/2006/main" noChangeAspect="1"/>
          </p:cNvPicPr>
          <p:nvPr/>
        </p:nvPicPr>
        <p:blipFill>
          <a:blip xmlns:r="http://schemas.openxmlformats.org/officeDocument/2006/relationships" xmlns:a="http://schemas.openxmlformats.org/drawingml/2006/main" r:embed="R946ce38dc1dd41ae"/>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Discussão: seleção e generalização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graphicFrame>
        <p:nvGraphicFramePr>
          <p:cNvPr id="62" name="Chart"/>
          <p:cNvGraphicFramePr/>
          <p:nvPr/>
        </p:nvGraphicFramePr>
        <p:xfrm>
          <a:off xmlns:a="http://schemas.openxmlformats.org/drawingml/2006/main" x="457200" y="2581275"/>
          <a:ext xmlns:a="http://schemas.openxmlformats.org/drawingml/2006/main" cx="6562725" cy="2914650"/>
        </p:xfrm>
        <a:graphic xmlns:a="http://schemas.openxmlformats.org/drawingml/2006/main">
          <a:graphicData uri="http://schemas.openxmlformats.org/drawingml/2006/chart">
            <c:chart xmlns:r="http://schemas.openxmlformats.org/officeDocument/2006/relationships" xmlns:c="http://schemas.openxmlformats.org/drawingml/2006/chart" r:id="R1b47002a264144ba"/>
          </a:graphicData>
        </a:graphic>
      </p:graphicFrame>
      <p:sp>
        <p:nvSpPr>
          <p:cNvPr id="53" name="selection-question">
            <a:extLst xmlns:a="http://schemas.openxmlformats.org/drawingml/2006/main">
              <a:ext uri="{FF2B5EF4-FFF2-40B4-BE49-F238E27FC236}">
                <a16:creationId xmlns:a16="http://schemas.microsoft.com/office/drawing/2014/main" id="{B27B2E5B-990E-4C84-A6F0-633314F1C9C1}"/>
              </a:ext>
            </a:extLst>
          </p:cNvPr>
          <p:cNvSpPr>
            <a:spLocks xmlns:a="http://schemas.openxmlformats.org/drawingml/2006/main" noGrp="1"/>
          </p:cNvSpPr>
          <p:nvPr/>
        </p:nvSpPr>
        <p:spPr>
          <a:xfrm xmlns:a="http://schemas.openxmlformats.org/drawingml/2006/main">
            <a:off x="7648575" y="2647950"/>
            <a:ext cx="4086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83DFFF"/>
                </a:solidFill>
                <a:latin typeface="JetBrains Mono"/>
                <a:ea typeface="JetBrains Mono"/>
                <a:cs typeface="JetBrains Mono"/>
              </a:defRPr>
            </a:pPr>
            <a:r>
              <a:rPr sz="2100" b="0" i="0">
                <a:solidFill>
                  <a:srgbClr val="83DFFF"/>
                </a:solidFill>
                <a:latin typeface="JetBrains Mono"/>
                <a:ea typeface="JetBrains Mono"/>
                <a:cs typeface="JetBrains Mono"/>
              </a:rPr>
              <a:t>Qual modelo você</a:t>
            </a:r>
          </a:p>
          <a:p xmlns:a="http://schemas.openxmlformats.org/drawingml/2006/main">
            <a:pPr algn="l">
              <a:defRPr sz="2100" b="0" i="0">
                <a:solidFill>
                  <a:srgbClr val="83DFFF"/>
                </a:solidFill>
                <a:latin typeface="JetBrains Mono"/>
                <a:ea typeface="JetBrains Mono"/>
                <a:cs typeface="JetBrains Mono"/>
              </a:defRPr>
            </a:pPr>
            <a:r>
              <a:rPr sz="2100" b="0" i="0">
                <a:solidFill>
                  <a:srgbClr val="83DFFF"/>
                </a:solidFill>
                <a:latin typeface="JetBrains Mono"/>
                <a:ea typeface="JetBrains Mono"/>
                <a:cs typeface="JetBrains Mono"/>
              </a:rPr>
              <a:t>selecionaria para a</a:t>
            </a:r>
          </a:p>
          <a:p xmlns:a="http://schemas.openxmlformats.org/drawingml/2006/main">
            <a:pPr algn="l">
              <a:defRPr sz="2100" b="0" i="0">
                <a:solidFill>
                  <a:srgbClr val="83DFFF"/>
                </a:solidFill>
                <a:latin typeface="JetBrains Mono"/>
                <a:ea typeface="JetBrains Mono"/>
                <a:cs typeface="JetBrains Mono"/>
              </a:defRPr>
            </a:pPr>
            <a:r>
              <a:rPr sz="2100" b="0" i="0">
                <a:solidFill>
                  <a:srgbClr val="83DFFF"/>
                </a:solidFill>
                <a:latin typeface="JetBrains Mono"/>
                <a:ea typeface="JetBrains Mono"/>
                <a:cs typeface="JetBrains Mono"/>
              </a:rPr>
              <a:t>avaliação final?</a:t>
            </a:r>
          </a:p>
        </p:txBody>
      </p:sp>
      <p:sp>
        <p:nvSpPr>
          <p:cNvPr id="54" name="test-question">
            <a:extLst xmlns:a="http://schemas.openxmlformats.org/drawingml/2006/main">
              <a:ext uri="{FF2B5EF4-FFF2-40B4-BE49-F238E27FC236}">
                <a16:creationId xmlns:a16="http://schemas.microsoft.com/office/drawing/2014/main" id="{1E4FFCE1-9FEF-4B96-81FA-B5F763687A40}"/>
              </a:ext>
            </a:extLst>
          </p:cNvPr>
          <p:cNvSpPr>
            <a:spLocks xmlns:a="http://schemas.openxmlformats.org/drawingml/2006/main" noGrp="1"/>
          </p:cNvSpPr>
          <p:nvPr/>
        </p:nvSpPr>
        <p:spPr>
          <a:xfrm xmlns:a="http://schemas.openxmlformats.org/drawingml/2006/main">
            <a:off x="7648575" y="4514850"/>
            <a:ext cx="4086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71E7BD"/>
                </a:solidFill>
                <a:latin typeface="JetBrains Mono"/>
                <a:ea typeface="JetBrains Mono"/>
                <a:cs typeface="JetBrains Mono"/>
              </a:defRPr>
            </a:pPr>
            <a:r>
              <a:rPr sz="1950" b="0" i="0">
                <a:solidFill>
                  <a:srgbClr val="71E7BD"/>
                </a:solidFill>
                <a:latin typeface="JetBrains Mono"/>
                <a:ea typeface="JetBrains Mono"/>
                <a:cs typeface="JetBrains Mono"/>
              </a:rPr>
              <a:t>Qual conjunto permanece</a:t>
            </a:r>
          </a:p>
          <a:p xmlns:a="http://schemas.openxmlformats.org/drawingml/2006/main">
            <a:pPr algn="l">
              <a:defRPr sz="1950" b="0" i="0">
                <a:solidFill>
                  <a:srgbClr val="71E7BD"/>
                </a:solidFill>
                <a:latin typeface="JetBrains Mono"/>
                <a:ea typeface="JetBrains Mono"/>
                <a:cs typeface="JetBrains Mono"/>
              </a:defRPr>
            </a:pPr>
            <a:r>
              <a:rPr sz="1950" b="0" i="0">
                <a:solidFill>
                  <a:srgbClr val="71E7BD"/>
                </a:solidFill>
                <a:latin typeface="JetBrains Mono"/>
                <a:ea typeface="JetBrains Mono"/>
                <a:cs typeface="JetBrains Mono"/>
              </a:rPr>
              <a:t>fora dessa decisão?</a:t>
            </a:r>
          </a:p>
        </p:txBody>
      </p:sp>
      <p:sp>
        <p:nvSpPr>
          <p:cNvPr id="55" name="caption">
            <a:extLst xmlns:a="http://schemas.openxmlformats.org/drawingml/2006/main">
              <a:ext uri="{FF2B5EF4-FFF2-40B4-BE49-F238E27FC236}">
                <a16:creationId xmlns:a16="http://schemas.microsoft.com/office/drawing/2014/main" id="{FCF4BD95-2C6E-4990-B5D7-FE4B9EC2434D}"/>
              </a:ext>
            </a:extLst>
          </p:cNvPr>
          <p:cNvSpPr>
            <a:spLocks xmlns:a="http://schemas.openxmlformats.org/drawingml/2006/main" noGrp="1"/>
          </p:cNvSpPr>
          <p:nvPr/>
        </p:nvSpPr>
        <p:spPr>
          <a:xfrm xmlns:a="http://schemas.openxmlformats.org/drawingml/2006/main">
            <a:off x="457200" y="59817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91A4BD"/>
                </a:solidFill>
                <a:latin typeface="JetBrains Mono"/>
                <a:ea typeface="JetBrains Mono"/>
                <a:cs typeface="JetBrains Mono"/>
              </a:defRPr>
            </a:pPr>
            <a:r>
              <a:rPr sz="1200" b="0" i="0">
                <a:solidFill>
                  <a:srgbClr val="91A4BD"/>
                </a:solidFill>
                <a:latin typeface="JetBrains Mono"/>
                <a:ea typeface="JetBrains Mono"/>
                <a:cs typeface="JetBrains Mono"/>
              </a:rPr>
              <a:t>Valores hipotéticos. Mesma variável, transformação e conjuntos nos dois modelos.</a:t>
            </a:r>
          </a:p>
        </p:txBody>
      </p:sp>
    </p:spTree>
    <p:extLst>
      <p:ext uri="{BB962C8B-B14F-4D97-AF65-F5344CB8AC3E}">
        <p14:creationId xmlns:p14="http://schemas.microsoft.com/office/powerpoint/2010/main" val="338010029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5" name="Retângulo 6">
            <a:extLst xmlns:a="http://schemas.openxmlformats.org/drawingml/2006/main">
              <a:ext uri="{FF2B5EF4-FFF2-40B4-BE49-F238E27FC236}">
                <a16:creationId xmlns:a16="http://schemas.microsoft.com/office/drawing/2014/main" id="{EE709EE6-47DC-A880-3A9A-90F28B9A4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F29"/>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C64BB0A9-04EA-ECDA-5AEA-38D7526ABA70}"/>
              </a:ext>
            </a:extLst>
          </p:cNvPr>
          <p:cNvSpPr>
            <a:spLocks xmlns:a="http://schemas.openxmlformats.org/drawingml/2006/main" noGrp="1"/>
          </p:cNvSpPr>
          <p:nvPr>
            <p:ph type="ctrTitle" idx="0"/>
          </p:nvPr>
        </p:nvSpPr>
        <p:spPr>
          <a:xfrm xmlns:a="http://schemas.openxmlformats.org/drawingml/2006/main">
            <a:off x="762001" y="6333257"/>
            <a:ext cx="10976290" cy="233267"/>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 b="0" i="0">
                <a:solidFill>
                  <a:srgbClr val="FFFFFF"/>
                </a:solidFill>
                <a:latin typeface="JetBrains Mono"/>
                <a:ea typeface="JetBrains Mono"/>
                <a:cs typeface="JetBrains Mono"/>
              </a:defRPr>
            </a:pPr>
            <a:r>
              <a:rPr sz="945" b="0" i="0">
                <a:solidFill>
                  <a:srgbClr val="FFFFFF"/>
                </a:solidFill>
                <a:latin typeface="JetBrains Mono"/>
                <a:ea typeface="JetBrains Mono"/>
                <a:cs typeface="JetBrains Mono"/>
              </a:rPr>
              <a:t>Hydro-UAI Course</a:t>
            </a:r>
          </a:p>
        </p:txBody>
      </p:sp>
      <p:sp>
        <p:nvSpPr>
          <p:cNvPr id="10" name="Título 1">
            <a:extLst xmlns:a="http://schemas.openxmlformats.org/drawingml/2006/main">
              <a:ext uri="{FF2B5EF4-FFF2-40B4-BE49-F238E27FC236}">
                <a16:creationId xmlns:a16="http://schemas.microsoft.com/office/drawing/2014/main" id="{49C88A64-B77D-F147-AAEB-6229BA85606A}"/>
              </a:ext>
            </a:extLst>
          </p:cNvPr>
          <p:cNvSpPr>
            <a:spLocks xmlns:a="http://schemas.openxmlformats.org/drawingml/2006/main" noGrp="1"/>
          </p:cNvSpPr>
          <p:nvPr/>
        </p:nvSpPr>
        <p:spPr>
          <a:xfrm xmlns:a="http://schemas.openxmlformats.org/drawingml/2006/main">
            <a:off x="453701" y="741631"/>
            <a:ext cx="11284591" cy="485582"/>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buNone/>
              <a:defRPr sz="2400" b="1" i="1">
                <a:solidFill>
                  <a:srgbClr val="FFFFFF"/>
                </a:solidFill>
                <a:latin typeface="JetBrains Mono ExtraBold"/>
                <a:ea typeface="JetBrains Mono ExtraBold"/>
                <a:cs typeface="JetBrains Mono ExtraBold"/>
              </a:defRPr>
            </a:pPr>
            <a:r>
              <a:rPr sz="2400" b="1" i="1">
                <a:solidFill>
                  <a:srgbClr val="FFFFFF"/>
                </a:solidFill>
                <a:latin typeface="JetBrains Mono ExtraBold"/>
                <a:ea typeface="JetBrains Mono ExtraBold"/>
                <a:cs typeface="JetBrains Mono ExtraBold"/>
              </a:rPr>
              <a:t>Redes Neurais Artificiais</a:t>
            </a:r>
          </a:p>
        </p:txBody>
      </p:sp>
      <p:pic>
        <p:nvPicPr>
          <p:cNvPr id="63" name="Imagem 13"/>
          <p:cNvPicPr>
            <a:picLocks xmlns:a="http://schemas.openxmlformats.org/drawingml/2006/main" noChangeAspect="1"/>
          </p:cNvPicPr>
          <p:nvPr/>
        </p:nvPicPr>
        <p:blipFill>
          <a:blip xmlns:r="http://schemas.openxmlformats.org/officeDocument/2006/relationships" xmlns:a="http://schemas.openxmlformats.org/drawingml/2006/main" r:embed="Rd73b3a932c1a4a6f"/>
          <a:srcRect xmlns:a="http://schemas.openxmlformats.org/drawingml/2006/main" l="3570" t="0" r="8084" b="18195"/>
          <a:stretch xmlns:a="http://schemas.openxmlformats.org/drawingml/2006/main">
            <a:fillRect l="0" t="0" r="0" b="0"/>
          </a:stretch>
        </p:blipFill>
        <p:spPr>
          <a:xfrm xmlns:a="http://schemas.openxmlformats.org/drawingml/2006/main">
            <a:off x="453701" y="6294313"/>
            <a:ext cx="308300" cy="272211"/>
          </a:xfrm>
          <a:prstGeom xmlns:a="http://schemas.openxmlformats.org/drawingml/2006/main" prst="rect">
            <a:avLst/>
          </a:prstGeom>
        </p:spPr>
      </p:pic>
      <p:sp>
        <p:nvSpPr>
          <p:cNvPr id="11" name="Título 1">
            <a:extLst xmlns:a="http://schemas.openxmlformats.org/drawingml/2006/main">
              <a:ext uri="{FF2B5EF4-FFF2-40B4-BE49-F238E27FC236}">
                <a16:creationId xmlns:a16="http://schemas.microsoft.com/office/drawing/2014/main" id="{C7C4C9C5-D7DA-5BD9-475E-7C3D6604C6A0}"/>
              </a:ext>
            </a:extLst>
          </p:cNvPr>
          <p:cNvSpPr>
            <a:spLocks xmlns:a="http://schemas.openxmlformats.org/drawingml/2006/main" noGrp="1"/>
          </p:cNvSpPr>
          <p:nvPr/>
        </p:nvSpPr>
        <p:spPr>
          <a:xfrm xmlns:a="http://schemas.openxmlformats.org/drawingml/2006/main">
            <a:off x="457200" y="1762125"/>
            <a:ext cx="11277600" cy="40957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algn="ctr" defTabSz="914400">
              <a:lnSpc>
                <a:spcPct val="90000"/>
              </a:lnSpc>
              <a:spcBef>
                <a:spcPct val="0"/>
              </a:spcBef>
              <a:buNone/>
              <a:defRPr sz="6000" kern="1200">
                <a:solidFill>
                  <a:schemeClr val="tx1"/>
                </a:solidFill>
                <a:latin typeface="+mj-lt"/>
                <a:ea typeface="+mj-lt"/>
                <a:cs typeface="+mj-lt"/>
              </a:defRPr>
            </a:lvl1pPr>
          </a:lstStyle>
          <a:p xmlns:a="http://schemas.openxmlformats.org/drawingml/2006/main">
            <a:pPr algn="l">
              <a:lnSpc>
                <a:spcPct val="150000"/>
              </a:lnSpc>
              <a:spcAft>
                <a:spcPts val="300"/>
              </a:spcAft>
              <a:buNone/>
              <a:defRPr sz="2025" b="1" i="0">
                <a:solidFill>
                  <a:srgbClr val="FFFFFF"/>
                </a:solidFill>
                <a:latin typeface="JetBrains Mono"/>
                <a:ea typeface="JetBrains Mono"/>
                <a:cs typeface="JetBrains Mono"/>
              </a:defRPr>
            </a:pPr>
            <a:r>
              <a:rPr sz="2025" b="1" i="0">
                <a:solidFill>
                  <a:srgbClr val="FFFFFF"/>
                </a:solidFill>
                <a:latin typeface="JetBrains Mono"/>
                <a:ea typeface="JetBrains Mono"/>
                <a:cs typeface="JetBrains Mono"/>
              </a:rPr>
              <a:t>Conceitos e critérios de uso</a:t>
            </a:r>
          </a:p>
        </p:txBody>
      </p:sp>
      <p:sp>
        <p:nvSpPr>
          <p:cNvPr id="39" name="Conector reto 38">
            <a:extLst xmlns:a="http://schemas.openxmlformats.org/drawingml/2006/main">
              <a:ext uri="{FF2B5EF4-FFF2-40B4-BE49-F238E27FC236}">
                <a16:creationId xmlns:a16="http://schemas.microsoft.com/office/drawing/2014/main" id="{1880A623-3DAD-419C-B663-665931B0624F}"/>
              </a:ext>
            </a:extLst>
          </p:cNvPr>
          <p:cNvSpPr>
            <a:spLocks xmlns:a="http://schemas.openxmlformats.org/drawingml/2006/main" noGrp="1"/>
          </p:cNvSpPr>
          <p:nvPr/>
        </p:nvSpPr>
        <p:spPr>
          <a:xfrm xmlns:a="http://schemas.openxmlformats.org/drawingml/2006/main" flipH="1">
            <a:off x="0" y="1308236"/>
            <a:ext cx="12192000" cy="0"/>
          </a:xfrm>
          <a:prstGeom xmlns:a="http://schemas.openxmlformats.org/drawingml/2006/main" prst="line">
            <a:avLst/>
          </a:prstGeom>
          <a:ln xmlns:a="http://schemas.openxmlformats.org/drawingml/2006/main">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2" name="synthesis-concept-0">
            <a:extLst xmlns:a="http://schemas.openxmlformats.org/drawingml/2006/main">
              <a:ext uri="{FF2B5EF4-FFF2-40B4-BE49-F238E27FC236}">
                <a16:creationId xmlns:a16="http://schemas.microsoft.com/office/drawing/2014/main" id="{E8EBF12D-A8FC-461B-B7FF-995A5587C0DC}"/>
              </a:ext>
            </a:extLst>
          </p:cNvPr>
          <p:cNvSpPr>
            <a:spLocks xmlns:a="http://schemas.openxmlformats.org/drawingml/2006/main" noGrp="1"/>
          </p:cNvSpPr>
          <p:nvPr/>
        </p:nvSpPr>
        <p:spPr>
          <a:xfrm xmlns:a="http://schemas.openxmlformats.org/drawingml/2006/main">
            <a:off x="457200" y="250507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83DFFF"/>
                </a:solidFill>
                <a:latin typeface="JetBrains Mono"/>
                <a:ea typeface="JetBrains Mono"/>
                <a:cs typeface="JetBrains Mono"/>
              </a:defRPr>
            </a:pPr>
            <a:r>
              <a:rPr sz="1950" b="1" i="0">
                <a:solidFill>
                  <a:srgbClr val="83DFFF"/>
                </a:solidFill>
                <a:latin typeface="JetBrains Mono"/>
                <a:ea typeface="JetBrains Mono"/>
                <a:cs typeface="JetBrains Mono"/>
              </a:rPr>
              <a:t>Modelo</a:t>
            </a:r>
          </a:p>
        </p:txBody>
      </p:sp>
      <p:sp>
        <p:nvSpPr>
          <p:cNvPr id="53" name="synthesis-function-0">
            <a:extLst xmlns:a="http://schemas.openxmlformats.org/drawingml/2006/main">
              <a:ext uri="{FF2B5EF4-FFF2-40B4-BE49-F238E27FC236}">
                <a16:creationId xmlns:a16="http://schemas.microsoft.com/office/drawing/2014/main" id="{31659B4E-47C5-4B5F-9ABD-5968C55CD3C3}"/>
              </a:ext>
            </a:extLst>
          </p:cNvPr>
          <p:cNvSpPr>
            <a:spLocks xmlns:a="http://schemas.openxmlformats.org/drawingml/2006/main" noGrp="1"/>
          </p:cNvSpPr>
          <p:nvPr/>
        </p:nvSpPr>
        <p:spPr>
          <a:xfrm xmlns:a="http://schemas.openxmlformats.org/drawingml/2006/main">
            <a:off x="4019550" y="2533650"/>
            <a:ext cx="771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Pesos, vieses e ativações definem a previsão.</a:t>
            </a:r>
          </a:p>
        </p:txBody>
      </p:sp>
      <p:sp>
        <p:nvSpPr>
          <p:cNvPr id="54" name="synthesis-concept-1">
            <a:extLst xmlns:a="http://schemas.openxmlformats.org/drawingml/2006/main">
              <a:ext uri="{FF2B5EF4-FFF2-40B4-BE49-F238E27FC236}">
                <a16:creationId xmlns:a16="http://schemas.microsoft.com/office/drawing/2014/main" id="{7C7C6BC3-61D8-4157-B0EE-8D4492F995AC}"/>
              </a:ext>
            </a:extLst>
          </p:cNvPr>
          <p:cNvSpPr>
            <a:spLocks xmlns:a="http://schemas.openxmlformats.org/drawingml/2006/main" noGrp="1"/>
          </p:cNvSpPr>
          <p:nvPr/>
        </p:nvSpPr>
        <p:spPr>
          <a:xfrm xmlns:a="http://schemas.openxmlformats.org/drawingml/2006/main">
            <a:off x="457200" y="332422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71E7BD"/>
                </a:solidFill>
                <a:latin typeface="JetBrains Mono"/>
                <a:ea typeface="JetBrains Mono"/>
                <a:cs typeface="JetBrains Mono"/>
              </a:defRPr>
            </a:pPr>
            <a:r>
              <a:rPr sz="1950" b="1" i="0">
                <a:solidFill>
                  <a:srgbClr val="71E7BD"/>
                </a:solidFill>
                <a:latin typeface="JetBrains Mono"/>
                <a:ea typeface="JetBrains Mono"/>
                <a:cs typeface="JetBrains Mono"/>
              </a:rPr>
              <a:t>Aprendizado</a:t>
            </a:r>
          </a:p>
        </p:txBody>
      </p:sp>
      <p:sp>
        <p:nvSpPr>
          <p:cNvPr id="55" name="synthesis-function-1">
            <a:extLst xmlns:a="http://schemas.openxmlformats.org/drawingml/2006/main">
              <a:ext uri="{FF2B5EF4-FFF2-40B4-BE49-F238E27FC236}">
                <a16:creationId xmlns:a16="http://schemas.microsoft.com/office/drawing/2014/main" id="{1A86199B-0D07-4198-8F40-FFFCE8183C8C}"/>
              </a:ext>
            </a:extLst>
          </p:cNvPr>
          <p:cNvSpPr>
            <a:spLocks xmlns:a="http://schemas.openxmlformats.org/drawingml/2006/main" noGrp="1"/>
          </p:cNvSpPr>
          <p:nvPr/>
        </p:nvSpPr>
        <p:spPr>
          <a:xfrm xmlns:a="http://schemas.openxmlformats.org/drawingml/2006/main">
            <a:off x="4019550" y="3352800"/>
            <a:ext cx="771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A perda e seus gradientes orientam o ajuste.</a:t>
            </a:r>
          </a:p>
        </p:txBody>
      </p:sp>
      <p:sp>
        <p:nvSpPr>
          <p:cNvPr id="56" name="synthesis-concept-2">
            <a:extLst xmlns:a="http://schemas.openxmlformats.org/drawingml/2006/main">
              <a:ext uri="{FF2B5EF4-FFF2-40B4-BE49-F238E27FC236}">
                <a16:creationId xmlns:a16="http://schemas.microsoft.com/office/drawing/2014/main" id="{CA960074-63B6-455C-A9A7-9DEC504D3005}"/>
              </a:ext>
            </a:extLst>
          </p:cNvPr>
          <p:cNvSpPr>
            <a:spLocks xmlns:a="http://schemas.openxmlformats.org/drawingml/2006/main" noGrp="1"/>
          </p:cNvSpPr>
          <p:nvPr/>
        </p:nvSpPr>
        <p:spPr>
          <a:xfrm xmlns:a="http://schemas.openxmlformats.org/drawingml/2006/main">
            <a:off x="457200" y="414337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83DFFF"/>
                </a:solidFill>
                <a:latin typeface="JetBrains Mono"/>
                <a:ea typeface="JetBrains Mono"/>
                <a:cs typeface="JetBrains Mono"/>
              </a:defRPr>
            </a:pPr>
            <a:r>
              <a:rPr sz="1950" b="1" i="0">
                <a:solidFill>
                  <a:srgbClr val="83DFFF"/>
                </a:solidFill>
                <a:latin typeface="JetBrains Mono"/>
                <a:ea typeface="JetBrains Mono"/>
                <a:cs typeface="JetBrains Mono"/>
              </a:rPr>
              <a:t>Generalização</a:t>
            </a:r>
          </a:p>
        </p:txBody>
      </p:sp>
      <p:sp>
        <p:nvSpPr>
          <p:cNvPr id="57" name="synthesis-function-2">
            <a:extLst xmlns:a="http://schemas.openxmlformats.org/drawingml/2006/main">
              <a:ext uri="{FF2B5EF4-FFF2-40B4-BE49-F238E27FC236}">
                <a16:creationId xmlns:a16="http://schemas.microsoft.com/office/drawing/2014/main" id="{02D41BA4-09D4-443F-BAAA-23B085D891A5}"/>
              </a:ext>
            </a:extLst>
          </p:cNvPr>
          <p:cNvSpPr>
            <a:spLocks xmlns:a="http://schemas.openxmlformats.org/drawingml/2006/main" noGrp="1"/>
          </p:cNvSpPr>
          <p:nvPr/>
        </p:nvSpPr>
        <p:spPr>
          <a:xfrm xmlns:a="http://schemas.openxmlformats.org/drawingml/2006/main">
            <a:off x="4019550" y="4171950"/>
            <a:ext cx="771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A validação orienta a escolha e a parada.</a:t>
            </a:r>
          </a:p>
        </p:txBody>
      </p:sp>
      <p:sp>
        <p:nvSpPr>
          <p:cNvPr id="58" name="synthesis-concept-3">
            <a:extLst xmlns:a="http://schemas.openxmlformats.org/drawingml/2006/main">
              <a:ext uri="{FF2B5EF4-FFF2-40B4-BE49-F238E27FC236}">
                <a16:creationId xmlns:a16="http://schemas.microsoft.com/office/drawing/2014/main" id="{4489B4C1-1EE1-4FCC-AD70-FD3FEE364D90}"/>
              </a:ext>
            </a:extLst>
          </p:cNvPr>
          <p:cNvSpPr>
            <a:spLocks xmlns:a="http://schemas.openxmlformats.org/drawingml/2006/main" noGrp="1"/>
          </p:cNvSpPr>
          <p:nvPr/>
        </p:nvSpPr>
        <p:spPr>
          <a:xfrm xmlns:a="http://schemas.openxmlformats.org/drawingml/2006/main">
            <a:off x="457200" y="496252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71E7BD"/>
                </a:solidFill>
                <a:latin typeface="JetBrains Mono"/>
                <a:ea typeface="JetBrains Mono"/>
                <a:cs typeface="JetBrains Mono"/>
              </a:defRPr>
            </a:pPr>
            <a:r>
              <a:rPr sz="1950" b="1" i="0">
                <a:solidFill>
                  <a:srgbClr val="71E7BD"/>
                </a:solidFill>
                <a:latin typeface="JetBrains Mono"/>
                <a:ea typeface="JetBrains Mono"/>
                <a:cs typeface="JetBrains Mono"/>
              </a:rPr>
              <a:t>Aplicação</a:t>
            </a:r>
          </a:p>
        </p:txBody>
      </p:sp>
      <p:sp>
        <p:nvSpPr>
          <p:cNvPr id="59" name="synthesis-function-3">
            <a:extLst xmlns:a="http://schemas.openxmlformats.org/drawingml/2006/main">
              <a:ext uri="{FF2B5EF4-FFF2-40B4-BE49-F238E27FC236}">
                <a16:creationId xmlns:a16="http://schemas.microsoft.com/office/drawing/2014/main" id="{60D6A66D-F282-430E-A146-40DFF1AE6A3A}"/>
              </a:ext>
            </a:extLst>
          </p:cNvPr>
          <p:cNvSpPr>
            <a:spLocks xmlns:a="http://schemas.openxmlformats.org/drawingml/2006/main" noGrp="1"/>
          </p:cNvSpPr>
          <p:nvPr/>
        </p:nvSpPr>
        <p:spPr>
          <a:xfrm xmlns:a="http://schemas.openxmlformats.org/drawingml/2006/main">
            <a:off x="4019550" y="4991100"/>
            <a:ext cx="771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FFFFFF"/>
                </a:solidFill>
                <a:latin typeface="JetBrains Mono"/>
                <a:ea typeface="JetBrains Mono"/>
                <a:cs typeface="JetBrains Mono"/>
              </a:defRPr>
            </a:pPr>
            <a:r>
              <a:rPr sz="1800" b="0" i="0">
                <a:solidFill>
                  <a:srgbClr val="FFFFFF"/>
                </a:solidFill>
                <a:latin typeface="JetBrains Mono"/>
                <a:ea typeface="JetBrains Mono"/>
                <a:cs typeface="JetBrains Mono"/>
              </a:rPr>
              <a:t>O teste futuro e a análise física avaliam o uso.</a:t>
            </a:r>
          </a:p>
        </p:txBody>
      </p:sp>
    </p:spTree>
    <p:extLst>
      <p:ext uri="{BB962C8B-B14F-4D97-AF65-F5344CB8AC3E}">
        <p14:creationId xmlns:p14="http://schemas.microsoft.com/office/powerpoint/2010/main" val="3380100293"/>
      </p:ext>
    </p:extLst>
  </p:cSld>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2026-10-06T13:37:23.8250000Z</dcterms:created>
  <dcterms:modified xsi:type="dcterms:W3CDTF">2026-10-06T13:37:23.8250000Z</dcterms:modified>
</coreProperties>
</file>