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3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6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7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20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21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22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23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24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25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slides/charts/chart26.xml" ContentType="application/vnd.openxmlformats-officedocument.drawingml.chart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5c41c2ca74614" /><Relationship Type="http://schemas.openxmlformats.org/officeDocument/2006/relationships/extended-properties" Target="/docProps/app.xml" Id="R8b0e895654f449e6" /><Relationship Type="http://schemas.openxmlformats.org/officeDocument/2006/relationships/officeDocument" Target="/ppt/presentation.xml" Id="R09305de2ff3a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c4c755d8143fc"/>
  </p:sldMasterIdLst>
  <p:notesMasterIdLst>
    <p:notesMasterId xmlns:r="http://schemas.openxmlformats.org/officeDocument/2006/relationships" r:id="R620a177ae1004ba5"/>
  </p:notesMasterIdLst>
  <p:sldIdLst>
    <p:sldId xmlns:r="http://schemas.openxmlformats.org/officeDocument/2006/relationships" id="256" r:id="R9a0251a5b3984b69"/>
    <p:sldId xmlns:r="http://schemas.openxmlformats.org/officeDocument/2006/relationships" id="257" r:id="R19f099638d6240b7"/>
    <p:sldId xmlns:r="http://schemas.openxmlformats.org/officeDocument/2006/relationships" id="258" r:id="R9325efa08d304881"/>
    <p:sldId xmlns:r="http://schemas.openxmlformats.org/officeDocument/2006/relationships" id="259" r:id="R5e6883ae5c5a4765"/>
    <p:sldId xmlns:r="http://schemas.openxmlformats.org/officeDocument/2006/relationships" id="260" r:id="R663eb36e90734296"/>
    <p:sldId xmlns:r="http://schemas.openxmlformats.org/officeDocument/2006/relationships" id="261" r:id="Rcd3dd9ff0f04400c"/>
    <p:sldId xmlns:r="http://schemas.openxmlformats.org/officeDocument/2006/relationships" id="262" r:id="R6caa0e8fd9104f5e"/>
    <p:sldId xmlns:r="http://schemas.openxmlformats.org/officeDocument/2006/relationships" id="263" r:id="Rdebb428c4c034252"/>
    <p:sldId xmlns:r="http://schemas.openxmlformats.org/officeDocument/2006/relationships" id="264" r:id="Refa720fc0cc741c9"/>
    <p:sldId xmlns:r="http://schemas.openxmlformats.org/officeDocument/2006/relationships" id="265" r:id="R442fb809d4b94882"/>
    <p:sldId xmlns:r="http://schemas.openxmlformats.org/officeDocument/2006/relationships" id="266" r:id="Rf7bf349fa17f4cb0"/>
    <p:sldId xmlns:r="http://schemas.openxmlformats.org/officeDocument/2006/relationships" id="267" r:id="R0622b0379d9d420b"/>
    <p:sldId xmlns:r="http://schemas.openxmlformats.org/officeDocument/2006/relationships" id="268" r:id="Ra059c2c7eabb4bf2"/>
    <p:sldId xmlns:r="http://schemas.openxmlformats.org/officeDocument/2006/relationships" id="269" r:id="R2d4d2a5ad8cf472f"/>
    <p:sldId xmlns:r="http://schemas.openxmlformats.org/officeDocument/2006/relationships" id="270" r:id="R8d336fa0f7e743c0"/>
    <p:sldId xmlns:r="http://schemas.openxmlformats.org/officeDocument/2006/relationships" id="271" r:id="Rea415f3f24af4103"/>
    <p:sldId xmlns:r="http://schemas.openxmlformats.org/officeDocument/2006/relationships" id="272" r:id="R69937ed10e6a4fb6"/>
    <p:sldId xmlns:r="http://schemas.openxmlformats.org/officeDocument/2006/relationships" id="273" r:id="R5f603666c8074041"/>
    <p:sldId xmlns:r="http://schemas.openxmlformats.org/officeDocument/2006/relationships" id="274" r:id="Rdec6435d10234d39"/>
    <p:sldId xmlns:r="http://schemas.openxmlformats.org/officeDocument/2006/relationships" id="275" r:id="R57441db091004488"/>
    <p:sldId xmlns:r="http://schemas.openxmlformats.org/officeDocument/2006/relationships" id="276" r:id="R480bde5a5d8d4a14"/>
    <p:sldId xmlns:r="http://schemas.openxmlformats.org/officeDocument/2006/relationships" id="277" r:id="R53e5733984f446dd"/>
    <p:sldId xmlns:r="http://schemas.openxmlformats.org/officeDocument/2006/relationships" id="278" r:id="R2a44efc418dc418d"/>
    <p:sldId xmlns:r="http://schemas.openxmlformats.org/officeDocument/2006/relationships" id="279" r:id="R1d55a758fb4a48db"/>
    <p:sldId xmlns:r="http://schemas.openxmlformats.org/officeDocument/2006/relationships" id="280" r:id="Rbb7b25c021a94a00"/>
    <p:sldId xmlns:r="http://schemas.openxmlformats.org/officeDocument/2006/relationships" id="281" r:id="R68f7a7fcf86d49ce"/>
    <p:sldId xmlns:r="http://schemas.openxmlformats.org/officeDocument/2006/relationships" id="282" r:id="Ra2d0e63a840b40dd"/>
    <p:sldId xmlns:r="http://schemas.openxmlformats.org/officeDocument/2006/relationships" id="283" r:id="Rc85ee3eb8f4d4edf"/>
    <p:sldId xmlns:r="http://schemas.openxmlformats.org/officeDocument/2006/relationships" id="284" r:id="R607ee5abfe024b2e"/>
    <p:sldId xmlns:r="http://schemas.openxmlformats.org/officeDocument/2006/relationships" id="285" r:id="R45a50c99ee4d4b18"/>
    <p:sldId xmlns:r="http://schemas.openxmlformats.org/officeDocument/2006/relationships" id="286" r:id="Rafa7db3e688e429b"/>
    <p:sldId xmlns:r="http://schemas.openxmlformats.org/officeDocument/2006/relationships" id="287" r:id="R7bdbe2a49d2e4c42"/>
    <p:sldId xmlns:r="http://schemas.openxmlformats.org/officeDocument/2006/relationships" id="288" r:id="Rf9835bc88b064c96"/>
    <p:sldId xmlns:r="http://schemas.openxmlformats.org/officeDocument/2006/relationships" id="289" r:id="R39f0a5db5ad24908"/>
    <p:sldId xmlns:r="http://schemas.openxmlformats.org/officeDocument/2006/relationships" id="290" r:id="R77983e1640ff40bd"/>
    <p:sldId xmlns:r="http://schemas.openxmlformats.org/officeDocument/2006/relationships" id="291" r:id="R078994b7dcc3456d"/>
    <p:sldId xmlns:r="http://schemas.openxmlformats.org/officeDocument/2006/relationships" id="292" r:id="R6e8ba49b3a3d4d80"/>
    <p:sldId xmlns:r="http://schemas.openxmlformats.org/officeDocument/2006/relationships" id="293" r:id="R54ff4dda06eb4a97"/>
    <p:sldId xmlns:r="http://schemas.openxmlformats.org/officeDocument/2006/relationships" id="294" r:id="R32ace4f8de6e49a6"/>
    <p:sldId xmlns:r="http://schemas.openxmlformats.org/officeDocument/2006/relationships" id="295" r:id="R1ce029bb8f804823"/>
    <p:sldId xmlns:r="http://schemas.openxmlformats.org/officeDocument/2006/relationships" id="296" r:id="R59076c36a3d84d04"/>
    <p:sldId xmlns:r="http://schemas.openxmlformats.org/officeDocument/2006/relationships" id="297" r:id="R0b3ce263c3bb4e4b"/>
    <p:sldId xmlns:r="http://schemas.openxmlformats.org/officeDocument/2006/relationships" id="298" r:id="R05de02b3dc8f4ca3"/>
    <p:sldId xmlns:r="http://schemas.openxmlformats.org/officeDocument/2006/relationships" id="299" r:id="Rfb49d37c567045f7"/>
    <p:sldId xmlns:r="http://schemas.openxmlformats.org/officeDocument/2006/relationships" id="300" r:id="Rce7459633459478e"/>
    <p:sldId xmlns:r="http://schemas.openxmlformats.org/officeDocument/2006/relationships" id="301" r:id="R118f3a0b663642f4"/>
    <p:sldId xmlns:r="http://schemas.openxmlformats.org/officeDocument/2006/relationships" id="302" r:id="R031041b7767e4106"/>
    <p:sldId xmlns:r="http://schemas.openxmlformats.org/officeDocument/2006/relationships" id="303" r:id="Rc0f0c3d8555d4f12"/>
    <p:sldId xmlns:r="http://schemas.openxmlformats.org/officeDocument/2006/relationships" id="304" r:id="Rd1c8600358a94906"/>
    <p:sldId xmlns:r="http://schemas.openxmlformats.org/officeDocument/2006/relationships" id="305" r:id="Re50c3b85fb9c4c48"/>
    <p:sldId xmlns:r="http://schemas.openxmlformats.org/officeDocument/2006/relationships" id="306" r:id="Rd433eefcf6c9413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47a3c2b9ce4c2b" /><Relationship Type="http://schemas.openxmlformats.org/officeDocument/2006/relationships/slideMaster" Target="/ppt/slideMasters/slideMaster1.xml" Id="Rc42c4c755d8143fc" /><Relationship Type="http://schemas.openxmlformats.org/officeDocument/2006/relationships/notesMaster" Target="/ppt/notesMasters/notesMaster1.xml" Id="R620a177ae1004ba5" /><Relationship Type="http://schemas.openxmlformats.org/officeDocument/2006/relationships/presProps" Target="/ppt/presProps.xml" Id="R8645d12a775342e8" /><Relationship Type="http://schemas.openxmlformats.org/officeDocument/2006/relationships/viewProps" Target="/ppt/viewProps.xml" Id="R5392fe96e9c24bec" /><Relationship Type="http://schemas.openxmlformats.org/officeDocument/2006/relationships/tableStyles" Target="/ppt/tableStyles.xml" Id="Rda38f20d4a12457b" /><Relationship Type="http://schemas.openxmlformats.org/officeDocument/2006/relationships/slide" Target="/ppt/slides/slide1.xml" Id="R9a0251a5b3984b69" /><Relationship Type="http://schemas.openxmlformats.org/officeDocument/2006/relationships/slide" Target="/ppt/slides/slide2.xml" Id="R19f099638d6240b7" /><Relationship Type="http://schemas.openxmlformats.org/officeDocument/2006/relationships/slide" Target="/ppt/slides/slide3.xml" Id="R9325efa08d304881" /><Relationship Type="http://schemas.openxmlformats.org/officeDocument/2006/relationships/slide" Target="/ppt/slides/slide4.xml" Id="R5e6883ae5c5a4765" /><Relationship Type="http://schemas.openxmlformats.org/officeDocument/2006/relationships/slide" Target="/ppt/slides/slide5.xml" Id="R663eb36e90734296" /><Relationship Type="http://schemas.openxmlformats.org/officeDocument/2006/relationships/slide" Target="/ppt/slides/slide6.xml" Id="Rcd3dd9ff0f04400c" /><Relationship Type="http://schemas.openxmlformats.org/officeDocument/2006/relationships/slide" Target="/ppt/slides/slide7.xml" Id="R6caa0e8fd9104f5e" /><Relationship Type="http://schemas.openxmlformats.org/officeDocument/2006/relationships/slide" Target="/ppt/slides/slide8.xml" Id="Rdebb428c4c034252" /><Relationship Type="http://schemas.openxmlformats.org/officeDocument/2006/relationships/slide" Target="/ppt/slides/slide9.xml" Id="Refa720fc0cc741c9" /><Relationship Type="http://schemas.openxmlformats.org/officeDocument/2006/relationships/slide" Target="/ppt/slides/slide10.xml" Id="R442fb809d4b94882" /><Relationship Type="http://schemas.openxmlformats.org/officeDocument/2006/relationships/slide" Target="/ppt/slides/slide11.xml" Id="Rf7bf349fa17f4cb0" /><Relationship Type="http://schemas.openxmlformats.org/officeDocument/2006/relationships/slide" Target="/ppt/slides/slide12.xml" Id="R0622b0379d9d420b" /><Relationship Type="http://schemas.openxmlformats.org/officeDocument/2006/relationships/slide" Target="/ppt/slides/slide13.xml" Id="Ra059c2c7eabb4bf2" /><Relationship Type="http://schemas.openxmlformats.org/officeDocument/2006/relationships/slide" Target="/ppt/slides/slide14.xml" Id="R2d4d2a5ad8cf472f" /><Relationship Type="http://schemas.openxmlformats.org/officeDocument/2006/relationships/slide" Target="/ppt/slides/slide15.xml" Id="R8d336fa0f7e743c0" /><Relationship Type="http://schemas.openxmlformats.org/officeDocument/2006/relationships/slide" Target="/ppt/slides/slide16.xml" Id="Rea415f3f24af4103" /><Relationship Type="http://schemas.openxmlformats.org/officeDocument/2006/relationships/slide" Target="/ppt/slides/slide17.xml" Id="R69937ed10e6a4fb6" /><Relationship Type="http://schemas.openxmlformats.org/officeDocument/2006/relationships/slide" Target="/ppt/slides/slide18.xml" Id="R5f603666c8074041" /><Relationship Type="http://schemas.openxmlformats.org/officeDocument/2006/relationships/slide" Target="/ppt/slides/slide19.xml" Id="Rdec6435d10234d39" /><Relationship Type="http://schemas.openxmlformats.org/officeDocument/2006/relationships/slide" Target="/ppt/slides/slide20.xml" Id="R57441db091004488" /><Relationship Type="http://schemas.openxmlformats.org/officeDocument/2006/relationships/slide" Target="/ppt/slides/slide21.xml" Id="R480bde5a5d8d4a14" /><Relationship Type="http://schemas.openxmlformats.org/officeDocument/2006/relationships/slide" Target="/ppt/slides/slide22.xml" Id="R53e5733984f446dd" /><Relationship Type="http://schemas.openxmlformats.org/officeDocument/2006/relationships/slide" Target="/ppt/slides/slide23.xml" Id="R2a44efc418dc418d" /><Relationship Type="http://schemas.openxmlformats.org/officeDocument/2006/relationships/slide" Target="/ppt/slides/slide24.xml" Id="R1d55a758fb4a48db" /><Relationship Type="http://schemas.openxmlformats.org/officeDocument/2006/relationships/slide" Target="/ppt/slides/slide25.xml" Id="Rbb7b25c021a94a00" /><Relationship Type="http://schemas.openxmlformats.org/officeDocument/2006/relationships/slide" Target="/ppt/slides/slide26.xml" Id="R68f7a7fcf86d49ce" /><Relationship Type="http://schemas.openxmlformats.org/officeDocument/2006/relationships/slide" Target="/ppt/slides/slide27.xml" Id="Ra2d0e63a840b40dd" /><Relationship Type="http://schemas.openxmlformats.org/officeDocument/2006/relationships/slide" Target="/ppt/slides/slide28.xml" Id="Rc85ee3eb8f4d4edf" /><Relationship Type="http://schemas.openxmlformats.org/officeDocument/2006/relationships/slide" Target="/ppt/slides/slide29.xml" Id="R607ee5abfe024b2e" /><Relationship Type="http://schemas.openxmlformats.org/officeDocument/2006/relationships/slide" Target="/ppt/slides/slide30.xml" Id="R45a50c99ee4d4b18" /><Relationship Type="http://schemas.openxmlformats.org/officeDocument/2006/relationships/slide" Target="/ppt/slides/slide31.xml" Id="Rafa7db3e688e429b" /><Relationship Type="http://schemas.openxmlformats.org/officeDocument/2006/relationships/slide" Target="/ppt/slides/slide32.xml" Id="R7bdbe2a49d2e4c42" /><Relationship Type="http://schemas.openxmlformats.org/officeDocument/2006/relationships/slide" Target="/ppt/slides/slide33.xml" Id="Rf9835bc88b064c96" /><Relationship Type="http://schemas.openxmlformats.org/officeDocument/2006/relationships/slide" Target="/ppt/slides/slide34.xml" Id="R39f0a5db5ad24908" /><Relationship Type="http://schemas.openxmlformats.org/officeDocument/2006/relationships/slide" Target="/ppt/slides/slide35.xml" Id="R77983e1640ff40bd" /><Relationship Type="http://schemas.openxmlformats.org/officeDocument/2006/relationships/slide" Target="/ppt/slides/slide36.xml" Id="R078994b7dcc3456d" /><Relationship Type="http://schemas.openxmlformats.org/officeDocument/2006/relationships/slide" Target="/ppt/slides/slide37.xml" Id="R6e8ba49b3a3d4d80" /><Relationship Type="http://schemas.openxmlformats.org/officeDocument/2006/relationships/slide" Target="/ppt/slides/slide38.xml" Id="R54ff4dda06eb4a97" /><Relationship Type="http://schemas.openxmlformats.org/officeDocument/2006/relationships/slide" Target="/ppt/slides/slide39.xml" Id="R32ace4f8de6e49a6" /><Relationship Type="http://schemas.openxmlformats.org/officeDocument/2006/relationships/slide" Target="/ppt/slides/slide40.xml" Id="R1ce029bb8f804823" /><Relationship Type="http://schemas.openxmlformats.org/officeDocument/2006/relationships/slide" Target="/ppt/slides/slide41.xml" Id="R59076c36a3d84d04" /><Relationship Type="http://schemas.openxmlformats.org/officeDocument/2006/relationships/slide" Target="/ppt/slides/slide42.xml" Id="R0b3ce263c3bb4e4b" /><Relationship Type="http://schemas.openxmlformats.org/officeDocument/2006/relationships/slide" Target="/ppt/slides/slide43.xml" Id="R05de02b3dc8f4ca3" /><Relationship Type="http://schemas.openxmlformats.org/officeDocument/2006/relationships/slide" Target="/ppt/slides/slide44.xml" Id="Rfb49d37c567045f7" /><Relationship Type="http://schemas.openxmlformats.org/officeDocument/2006/relationships/slide" Target="/ppt/slides/slide45.xml" Id="Rce7459633459478e" /><Relationship Type="http://schemas.openxmlformats.org/officeDocument/2006/relationships/slide" Target="/ppt/slides/slide46.xml" Id="R118f3a0b663642f4" /><Relationship Type="http://schemas.openxmlformats.org/officeDocument/2006/relationships/slide" Target="/ppt/slides/slide47.xml" Id="R031041b7767e4106" /><Relationship Type="http://schemas.openxmlformats.org/officeDocument/2006/relationships/slide" Target="/ppt/slides/slide48.xml" Id="Rc0f0c3d8555d4f12" /><Relationship Type="http://schemas.openxmlformats.org/officeDocument/2006/relationships/slide" Target="/ppt/slides/slide49.xml" Id="Rd1c8600358a94906" /><Relationship Type="http://schemas.openxmlformats.org/officeDocument/2006/relationships/slide" Target="/ppt/slides/slide50.xml" Id="Re50c3b85fb9c4c48" /><Relationship Type="http://schemas.openxmlformats.org/officeDocument/2006/relationships/slide" Target="/ppt/slides/slide51.xml" Id="Rd433eefcf6c941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fc92c8ba8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41df108cf448d" /><Relationship Type="http://schemas.openxmlformats.org/officeDocument/2006/relationships/notesMaster" Target="/ppt/notesMasters/notesMaster1.xml" Id="Ra99664e9a43544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d355438fa5468a" /><Relationship Type="http://schemas.openxmlformats.org/officeDocument/2006/relationships/notesMaster" Target="/ppt/notesMasters/notesMaster1.xml" Id="Rd8e91de46249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6d7b357bf14e51" /><Relationship Type="http://schemas.openxmlformats.org/officeDocument/2006/relationships/notesMaster" Target="/ppt/notesMasters/notesMaster1.xml" Id="R2a9e015ad80c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afe8d7645b433c" /><Relationship Type="http://schemas.openxmlformats.org/officeDocument/2006/relationships/notesMaster" Target="/ppt/notesMasters/notesMaster1.xml" Id="Rf10e49c3a7504a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72f7d0e70e4da1" /><Relationship Type="http://schemas.openxmlformats.org/officeDocument/2006/relationships/notesMaster" Target="/ppt/notesMasters/notesMaster1.xml" Id="Rebb8959de915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32a33de23d4bb9" /><Relationship Type="http://schemas.openxmlformats.org/officeDocument/2006/relationships/notesMaster" Target="/ppt/notesMasters/notesMaster1.xml" Id="Rb9f6f63ea5364d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6b468194084a55" /><Relationship Type="http://schemas.openxmlformats.org/officeDocument/2006/relationships/notesMaster" Target="/ppt/notesMasters/notesMaster1.xml" Id="Rf06840a1de504f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9c8a77506f42ff" /><Relationship Type="http://schemas.openxmlformats.org/officeDocument/2006/relationships/notesMaster" Target="/ppt/notesMasters/notesMaster1.xml" Id="R5d9aa1b766e24b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0ab2c5a8c4bbf" /><Relationship Type="http://schemas.openxmlformats.org/officeDocument/2006/relationships/notesMaster" Target="/ppt/notesMasters/notesMaster1.xml" Id="Rcfe63dac6ed243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65187ef65496c" /><Relationship Type="http://schemas.openxmlformats.org/officeDocument/2006/relationships/notesMaster" Target="/ppt/notesMasters/notesMaster1.xml" Id="R4b5fd9b3934748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61b9e7703495e" /><Relationship Type="http://schemas.openxmlformats.org/officeDocument/2006/relationships/notesMaster" Target="/ppt/notesMasters/notesMaster1.xml" Id="R5f7d4219f12d4b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3a546784ea4552" /><Relationship Type="http://schemas.openxmlformats.org/officeDocument/2006/relationships/notesMaster" Target="/ppt/notesMasters/notesMaster1.xml" Id="R0fb2146f41c649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510bf4b7e842a1" /><Relationship Type="http://schemas.openxmlformats.org/officeDocument/2006/relationships/notesMaster" Target="/ppt/notesMasters/notesMaster1.xml" Id="R1e28746381094a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819352aa8649c1" /><Relationship Type="http://schemas.openxmlformats.org/officeDocument/2006/relationships/notesMaster" Target="/ppt/notesMasters/notesMaster1.xml" Id="R741ab7b5ed7d40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9f482037e48bd" /><Relationship Type="http://schemas.openxmlformats.org/officeDocument/2006/relationships/notesMaster" Target="/ppt/notesMasters/notesMaster1.xml" Id="R75bb117a8cc94a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3879321ad44b83" /><Relationship Type="http://schemas.openxmlformats.org/officeDocument/2006/relationships/notesMaster" Target="/ppt/notesMasters/notesMaster1.xml" Id="R9f5a694fb71d44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52a9a96c8540b7" /><Relationship Type="http://schemas.openxmlformats.org/officeDocument/2006/relationships/notesMaster" Target="/ppt/notesMasters/notesMaster1.xml" Id="Rd7650367efcd4f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cc778b2e824c7f" /><Relationship Type="http://schemas.openxmlformats.org/officeDocument/2006/relationships/notesMaster" Target="/ppt/notesMasters/notesMaster1.xml" Id="R81032b2dd65146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5e5406e53c4e59" /><Relationship Type="http://schemas.openxmlformats.org/officeDocument/2006/relationships/notesMaster" Target="/ppt/notesMasters/notesMaster1.xml" Id="R4488c96f52de4e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d8e49ea4d04798" /><Relationship Type="http://schemas.openxmlformats.org/officeDocument/2006/relationships/notesMaster" Target="/ppt/notesMasters/notesMaster1.xml" Id="R550f765bff1f4f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d55fa8c6484405" /><Relationship Type="http://schemas.openxmlformats.org/officeDocument/2006/relationships/notesMaster" Target="/ppt/notesMasters/notesMaster1.xml" Id="R3117bb5e381444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1b94fc78d043e6" /><Relationship Type="http://schemas.openxmlformats.org/officeDocument/2006/relationships/notesMaster" Target="/ppt/notesMasters/notesMaster1.xml" Id="R9d8f5242247843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db4021226b4778" /><Relationship Type="http://schemas.openxmlformats.org/officeDocument/2006/relationships/notesMaster" Target="/ppt/notesMasters/notesMaster1.xml" Id="R8735de8e768a46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64211c5becc4972" /><Relationship Type="http://schemas.openxmlformats.org/officeDocument/2006/relationships/notesMaster" Target="/ppt/notesMasters/notesMaster1.xml" Id="R89308365973e49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757ee65b4641bb" /><Relationship Type="http://schemas.openxmlformats.org/officeDocument/2006/relationships/notesMaster" Target="/ppt/notesMasters/notesMaster1.xml" Id="R44f43ab0e5be44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c52ab0b8494719" /><Relationship Type="http://schemas.openxmlformats.org/officeDocument/2006/relationships/notesMaster" Target="/ppt/notesMasters/notesMaster1.xml" Id="R982ab38c09db44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1abaa6f7004086" /><Relationship Type="http://schemas.openxmlformats.org/officeDocument/2006/relationships/notesMaster" Target="/ppt/notesMasters/notesMaster1.xml" Id="Ra4a3ad671fac4c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601b6894b14d2d" /><Relationship Type="http://schemas.openxmlformats.org/officeDocument/2006/relationships/notesMaster" Target="/ppt/notesMasters/notesMaster1.xml" Id="Rdf0a8331fad4477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684f0f72d44ce8" /><Relationship Type="http://schemas.openxmlformats.org/officeDocument/2006/relationships/notesMaster" Target="/ppt/notesMasters/notesMaster1.xml" Id="R04c63ad1abce41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701a864cab44f7" /><Relationship Type="http://schemas.openxmlformats.org/officeDocument/2006/relationships/notesMaster" Target="/ppt/notesMasters/notesMaster1.xml" Id="Rf95765dee0034f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95411081a3f4b11" /><Relationship Type="http://schemas.openxmlformats.org/officeDocument/2006/relationships/notesMaster" Target="/ppt/notesMasters/notesMaster1.xml" Id="R9ddb5fb38b7a48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b6629faed5d4119" /><Relationship Type="http://schemas.openxmlformats.org/officeDocument/2006/relationships/notesMaster" Target="/ppt/notesMasters/notesMaster1.xml" Id="Rd4cb450a690a41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b1ba69fd0fd44a8" /><Relationship Type="http://schemas.openxmlformats.org/officeDocument/2006/relationships/notesMaster" Target="/ppt/notesMasters/notesMaster1.xml" Id="R0f7b08e8ac3549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93b5bc038894560" /><Relationship Type="http://schemas.openxmlformats.org/officeDocument/2006/relationships/notesMaster" Target="/ppt/notesMasters/notesMaster1.xml" Id="R240e2606b49e44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dc738c658b64307" /><Relationship Type="http://schemas.openxmlformats.org/officeDocument/2006/relationships/notesMaster" Target="/ppt/notesMasters/notesMaster1.xml" Id="R66304e131b5c494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0fbeba409fc4022" /><Relationship Type="http://schemas.openxmlformats.org/officeDocument/2006/relationships/notesMaster" Target="/ppt/notesMasters/notesMaster1.xml" Id="Rfc87380c621d4ef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c034ffe14d4494" /><Relationship Type="http://schemas.openxmlformats.org/officeDocument/2006/relationships/notesMaster" Target="/ppt/notesMasters/notesMaster1.xml" Id="R0911df6befd14f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9581c171cfb4b93" /><Relationship Type="http://schemas.openxmlformats.org/officeDocument/2006/relationships/notesMaster" Target="/ppt/notesMasters/notesMaster1.xml" Id="R6609f5948e0a460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43e71489e9f4805" /><Relationship Type="http://schemas.openxmlformats.org/officeDocument/2006/relationships/notesMaster" Target="/ppt/notesMasters/notesMaster1.xml" Id="R2a26fe9357a7440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5a5d8693074e9f" /><Relationship Type="http://schemas.openxmlformats.org/officeDocument/2006/relationships/notesMaster" Target="/ppt/notesMasters/notesMaster1.xml" Id="R1c127c7b042e480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d92a652b3114688" /><Relationship Type="http://schemas.openxmlformats.org/officeDocument/2006/relationships/notesMaster" Target="/ppt/notesMasters/notesMaster1.xml" Id="R37392f2884ae4b6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1246931d494ab8" /><Relationship Type="http://schemas.openxmlformats.org/officeDocument/2006/relationships/notesMaster" Target="/ppt/notesMasters/notesMaster1.xml" Id="Rb49ec35d9146420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c4ceb8bee0240ec" /><Relationship Type="http://schemas.openxmlformats.org/officeDocument/2006/relationships/notesMaster" Target="/ppt/notesMasters/notesMaster1.xml" Id="Re138662d3de1489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4d93ffa972d4b5e" /><Relationship Type="http://schemas.openxmlformats.org/officeDocument/2006/relationships/notesMaster" Target="/ppt/notesMasters/notesMaster1.xml" Id="Rf6893f439c39455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3d58f2dda5440b2" /><Relationship Type="http://schemas.openxmlformats.org/officeDocument/2006/relationships/notesMaster" Target="/ppt/notesMasters/notesMaster1.xml" Id="Reda7295f378c46f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2289b77bad44bc0" /><Relationship Type="http://schemas.openxmlformats.org/officeDocument/2006/relationships/notesMaster" Target="/ppt/notesMasters/notesMaster1.xml" Id="Re157ca6dfed245b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68620b534cc4ff3" /><Relationship Type="http://schemas.openxmlformats.org/officeDocument/2006/relationships/notesMaster" Target="/ppt/notesMasters/notesMaster1.xml" Id="Rd0b2ff84953c462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ecc23e5c445448c" /><Relationship Type="http://schemas.openxmlformats.org/officeDocument/2006/relationships/notesMaster" Target="/ppt/notesMasters/notesMaster1.xml" Id="R024b8d1aa20b4d0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8b9a3992e6c43f2" /><Relationship Type="http://schemas.openxmlformats.org/officeDocument/2006/relationships/notesMaster" Target="/ppt/notesMasters/notesMaster1.xml" Id="Rbf0382283d144d4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cd0ad613e3a4750" /><Relationship Type="http://schemas.openxmlformats.org/officeDocument/2006/relationships/notesMaster" Target="/ppt/notesMasters/notesMaster1.xml" Id="R95c16c0282ed4f2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8abb0fffc3941aa" /><Relationship Type="http://schemas.openxmlformats.org/officeDocument/2006/relationships/notesMaster" Target="/ppt/notesMasters/notesMaster1.xml" Id="R71c05309996f4e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objetivo da aula: construir um procedimento de melhoria de modelos que respeite o tempo, o uso dos dados e a comparação justa. Duração sugerida: 120 a 150 minutos, incluindo as atividades. Os exemplos numéricos e gráficos desta versão são sintéticos e estão identificados nos slides. Autoria conforme a capa do PDF. Arte, logotipos, tipografia, cores e estrutura de capa vêm do template Hydro-UAI Course.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bloco de incerteza apresenta estimadores, confiança, previsão e validação dos intervalos.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Após a aula, o participante deve conseguir explicar o treinamento de um MLP, reconhecer sinais de overfitting, distinguir seleção de atributos de extração de componentes e organizar a busca de hiperparâmetros sem usar o teste. Pergunta inicial: qual dessas etapas costuma consumir mais tempo no trabalho de vocês?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12.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adicional: distinguir fontes de incerteza e interpretar cobertura, largura e intervalos nas previsões de vazão.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o tempo observado t do horizonte t+1. O modelo usa somente informação disponível no horário operacional de emissão. Precipitação futura observada seria vazamento, mas uma previsão meteorológica realmente disponível poderia ser usada com sua origem e incerteza documentadas. Perguntar: uma estação a montante com atraso de transmissão ainda estará disponível? Atributos válidos dependem desse contrato de disponibilidade.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blocos ordenados para previsão temporal. As proporções dependem do comprimento da série, sazonalidade, horizonte e objetivo. A validação orienta escolhas e o teste final fica separado até que o procedimento esteja definido. Um gap pode ajudar quando há janelas com sobreposição ou rótulos que avançam no tempo. Imputação, padronização, correlação, MI e PCA devem ser ajustados somente com o treino de cada divisão.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https://scikit-learn.org/stable/modules/generated/sklearn.model_selection.TimeSeriesSplit.html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rede é feedforward e totalmente conectada neste diagrama. Cada ligação carrega um peso, e cada neurônio das camadas ocultas e de saída tem um viés. Uma rede formada somente por transformações afins pode ser reduzida a uma transformação afim, mesmo com várias camadas. A capacidade não linear depende das funções de ativação. A saída de regressão pode usar ativação linear. Perguntar ao grupo quais entradas adicionais fariam sentido no problema condutor.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2.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Fazer a conta com o grupo antes de revelar o resultado. ReLU deixa passar valores positivos e devolve zero para valores negativos. Neste exemplo, z=0.7 e h=0.7. Os números não representam variáveis hidrológicas com unidades misturadas: as entradas já passaram por uma transformação de escala. A rede combina muitos desses neurônios para construir o mapeamento final. O número de camadas e neurônios é configuração, enquanto w e b são parâmetros aprendidos.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2.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Percorrer as operações na ordem. A regra da cadeia transporta as sensibilidades da perda de volta às camadas anteriores. Backpropagation computa as derivadas, e o algoritmo de otimização aplica a atualização. Adam e SGD usam os gradientes de maneiras diferentes. O sentido da atualização é o negativo do gradiente da perda. Em redes não convexas, essa regra não garante encontrar o mínimo global. Uma época percorre o conjunto de treino uma vez.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3.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https://visionbook.mit.edu/backpropagation.html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Convidar os alunos a verificar o sinal da derivada. Uma derivada negativa significa que aumentar w, localmente, reduz a perda. A conta usa um único exemplo e a perda 1/2 do erro quadrático, para simplificar a derivada. Com w=0.7, a previsão passa a 1.4 e a perda é 0.5*(1.4-2)^2=0.18. Não generalizar que toda taxa de aprendizado produz redução de perda. Pergunta: como a previsão mudaria se η fosse muito maior?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https://visionbook.mit.edu/backpropagation.html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Corrigir uma confusão recorrente: neurônios e camadas definem a arquitetura, mas os parâmetros treináveis de um MLP são seus pesos e vieses. Hiperparâmetros podem ser definidos manualmente ou por busca automática. A busca usa resultados de validação para decidir quais configurações comparar. Ela não deve decidir com base no desempenho no teste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11.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https://scikit-learn.org/stable/modules/grid_search.html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painéis usam as mesmas 12 observações: y=12+4x+8sin(x/2)+ruído normal (desvio 2, seed 42). Os ajustes são polinomiais e servem como analogia visual, sem representar três MLPs treinados. A interpolação de grau 11 reproduz os pontos, mas pode variar muito entre eles. A figura sozinha não estabelece qual modelo generaliza melhor. Essa decisão exige dados fora do treino. Pedir que o grupo indique regiões onde a interpolação produz comportamento menos plausível.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4.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curva de treino cai progressivamente e a de validação tem mínimo na época 60. As curvas foram definidas para ensino, não medidas em um experimento. Identificar o intervalo em que os erros divergem. Divergência é um indício de overfitting, mas séries pequenas ou não estacionárias também podem gerar variações. As curvas devem ser acompanhadas em escala comparável e com uma perda de validação sem a penalização de treino, quando a interpretação exigir essa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5.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Solicitar que os alunos encontrem o mínimo e depois contem as épocas consecutivas sem melhora. A parada acontece na época 44 com patience=3 e o melhor estado é o da época 41. Implementações podem monitorar perda ou uma métrica, tratar a tolerância de forma diferente e restaurar pesos de modo distinto. A regra deve ser documentada. Em séries temporais, usar um bloco de validação apropriado ao tempo. A divisão aleatória interna de algumas bibliotecas pode exigir um procedimento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5.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exemplos de causas que produzem curvas semelhantes. Uma perda alta pode resultar de entradas com pouca informação ou de distribuição difícil, e não somente de uma rede pequena. A regularização L2 penaliza a magnitude dos pesos. O early stopping restringe o tempo de ajuste. Reduzir o número de atributos irrelevantes pode ajudar, mas não garante melhora. Comparar intervenções mantendo as divisões e o orçamento de treinamento.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4–6.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um dos 16 neurônios tem p pesos e um viés. Com 6 entradas são 7*16=112 parâmetros; com 24 são 25*16=400. A contagem cobre somente a primeira camada. Não concluir que menos atributos é sempre melhor: variáveis distintas podem representar processos diferentes e melhorar a previsão. O objetivo é avaliar relevância, redundância, disponibilidade e desempenho. A seleção ou transformação é uma escolha experimental.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6.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Pearson mede associação linear e varia de -1 a 1. A relação y=x² com x em [-2,-1,0,1,2] é simétrica: a covariância é zero e r=0, apesar de y ser determinado por x. A correlação é indefinida se uma das variáveis for constante. O sinal negativo também pode indicar redundância linear. Esta observação motiva o uso de |r| no filtro e a comparação com métodos que captam dependências não lineares.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7.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https://scikit-learn.org/stable/auto_examples/feature_selection/plot_f_test_vs_mi.html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Ler primeiro as diagonais e depois os pares fora delas. As correlações foram calculadas em variáveis sintéticas com um sinal de chuva comum e ruído independente. O cenário é ilustrativo e não descreve uma bacia real. Janelas de precipitação acumulada compartilham eventos e podem ser correlacionadas. A informação hidrológica de duração não deve ser descartada automaticamente. A matriz aqui contém somente entradas. O alvo não é candidato de entrada.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7.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filtro pode reduzir redundância, mas deve ser visto como gerador de candidatos. Duas variáveis muito correlacionadas podem ter informações distintas sobre eventos extremos, atrasos ou regimes. Use |r| para abranger associação negativa. Calcule a triagem no treino e compare diferentes representantes na validação. Evitar selecionar entradas usando o teste ou eliminá-las apenas por baixa correlação linear com o 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7.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encontra direções ortogonais de máxima variância nos dados de entrada. O gráfico usa 21 observações sintéticas padronizadas em duas variáveis. A primeira componente explica aproximadamente 99,44% da variância e a segunda o restante. Cada observação é projetada nos eixos para produzir scores. O alvo Q(t+1) não participa desse ajuste. A PC1 pode representar um sinal de chuva comum, mas a interpretação depende das cargas e do contexto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8.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duas variáveis com a mesma variância e correlação positiva, os autovetores são proporcionais a (1,1) e (1,-1). A divisão por √2 mantém comprimento unitário dos eixos. Scores são coordenadas das observações nos novos eixos. O PCA não seleciona uma variável original: ele gera combinações. A inversão do sinal de uma componente é equivalente e não altera a variância explicada ou a reconstrução, desde que a transformação seja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8.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Somar 52+26+12+6=96%. O limiar ilustrado é 95%, então as quatro primeiras componentes o ultrapassam. A regra se refere à variância das entradas sob a escala escolhida, sem garantir preservação do sinal relevante ao alvo. Uma direção de baixa variância pode ser importante para prever a vazão. Comparar k na validação. As seis parcelas somam 100%. O número de componentes começa em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8.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Ajustar todos os transformadores exclusivamente no treino. Na validação e no teste, aplicar os objetos ajustados sem aprender novas médias, escalas, componentes ou conjuntos de variáveis. Repetir isso dentro de cada divisão de validação cruzada. Se houver imputação, ela também deve respeitar a informação disponível no tempo. Após escolher a configuração, pode-se reajustar no conjunto de desenvolvimento de acordo com um protocolo de parada previamente definido, mantendo o teste intocado.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entropia para variável discreta, com a convenção 0 log 0 = 0. No caso binário, H(p)=-p log2(p)-(1-p)log2(1-p), cujo máximo é um bit quando p=0.5. A entropia condicional resume a incerteza restante após conhecer X. A fórmula de MI neste slide usa variáveis discretas. Para dados contínuos, usamos uma definição por densidades e estimadores apropriados. Perguntar: conhecer chuva forte pode reduzir a incerteza sem determinar totalmente a vazão?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9.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probabilidades conjuntas somam 1. As duas marginais são 0.5. Em cada condição de X, as probabilidades de Y são 0.75 e 0.25 em alguma ordem. H(Y|X)=-0.75log2(0.75)-0.25log2(0.25)=0.811278, e MI=1-0.811278=0.188722 bit. A relação é hipotética, sem correspondência com medições hidrológicas. Para incentivar participação, pedir que os alunos obtenham primeiro p(alta|chuvoso)=0.375/0.5=0.75.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9.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o conjunto simétrico de 41 valores x, a covariância entre x e x² é zero, dentro da precisão numérica. A dependência permanece. A MI detecta relações não lineares, mas sua estimação depende do tamanho amostral e das escolhas do estimador. Em uma relação contínua determinística, a MI ideal pode ser infinita. Por isso, este slide não apresenta um número finito de MI para a curva exata. Não usar a MI para inferir direção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9–10.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https://scikit-learn.org/stable/auto_examples/feature_selection/plot_f_test_vs_mi.html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 reproduzível: p~Uniforme(-2,2), q~Normal(0,1), q_anterior=q+0.3*ruído, alvo=1.8q+2.7p²+0.3*ruído. Seed 42, n=600, mutual_info_regression com n_neighbors=5 e random_state=42. O índice p tem |r|≈0,043 e MI≈0,696 nat. O exemplo é matemático e não uma análise de estações ou de bacia real. No scikit-learn, MI contínua é estimada usando distâncias a vizinhos. O valor não possui sinal e não se limita a 1. Rankings univariados não avaliam completamente redundância ou interação entre entradas.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10.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Correlação entre entradas pode orientar redução de redundância sem o alvo; correlação de entrada com alvo é uma seleção supervisionada. PCA extrai componentes usando somente X e não garante desempenho melhor. Seleção por MI usa y para medir associação com cada entrada. Todos os ajustes devem ocorrer no treino. Alta MI não assegura ganho incremental se a entrada for redundante com outra. Uma variável pode ter baixa associação marginal e contribuir em uma interação.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7–9.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exemplo usa distância euclidiana no espaço de duas entradas já padronizadas. A consulta é (0.7,0.1), e os vizinhos mais próximos são A=(0.6,0.2), B=(0.9,0.1) e C=(0.7,-0.2), a distâncias aproximadamente 0.141, 0.2 e 0.3. Suas vazões futuras observadas são 22, 28 e 25 m³/s. Com pesos iguais, a previsão é 25. Ajustar k e o tipo de ponderação na validação. KNN pode funcionar como referência para perguntar se a complexidade do MLP melhora a previsão. O uso de vizinhos para estimar MI é outra aplicação da ideia de proximidade, não a regressão KNN deste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orientadora. A: a correlação não decide sozinha. Comparar qualidade, disponibilidade e desempenho de cada representante, considerando atrasos e duração dos eventos. B: manter como candidata, pois uma dependência não linear pode justificar MI alta, mas confirmar a estabilidade da estimação e a contribuição incremental. C: 96% é variância das entradas. Aprovação depende do desempenho de previsão na validação e da utilidade operacional. Pedir a cada dupla que justifique uma decisão em uma frase. Os números da atividade são hipotéticos.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os hiperparâmetros como decisões com efeitos acoplados. Uma taxa adequada depende da escala, da perda e do otimizador. O tamanho de lote modifica o número de atualizações por época e a variabilidade da estimativa do gradiente. O efeito da regularização depende também do tamanho dos dados e da definição da perda. Não prescrever uma única configuração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11.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curvas mostram a perda normalizada para L(w)=w², com derivada 2w. A recorrência é w_t=w_0(1-2η)^t, então L_t/L_0=(1-2η)^(2t). Com η=0.025 o fator de peso é 0.95 e a redução é lenta. Com 0.2 o fator é 0.6. Com 1.05 o fator é -1.1, a posição oscila em torno de zero e a perda cresce. O gráfico mostra a perda e não o sinal de w. O limiar de estabilidade deste exemplo não deve ser generalizado para uma rede complexa.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11.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https://visionbook.mit.edu/backpropagation.html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Primeira rede: (6+1)*8+(8+1)*1=56+9=65. Segunda: (6+1)*16+(16+1)*16+(16+1)*1=112+272+17=401. Terceira: (6+1)*64+(64+1)*64+(64+1)*1=448+4160+65=4673. A capacidade aumenta, mas a contagem não estabelece a melhor arquitetura. Comparar erro de validação, estabilidade, custo e quantidade de dados. Os blocos não têm altura proporcional ao número de neurônios.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11.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Grid search enumera o produto cartesiano dos valores especificados: 3 valores de regularização e 3 larguras produzem 9 candidatos. Random search amostra candidatos de distribuições ou listas, sob um orçamento definido. A escala logarítmica ajuda a explorar ordens de magnitude de regularização. A busca aleatória pode cobrir mais valores de um parâmetro, mas a figura não demonstra superioridade de desempenho. Manter o mesmo esquema de validação para todos os candidatos.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11–12.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https://scikit-learn.org/stable/modules/grid_search.html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datas são hipotéticas. Cada divisão usa apenas o passado para estimar um período posterior. Reajustar os transformadores no treino de cada divisão. Comparar a média e a dispersão dos erros em blocos, além de cheias e estiagens. Reservar 2025 para avaliação final após escolher a configuração. Se houver early stopping, definir uma subdivisão temporal interna ao treino de cada fold ou um número de épocas selecionado previamente, evitando usar os rótulos do período avaliado no treinamento. A divisão final de desenvolvimento admite um protocolo de reajuste definido antes de abrir o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https://scikit-learn.org/stable/modules/generated/sklearn.model_selection.TimeSeriesSplit.html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os resultados são inventados para uma decisão didática, sem alegação de experimento realizado. O custo está normalizado pelo candidato A. O menor RMSE médio nominal é D, mas a diferença de 0.1 m³/s em relação a B pode não ser relevante diante da dispersão. O desvio entre blocos não é um intervalo de confiança nem prova de significância. Comparar erros pareados por bloco, custo, estabilidade e desempenho em regimes críticos. Perguntar quais evidências adicionais seriam necessárias para escolher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https://scikit-learn.org/stable/modules/grid_search.html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Observações [10,20,30,40], média 25 e TSS=500. A: erros [-2,2,-2,2], SSE=16, MSE=4, RMSE=2, R²=1-16/500=0.968. B: previsões [30,40,50,60], erro constante -20, SSE=1600, RMSE=20, R²=1-1600/500=-2.2. Em B, r entre observado e previsto é exatamente 1 porque há deslocamento constante. O coeficiente de determinação das previsões não se iguala, em geral, ao quadrado da correlação. R² negativo significa SSE maior que usar a média observada como previsão constante no conjunto avaliado. Comparar ainda com persistência Q̂(t+1)=Q(t) para o caso hidrológico. Se o alvo for constante, o denominador é zero e exige tratamento específico.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https://scikit-learn.org/stable/modules/generated/sklearn.metrics.r2_score.html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a ausência de grandes cheias no treino como exemplo de conhecimento limitado. A distinção depende da informação disponível: uma variável física omitida pode aparecer como variabilidade residual. Mais repetições das mesmas condições ajudam a caracterizar o ruído, mas a redução da incerteza do modelo requer informação sobre os regimes relevantes. Perguntar qual fonte predomina no projeto dos participantes.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https://papers.nips.cc/paper/2017/file/2650d6089a6d640c5e85b2b88265dc2b-Paper.pdf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cinco funções foram construídas para demonstrar o conceito, sem ajustar redes a uma base real. Comparar a região até 55 mm com a parte à direita. Modelos podem concordar no domínio observado e divergir ao extrapolar. A divergência é um diagnóstico aproximado, condicionado ao método. Pouca dispersão também pode coexistir com um viés compartilhado entre os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https://papers.nips.cc/paper/2017/file/9ef2ed4b7fd2c810847ffa5fa85bce38-Paper.pdf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https://papers.nips.cc/paper/2017/file/2650d6089a6d640c5e85b2b88265dc2b-Paper.pdf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o ensemble com diferentes inicializações do bootstrap que varia os dados. MC dropout pressupõe uma rede treinada com dropout e amostras de máscaras na inferência. Repetir predict em uma rede determinística fornece a mesma saída. O bootstrap em blocos será o exemplo de aproximação de um intervalo de confiança da média condicional.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https://papers.nips.cc/paper/2017/file/9ef2ed4b7fd2c810847ffa5fa85bce38-Paper.pdf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https://proceedings.mlr.press/v48/gal16.html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https://otexts.com/fpp3/bootstrap.html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a média: (18+20+21+22+24)/5=21. A soma dos desvios quadráticos é 20, a variância amostral é 5 e o desvio é √5=2,236. A fórmula usa M−1 para descrever a dispersão amostral. A variância da mistura empírica com pesos 1/M usa o denominador M. Dividir s por √M estima erro de Monte Carlo da média sob amostras independentes, uma quantidade diferente da dispersão epistemicamente relevante. Aumentar M melhora a estabilidade da estimativa, mas não acrescenta observações hidrológicas.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https://papers.nips.cc/paper/2017/file/9ef2ed4b7fd2c810847ffa5fa85bce38-Paper.pdf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média condicional E[Y|x] descreve a resposta média para uma entrada x. Uma observação futura pode se afastar dessa média mesmo que o parâmetro seja bem estimado. A equação é a lei da variância total, com expectativas sobre a distribuição dos parâmetros ou dos modelos. A faixa entre previsões pontuais de redes captura apenas a dispersão dos ajustes. Identificar o método antes de chamar uma faixa de IC de 95%.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https://www.itl.nist.gov/div898/handbook/prc/section1/prc14.htm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https://search.r-project.org/CRAN/refmans/EnvStats/html/predIntNorm.html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https://papers.nips.cc/paper/2017/file/2650d6089a6d640c5e85b2b88265dc2b-Paper.pdf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linha vem de uma nova amostra de 25 valores normais, com média populacional 100 e desvio conhecido 10. O IC usa média amostral ±1,95996·10/√25. A simulação com seed 2026 cobre o alvo em 19 das 20 repetições. Essa frequência finita pode variar. O 95% caracteriza o procedimento sob suas hipóteses, e não uma probabilidade posterior da média fixa neste intervalo particular. Essas repetições independentes diferem de dias autocorrelacionados de uma única série.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https://www.itl.nist.gov/div898/handbook/prc/section1/prc14.htm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o mesmo cenário para os dois alvos. O erro padrão da média é 10/√25=2. Com 24 graus de liberdade, o valor crítico é 2,06389856. Assim, IC=100±4,127797. Para uma observação independente futura da mesma população normal, a incerteza inclui sua própria variabilidade e resulta em 100±21,047718. Esses limites não são resultados de uma rede. Perguntar qual intervalo responde à necessidade de prever a vazão de amanhã.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https://search.r-project.org/CRAN/refmans/EnvStats/html/predIntNorm.html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reamostra mantém o mesmo número de pares, escolhendo blocos com reposição. Construir X e y antes da reamostragem evita criar defasagens entre dias artificialmente unidos. Ajustar o tamanho de bloco à dependência e aos eventos, sem tratá-lo como valor universal. Para sazonalidade ou não estacionariedade, considerar remoção e reintrodução desses componentes ou desenho estratificado. Repetir também o preparo dentro de cada amostra. A validação e o teste continuam posteriores no tempo.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https://otexts.com/fpp3/bootstrap.html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arquitetura e o procedimento de escolha ficam definidos antes desta etapa. Em cada reamostra de treino, repetir imputação, escala, seleção/PCA e treinamento, depois estimar a média na mesma entrada x*. Os percentis 2,5 e 97,5 formam o IC percentil aproximado. Para a distribuição sintética de 500 estimativas deste slide, os valores são 89,307880 e 112,053536 m³/s. O histograma não vem de MLPs reais. O bootstrap pode ter cobertura inadequada quando o viés, o ajuste temporal ou a seleção não são representados. Para prever Y*, acrescentar um modelo da variabilidade da resposta e calibrar em dados separados.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https://otexts.com/fpp3/bootstrap.html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dois conjuntos usam as mesmas previsões centrais e observações sintéticas. A tem meia largura 8 e cobre 10/20=50%, com largura 16. B tem meia largura 20 e cobre 18/20=90%, com largura 40. O gráfico mostra B. Comparar cobertura com o nível nominal, junto com a largura. Intervalos arbitrariamente largos podem ter muita cobertura e pouca utilidade. Os 20 casos ilustram a conta, sem provar calibração. Ajustar o método em validação/calibração e verificar em teste posterior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https://proceedings.mlr.press/v130/chen21b.html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60/60 na estiagem, 80/80 em vazões usuais e 3/10 nos picos. A soma produz 143/150=95,333%, mas o regime mais crítico tem 30%. A cobertura global não demonstra cobertura condicional. Além de regime, verificar horizonte, estação e período. Dez picos oferecem pouca precisão estatística, e eventos consecutivos ainda podem reduzir a informação efetiva. Decidir ajustes usando validação e manter o teste reservado para o procedimento definido. Exemplo construído para discussão.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https://proceedings.mlr.press/v130/chen21b.html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Δ&lt;0 corresponde a RMSE menor para B. Na primeira comparação, a estimativa é −0,4 e o intervalo inclui zero, de modo que essa análise não resolve a diferença. Na segunda, a estimativa é −1,2 e ambos os limites são negativos. Construir a distribuição de Δ em blocos reamostrados das mesmas observações e previsões dos dois modelos. Essa reamostragem avalia a incerteza da métrica para modelos já ajustados. Repetir também o treinamento quando o alvo incluir a variabilidade do processo de ajuste. Os limites são exemplos hipotéticos e não resultados de um teste real. Considerar relevância hidrológica e custo, além do sinal.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https://otexts.com/fpp3/bootstrap.html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https://www.itl.nist.gov/div898/handbook/eda/section3/eda352.htm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orientadora. 1: reservar um bloco recente para teste e usar divisões temporais no desenvolvimento, com gaps se as janelas exigirem. 2: investigar overfitting, além de mudanças de distribuição e erros de preparo. 3: comparar baseline com todas as entradas, filtro de redundância, ranking por MI e PCA, ajustando tudo somente no treino. 4: manter mesmas divisões, controlar o orçamento, registrar hiperparâmetros, erros e custo, comparar estabilidade e extremos. Se a curva divergir, testar early stopping, regularização e menor arquitetura. Após definir o procedimento, avaliar uma vez no teste reservado. Usar uma referência de persistência e, se pertinente, KNN. Os 8 anos e 24 entradas são um cenário hipotético.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https://scikit-learn.org/stable/modules/generated/sklearn.model_selection.TimeSeriesSplit.html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https://scikit-learn.org/stable/modules/grid_search.html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5: o intervalo se refere à média, e a cobertura de vazões futuras requer intervalo de previsão e avaliação em dados posteriores. Pedir que o grupo descreva como mediria a cobertura nos picos. Ampliar a coleta dos regimes pouco representados pode reduzir incerteza epistêmica.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Retomar os cinco objetivos e pedir a um participante que explique a diferença entre redução de variância das entradas e melhora de previsão. Reforçar que a melhoria depende de uma comparação controlada, e que um modelo maior pode ter maior custo sem ganho relevante. A escolha de atributos e arquitetura deve respeitar disponibilidade operacional e generalização. Encerrar com a pergunta: qual experimento simples vocês fariam primeiro no próprio projeto?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Base: PDF Quinta - parte 1 (1).pdf, página(s) 12. Conteúdo reestruturado para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análise de incerteza, identificar o alvo do intervalo, avaliar cobertura e largura em conjunto e examinar os eventos críticos.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primárias para as ampliações teóricas. As figuras e os valores numéricos são exemplos didáticos descritos nas notas correspondentes. O material-base é o PDF Quinta - parte 1 (1).pdf, 12 páginas, com autoria indicada na capa. O template é Hydro-UAI_Course_dia-2 (1).pptx. Referências consultadas em 06/10/2026.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Ampliação didática do PDF Quinta - parte 1 (1).pdf.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https://visionbook.mit.edu/backpropagation.html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https://scikit-learn.org/stable/modules/generated/sklearn.decomposition.PCA.html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https://scikit-learn.org/stable/modules/generated/sklearn.feature_selection.mutual_info_regression.html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https://scikit-learn.org/stable/auto_examples/feature_selection/plot_f_test_vs_mi.html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https://scikit-learn.org/stable/modules/grid_search.html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https://scikit-learn.org/stable/modules/generated/sklearn.model_selection.TimeSeriesSplit.html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https://scikit-learn.org/stable/modules/generated/sklearn.metrics.r2_score.html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https://scikit-learn.org/stable/modules/neighbors.html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para estudo do bloco de incerteza. Os conceitos de amostragem repetida e previsão usam as hipóteses explicitadas nos slides. Os exemplos de bootstrap, regimes e comparação de RMSE servem à discussão e não representam experimentos hidrológicos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https://papers.nips.cc/paper/2017/file/2650d6089a6d640c5e85b2b88265dc2b-Paper.pdf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https://papers.nips.cc/paper/2017/file/9ef2ed4b7fd2c810847ffa5fa85bce38-Paper.pdf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https://proceedings.mlr.press/v48/gal16.html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https://www.itl.nist.gov/div898/handbook/prc/section1/prc14.htm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https://search.r-project.org/CRAN/refmans/EnvStats/html/predIntNorm.html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https://otexts.com/fpp3/bootstrap.html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https://proceedings.mlr.press/v130/chen21b.html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edda53e8443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393ac5d4c4d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6de8211e54b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d7cee853742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3a8c2d9b745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aaabf690d4a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e92ddcbe340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3ab91dfc44a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1ad7e6f7a42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b03f2e1e34a6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e6b57b55346b8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11BB454-8679-D779-91CD-901E6567128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00A0B855-82A6-73F3-ADAE-C145294CF5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20558CA8-42E6-5BD9-D627-A3789914B2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C09D1132-49C2-9933-73CE-0C476DDA0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C7B3DBD-80A4-9994-908D-07D68CC94D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FA0E026-F824-9DB1-FE69-7D3514C62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EC3B507B-5DAE-5152-E1AD-EE68A64B5E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14B70DB5-447D-DB44-9AF1-C0BAACC9A6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E9A6542-33C6-4E8A-955A-FFF9456B91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7DEB9CC-0C72-DEF6-E0FD-F769BDB2A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5D848F-D36E-1918-5D9C-23455336D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E36679D2-71E9-3160-A846-5ADD7544C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5537D26F-9630-40B2-0B39-EEF280B28F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413F4993-24E1-9D36-0A74-207423F413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C195F4AE-DC88-EE3B-B261-373A24D74D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ECB9B22-BE19-D53D-6BFE-7EE67D4BC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7F52B350-C854-D597-1369-1251896D2E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F89E7523-364F-92D4-B857-4BE49AE299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1CF1DC5B-BDD2-F986-8102-B2DB2F7E6A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D0DE4E83-F323-43DB-E264-DAF50F3BC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0DADBB9A-EC0E-B450-3B25-7247EB265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37B58BD-5541-A732-72E6-D8AC31C87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753C9DEB-CBF7-5347-F1E9-1F132805E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D8F4E0D4-0CC5-938D-5CD7-10F9CD06A6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C1F902CE-1195-FB85-7320-3FD03B83F6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E503EAA7-461E-E2A3-2CFC-3973368F53E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74063CC9-A056-14E6-E6BF-737C16A0E9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B85B70EF-9748-A8DF-3DDF-22F7845980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D96794A7-C9A0-350B-BBA7-F66657F5EB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A235169-EBAF-2969-78DC-BD432CA63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E9B3E13C-6B25-EF21-F69D-8A5414F3FC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51F925A9-9B8D-DAF3-BAD5-7892B3D1EA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FE20F86F-47CC-667E-85F1-096ACBD0E3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53E002A8-D20C-06ED-45F5-08417C2D62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D5DEE1B6-CC94-A030-BEEC-7CCABF5AF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B3FEDB54-2E2A-FEC7-9ECE-88957B0DDF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C18163C-452A-E993-953A-BD4216890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05B76F12-7527-69D0-8C96-25FB246DBA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901A367E-080A-7768-8B36-FF18F750E3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DD46E5A0-2775-2458-F8CA-8618054BE5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7E011452-E5BC-9116-D5C9-62CE8EA3E9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1FAA2280-2F9B-CD21-76FE-9B687CC4F1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A584B22-0037-D779-B31E-0CBD5D959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63D9A5A8-522F-7442-423C-FF960A2172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2CF14AF1-770E-87EA-708A-C58DFCD16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56FB4D3B-09A8-A617-C314-9B55A788B5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7AA8C1D2-73FA-FB37-E0C4-450AB6B88E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4F0F63AE-5C5C-7FB9-D135-73B43C1CD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753D6BE3-10E2-6CD8-0769-71190CE3F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3DA5C966-7F5A-6880-8665-CEE849BC29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52E76C36-04BE-58DF-EF8D-5A7F366F4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AB0FC24D-5B3A-704C-DFDF-8E866088A7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A18A054C-500B-9D07-AD5D-40EC06746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B6D4F47A-3228-1470-F934-DD8291D7D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15A5D2FF-F483-A3D2-DB8D-50C574FAE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9970E35-3EDF-6C25-6972-B74A1B64AB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4EFB325-6C23-AB9E-812A-C96962039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73F99347-9D35-5119-B481-C2D0DE24CC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cf0973b96d4628" /><Relationship Type="http://schemas.openxmlformats.org/officeDocument/2006/relationships/slideLayout" Target="/ppt/slideLayouts/slideLayout1.xml" Id="R9984be54e9ec4a89" /><Relationship Type="http://schemas.openxmlformats.org/officeDocument/2006/relationships/slideLayout" Target="/ppt/slideLayouts/slideLayout2.xml" Id="R09515478e57b4db8" /><Relationship Type="http://schemas.openxmlformats.org/officeDocument/2006/relationships/slideLayout" Target="/ppt/slideLayouts/slideLayout3.xml" Id="R2fcf953886174f07" /><Relationship Type="http://schemas.openxmlformats.org/officeDocument/2006/relationships/slideLayout" Target="/ppt/slideLayouts/slideLayout4.xml" Id="Rc71395e147bb4041" /><Relationship Type="http://schemas.openxmlformats.org/officeDocument/2006/relationships/slideLayout" Target="/ppt/slideLayouts/slideLayout5.xml" Id="R52d4c4768a26455e" /><Relationship Type="http://schemas.openxmlformats.org/officeDocument/2006/relationships/slideLayout" Target="/ppt/slideLayouts/slideLayout6.xml" Id="R5fd9a90412094fd0" /><Relationship Type="http://schemas.openxmlformats.org/officeDocument/2006/relationships/slideLayout" Target="/ppt/slideLayouts/slideLayout7.xml" Id="R45cc316ce3e4475c" /><Relationship Type="http://schemas.openxmlformats.org/officeDocument/2006/relationships/slideLayout" Target="/ppt/slideLayouts/slideLayout8.xml" Id="Rc052462dc61b4383" /><Relationship Type="http://schemas.openxmlformats.org/officeDocument/2006/relationships/slideLayout" Target="/ppt/slideLayouts/slideLayout9.xml" Id="R9c7c549275744f4c" /><Relationship Type="http://schemas.openxmlformats.org/officeDocument/2006/relationships/slideLayout" Target="/ppt/slideLayouts/slideLayout10.xml" Id="R8816ec36fee042ab" /><Relationship Type="http://schemas.openxmlformats.org/officeDocument/2006/relationships/slideLayout" Target="/ppt/slideLayouts/slideLayout11.xml" Id="Rc3a82ec4c8bc48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D2D640A0-A006-56DE-BB11-892018C90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5D37E2E5-7A2E-EB81-A941-9FB8B7603C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35E9C82A-E612-2AFA-6FF2-370208C7C51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F98861F-14F1-4638-96F3-2EC3397B8A64}" type="datetimeFigureOut">
              <a:t>10/1/2026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2D627157-860F-B582-10C9-905A776EC2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68955E3-4119-E011-F308-641E09FF92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D46433-43F6-4FA7-8C7B-D8B9997CD43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4be54e9ec4a89"/>
    <p:sldLayoutId xmlns:r="http://schemas.openxmlformats.org/officeDocument/2006/relationships" id="2147483650" r:id="R09515478e57b4db8"/>
    <p:sldLayoutId xmlns:r="http://schemas.openxmlformats.org/officeDocument/2006/relationships" id="2147483651" r:id="R2fcf953886174f07"/>
    <p:sldLayoutId xmlns:r="http://schemas.openxmlformats.org/officeDocument/2006/relationships" id="2147483652" r:id="Rc71395e147bb4041"/>
    <p:sldLayoutId xmlns:r="http://schemas.openxmlformats.org/officeDocument/2006/relationships" id="2147483653" r:id="R52d4c4768a26455e"/>
    <p:sldLayoutId xmlns:r="http://schemas.openxmlformats.org/officeDocument/2006/relationships" id="2147483654" r:id="R5fd9a90412094fd0"/>
    <p:sldLayoutId xmlns:r="http://schemas.openxmlformats.org/officeDocument/2006/relationships" id="2147483655" r:id="R45cc316ce3e4475c"/>
    <p:sldLayoutId xmlns:r="http://schemas.openxmlformats.org/officeDocument/2006/relationships" id="2147483656" r:id="Rc052462dc61b4383"/>
    <p:sldLayoutId xmlns:r="http://schemas.openxmlformats.org/officeDocument/2006/relationships" id="2147483657" r:id="R9c7c549275744f4c"/>
    <p:sldLayoutId xmlns:r="http://schemas.openxmlformats.org/officeDocument/2006/relationships" id="2147483658" r:id="R8816ec36fee042ab"/>
    <p:sldLayoutId xmlns:r="http://schemas.openxmlformats.org/officeDocument/2006/relationships" id="2147483659" r:id="Rc3a82ec4c8bc48c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faa10bb4d467b" /><Relationship Type="http://schemas.openxmlformats.org/officeDocument/2006/relationships/image" Target="/ppt/media/image.png" Id="R3f17976dee704286" /><Relationship Type="http://schemas.openxmlformats.org/officeDocument/2006/relationships/image" Target="/ppt/media/image2.png" Id="R8b0dca4769e049dd" /><Relationship Type="http://schemas.openxmlformats.org/officeDocument/2006/relationships/image" Target="/ppt/media/image3.png" Id="Rb19ca4e909874e52" /><Relationship Type="http://schemas.openxmlformats.org/officeDocument/2006/relationships/notesSlide" Target="/ppt/notesSlides/notesSlide1.xml" Id="R388cf18ab8f8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04ed2d71144f8" /><Relationship Type="http://schemas.openxmlformats.org/officeDocument/2006/relationships/image" Target="/ppt/media/image2.png" Id="Rb55691147ce54863" /><Relationship Type="http://schemas.openxmlformats.org/officeDocument/2006/relationships/notesSlide" Target="/ppt/notesSlides/notesSlide2.xml" Id="R1f03078511f1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05bce8eb14cff" /><Relationship Type="http://schemas.openxmlformats.org/officeDocument/2006/relationships/image" Target="/ppt/media/image2.png" Id="R622cd0784dbb43d1" /><Relationship Type="http://schemas.openxmlformats.org/officeDocument/2006/relationships/notesSlide" Target="/ppt/notesSlides/notesSlide3.xml" Id="R8034fdd7c94547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f681c47b74d19" /><Relationship Type="http://schemas.openxmlformats.org/officeDocument/2006/relationships/image" Target="/ppt/media/image2.png" Id="R0494cf35fa04402c" /><Relationship Type="http://schemas.openxmlformats.org/officeDocument/2006/relationships/notesSlide" Target="/ppt/notesSlides/notesSlide4.xml" Id="R4283479e0cd545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d0ec6bdf341f7" /><Relationship Type="http://schemas.openxmlformats.org/officeDocument/2006/relationships/image" Target="/ppt/media/image2.png" Id="R9fe94f7c8ca7404b" /><Relationship Type="http://schemas.openxmlformats.org/officeDocument/2006/relationships/notesSlide" Target="/ppt/notesSlides/notesSlide5.xml" Id="R4b3ed99e03d54b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c7aebed324309" /><Relationship Type="http://schemas.openxmlformats.org/officeDocument/2006/relationships/image" Target="/ppt/media/image2.png" Id="R4a152c10985c4664" /><Relationship Type="http://schemas.openxmlformats.org/officeDocument/2006/relationships/notesSlide" Target="/ppt/notesSlides/notesSlide6.xml" Id="R973894fdb1d0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8ea0ac1774d1c" /><Relationship Type="http://schemas.openxmlformats.org/officeDocument/2006/relationships/image" Target="/ppt/media/image2.png" Id="Rf4f595ecd1a140ff" /><Relationship Type="http://schemas.openxmlformats.org/officeDocument/2006/relationships/notesSlide" Target="/ppt/notesSlides/notesSlide7.xml" Id="Racbe2fdf15944f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f5e7d566f4ee6" /><Relationship Type="http://schemas.openxmlformats.org/officeDocument/2006/relationships/image" Target="/ppt/media/image2.png" Id="Rf6eafe01ee264ee9" /><Relationship Type="http://schemas.openxmlformats.org/officeDocument/2006/relationships/notesSlide" Target="/ppt/notesSlides/notesSlide8.xml" Id="R1ca44207d07540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8dc31679c4b7c" /><Relationship Type="http://schemas.openxmlformats.org/officeDocument/2006/relationships/image" Target="/ppt/media/image2.png" Id="Re3bae8192b094866" /><Relationship Type="http://schemas.openxmlformats.org/officeDocument/2006/relationships/notesSlide" Target="/ppt/notesSlides/notesSlide9.xml" Id="R7d8eae51e48848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cb0f77ce84043" /><Relationship Type="http://schemas.openxmlformats.org/officeDocument/2006/relationships/image" Target="/ppt/media/image2.png" Id="R6d4a92c3c1c3423e" /><Relationship Type="http://schemas.openxmlformats.org/officeDocument/2006/relationships/chart" Target="/ppt/slides/charts/chart1.xml" Id="R29b1df8947604010" /><Relationship Type="http://schemas.openxmlformats.org/officeDocument/2006/relationships/chart" Target="/ppt/slides/charts/chart2.xml" Id="R9b8ab18325974530" /><Relationship Type="http://schemas.openxmlformats.org/officeDocument/2006/relationships/chart" Target="/ppt/slides/charts/chart3.xml" Id="Rf753655fa16b4f83" /><Relationship Type="http://schemas.openxmlformats.org/officeDocument/2006/relationships/notesSlide" Target="/ppt/notesSlides/notesSlide10.xml" Id="Rdd68b43661a04d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6648cc7e943c3" /><Relationship Type="http://schemas.openxmlformats.org/officeDocument/2006/relationships/image" Target="/ppt/media/image2.png" Id="Rc53a4f7e09964563" /><Relationship Type="http://schemas.openxmlformats.org/officeDocument/2006/relationships/chart" Target="/ppt/slides/charts/chart4.xml" Id="R4b3dc6c72bde4f1c" /><Relationship Type="http://schemas.openxmlformats.org/officeDocument/2006/relationships/notesSlide" Target="/ppt/notesSlides/notesSlide11.xml" Id="Rcb7d413e86184e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5aa3a30a54962" /><Relationship Type="http://schemas.openxmlformats.org/officeDocument/2006/relationships/image" Target="/ppt/media/image2.png" Id="R6237ea7daa61483d" /><Relationship Type="http://schemas.openxmlformats.org/officeDocument/2006/relationships/notesSlide" Target="/ppt/notesSlides/notesSlide12.xml" Id="Rf53bbbab0eb54a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74925f0924ea8" /><Relationship Type="http://schemas.openxmlformats.org/officeDocument/2006/relationships/image" Target="/ppt/media/image2.png" Id="R594a909a755647f3" /><Relationship Type="http://schemas.openxmlformats.org/officeDocument/2006/relationships/notesSlide" Target="/ppt/notesSlides/notesSlide13.xml" Id="R907c4a591c4448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2dea7b2b24d6c" /><Relationship Type="http://schemas.openxmlformats.org/officeDocument/2006/relationships/image" Target="/ppt/media/image2.png" Id="Rda30af930f844bad" /><Relationship Type="http://schemas.openxmlformats.org/officeDocument/2006/relationships/chart" Target="/ppt/slides/charts/chart5.xml" Id="Rb2f001d9df1c4353" /><Relationship Type="http://schemas.openxmlformats.org/officeDocument/2006/relationships/notesSlide" Target="/ppt/notesSlides/notesSlide14.xml" Id="Rfaaefe6c319e4d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5384565524de3" /><Relationship Type="http://schemas.openxmlformats.org/officeDocument/2006/relationships/image" Target="/ppt/media/image2.png" Id="Rd64ab32faeec498f" /><Relationship Type="http://schemas.openxmlformats.org/officeDocument/2006/relationships/chart" Target="/ppt/slides/charts/chart6.xml" Id="R664f0d0157e84e4f" /><Relationship Type="http://schemas.openxmlformats.org/officeDocument/2006/relationships/chart" Target="/ppt/slides/charts/chart7.xml" Id="Rda4d2978bc19465c" /><Relationship Type="http://schemas.openxmlformats.org/officeDocument/2006/relationships/chart" Target="/ppt/slides/charts/chart8.xml" Id="R78077b49dedb43b9" /><Relationship Type="http://schemas.openxmlformats.org/officeDocument/2006/relationships/notesSlide" Target="/ppt/notesSlides/notesSlide15.xml" Id="Rb0fed40804ac41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35c8166b24bed" /><Relationship Type="http://schemas.openxmlformats.org/officeDocument/2006/relationships/image" Target="/ppt/media/image2.png" Id="R3767c77904a64c65" /><Relationship Type="http://schemas.openxmlformats.org/officeDocument/2006/relationships/notesSlide" Target="/ppt/notesSlides/notesSlide16.xml" Id="Rac5d7b3cdf4745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3250dbb7b4b71" /><Relationship Type="http://schemas.openxmlformats.org/officeDocument/2006/relationships/image" Target="/ppt/media/image2.png" Id="Rfa0db14893cb4ef5" /><Relationship Type="http://schemas.openxmlformats.org/officeDocument/2006/relationships/notesSlide" Target="/ppt/notesSlides/notesSlide17.xml" Id="R3ba181f7bb604f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7f3b1dde743be" /><Relationship Type="http://schemas.openxmlformats.org/officeDocument/2006/relationships/image" Target="/ppt/media/image2.png" Id="R85fa76e62e874835" /><Relationship Type="http://schemas.openxmlformats.org/officeDocument/2006/relationships/chart" Target="/ppt/slides/charts/chart9.xml" Id="R27fdcf364d1147d9" /><Relationship Type="http://schemas.openxmlformats.org/officeDocument/2006/relationships/notesSlide" Target="/ppt/notesSlides/notesSlide18.xml" Id="R8a09d9e3c25a44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debe1b3e1484f" /><Relationship Type="http://schemas.openxmlformats.org/officeDocument/2006/relationships/image" Target="/ppt/media/image2.png" Id="R0cc6bb85fda0434d" /><Relationship Type="http://schemas.openxmlformats.org/officeDocument/2006/relationships/notesSlide" Target="/ppt/notesSlides/notesSlide19.xml" Id="R907ed19220a246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752215c2442c" /><Relationship Type="http://schemas.openxmlformats.org/officeDocument/2006/relationships/image" Target="/ppt/media/image2.png" Id="R17a64bc02c7b4fea" /><Relationship Type="http://schemas.openxmlformats.org/officeDocument/2006/relationships/chart" Target="/ppt/slides/charts/chart10.xml" Id="R0a87f54e454b4c1e" /><Relationship Type="http://schemas.openxmlformats.org/officeDocument/2006/relationships/chart" Target="/ppt/slides/charts/chart11.xml" Id="R413b7c678a854477" /><Relationship Type="http://schemas.openxmlformats.org/officeDocument/2006/relationships/notesSlide" Target="/ppt/notesSlides/notesSlide20.xml" Id="R28d2443a337843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870fc2a384298" /><Relationship Type="http://schemas.openxmlformats.org/officeDocument/2006/relationships/image" Target="/ppt/media/image2.png" Id="R0136bcaf005c418c" /><Relationship Type="http://schemas.openxmlformats.org/officeDocument/2006/relationships/notesSlide" Target="/ppt/notesSlides/notesSlide21.xml" Id="Re7c06cd9ee6c45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9e25892a04f82" /><Relationship Type="http://schemas.openxmlformats.org/officeDocument/2006/relationships/image" Target="/ppt/media/image2.png" Id="R14a761711d5c4199" /><Relationship Type="http://schemas.openxmlformats.org/officeDocument/2006/relationships/chart" Target="/ppt/slides/charts/chart12.xml" Id="Ra3850461d8d54dfb" /><Relationship Type="http://schemas.openxmlformats.org/officeDocument/2006/relationships/notesSlide" Target="/ppt/notesSlides/notesSlide22.xml" Id="R6084c2cff20245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9896f03ec4ef2" /><Relationship Type="http://schemas.openxmlformats.org/officeDocument/2006/relationships/image" Target="/ppt/media/image2.png" Id="R2b576ecbdcd148af" /><Relationship Type="http://schemas.openxmlformats.org/officeDocument/2006/relationships/notesSlide" Target="/ppt/notesSlides/notesSlide23.xml" Id="Rf8c1a224e95d493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3bed9ef2041ee" /><Relationship Type="http://schemas.openxmlformats.org/officeDocument/2006/relationships/image" Target="/ppt/media/image2.png" Id="R4b98bd6954044f44" /><Relationship Type="http://schemas.openxmlformats.org/officeDocument/2006/relationships/chart" Target="/ppt/slides/charts/chart13.xml" Id="Ra3f9709e2d3e43b8" /><Relationship Type="http://schemas.openxmlformats.org/officeDocument/2006/relationships/notesSlide" Target="/ppt/notesSlides/notesSlide24.xml" Id="R04db0decf2d0433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327e47d7d42ae" /><Relationship Type="http://schemas.openxmlformats.org/officeDocument/2006/relationships/image" Target="/ppt/media/image2.png" Id="Red80545672a94a91" /><Relationship Type="http://schemas.openxmlformats.org/officeDocument/2006/relationships/chart" Target="/ppt/slides/charts/chart14.xml" Id="R7e052d74ca3d4255" /><Relationship Type="http://schemas.openxmlformats.org/officeDocument/2006/relationships/chart" Target="/ppt/slides/charts/chart15.xml" Id="R60e68c95c3174162" /><Relationship Type="http://schemas.openxmlformats.org/officeDocument/2006/relationships/notesSlide" Target="/ppt/notesSlides/notesSlide25.xml" Id="R77d7573ff73c4f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37cf8b0434cb1" /><Relationship Type="http://schemas.openxmlformats.org/officeDocument/2006/relationships/image" Target="/ppt/media/image2.png" Id="R53ec9ded72f04faa" /><Relationship Type="http://schemas.openxmlformats.org/officeDocument/2006/relationships/notesSlide" Target="/ppt/notesSlides/notesSlide26.xml" Id="Rfb0a65d5acc446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7c5416109450a" /><Relationship Type="http://schemas.openxmlformats.org/officeDocument/2006/relationships/image" Target="/ppt/media/image2.png" Id="Rdc6652fdfb254a13" /><Relationship Type="http://schemas.openxmlformats.org/officeDocument/2006/relationships/chart" Target="/ppt/slides/charts/chart16.xml" Id="R6ea936bb762f479f" /><Relationship Type="http://schemas.openxmlformats.org/officeDocument/2006/relationships/notesSlide" Target="/ppt/notesSlides/notesSlide27.xml" Id="Ra52754f87cab491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643fc6cf144c7" /><Relationship Type="http://schemas.openxmlformats.org/officeDocument/2006/relationships/image" Target="/ppt/media/image2.png" Id="R0d88923eabfb444c" /><Relationship Type="http://schemas.openxmlformats.org/officeDocument/2006/relationships/notesSlide" Target="/ppt/notesSlides/notesSlide28.xml" Id="R125e5d99baae49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340cb2a854945" /><Relationship Type="http://schemas.openxmlformats.org/officeDocument/2006/relationships/image" Target="/ppt/media/image2.png" Id="R6c4c16da8fdc4c4e" /><Relationship Type="http://schemas.openxmlformats.org/officeDocument/2006/relationships/notesSlide" Target="/ppt/notesSlides/notesSlide29.xml" Id="Rfb5b0f4b45b248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891bcb8504e9a" /><Relationship Type="http://schemas.openxmlformats.org/officeDocument/2006/relationships/image" Target="/ppt/media/image2.png" Id="R8aa45183c7094c46" /><Relationship Type="http://schemas.openxmlformats.org/officeDocument/2006/relationships/chart" Target="/ppt/slides/charts/chart17.xml" Id="R861ed31e0b6d4096" /><Relationship Type="http://schemas.openxmlformats.org/officeDocument/2006/relationships/notesSlide" Target="/ppt/notesSlides/notesSlide30.xml" Id="R6599c1b5d7164a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27ab54e5c4dfe" /><Relationship Type="http://schemas.openxmlformats.org/officeDocument/2006/relationships/image" Target="/ppt/media/image2.png" Id="R23bf7a1d19e64c4c" /><Relationship Type="http://schemas.openxmlformats.org/officeDocument/2006/relationships/notesSlide" Target="/ppt/notesSlides/notesSlide31.xml" Id="R5f2445d4f41c47e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7c4eb98349ed" /><Relationship Type="http://schemas.openxmlformats.org/officeDocument/2006/relationships/image" Target="/ppt/media/image2.png" Id="R95104f9d341f4431" /><Relationship Type="http://schemas.openxmlformats.org/officeDocument/2006/relationships/chart" Target="/ppt/slides/charts/chart18.xml" Id="Red9a69a678ed4dcd" /><Relationship Type="http://schemas.openxmlformats.org/officeDocument/2006/relationships/chart" Target="/ppt/slides/charts/chart19.xml" Id="R3a4e5e457cc14b6c" /><Relationship Type="http://schemas.openxmlformats.org/officeDocument/2006/relationships/notesSlide" Target="/ppt/notesSlides/notesSlide32.xml" Id="R669fa39d009a4a5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4bd2d481c499e" /><Relationship Type="http://schemas.openxmlformats.org/officeDocument/2006/relationships/image" Target="/ppt/media/image2.png" Id="R464a6aab62144c59" /><Relationship Type="http://schemas.openxmlformats.org/officeDocument/2006/relationships/notesSlide" Target="/ppt/notesSlides/notesSlide33.xml" Id="R21883e6a9e3a49d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730465bd14c10" /><Relationship Type="http://schemas.openxmlformats.org/officeDocument/2006/relationships/image" Target="/ppt/media/image2.png" Id="R6829ed5abeb64f75" /><Relationship Type="http://schemas.openxmlformats.org/officeDocument/2006/relationships/notesSlide" Target="/ppt/notesSlides/notesSlide34.xml" Id="R5d4c0f20fd8747e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47da11044978" /><Relationship Type="http://schemas.openxmlformats.org/officeDocument/2006/relationships/image" Target="/ppt/media/image2.png" Id="R34ddb82f618a4b0e" /><Relationship Type="http://schemas.openxmlformats.org/officeDocument/2006/relationships/notesSlide" Target="/ppt/notesSlides/notesSlide35.xml" Id="R55a68ceabcdb42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71267297a43dc" /><Relationship Type="http://schemas.openxmlformats.org/officeDocument/2006/relationships/image" Target="/ppt/media/image2.png" Id="Rb8cc8ff243864b87" /><Relationship Type="http://schemas.openxmlformats.org/officeDocument/2006/relationships/notesSlide" Target="/ppt/notesSlides/notesSlide36.xml" Id="R17345d4a5f534bc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3b16daa734313" /><Relationship Type="http://schemas.openxmlformats.org/officeDocument/2006/relationships/image" Target="/ppt/media/image2.png" Id="R8123df92cd674224" /><Relationship Type="http://schemas.openxmlformats.org/officeDocument/2006/relationships/chart" Target="/ppt/slides/charts/chart20.xml" Id="R10498463197b4f08" /><Relationship Type="http://schemas.openxmlformats.org/officeDocument/2006/relationships/notesSlide" Target="/ppt/notesSlides/notesSlide37.xml" Id="R74fac60f100145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7407844d94377" /><Relationship Type="http://schemas.openxmlformats.org/officeDocument/2006/relationships/image" Target="/ppt/media/image2.png" Id="R31a9a7ebf870486a" /><Relationship Type="http://schemas.openxmlformats.org/officeDocument/2006/relationships/notesSlide" Target="/ppt/notesSlides/notesSlide38.xml" Id="Rcfd158094c9144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cd7dfc16f4f0b" /><Relationship Type="http://schemas.openxmlformats.org/officeDocument/2006/relationships/image" Target="/ppt/media/image2.png" Id="R6585ca33a44b437f" /><Relationship Type="http://schemas.openxmlformats.org/officeDocument/2006/relationships/notesSlide" Target="/ppt/notesSlides/notesSlide39.xml" Id="R38aa92665f874e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c93c043614e99" /><Relationship Type="http://schemas.openxmlformats.org/officeDocument/2006/relationships/image" Target="/ppt/media/image2.png" Id="R12a34e1ae042495f" /><Relationship Type="http://schemas.openxmlformats.org/officeDocument/2006/relationships/notesSlide" Target="/ppt/notesSlides/notesSlide40.xml" Id="Re9650ce5b637407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68690b52c442f" /><Relationship Type="http://schemas.openxmlformats.org/officeDocument/2006/relationships/image" Target="/ppt/media/image2.png" Id="Raf2aa5d6c7fc4afe" /><Relationship Type="http://schemas.openxmlformats.org/officeDocument/2006/relationships/chart" Target="/ppt/slides/charts/chart21.xml" Id="R2e0d7fcf20894edc" /><Relationship Type="http://schemas.openxmlformats.org/officeDocument/2006/relationships/notesSlide" Target="/ppt/notesSlides/notesSlide41.xml" Id="R8b71520d789f432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2308aa758407a" /><Relationship Type="http://schemas.openxmlformats.org/officeDocument/2006/relationships/image" Target="/ppt/media/image2.png" Id="R505caba021a64e06" /><Relationship Type="http://schemas.openxmlformats.org/officeDocument/2006/relationships/chart" Target="/ppt/slides/charts/chart22.xml" Id="Rbca0ac3de20b45f3" /><Relationship Type="http://schemas.openxmlformats.org/officeDocument/2006/relationships/notesSlide" Target="/ppt/notesSlides/notesSlide42.xml" Id="R491a9ce9fbb0415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6d02a47c34a2e" /><Relationship Type="http://schemas.openxmlformats.org/officeDocument/2006/relationships/image" Target="/ppt/media/image2.png" Id="Rdfc5b4e3120f4e36" /><Relationship Type="http://schemas.openxmlformats.org/officeDocument/2006/relationships/notesSlide" Target="/ppt/notesSlides/notesSlide43.xml" Id="Rc8270167e03d4ed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b3f8d156f419b" /><Relationship Type="http://schemas.openxmlformats.org/officeDocument/2006/relationships/image" Target="/ppt/media/image2.png" Id="R2f6dc2d6c44b4bd5" /><Relationship Type="http://schemas.openxmlformats.org/officeDocument/2006/relationships/chart" Target="/ppt/slides/charts/chart23.xml" Id="R382ca47803234e0a" /><Relationship Type="http://schemas.openxmlformats.org/officeDocument/2006/relationships/notesSlide" Target="/ppt/notesSlides/notesSlide44.xml" Id="R996de128f8f24e3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37e297ad64e08" /><Relationship Type="http://schemas.openxmlformats.org/officeDocument/2006/relationships/image" Target="/ppt/media/image2.png" Id="Rcb267be823a54a4d" /><Relationship Type="http://schemas.openxmlformats.org/officeDocument/2006/relationships/chart" Target="/ppt/slides/charts/chart24.xml" Id="R5beb52c46d1f4c0d" /><Relationship Type="http://schemas.openxmlformats.org/officeDocument/2006/relationships/notesSlide" Target="/ppt/notesSlides/notesSlide45.xml" Id="Rc7e7be58a929475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1d293b2454a4b" /><Relationship Type="http://schemas.openxmlformats.org/officeDocument/2006/relationships/image" Target="/ppt/media/image2.png" Id="Rf05630d6b1454b31" /><Relationship Type="http://schemas.openxmlformats.org/officeDocument/2006/relationships/chart" Target="/ppt/slides/charts/chart25.xml" Id="Rc2025bd5385246d3" /><Relationship Type="http://schemas.openxmlformats.org/officeDocument/2006/relationships/notesSlide" Target="/ppt/notesSlides/notesSlide46.xml" Id="Rfa39ea0e7b6248e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da96c42524019" /><Relationship Type="http://schemas.openxmlformats.org/officeDocument/2006/relationships/image" Target="/ppt/media/image2.png" Id="R56e8313d03f14322" /><Relationship Type="http://schemas.openxmlformats.org/officeDocument/2006/relationships/chart" Target="/ppt/slides/charts/chart26.xml" Id="R2431d9c1c76d4a4b" /><Relationship Type="http://schemas.openxmlformats.org/officeDocument/2006/relationships/notesSlide" Target="/ppt/notesSlides/notesSlide47.xml" Id="R187e11df1c254dc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2ce013e49440b" /><Relationship Type="http://schemas.openxmlformats.org/officeDocument/2006/relationships/image" Target="/ppt/media/image2.png" Id="R579649fd61414e8c" /><Relationship Type="http://schemas.openxmlformats.org/officeDocument/2006/relationships/notesSlide" Target="/ppt/notesSlides/notesSlide48.xml" Id="Re57bc018b86b43b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4c9d3fec7459f" /><Relationship Type="http://schemas.openxmlformats.org/officeDocument/2006/relationships/image" Target="/ppt/media/image2.png" Id="Rda4413867d074f3c" /><Relationship Type="http://schemas.openxmlformats.org/officeDocument/2006/relationships/notesSlide" Target="/ppt/notesSlides/notesSlide49.xml" Id="R4054628b0b934ba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bf07133ad4636" /><Relationship Type="http://schemas.openxmlformats.org/officeDocument/2006/relationships/image" Target="/ppt/media/image2.png" Id="R893f6b41d44143eb" /><Relationship Type="http://schemas.openxmlformats.org/officeDocument/2006/relationships/notesSlide" Target="/ppt/notesSlides/notesSlide50.xml" Id="Rc7c587f4499543c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4f85f510d466d" /><Relationship Type="http://schemas.openxmlformats.org/officeDocument/2006/relationships/image" Target="/ppt/media/image2.png" Id="R8cc1e9fb6a6f46ba" /><Relationship Type="http://schemas.openxmlformats.org/officeDocument/2006/relationships/notesSlide" Target="/ppt/notesSlides/notesSlide51.xml" Id="R2b98db100fff41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Observações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1A4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0.909090909091</c:v>
                </c:pt>
                <c:pt idx="2">
                  <c:v>1.81818181818</c:v>
                </c:pt>
                <c:pt idx="3">
                  <c:v>2.72727272727</c:v>
                </c:pt>
                <c:pt idx="4">
                  <c:v>3.63636363636</c:v>
                </c:pt>
                <c:pt idx="5">
                  <c:v>4.54545454545</c:v>
                </c:pt>
                <c:pt idx="6">
                  <c:v>5.45454545455</c:v>
                </c:pt>
                <c:pt idx="7">
                  <c:v>6.36363636364</c:v>
                </c:pt>
                <c:pt idx="8">
                  <c:v>7.27272727273</c:v>
                </c:pt>
                <c:pt idx="9">
                  <c:v>8.18181818182</c:v>
                </c:pt>
                <c:pt idx="10">
                  <c:v>9.09090909091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12.6094341595</c:v>
                </c:pt>
                <c:pt idx="1">
                  <c:v>17.0688271675</c:v>
                </c:pt>
                <c:pt idx="2">
                  <c:v>27.0851933671</c:v>
                </c:pt>
                <c:pt idx="3">
                  <c:v>32.6191723692</c:v>
                </c:pt>
                <c:pt idx="4">
                  <c:v>30.3998317616</c:v>
                </c:pt>
                <c:pt idx="5">
                  <c:v>33.6862336694</c:v>
                </c:pt>
                <c:pt idx="6">
                  <c:v>37.2944025499</c:v>
                </c:pt>
                <c:pt idx="7">
                  <c:v>36.5003428219</c:v>
                </c:pt>
                <c:pt idx="8">
                  <c:v>37.2586658893</c:v>
                </c:pt>
                <c:pt idx="9">
                  <c:v>36.5170432887</c:v>
                </c:pt>
                <c:pt idx="10">
                  <c:v>42.2336421174</c:v>
                </c:pt>
                <c:pt idx="11">
                  <c:v>45.8841896736</c:v>
                </c:pt>
                <c:pt idx="12">
                  <c:v>45.8841896736</c:v>
                </c:pt>
                <c:pt idx="13">
                  <c:v>45.8841896736</c:v>
                </c:pt>
                <c:pt idx="14">
                  <c:v>45.8841896736</c:v>
                </c:pt>
                <c:pt idx="15">
                  <c:v>45.8841896736</c:v>
                </c:pt>
                <c:pt idx="16">
                  <c:v>45.8841896736</c:v>
                </c:pt>
                <c:pt idx="17">
                  <c:v>45.8841896736</c:v>
                </c:pt>
                <c:pt idx="18">
                  <c:v>45.8841896736</c:v>
                </c:pt>
                <c:pt idx="19">
                  <c:v>45.8841896736</c:v>
                </c:pt>
                <c:pt idx="20">
                  <c:v>45.8841896736</c:v>
                </c:pt>
                <c:pt idx="21">
                  <c:v>45.8841896736</c:v>
                </c:pt>
                <c:pt idx="22">
                  <c:v>45.8841896736</c:v>
                </c:pt>
                <c:pt idx="23">
                  <c:v>45.8841896736</c:v>
                </c:pt>
                <c:pt idx="24">
                  <c:v>45.8841896736</c:v>
                </c:pt>
                <c:pt idx="25">
                  <c:v>45.8841896736</c:v>
                </c:pt>
                <c:pt idx="26">
                  <c:v>45.8841896736</c:v>
                </c:pt>
                <c:pt idx="27">
                  <c:v>45.8841896736</c:v>
                </c:pt>
                <c:pt idx="28">
                  <c:v>45.8841896736</c:v>
                </c:pt>
                <c:pt idx="29">
                  <c:v>45.8841896736</c:v>
                </c:pt>
                <c:pt idx="30">
                  <c:v>45.8841896736</c:v>
                </c:pt>
                <c:pt idx="31">
                  <c:v>45.8841896736</c:v>
                </c:pt>
                <c:pt idx="32">
                  <c:v>45.8841896736</c:v>
                </c:pt>
                <c:pt idx="33">
                  <c:v>45.8841896736</c:v>
                </c:pt>
                <c:pt idx="34">
                  <c:v>45.8841896736</c:v>
                </c:pt>
                <c:pt idx="35">
                  <c:v>45.8841896736</c:v>
                </c:pt>
                <c:pt idx="36">
                  <c:v>45.8841896736</c:v>
                </c:pt>
                <c:pt idx="37">
                  <c:v>45.8841896736</c:v>
                </c:pt>
                <c:pt idx="38">
                  <c:v>45.8841896736</c:v>
                </c:pt>
                <c:pt idx="39">
                  <c:v>45.8841896736</c:v>
                </c:pt>
                <c:pt idx="40">
                  <c:v>45.8841896736</c:v>
                </c:pt>
                <c:pt idx="41">
                  <c:v>45.8841896736</c:v>
                </c:pt>
                <c:pt idx="42">
                  <c:v>45.8841896736</c:v>
                </c:pt>
                <c:pt idx="43">
                  <c:v>45.8841896736</c:v>
                </c:pt>
                <c:pt idx="44">
                  <c:v>45.8841896736</c:v>
                </c:pt>
                <c:pt idx="45">
                  <c:v>45.8841896736</c:v>
                </c:pt>
                <c:pt idx="46">
                  <c:v>45.8841896736</c:v>
                </c:pt>
                <c:pt idx="47">
                  <c:v>45.8841896736</c:v>
                </c:pt>
                <c:pt idx="48">
                  <c:v>45.8841896736</c:v>
                </c:pt>
                <c:pt idx="49">
                  <c:v>45.8841896736</c:v>
                </c:pt>
                <c:pt idx="50">
                  <c:v>45.8841896736</c:v>
                </c:pt>
                <c:pt idx="51">
                  <c:v>45.8841896736</c:v>
                </c:pt>
                <c:pt idx="52">
                  <c:v>45.8841896736</c:v>
                </c:pt>
                <c:pt idx="53">
                  <c:v>45.8841896736</c:v>
                </c:pt>
                <c:pt idx="54">
                  <c:v>45.8841896736</c:v>
                </c:pt>
                <c:pt idx="55">
                  <c:v>45.8841896736</c:v>
                </c:pt>
                <c:pt idx="56">
                  <c:v>45.8841896736</c:v>
                </c:pt>
                <c:pt idx="57">
                  <c:v>45.8841896736</c:v>
                </c:pt>
                <c:pt idx="58">
                  <c:v>45.8841896736</c:v>
                </c:pt>
                <c:pt idx="59">
                  <c:v>45.8841896736</c:v>
                </c:pt>
                <c:pt idx="60">
                  <c:v>45.8841896736</c:v>
                </c:pt>
                <c:pt idx="61">
                  <c:v>45.8841896736</c:v>
                </c:pt>
                <c:pt idx="62">
                  <c:v>45.8841896736</c:v>
                </c:pt>
                <c:pt idx="63">
                  <c:v>45.8841896736</c:v>
                </c:pt>
                <c:pt idx="64">
                  <c:v>45.8841896736</c:v>
                </c:pt>
                <c:pt idx="65">
                  <c:v>45.8841896736</c:v>
                </c:pt>
                <c:pt idx="66">
                  <c:v>45.8841896736</c:v>
                </c:pt>
                <c:pt idx="67">
                  <c:v>45.8841896736</c:v>
                </c:pt>
                <c:pt idx="68">
                  <c:v>45.8841896736</c:v>
                </c:pt>
                <c:pt idx="69">
                  <c:v>45.8841896736</c:v>
                </c:pt>
                <c:pt idx="70">
                  <c:v>45.8841896736</c:v>
                </c:pt>
                <c:pt idx="71">
                  <c:v>45.8841896736</c:v>
                </c:pt>
                <c:pt idx="72">
                  <c:v>45.8841896736</c:v>
                </c:pt>
                <c:pt idx="73">
                  <c:v>45.8841896736</c:v>
                </c:pt>
                <c:pt idx="74">
                  <c:v>45.8841896736</c:v>
                </c:pt>
                <c:pt idx="75">
                  <c:v>45.8841896736</c:v>
                </c:pt>
                <c:pt idx="76">
                  <c:v>45.8841896736</c:v>
                </c:pt>
                <c:pt idx="77">
                  <c:v>45.8841896736</c:v>
                </c:pt>
                <c:pt idx="78">
                  <c:v>45.8841896736</c:v>
                </c:pt>
                <c:pt idx="79">
                  <c:v>45.8841896736</c:v>
                </c:pt>
                <c:pt idx="80">
                  <c:v>45.8841896736</c:v>
                </c:pt>
                <c:pt idx="81">
                  <c:v>45.8841896736</c:v>
                </c:pt>
                <c:pt idx="82">
                  <c:v>45.8841896736</c:v>
                </c:pt>
                <c:pt idx="83">
                  <c:v>45.8841896736</c:v>
                </c:pt>
                <c:pt idx="84">
                  <c:v>45.8841896736</c:v>
                </c:pt>
                <c:pt idx="85">
                  <c:v>45.8841896736</c:v>
                </c:pt>
                <c:pt idx="86">
                  <c:v>45.8841896736</c:v>
                </c:pt>
                <c:pt idx="87">
                  <c:v>45.8841896736</c:v>
                </c:pt>
                <c:pt idx="88">
                  <c:v>45.8841896736</c:v>
                </c:pt>
                <c:pt idx="89">
                  <c:v>45.8841896736</c:v>
                </c:pt>
                <c:pt idx="90">
                  <c:v>45.8841896736</c:v>
                </c:pt>
                <c:pt idx="91">
                  <c:v>45.8841896736</c:v>
                </c:pt>
                <c:pt idx="92">
                  <c:v>45.8841896736</c:v>
                </c:pt>
                <c:pt idx="93">
                  <c:v>45.8841896736</c:v>
                </c:pt>
                <c:pt idx="94">
                  <c:v>45.8841896736</c:v>
                </c:pt>
                <c:pt idx="95">
                  <c:v>45.8841896736</c:v>
                </c:pt>
                <c:pt idx="96">
                  <c:v>45.8841896736</c:v>
                </c:pt>
                <c:pt idx="97">
                  <c:v>45.8841896736</c:v>
                </c:pt>
                <c:pt idx="98">
                  <c:v>45.8841896736</c:v>
                </c:pt>
                <c:pt idx="99">
                  <c:v>45.8841896736</c:v>
                </c:pt>
                <c:pt idx="100">
                  <c:v>45.8841896736</c:v>
                </c:pt>
                <c:pt idx="101">
                  <c:v>45.8841896736</c:v>
                </c:pt>
                <c:pt idx="102">
                  <c:v>45.8841896736</c:v>
                </c:pt>
                <c:pt idx="103">
                  <c:v>45.8841896736</c:v>
                </c:pt>
                <c:pt idx="104">
                  <c:v>45.8841896736</c:v>
                </c:pt>
                <c:pt idx="105">
                  <c:v>45.8841896736</c:v>
                </c:pt>
                <c:pt idx="106">
                  <c:v>45.8841896736</c:v>
                </c:pt>
                <c:pt idx="107">
                  <c:v>45.8841896736</c:v>
                </c:pt>
                <c:pt idx="108">
                  <c:v>45.8841896736</c:v>
                </c:pt>
                <c:pt idx="109">
                  <c:v>45.8841896736</c:v>
                </c:pt>
                <c:pt idx="110">
                  <c:v>45.8841896736</c:v>
                </c:pt>
                <c:pt idx="111">
                  <c:v>45.8841896736</c:v>
                </c:pt>
                <c:pt idx="112">
                  <c:v>45.8841896736</c:v>
                </c:pt>
                <c:pt idx="113">
                  <c:v>45.8841896736</c:v>
                </c:pt>
                <c:pt idx="114">
                  <c:v>45.8841896736</c:v>
                </c:pt>
                <c:pt idx="115">
                  <c:v>45.8841896736</c:v>
                </c:pt>
                <c:pt idx="116">
                  <c:v>45.8841896736</c:v>
                </c:pt>
                <c:pt idx="117">
                  <c:v>45.8841896736</c:v>
                </c:pt>
                <c:pt idx="118">
                  <c:v>45.8841896736</c:v>
                </c:pt>
                <c:pt idx="119">
                  <c:v>45.8841896736</c:v>
                </c:pt>
                <c:pt idx="120">
                  <c:v>45.8841896736</c:v>
                </c:pt>
              </c:numCache>
            </c:numRef>
          </c:yVal>
          <c:smooth val="0"/>
        </c:ser>
        <c:ser>
          <c:idx val="1"/>
          <c:order val="1"/>
          <c:tx>
            <c:v>Modelo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0.0833333333333</c:v>
                </c:pt>
                <c:pt idx="2">
                  <c:v>0.166666666667</c:v>
                </c:pt>
                <c:pt idx="3">
                  <c:v>0.25</c:v>
                </c:pt>
                <c:pt idx="4">
                  <c:v>0.333333333333</c:v>
                </c:pt>
                <c:pt idx="5">
                  <c:v>0.416666666667</c:v>
                </c:pt>
                <c:pt idx="6">
                  <c:v>0.5</c:v>
                </c:pt>
                <c:pt idx="7">
                  <c:v>0.583333333333</c:v>
                </c:pt>
                <c:pt idx="8">
                  <c:v>0.666666666667</c:v>
                </c:pt>
                <c:pt idx="9">
                  <c:v>0.75</c:v>
                </c:pt>
                <c:pt idx="10">
                  <c:v>0.833333333333</c:v>
                </c:pt>
                <c:pt idx="11">
                  <c:v>0.916666666667</c:v>
                </c:pt>
                <c:pt idx="12">
                  <c:v>1</c:v>
                </c:pt>
                <c:pt idx="13">
                  <c:v>1.08333333333</c:v>
                </c:pt>
                <c:pt idx="14">
                  <c:v>1.16666666667</c:v>
                </c:pt>
                <c:pt idx="15">
                  <c:v>1.25</c:v>
                </c:pt>
                <c:pt idx="16">
                  <c:v>1.33333333333</c:v>
                </c:pt>
                <c:pt idx="17">
                  <c:v>1.41666666667</c:v>
                </c:pt>
                <c:pt idx="18">
                  <c:v>1.5</c:v>
                </c:pt>
                <c:pt idx="19">
                  <c:v>1.58333333333</c:v>
                </c:pt>
                <c:pt idx="20">
                  <c:v>1.66666666667</c:v>
                </c:pt>
                <c:pt idx="21">
                  <c:v>1.75</c:v>
                </c:pt>
                <c:pt idx="22">
                  <c:v>1.83333333333</c:v>
                </c:pt>
                <c:pt idx="23">
                  <c:v>1.91666666667</c:v>
                </c:pt>
                <c:pt idx="24">
                  <c:v>2</c:v>
                </c:pt>
                <c:pt idx="25">
                  <c:v>2.08333333333</c:v>
                </c:pt>
                <c:pt idx="26">
                  <c:v>2.16666666667</c:v>
                </c:pt>
                <c:pt idx="27">
                  <c:v>2.25</c:v>
                </c:pt>
                <c:pt idx="28">
                  <c:v>2.33333333333</c:v>
                </c:pt>
                <c:pt idx="29">
                  <c:v>2.41666666667</c:v>
                </c:pt>
                <c:pt idx="30">
                  <c:v>2.5</c:v>
                </c:pt>
                <c:pt idx="31">
                  <c:v>2.58333333333</c:v>
                </c:pt>
                <c:pt idx="32">
                  <c:v>2.66666666667</c:v>
                </c:pt>
                <c:pt idx="33">
                  <c:v>2.75</c:v>
                </c:pt>
                <c:pt idx="34">
                  <c:v>2.83333333333</c:v>
                </c:pt>
                <c:pt idx="35">
                  <c:v>2.91666666667</c:v>
                </c:pt>
                <c:pt idx="36">
                  <c:v>3</c:v>
                </c:pt>
                <c:pt idx="37">
                  <c:v>3.08333333333</c:v>
                </c:pt>
                <c:pt idx="38">
                  <c:v>3.16666666667</c:v>
                </c:pt>
                <c:pt idx="39">
                  <c:v>3.25</c:v>
                </c:pt>
                <c:pt idx="40">
                  <c:v>3.33333333333</c:v>
                </c:pt>
                <c:pt idx="41">
                  <c:v>3.41666666667</c:v>
                </c:pt>
                <c:pt idx="42">
                  <c:v>3.5</c:v>
                </c:pt>
                <c:pt idx="43">
                  <c:v>3.58333333333</c:v>
                </c:pt>
                <c:pt idx="44">
                  <c:v>3.66666666667</c:v>
                </c:pt>
                <c:pt idx="45">
                  <c:v>3.75</c:v>
                </c:pt>
                <c:pt idx="46">
                  <c:v>3.83333333333</c:v>
                </c:pt>
                <c:pt idx="47">
                  <c:v>3.91666666667</c:v>
                </c:pt>
                <c:pt idx="48">
                  <c:v>4</c:v>
                </c:pt>
                <c:pt idx="49">
                  <c:v>4.08333333333</c:v>
                </c:pt>
                <c:pt idx="50">
                  <c:v>4.16666666667</c:v>
                </c:pt>
                <c:pt idx="51">
                  <c:v>4.25</c:v>
                </c:pt>
                <c:pt idx="52">
                  <c:v>4.33333333333</c:v>
                </c:pt>
                <c:pt idx="53">
                  <c:v>4.41666666667</c:v>
                </c:pt>
                <c:pt idx="54">
                  <c:v>4.5</c:v>
                </c:pt>
                <c:pt idx="55">
                  <c:v>4.58333333333</c:v>
                </c:pt>
                <c:pt idx="56">
                  <c:v>4.66666666667</c:v>
                </c:pt>
                <c:pt idx="57">
                  <c:v>4.75</c:v>
                </c:pt>
                <c:pt idx="58">
                  <c:v>4.83333333333</c:v>
                </c:pt>
                <c:pt idx="59">
                  <c:v>4.91666666667</c:v>
                </c:pt>
                <c:pt idx="60">
                  <c:v>5</c:v>
                </c:pt>
                <c:pt idx="61">
                  <c:v>5.08333333333</c:v>
                </c:pt>
                <c:pt idx="62">
                  <c:v>5.16666666667</c:v>
                </c:pt>
                <c:pt idx="63">
                  <c:v>5.25</c:v>
                </c:pt>
                <c:pt idx="64">
                  <c:v>5.33333333333</c:v>
                </c:pt>
                <c:pt idx="65">
                  <c:v>5.41666666667</c:v>
                </c:pt>
                <c:pt idx="66">
                  <c:v>5.5</c:v>
                </c:pt>
                <c:pt idx="67">
                  <c:v>5.58333333333</c:v>
                </c:pt>
                <c:pt idx="68">
                  <c:v>5.66666666667</c:v>
                </c:pt>
                <c:pt idx="69">
                  <c:v>5.75</c:v>
                </c:pt>
                <c:pt idx="70">
                  <c:v>5.83333333333</c:v>
                </c:pt>
                <c:pt idx="71">
                  <c:v>5.91666666667</c:v>
                </c:pt>
                <c:pt idx="72">
                  <c:v>6</c:v>
                </c:pt>
                <c:pt idx="73">
                  <c:v>6.08333333333</c:v>
                </c:pt>
                <c:pt idx="74">
                  <c:v>6.16666666667</c:v>
                </c:pt>
                <c:pt idx="75">
                  <c:v>6.25</c:v>
                </c:pt>
                <c:pt idx="76">
                  <c:v>6.33333333333</c:v>
                </c:pt>
                <c:pt idx="77">
                  <c:v>6.41666666667</c:v>
                </c:pt>
                <c:pt idx="78">
                  <c:v>6.5</c:v>
                </c:pt>
                <c:pt idx="79">
                  <c:v>6.58333333333</c:v>
                </c:pt>
                <c:pt idx="80">
                  <c:v>6.66666666667</c:v>
                </c:pt>
                <c:pt idx="81">
                  <c:v>6.75</c:v>
                </c:pt>
                <c:pt idx="82">
                  <c:v>6.83333333333</c:v>
                </c:pt>
                <c:pt idx="83">
                  <c:v>6.91666666667</c:v>
                </c:pt>
                <c:pt idx="84">
                  <c:v>7</c:v>
                </c:pt>
                <c:pt idx="85">
                  <c:v>7.08333333333</c:v>
                </c:pt>
                <c:pt idx="86">
                  <c:v>7.16666666667</c:v>
                </c:pt>
                <c:pt idx="87">
                  <c:v>7.25</c:v>
                </c:pt>
                <c:pt idx="88">
                  <c:v>7.33333333333</c:v>
                </c:pt>
                <c:pt idx="89">
                  <c:v>7.41666666667</c:v>
                </c:pt>
                <c:pt idx="90">
                  <c:v>7.5</c:v>
                </c:pt>
                <c:pt idx="91">
                  <c:v>7.58333333333</c:v>
                </c:pt>
                <c:pt idx="92">
                  <c:v>7.66666666667</c:v>
                </c:pt>
                <c:pt idx="93">
                  <c:v>7.75</c:v>
                </c:pt>
                <c:pt idx="94">
                  <c:v>7.83333333333</c:v>
                </c:pt>
                <c:pt idx="95">
                  <c:v>7.91666666667</c:v>
                </c:pt>
                <c:pt idx="96">
                  <c:v>8</c:v>
                </c:pt>
                <c:pt idx="97">
                  <c:v>8.08333333333</c:v>
                </c:pt>
                <c:pt idx="98">
                  <c:v>8.16666666667</c:v>
                </c:pt>
                <c:pt idx="99">
                  <c:v>8.25</c:v>
                </c:pt>
                <c:pt idx="100">
                  <c:v>8.33333333333</c:v>
                </c:pt>
                <c:pt idx="101">
                  <c:v>8.41666666667</c:v>
                </c:pt>
                <c:pt idx="102">
                  <c:v>8.5</c:v>
                </c:pt>
                <c:pt idx="103">
                  <c:v>8.58333333333</c:v>
                </c:pt>
                <c:pt idx="104">
                  <c:v>8.66666666667</c:v>
                </c:pt>
                <c:pt idx="105">
                  <c:v>8.75</c:v>
                </c:pt>
                <c:pt idx="106">
                  <c:v>8.83333333333</c:v>
                </c:pt>
                <c:pt idx="107">
                  <c:v>8.91666666667</c:v>
                </c:pt>
                <c:pt idx="108">
                  <c:v>9</c:v>
                </c:pt>
                <c:pt idx="109">
                  <c:v>9.08333333333</c:v>
                </c:pt>
                <c:pt idx="110">
                  <c:v>9.16666666667</c:v>
                </c:pt>
                <c:pt idx="111">
                  <c:v>9.25</c:v>
                </c:pt>
                <c:pt idx="112">
                  <c:v>9.33333333333</c:v>
                </c:pt>
                <c:pt idx="113">
                  <c:v>9.41666666667</c:v>
                </c:pt>
                <c:pt idx="114">
                  <c:v>9.5</c:v>
                </c:pt>
                <c:pt idx="115">
                  <c:v>9.58333333333</c:v>
                </c:pt>
                <c:pt idx="116">
                  <c:v>9.66666666667</c:v>
                </c:pt>
                <c:pt idx="117">
                  <c:v>9.75</c:v>
                </c:pt>
                <c:pt idx="118">
                  <c:v>9.83333333333</c:v>
                </c:pt>
                <c:pt idx="119">
                  <c:v>9.91666666667</c:v>
                </c:pt>
                <c:pt idx="120">
                  <c:v>10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18.8982912302</c:v>
                </c:pt>
                <c:pt idx="1">
                  <c:v>19.1238155136</c:v>
                </c:pt>
                <c:pt idx="2">
                  <c:v>19.349339797</c:v>
                </c:pt>
                <c:pt idx="3">
                  <c:v>19.5748640805</c:v>
                </c:pt>
                <c:pt idx="4">
                  <c:v>19.8003883639</c:v>
                </c:pt>
                <c:pt idx="5">
                  <c:v>20.0259126473</c:v>
                </c:pt>
                <c:pt idx="6">
                  <c:v>20.2514369308</c:v>
                </c:pt>
                <c:pt idx="7">
                  <c:v>20.4769612142</c:v>
                </c:pt>
                <c:pt idx="8">
                  <c:v>20.7024854976</c:v>
                </c:pt>
                <c:pt idx="9">
                  <c:v>20.9280097811</c:v>
                </c:pt>
                <c:pt idx="10">
                  <c:v>21.1535340645</c:v>
                </c:pt>
                <c:pt idx="11">
                  <c:v>21.3790583479</c:v>
                </c:pt>
                <c:pt idx="12">
                  <c:v>21.6045826314</c:v>
                </c:pt>
                <c:pt idx="13">
                  <c:v>21.8301069148</c:v>
                </c:pt>
                <c:pt idx="14">
                  <c:v>22.0556311983</c:v>
                </c:pt>
                <c:pt idx="15">
                  <c:v>22.2811554817</c:v>
                </c:pt>
                <c:pt idx="16">
                  <c:v>22.5066797651</c:v>
                </c:pt>
                <c:pt idx="17">
                  <c:v>22.7322040486</c:v>
                </c:pt>
                <c:pt idx="18">
                  <c:v>22.957728332</c:v>
                </c:pt>
                <c:pt idx="19">
                  <c:v>23.1832526154</c:v>
                </c:pt>
                <c:pt idx="20">
                  <c:v>23.4087768989</c:v>
                </c:pt>
                <c:pt idx="21">
                  <c:v>23.6343011823</c:v>
                </c:pt>
                <c:pt idx="22">
                  <c:v>23.8598254657</c:v>
                </c:pt>
                <c:pt idx="23">
                  <c:v>24.0853497492</c:v>
                </c:pt>
                <c:pt idx="24">
                  <c:v>24.3108740326</c:v>
                </c:pt>
                <c:pt idx="25">
                  <c:v>24.536398316</c:v>
                </c:pt>
                <c:pt idx="26">
                  <c:v>24.7619225995</c:v>
                </c:pt>
                <c:pt idx="27">
                  <c:v>24.9874468829</c:v>
                </c:pt>
                <c:pt idx="28">
                  <c:v>25.2129711663</c:v>
                </c:pt>
                <c:pt idx="29">
                  <c:v>25.4384954498</c:v>
                </c:pt>
                <c:pt idx="30">
                  <c:v>25.6640197332</c:v>
                </c:pt>
                <c:pt idx="31">
                  <c:v>25.8895440166</c:v>
                </c:pt>
                <c:pt idx="32">
                  <c:v>26.1150683001</c:v>
                </c:pt>
                <c:pt idx="33">
                  <c:v>26.3405925835</c:v>
                </c:pt>
                <c:pt idx="34">
                  <c:v>26.5661168669</c:v>
                </c:pt>
                <c:pt idx="35">
                  <c:v>26.7916411504</c:v>
                </c:pt>
                <c:pt idx="36">
                  <c:v>27.0171654338</c:v>
                </c:pt>
                <c:pt idx="37">
                  <c:v>27.2426897173</c:v>
                </c:pt>
                <c:pt idx="38">
                  <c:v>27.4682140007</c:v>
                </c:pt>
                <c:pt idx="39">
                  <c:v>27.6937382841</c:v>
                </c:pt>
                <c:pt idx="40">
                  <c:v>27.9192625676</c:v>
                </c:pt>
                <c:pt idx="41">
                  <c:v>28.144786851</c:v>
                </c:pt>
                <c:pt idx="42">
                  <c:v>28.3703111344</c:v>
                </c:pt>
                <c:pt idx="43">
                  <c:v>28.5958354179</c:v>
                </c:pt>
                <c:pt idx="44">
                  <c:v>28.8213597013</c:v>
                </c:pt>
                <c:pt idx="45">
                  <c:v>29.0468839847</c:v>
                </c:pt>
                <c:pt idx="46">
                  <c:v>29.2724082682</c:v>
                </c:pt>
                <c:pt idx="47">
                  <c:v>29.4979325516</c:v>
                </c:pt>
                <c:pt idx="48">
                  <c:v>29.723456835</c:v>
                </c:pt>
                <c:pt idx="49">
                  <c:v>29.9489811185</c:v>
                </c:pt>
                <c:pt idx="50">
                  <c:v>30.1745054019</c:v>
                </c:pt>
                <c:pt idx="51">
                  <c:v>30.4000296853</c:v>
                </c:pt>
                <c:pt idx="52">
                  <c:v>30.6255539688</c:v>
                </c:pt>
                <c:pt idx="53">
                  <c:v>30.8510782522</c:v>
                </c:pt>
                <c:pt idx="54">
                  <c:v>31.0766025356</c:v>
                </c:pt>
                <c:pt idx="55">
                  <c:v>31.3021268191</c:v>
                </c:pt>
                <c:pt idx="56">
                  <c:v>31.5276511025</c:v>
                </c:pt>
                <c:pt idx="57">
                  <c:v>31.753175386</c:v>
                </c:pt>
                <c:pt idx="58">
                  <c:v>31.9786996694</c:v>
                </c:pt>
                <c:pt idx="59">
                  <c:v>32.2042239528</c:v>
                </c:pt>
                <c:pt idx="60">
                  <c:v>32.4297482363</c:v>
                </c:pt>
                <c:pt idx="61">
                  <c:v>32.6552725197</c:v>
                </c:pt>
                <c:pt idx="62">
                  <c:v>32.8807968031</c:v>
                </c:pt>
                <c:pt idx="63">
                  <c:v>33.1063210866</c:v>
                </c:pt>
                <c:pt idx="64">
                  <c:v>33.33184537</c:v>
                </c:pt>
                <c:pt idx="65">
                  <c:v>33.5573696534</c:v>
                </c:pt>
                <c:pt idx="66">
                  <c:v>33.7828939369</c:v>
                </c:pt>
                <c:pt idx="67">
                  <c:v>34.0084182203</c:v>
                </c:pt>
                <c:pt idx="68">
                  <c:v>34.2339425037</c:v>
                </c:pt>
                <c:pt idx="69">
                  <c:v>34.4594667872</c:v>
                </c:pt>
                <c:pt idx="70">
                  <c:v>34.6849910706</c:v>
                </c:pt>
                <c:pt idx="71">
                  <c:v>34.910515354</c:v>
                </c:pt>
                <c:pt idx="72">
                  <c:v>35.1360396375</c:v>
                </c:pt>
                <c:pt idx="73">
                  <c:v>35.3615639209</c:v>
                </c:pt>
                <c:pt idx="74">
                  <c:v>35.5870882043</c:v>
                </c:pt>
                <c:pt idx="75">
                  <c:v>35.8126124878</c:v>
                </c:pt>
                <c:pt idx="76">
                  <c:v>36.0381367712</c:v>
                </c:pt>
                <c:pt idx="77">
                  <c:v>36.2636610546</c:v>
                </c:pt>
                <c:pt idx="78">
                  <c:v>36.4891853381</c:v>
                </c:pt>
                <c:pt idx="79">
                  <c:v>36.7147096215</c:v>
                </c:pt>
                <c:pt idx="80">
                  <c:v>36.940233905</c:v>
                </c:pt>
                <c:pt idx="81">
                  <c:v>37.1657581884</c:v>
                </c:pt>
                <c:pt idx="82">
                  <c:v>37.3912824718</c:v>
                </c:pt>
                <c:pt idx="83">
                  <c:v>37.6168067553</c:v>
                </c:pt>
                <c:pt idx="84">
                  <c:v>37.8423310387</c:v>
                </c:pt>
                <c:pt idx="85">
                  <c:v>38.0678553221</c:v>
                </c:pt>
                <c:pt idx="86">
                  <c:v>38.2933796056</c:v>
                </c:pt>
                <c:pt idx="87">
                  <c:v>38.518903889</c:v>
                </c:pt>
                <c:pt idx="88">
                  <c:v>38.7444281724</c:v>
                </c:pt>
                <c:pt idx="89">
                  <c:v>38.9699524559</c:v>
                </c:pt>
                <c:pt idx="90">
                  <c:v>39.1954767393</c:v>
                </c:pt>
                <c:pt idx="91">
                  <c:v>39.4210010227</c:v>
                </c:pt>
                <c:pt idx="92">
                  <c:v>39.6465253062</c:v>
                </c:pt>
                <c:pt idx="93">
                  <c:v>39.8720495896</c:v>
                </c:pt>
                <c:pt idx="94">
                  <c:v>40.097573873</c:v>
                </c:pt>
                <c:pt idx="95">
                  <c:v>40.3230981565</c:v>
                </c:pt>
                <c:pt idx="96">
                  <c:v>40.5486224399</c:v>
                </c:pt>
                <c:pt idx="97">
                  <c:v>40.7741467233</c:v>
                </c:pt>
                <c:pt idx="98">
                  <c:v>40.9996710068</c:v>
                </c:pt>
                <c:pt idx="99">
                  <c:v>41.2251952902</c:v>
                </c:pt>
                <c:pt idx="100">
                  <c:v>41.4507195736</c:v>
                </c:pt>
                <c:pt idx="101">
                  <c:v>41.6762438571</c:v>
                </c:pt>
                <c:pt idx="102">
                  <c:v>41.9017681405</c:v>
                </c:pt>
                <c:pt idx="103">
                  <c:v>42.127292424</c:v>
                </c:pt>
                <c:pt idx="104">
                  <c:v>42.3528167074</c:v>
                </c:pt>
                <c:pt idx="105">
                  <c:v>42.5783409908</c:v>
                </c:pt>
                <c:pt idx="106">
                  <c:v>42.8038652743</c:v>
                </c:pt>
                <c:pt idx="107">
                  <c:v>43.0293895577</c:v>
                </c:pt>
                <c:pt idx="108">
                  <c:v>43.2549138411</c:v>
                </c:pt>
                <c:pt idx="109">
                  <c:v>43.4804381246</c:v>
                </c:pt>
                <c:pt idx="110">
                  <c:v>43.705962408</c:v>
                </c:pt>
                <c:pt idx="111">
                  <c:v>43.9314866914</c:v>
                </c:pt>
                <c:pt idx="112">
                  <c:v>44.1570109749</c:v>
                </c:pt>
                <c:pt idx="113">
                  <c:v>44.3825352583</c:v>
                </c:pt>
                <c:pt idx="114">
                  <c:v>44.6080595417</c:v>
                </c:pt>
                <c:pt idx="115">
                  <c:v>44.8335838252</c:v>
                </c:pt>
                <c:pt idx="116">
                  <c:v>45.0591081086</c:v>
                </c:pt>
                <c:pt idx="117">
                  <c:v>45.284632392</c:v>
                </c:pt>
                <c:pt idx="118">
                  <c:v>45.5101566755</c:v>
                </c:pt>
                <c:pt idx="119">
                  <c:v>45.7356809589</c:v>
                </c:pt>
                <c:pt idx="120">
                  <c:v>45.9612052423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Resposta 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Entrada 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Observações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1A4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0.909090909091</c:v>
                </c:pt>
                <c:pt idx="2">
                  <c:v>1.81818181818</c:v>
                </c:pt>
                <c:pt idx="3">
                  <c:v>2.72727272727</c:v>
                </c:pt>
                <c:pt idx="4">
                  <c:v>3.63636363636</c:v>
                </c:pt>
                <c:pt idx="5">
                  <c:v>4.54545454545</c:v>
                </c:pt>
                <c:pt idx="6">
                  <c:v>5.45454545455</c:v>
                </c:pt>
                <c:pt idx="7">
                  <c:v>6.36363636364</c:v>
                </c:pt>
                <c:pt idx="8">
                  <c:v>7.27272727273</c:v>
                </c:pt>
                <c:pt idx="9">
                  <c:v>8.18181818182</c:v>
                </c:pt>
                <c:pt idx="10">
                  <c:v>9.09090909091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12.6094341595</c:v>
                </c:pt>
                <c:pt idx="1">
                  <c:v>17.0688271675</c:v>
                </c:pt>
                <c:pt idx="2">
                  <c:v>27.0851933671</c:v>
                </c:pt>
                <c:pt idx="3">
                  <c:v>32.6191723692</c:v>
                </c:pt>
                <c:pt idx="4">
                  <c:v>30.3998317616</c:v>
                </c:pt>
                <c:pt idx="5">
                  <c:v>33.6862336694</c:v>
                </c:pt>
                <c:pt idx="6">
                  <c:v>37.2944025499</c:v>
                </c:pt>
                <c:pt idx="7">
                  <c:v>36.5003428219</c:v>
                </c:pt>
                <c:pt idx="8">
                  <c:v>37.2586658893</c:v>
                </c:pt>
                <c:pt idx="9">
                  <c:v>36.5170432887</c:v>
                </c:pt>
                <c:pt idx="10">
                  <c:v>42.2336421174</c:v>
                </c:pt>
                <c:pt idx="11">
                  <c:v>45.8841896736</c:v>
                </c:pt>
                <c:pt idx="12">
                  <c:v>45.8841896736</c:v>
                </c:pt>
                <c:pt idx="13">
                  <c:v>45.8841896736</c:v>
                </c:pt>
                <c:pt idx="14">
                  <c:v>45.8841896736</c:v>
                </c:pt>
                <c:pt idx="15">
                  <c:v>45.8841896736</c:v>
                </c:pt>
                <c:pt idx="16">
                  <c:v>45.8841896736</c:v>
                </c:pt>
                <c:pt idx="17">
                  <c:v>45.8841896736</c:v>
                </c:pt>
                <c:pt idx="18">
                  <c:v>45.8841896736</c:v>
                </c:pt>
                <c:pt idx="19">
                  <c:v>45.8841896736</c:v>
                </c:pt>
                <c:pt idx="20">
                  <c:v>45.8841896736</c:v>
                </c:pt>
                <c:pt idx="21">
                  <c:v>45.8841896736</c:v>
                </c:pt>
                <c:pt idx="22">
                  <c:v>45.8841896736</c:v>
                </c:pt>
                <c:pt idx="23">
                  <c:v>45.8841896736</c:v>
                </c:pt>
                <c:pt idx="24">
                  <c:v>45.8841896736</c:v>
                </c:pt>
                <c:pt idx="25">
                  <c:v>45.8841896736</c:v>
                </c:pt>
                <c:pt idx="26">
                  <c:v>45.8841896736</c:v>
                </c:pt>
                <c:pt idx="27">
                  <c:v>45.8841896736</c:v>
                </c:pt>
                <c:pt idx="28">
                  <c:v>45.8841896736</c:v>
                </c:pt>
                <c:pt idx="29">
                  <c:v>45.8841896736</c:v>
                </c:pt>
                <c:pt idx="30">
                  <c:v>45.8841896736</c:v>
                </c:pt>
                <c:pt idx="31">
                  <c:v>45.8841896736</c:v>
                </c:pt>
                <c:pt idx="32">
                  <c:v>45.8841896736</c:v>
                </c:pt>
                <c:pt idx="33">
                  <c:v>45.8841896736</c:v>
                </c:pt>
                <c:pt idx="34">
                  <c:v>45.8841896736</c:v>
                </c:pt>
                <c:pt idx="35">
                  <c:v>45.8841896736</c:v>
                </c:pt>
                <c:pt idx="36">
                  <c:v>45.8841896736</c:v>
                </c:pt>
                <c:pt idx="37">
                  <c:v>45.8841896736</c:v>
                </c:pt>
                <c:pt idx="38">
                  <c:v>45.8841896736</c:v>
                </c:pt>
                <c:pt idx="39">
                  <c:v>45.8841896736</c:v>
                </c:pt>
                <c:pt idx="40">
                  <c:v>45.8841896736</c:v>
                </c:pt>
                <c:pt idx="41">
                  <c:v>45.8841896736</c:v>
                </c:pt>
                <c:pt idx="42">
                  <c:v>45.8841896736</c:v>
                </c:pt>
                <c:pt idx="43">
                  <c:v>45.8841896736</c:v>
                </c:pt>
                <c:pt idx="44">
                  <c:v>45.8841896736</c:v>
                </c:pt>
                <c:pt idx="45">
                  <c:v>45.8841896736</c:v>
                </c:pt>
                <c:pt idx="46">
                  <c:v>45.8841896736</c:v>
                </c:pt>
                <c:pt idx="47">
                  <c:v>45.8841896736</c:v>
                </c:pt>
                <c:pt idx="48">
                  <c:v>45.8841896736</c:v>
                </c:pt>
                <c:pt idx="49">
                  <c:v>45.8841896736</c:v>
                </c:pt>
                <c:pt idx="50">
                  <c:v>45.8841896736</c:v>
                </c:pt>
                <c:pt idx="51">
                  <c:v>45.8841896736</c:v>
                </c:pt>
                <c:pt idx="52">
                  <c:v>45.8841896736</c:v>
                </c:pt>
                <c:pt idx="53">
                  <c:v>45.8841896736</c:v>
                </c:pt>
                <c:pt idx="54">
                  <c:v>45.8841896736</c:v>
                </c:pt>
                <c:pt idx="55">
                  <c:v>45.8841896736</c:v>
                </c:pt>
                <c:pt idx="56">
                  <c:v>45.8841896736</c:v>
                </c:pt>
                <c:pt idx="57">
                  <c:v>45.8841896736</c:v>
                </c:pt>
                <c:pt idx="58">
                  <c:v>45.8841896736</c:v>
                </c:pt>
                <c:pt idx="59">
                  <c:v>45.8841896736</c:v>
                </c:pt>
                <c:pt idx="60">
                  <c:v>45.8841896736</c:v>
                </c:pt>
                <c:pt idx="61">
                  <c:v>45.8841896736</c:v>
                </c:pt>
                <c:pt idx="62">
                  <c:v>45.8841896736</c:v>
                </c:pt>
                <c:pt idx="63">
                  <c:v>45.8841896736</c:v>
                </c:pt>
                <c:pt idx="64">
                  <c:v>45.8841896736</c:v>
                </c:pt>
                <c:pt idx="65">
                  <c:v>45.8841896736</c:v>
                </c:pt>
                <c:pt idx="66">
                  <c:v>45.8841896736</c:v>
                </c:pt>
                <c:pt idx="67">
                  <c:v>45.8841896736</c:v>
                </c:pt>
                <c:pt idx="68">
                  <c:v>45.8841896736</c:v>
                </c:pt>
                <c:pt idx="69">
                  <c:v>45.8841896736</c:v>
                </c:pt>
                <c:pt idx="70">
                  <c:v>45.8841896736</c:v>
                </c:pt>
                <c:pt idx="71">
                  <c:v>45.8841896736</c:v>
                </c:pt>
                <c:pt idx="72">
                  <c:v>45.8841896736</c:v>
                </c:pt>
                <c:pt idx="73">
                  <c:v>45.8841896736</c:v>
                </c:pt>
                <c:pt idx="74">
                  <c:v>45.8841896736</c:v>
                </c:pt>
                <c:pt idx="75">
                  <c:v>45.8841896736</c:v>
                </c:pt>
                <c:pt idx="76">
                  <c:v>45.8841896736</c:v>
                </c:pt>
                <c:pt idx="77">
                  <c:v>45.8841896736</c:v>
                </c:pt>
                <c:pt idx="78">
                  <c:v>45.8841896736</c:v>
                </c:pt>
                <c:pt idx="79">
                  <c:v>45.8841896736</c:v>
                </c:pt>
                <c:pt idx="80">
                  <c:v>45.8841896736</c:v>
                </c:pt>
                <c:pt idx="81">
                  <c:v>45.8841896736</c:v>
                </c:pt>
                <c:pt idx="82">
                  <c:v>45.8841896736</c:v>
                </c:pt>
                <c:pt idx="83">
                  <c:v>45.8841896736</c:v>
                </c:pt>
                <c:pt idx="84">
                  <c:v>45.8841896736</c:v>
                </c:pt>
                <c:pt idx="85">
                  <c:v>45.8841896736</c:v>
                </c:pt>
                <c:pt idx="86">
                  <c:v>45.8841896736</c:v>
                </c:pt>
                <c:pt idx="87">
                  <c:v>45.8841896736</c:v>
                </c:pt>
                <c:pt idx="88">
                  <c:v>45.8841896736</c:v>
                </c:pt>
                <c:pt idx="89">
                  <c:v>45.8841896736</c:v>
                </c:pt>
                <c:pt idx="90">
                  <c:v>45.8841896736</c:v>
                </c:pt>
                <c:pt idx="91">
                  <c:v>45.8841896736</c:v>
                </c:pt>
                <c:pt idx="92">
                  <c:v>45.8841896736</c:v>
                </c:pt>
                <c:pt idx="93">
                  <c:v>45.8841896736</c:v>
                </c:pt>
                <c:pt idx="94">
                  <c:v>45.8841896736</c:v>
                </c:pt>
                <c:pt idx="95">
                  <c:v>45.8841896736</c:v>
                </c:pt>
                <c:pt idx="96">
                  <c:v>45.8841896736</c:v>
                </c:pt>
                <c:pt idx="97">
                  <c:v>45.8841896736</c:v>
                </c:pt>
                <c:pt idx="98">
                  <c:v>45.8841896736</c:v>
                </c:pt>
                <c:pt idx="99">
                  <c:v>45.8841896736</c:v>
                </c:pt>
                <c:pt idx="100">
                  <c:v>45.8841896736</c:v>
                </c:pt>
                <c:pt idx="101">
                  <c:v>45.8841896736</c:v>
                </c:pt>
                <c:pt idx="102">
                  <c:v>45.8841896736</c:v>
                </c:pt>
                <c:pt idx="103">
                  <c:v>45.8841896736</c:v>
                </c:pt>
                <c:pt idx="104">
                  <c:v>45.8841896736</c:v>
                </c:pt>
                <c:pt idx="105">
                  <c:v>45.8841896736</c:v>
                </c:pt>
                <c:pt idx="106">
                  <c:v>45.8841896736</c:v>
                </c:pt>
                <c:pt idx="107">
                  <c:v>45.8841896736</c:v>
                </c:pt>
                <c:pt idx="108">
                  <c:v>45.8841896736</c:v>
                </c:pt>
                <c:pt idx="109">
                  <c:v>45.8841896736</c:v>
                </c:pt>
                <c:pt idx="110">
                  <c:v>45.8841896736</c:v>
                </c:pt>
                <c:pt idx="111">
                  <c:v>45.8841896736</c:v>
                </c:pt>
                <c:pt idx="112">
                  <c:v>45.8841896736</c:v>
                </c:pt>
                <c:pt idx="113">
                  <c:v>45.8841896736</c:v>
                </c:pt>
                <c:pt idx="114">
                  <c:v>45.8841896736</c:v>
                </c:pt>
                <c:pt idx="115">
                  <c:v>45.8841896736</c:v>
                </c:pt>
                <c:pt idx="116">
                  <c:v>45.8841896736</c:v>
                </c:pt>
                <c:pt idx="117">
                  <c:v>45.8841896736</c:v>
                </c:pt>
                <c:pt idx="118">
                  <c:v>45.8841896736</c:v>
                </c:pt>
                <c:pt idx="119">
                  <c:v>45.8841896736</c:v>
                </c:pt>
                <c:pt idx="120">
                  <c:v>45.8841896736</c:v>
                </c:pt>
              </c:numCache>
            </c:numRef>
          </c:yVal>
          <c:smooth val="0"/>
        </c:ser>
        <c:ser>
          <c:idx val="1"/>
          <c:order val="1"/>
          <c:tx>
            <c:v>Modelo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0.0833333333333</c:v>
                </c:pt>
                <c:pt idx="2">
                  <c:v>0.166666666667</c:v>
                </c:pt>
                <c:pt idx="3">
                  <c:v>0.25</c:v>
                </c:pt>
                <c:pt idx="4">
                  <c:v>0.333333333333</c:v>
                </c:pt>
                <c:pt idx="5">
                  <c:v>0.416666666667</c:v>
                </c:pt>
                <c:pt idx="6">
                  <c:v>0.5</c:v>
                </c:pt>
                <c:pt idx="7">
                  <c:v>0.583333333333</c:v>
                </c:pt>
                <c:pt idx="8">
                  <c:v>0.666666666667</c:v>
                </c:pt>
                <c:pt idx="9">
                  <c:v>0.75</c:v>
                </c:pt>
                <c:pt idx="10">
                  <c:v>0.833333333333</c:v>
                </c:pt>
                <c:pt idx="11">
                  <c:v>0.916666666667</c:v>
                </c:pt>
                <c:pt idx="12">
                  <c:v>1</c:v>
                </c:pt>
                <c:pt idx="13">
                  <c:v>1.08333333333</c:v>
                </c:pt>
                <c:pt idx="14">
                  <c:v>1.16666666667</c:v>
                </c:pt>
                <c:pt idx="15">
                  <c:v>1.25</c:v>
                </c:pt>
                <c:pt idx="16">
                  <c:v>1.33333333333</c:v>
                </c:pt>
                <c:pt idx="17">
                  <c:v>1.41666666667</c:v>
                </c:pt>
                <c:pt idx="18">
                  <c:v>1.5</c:v>
                </c:pt>
                <c:pt idx="19">
                  <c:v>1.58333333333</c:v>
                </c:pt>
                <c:pt idx="20">
                  <c:v>1.66666666667</c:v>
                </c:pt>
                <c:pt idx="21">
                  <c:v>1.75</c:v>
                </c:pt>
                <c:pt idx="22">
                  <c:v>1.83333333333</c:v>
                </c:pt>
                <c:pt idx="23">
                  <c:v>1.91666666667</c:v>
                </c:pt>
                <c:pt idx="24">
                  <c:v>2</c:v>
                </c:pt>
                <c:pt idx="25">
                  <c:v>2.08333333333</c:v>
                </c:pt>
                <c:pt idx="26">
                  <c:v>2.16666666667</c:v>
                </c:pt>
                <c:pt idx="27">
                  <c:v>2.25</c:v>
                </c:pt>
                <c:pt idx="28">
                  <c:v>2.33333333333</c:v>
                </c:pt>
                <c:pt idx="29">
                  <c:v>2.41666666667</c:v>
                </c:pt>
                <c:pt idx="30">
                  <c:v>2.5</c:v>
                </c:pt>
                <c:pt idx="31">
                  <c:v>2.58333333333</c:v>
                </c:pt>
                <c:pt idx="32">
                  <c:v>2.66666666667</c:v>
                </c:pt>
                <c:pt idx="33">
                  <c:v>2.75</c:v>
                </c:pt>
                <c:pt idx="34">
                  <c:v>2.83333333333</c:v>
                </c:pt>
                <c:pt idx="35">
                  <c:v>2.91666666667</c:v>
                </c:pt>
                <c:pt idx="36">
                  <c:v>3</c:v>
                </c:pt>
                <c:pt idx="37">
                  <c:v>3.08333333333</c:v>
                </c:pt>
                <c:pt idx="38">
                  <c:v>3.16666666667</c:v>
                </c:pt>
                <c:pt idx="39">
                  <c:v>3.25</c:v>
                </c:pt>
                <c:pt idx="40">
                  <c:v>3.33333333333</c:v>
                </c:pt>
                <c:pt idx="41">
                  <c:v>3.41666666667</c:v>
                </c:pt>
                <c:pt idx="42">
                  <c:v>3.5</c:v>
                </c:pt>
                <c:pt idx="43">
                  <c:v>3.58333333333</c:v>
                </c:pt>
                <c:pt idx="44">
                  <c:v>3.66666666667</c:v>
                </c:pt>
                <c:pt idx="45">
                  <c:v>3.75</c:v>
                </c:pt>
                <c:pt idx="46">
                  <c:v>3.83333333333</c:v>
                </c:pt>
                <c:pt idx="47">
                  <c:v>3.91666666667</c:v>
                </c:pt>
                <c:pt idx="48">
                  <c:v>4</c:v>
                </c:pt>
                <c:pt idx="49">
                  <c:v>4.08333333333</c:v>
                </c:pt>
                <c:pt idx="50">
                  <c:v>4.16666666667</c:v>
                </c:pt>
                <c:pt idx="51">
                  <c:v>4.25</c:v>
                </c:pt>
                <c:pt idx="52">
                  <c:v>4.33333333333</c:v>
                </c:pt>
                <c:pt idx="53">
                  <c:v>4.41666666667</c:v>
                </c:pt>
                <c:pt idx="54">
                  <c:v>4.5</c:v>
                </c:pt>
                <c:pt idx="55">
                  <c:v>4.58333333333</c:v>
                </c:pt>
                <c:pt idx="56">
                  <c:v>4.66666666667</c:v>
                </c:pt>
                <c:pt idx="57">
                  <c:v>4.75</c:v>
                </c:pt>
                <c:pt idx="58">
                  <c:v>4.83333333333</c:v>
                </c:pt>
                <c:pt idx="59">
                  <c:v>4.91666666667</c:v>
                </c:pt>
                <c:pt idx="60">
                  <c:v>5</c:v>
                </c:pt>
                <c:pt idx="61">
                  <c:v>5.08333333333</c:v>
                </c:pt>
                <c:pt idx="62">
                  <c:v>5.16666666667</c:v>
                </c:pt>
                <c:pt idx="63">
                  <c:v>5.25</c:v>
                </c:pt>
                <c:pt idx="64">
                  <c:v>5.33333333333</c:v>
                </c:pt>
                <c:pt idx="65">
                  <c:v>5.41666666667</c:v>
                </c:pt>
                <c:pt idx="66">
                  <c:v>5.5</c:v>
                </c:pt>
                <c:pt idx="67">
                  <c:v>5.58333333333</c:v>
                </c:pt>
                <c:pt idx="68">
                  <c:v>5.66666666667</c:v>
                </c:pt>
                <c:pt idx="69">
                  <c:v>5.75</c:v>
                </c:pt>
                <c:pt idx="70">
                  <c:v>5.83333333333</c:v>
                </c:pt>
                <c:pt idx="71">
                  <c:v>5.91666666667</c:v>
                </c:pt>
                <c:pt idx="72">
                  <c:v>6</c:v>
                </c:pt>
                <c:pt idx="73">
                  <c:v>6.08333333333</c:v>
                </c:pt>
                <c:pt idx="74">
                  <c:v>6.16666666667</c:v>
                </c:pt>
                <c:pt idx="75">
                  <c:v>6.25</c:v>
                </c:pt>
                <c:pt idx="76">
                  <c:v>6.33333333333</c:v>
                </c:pt>
                <c:pt idx="77">
                  <c:v>6.41666666667</c:v>
                </c:pt>
                <c:pt idx="78">
                  <c:v>6.5</c:v>
                </c:pt>
                <c:pt idx="79">
                  <c:v>6.58333333333</c:v>
                </c:pt>
                <c:pt idx="80">
                  <c:v>6.66666666667</c:v>
                </c:pt>
                <c:pt idx="81">
                  <c:v>6.75</c:v>
                </c:pt>
                <c:pt idx="82">
                  <c:v>6.83333333333</c:v>
                </c:pt>
                <c:pt idx="83">
                  <c:v>6.91666666667</c:v>
                </c:pt>
                <c:pt idx="84">
                  <c:v>7</c:v>
                </c:pt>
                <c:pt idx="85">
                  <c:v>7.08333333333</c:v>
                </c:pt>
                <c:pt idx="86">
                  <c:v>7.16666666667</c:v>
                </c:pt>
                <c:pt idx="87">
                  <c:v>7.25</c:v>
                </c:pt>
                <c:pt idx="88">
                  <c:v>7.33333333333</c:v>
                </c:pt>
                <c:pt idx="89">
                  <c:v>7.41666666667</c:v>
                </c:pt>
                <c:pt idx="90">
                  <c:v>7.5</c:v>
                </c:pt>
                <c:pt idx="91">
                  <c:v>7.58333333333</c:v>
                </c:pt>
                <c:pt idx="92">
                  <c:v>7.66666666667</c:v>
                </c:pt>
                <c:pt idx="93">
                  <c:v>7.75</c:v>
                </c:pt>
                <c:pt idx="94">
                  <c:v>7.83333333333</c:v>
                </c:pt>
                <c:pt idx="95">
                  <c:v>7.91666666667</c:v>
                </c:pt>
                <c:pt idx="96">
                  <c:v>8</c:v>
                </c:pt>
                <c:pt idx="97">
                  <c:v>8.08333333333</c:v>
                </c:pt>
                <c:pt idx="98">
                  <c:v>8.16666666667</c:v>
                </c:pt>
                <c:pt idx="99">
                  <c:v>8.25</c:v>
                </c:pt>
                <c:pt idx="100">
                  <c:v>8.33333333333</c:v>
                </c:pt>
                <c:pt idx="101">
                  <c:v>8.41666666667</c:v>
                </c:pt>
                <c:pt idx="102">
                  <c:v>8.5</c:v>
                </c:pt>
                <c:pt idx="103">
                  <c:v>8.58333333333</c:v>
                </c:pt>
                <c:pt idx="104">
                  <c:v>8.66666666667</c:v>
                </c:pt>
                <c:pt idx="105">
                  <c:v>8.75</c:v>
                </c:pt>
                <c:pt idx="106">
                  <c:v>8.83333333333</c:v>
                </c:pt>
                <c:pt idx="107">
                  <c:v>8.91666666667</c:v>
                </c:pt>
                <c:pt idx="108">
                  <c:v>9</c:v>
                </c:pt>
                <c:pt idx="109">
                  <c:v>9.08333333333</c:v>
                </c:pt>
                <c:pt idx="110">
                  <c:v>9.16666666667</c:v>
                </c:pt>
                <c:pt idx="111">
                  <c:v>9.25</c:v>
                </c:pt>
                <c:pt idx="112">
                  <c:v>9.33333333333</c:v>
                </c:pt>
                <c:pt idx="113">
                  <c:v>9.41666666667</c:v>
                </c:pt>
                <c:pt idx="114">
                  <c:v>9.5</c:v>
                </c:pt>
                <c:pt idx="115">
                  <c:v>9.58333333333</c:v>
                </c:pt>
                <c:pt idx="116">
                  <c:v>9.66666666667</c:v>
                </c:pt>
                <c:pt idx="117">
                  <c:v>9.75</c:v>
                </c:pt>
                <c:pt idx="118">
                  <c:v>9.83333333333</c:v>
                </c:pt>
                <c:pt idx="119">
                  <c:v>9.91666666667</c:v>
                </c:pt>
                <c:pt idx="120">
                  <c:v>10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11.3739026165</c:v>
                </c:pt>
                <c:pt idx="1">
                  <c:v>12.2694062144</c:v>
                </c:pt>
                <c:pt idx="2">
                  <c:v>13.141312668</c:v>
                </c:pt>
                <c:pt idx="3">
                  <c:v>13.9899615296</c:v>
                </c:pt>
                <c:pt idx="4">
                  <c:v>14.8156923511</c:v>
                </c:pt>
                <c:pt idx="5">
                  <c:v>15.6188446846</c:v>
                </c:pt>
                <c:pt idx="6">
                  <c:v>16.3997580821</c:v>
                </c:pt>
                <c:pt idx="7">
                  <c:v>17.1587720959</c:v>
                </c:pt>
                <c:pt idx="8">
                  <c:v>17.8962262778</c:v>
                </c:pt>
                <c:pt idx="9">
                  <c:v>18.61246018</c:v>
                </c:pt>
                <c:pt idx="10">
                  <c:v>19.3078133545</c:v>
                </c:pt>
                <c:pt idx="11">
                  <c:v>19.9826253535</c:v>
                </c:pt>
                <c:pt idx="12">
                  <c:v>20.6372357289</c:v>
                </c:pt>
                <c:pt idx="13">
                  <c:v>21.2719840329</c:v>
                </c:pt>
                <c:pt idx="14">
                  <c:v>21.8872098174</c:v>
                </c:pt>
                <c:pt idx="15">
                  <c:v>22.4832526347</c:v>
                </c:pt>
                <c:pt idx="16">
                  <c:v>23.0604520367</c:v>
                </c:pt>
                <c:pt idx="17">
                  <c:v>23.6191475754</c:v>
                </c:pt>
                <c:pt idx="18">
                  <c:v>24.1596788031</c:v>
                </c:pt>
                <c:pt idx="19">
                  <c:v>24.6823852716</c:v>
                </c:pt>
                <c:pt idx="20">
                  <c:v>25.1876065332</c:v>
                </c:pt>
                <c:pt idx="21">
                  <c:v>25.6756821398</c:v>
                </c:pt>
                <c:pt idx="22">
                  <c:v>26.1469516436</c:v>
                </c:pt>
                <c:pt idx="23">
                  <c:v>26.6017545965</c:v>
                </c:pt>
                <c:pt idx="24">
                  <c:v>27.0404305507</c:v>
                </c:pt>
                <c:pt idx="25">
                  <c:v>27.4633190582</c:v>
                </c:pt>
                <c:pt idx="26">
                  <c:v>27.8707596712</c:v>
                </c:pt>
                <c:pt idx="27">
                  <c:v>28.2630919415</c:v>
                </c:pt>
                <c:pt idx="28">
                  <c:v>28.6406554214</c:v>
                </c:pt>
                <c:pt idx="29">
                  <c:v>29.0037896629</c:v>
                </c:pt>
                <c:pt idx="30">
                  <c:v>29.3528342181</c:v>
                </c:pt>
                <c:pt idx="31">
                  <c:v>29.6881286389</c:v>
                </c:pt>
                <c:pt idx="32">
                  <c:v>30.0100124776</c:v>
                </c:pt>
                <c:pt idx="33">
                  <c:v>30.3188252861</c:v>
                </c:pt>
                <c:pt idx="34">
                  <c:v>30.6149066165</c:v>
                </c:pt>
                <c:pt idx="35">
                  <c:v>30.8985960209</c:v>
                </c:pt>
                <c:pt idx="36">
                  <c:v>31.1702330513</c:v>
                </c:pt>
                <c:pt idx="37">
                  <c:v>31.4301572599</c:v>
                </c:pt>
                <c:pt idx="38">
                  <c:v>31.6787081986</c:v>
                </c:pt>
                <c:pt idx="39">
                  <c:v>31.9162254196</c:v>
                </c:pt>
                <c:pt idx="40">
                  <c:v>32.1430484748</c:v>
                </c:pt>
                <c:pt idx="41">
                  <c:v>32.3595169165</c:v>
                </c:pt>
                <c:pt idx="42">
                  <c:v>32.5659702966</c:v>
                </c:pt>
                <c:pt idx="43">
                  <c:v>32.7627481672</c:v>
                </c:pt>
                <c:pt idx="44">
                  <c:v>32.9501900804</c:v>
                </c:pt>
                <c:pt idx="45">
                  <c:v>33.1286355882</c:v>
                </c:pt>
                <c:pt idx="46">
                  <c:v>33.2984242427</c:v>
                </c:pt>
                <c:pt idx="47">
                  <c:v>33.459895596</c:v>
                </c:pt>
                <c:pt idx="48">
                  <c:v>33.6133892001</c:v>
                </c:pt>
                <c:pt idx="49">
                  <c:v>33.7592446071</c:v>
                </c:pt>
                <c:pt idx="50">
                  <c:v>33.8978013691</c:v>
                </c:pt>
                <c:pt idx="51">
                  <c:v>34.0293990382</c:v>
                </c:pt>
                <c:pt idx="52">
                  <c:v>34.1543771663</c:v>
                </c:pt>
                <c:pt idx="53">
                  <c:v>34.2730753056</c:v>
                </c:pt>
                <c:pt idx="54">
                  <c:v>34.3858330081</c:v>
                </c:pt>
                <c:pt idx="55">
                  <c:v>34.4929898259</c:v>
                </c:pt>
                <c:pt idx="56">
                  <c:v>34.594885311</c:v>
                </c:pt>
                <c:pt idx="57">
                  <c:v>34.6918590156</c:v>
                </c:pt>
                <c:pt idx="58">
                  <c:v>34.7842504917</c:v>
                </c:pt>
                <c:pt idx="59">
                  <c:v>34.8723992913</c:v>
                </c:pt>
                <c:pt idx="60">
                  <c:v>34.9566449666</c:v>
                </c:pt>
                <c:pt idx="61">
                  <c:v>35.0373270695</c:v>
                </c:pt>
                <c:pt idx="62">
                  <c:v>35.1147851522</c:v>
                </c:pt>
                <c:pt idx="63">
                  <c:v>35.1893587668</c:v>
                </c:pt>
                <c:pt idx="64">
                  <c:v>35.2613874652</c:v>
                </c:pt>
                <c:pt idx="65">
                  <c:v>35.3312107995</c:v>
                </c:pt>
                <c:pt idx="66">
                  <c:v>35.3991683219</c:v>
                </c:pt>
                <c:pt idx="67">
                  <c:v>35.4655995843</c:v>
                </c:pt>
                <c:pt idx="68">
                  <c:v>35.5308441389</c:v>
                </c:pt>
                <c:pt idx="69">
                  <c:v>35.5952415378</c:v>
                </c:pt>
                <c:pt idx="70">
                  <c:v>35.6591313328</c:v>
                </c:pt>
                <c:pt idx="71">
                  <c:v>35.7228530763</c:v>
                </c:pt>
                <c:pt idx="72">
                  <c:v>35.7867463201</c:v>
                </c:pt>
                <c:pt idx="73">
                  <c:v>35.8511506164</c:v>
                </c:pt>
                <c:pt idx="74">
                  <c:v>35.9164055173</c:v>
                </c:pt>
                <c:pt idx="75">
                  <c:v>35.9828505748</c:v>
                </c:pt>
                <c:pt idx="76">
                  <c:v>36.0508253409</c:v>
                </c:pt>
                <c:pt idx="77">
                  <c:v>36.1206693678</c:v>
                </c:pt>
                <c:pt idx="78">
                  <c:v>36.1927222075</c:v>
                </c:pt>
                <c:pt idx="79">
                  <c:v>36.267323412</c:v>
                </c:pt>
                <c:pt idx="80">
                  <c:v>36.3448125335</c:v>
                </c:pt>
                <c:pt idx="81">
                  <c:v>36.425529124</c:v>
                </c:pt>
                <c:pt idx="82">
                  <c:v>36.5098127356</c:v>
                </c:pt>
                <c:pt idx="83">
                  <c:v>36.5980029203</c:v>
                </c:pt>
                <c:pt idx="84">
                  <c:v>36.6904392302</c:v>
                </c:pt>
                <c:pt idx="85">
                  <c:v>36.7874612173</c:v>
                </c:pt>
                <c:pt idx="86">
                  <c:v>36.8894084338</c:v>
                </c:pt>
                <c:pt idx="87">
                  <c:v>36.9966204317</c:v>
                </c:pt>
                <c:pt idx="88">
                  <c:v>37.109436763</c:v>
                </c:pt>
                <c:pt idx="89">
                  <c:v>37.2281969799</c:v>
                </c:pt>
                <c:pt idx="90">
                  <c:v>37.3532406343</c:v>
                </c:pt>
                <c:pt idx="91">
                  <c:v>37.4849072784</c:v>
                </c:pt>
                <c:pt idx="92">
                  <c:v>37.6235364642</c:v>
                </c:pt>
                <c:pt idx="93">
                  <c:v>37.7694677439</c:v>
                </c:pt>
                <c:pt idx="94">
                  <c:v>37.9230406693</c:v>
                </c:pt>
                <c:pt idx="95">
                  <c:v>38.0845947927</c:v>
                </c:pt>
                <c:pt idx="96">
                  <c:v>38.2544696661</c:v>
                </c:pt>
                <c:pt idx="97">
                  <c:v>38.4330048415</c:v>
                </c:pt>
                <c:pt idx="98">
                  <c:v>38.6205398711</c:v>
                </c:pt>
                <c:pt idx="99">
                  <c:v>38.8174143068</c:v>
                </c:pt>
                <c:pt idx="100">
                  <c:v>39.0239677008</c:v>
                </c:pt>
                <c:pt idx="101">
                  <c:v>39.2405396051</c:v>
                </c:pt>
                <c:pt idx="102">
                  <c:v>39.4674695717</c:v>
                </c:pt>
                <c:pt idx="103">
                  <c:v>39.7050971529</c:v>
                </c:pt>
                <c:pt idx="104">
                  <c:v>39.9537619005</c:v>
                </c:pt>
                <c:pt idx="105">
                  <c:v>40.2138033667</c:v>
                </c:pt>
                <c:pt idx="106">
                  <c:v>40.4855611035</c:v>
                </c:pt>
                <c:pt idx="107">
                  <c:v>40.7693746631</c:v>
                </c:pt>
                <c:pt idx="108">
                  <c:v>41.0655835974</c:v>
                </c:pt>
                <c:pt idx="109">
                  <c:v>41.3745274585</c:v>
                </c:pt>
                <c:pt idx="110">
                  <c:v>41.6965457986</c:v>
                </c:pt>
                <c:pt idx="111">
                  <c:v>42.0319781696</c:v>
                </c:pt>
                <c:pt idx="112">
                  <c:v>42.3811641237</c:v>
                </c:pt>
                <c:pt idx="113">
                  <c:v>42.7444432129</c:v>
                </c:pt>
                <c:pt idx="114">
                  <c:v>43.1221549892</c:v>
                </c:pt>
                <c:pt idx="115">
                  <c:v>43.5146390048</c:v>
                </c:pt>
                <c:pt idx="116">
                  <c:v>43.9222348117</c:v>
                </c:pt>
                <c:pt idx="117">
                  <c:v>44.3452819619</c:v>
                </c:pt>
                <c:pt idx="118">
                  <c:v>44.7841200076</c:v>
                </c:pt>
                <c:pt idx="119">
                  <c:v>45.2390885007</c:v>
                </c:pt>
                <c:pt idx="120">
                  <c:v>45.7105269934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Resposta 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Entrada 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Observações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1A4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0.909090909091</c:v>
                </c:pt>
                <c:pt idx="2">
                  <c:v>1.81818181818</c:v>
                </c:pt>
                <c:pt idx="3">
                  <c:v>2.72727272727</c:v>
                </c:pt>
                <c:pt idx="4">
                  <c:v>3.63636363636</c:v>
                </c:pt>
                <c:pt idx="5">
                  <c:v>4.54545454545</c:v>
                </c:pt>
                <c:pt idx="6">
                  <c:v>5.45454545455</c:v>
                </c:pt>
                <c:pt idx="7">
                  <c:v>6.36363636364</c:v>
                </c:pt>
                <c:pt idx="8">
                  <c:v>7.27272727273</c:v>
                </c:pt>
                <c:pt idx="9">
                  <c:v>8.18181818182</c:v>
                </c:pt>
                <c:pt idx="10">
                  <c:v>9.09090909091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12.6094341595</c:v>
                </c:pt>
                <c:pt idx="1">
                  <c:v>17.0688271675</c:v>
                </c:pt>
                <c:pt idx="2">
                  <c:v>27.0851933671</c:v>
                </c:pt>
                <c:pt idx="3">
                  <c:v>32.6191723692</c:v>
                </c:pt>
                <c:pt idx="4">
                  <c:v>30.3998317616</c:v>
                </c:pt>
                <c:pt idx="5">
                  <c:v>33.6862336694</c:v>
                </c:pt>
                <c:pt idx="6">
                  <c:v>37.2944025499</c:v>
                </c:pt>
                <c:pt idx="7">
                  <c:v>36.5003428219</c:v>
                </c:pt>
                <c:pt idx="8">
                  <c:v>37.2586658893</c:v>
                </c:pt>
                <c:pt idx="9">
                  <c:v>36.5170432887</c:v>
                </c:pt>
                <c:pt idx="10">
                  <c:v>42.2336421174</c:v>
                </c:pt>
                <c:pt idx="11">
                  <c:v>45.8841896736</c:v>
                </c:pt>
                <c:pt idx="12">
                  <c:v>45.8841896736</c:v>
                </c:pt>
                <c:pt idx="13">
                  <c:v>45.8841896736</c:v>
                </c:pt>
                <c:pt idx="14">
                  <c:v>45.8841896736</c:v>
                </c:pt>
                <c:pt idx="15">
                  <c:v>45.8841896736</c:v>
                </c:pt>
                <c:pt idx="16">
                  <c:v>45.8841896736</c:v>
                </c:pt>
                <c:pt idx="17">
                  <c:v>45.8841896736</c:v>
                </c:pt>
                <c:pt idx="18">
                  <c:v>45.8841896736</c:v>
                </c:pt>
                <c:pt idx="19">
                  <c:v>45.8841896736</c:v>
                </c:pt>
                <c:pt idx="20">
                  <c:v>45.8841896736</c:v>
                </c:pt>
                <c:pt idx="21">
                  <c:v>45.8841896736</c:v>
                </c:pt>
                <c:pt idx="22">
                  <c:v>45.8841896736</c:v>
                </c:pt>
                <c:pt idx="23">
                  <c:v>45.8841896736</c:v>
                </c:pt>
                <c:pt idx="24">
                  <c:v>45.8841896736</c:v>
                </c:pt>
                <c:pt idx="25">
                  <c:v>45.8841896736</c:v>
                </c:pt>
                <c:pt idx="26">
                  <c:v>45.8841896736</c:v>
                </c:pt>
                <c:pt idx="27">
                  <c:v>45.8841896736</c:v>
                </c:pt>
                <c:pt idx="28">
                  <c:v>45.8841896736</c:v>
                </c:pt>
                <c:pt idx="29">
                  <c:v>45.8841896736</c:v>
                </c:pt>
                <c:pt idx="30">
                  <c:v>45.8841896736</c:v>
                </c:pt>
                <c:pt idx="31">
                  <c:v>45.8841896736</c:v>
                </c:pt>
                <c:pt idx="32">
                  <c:v>45.8841896736</c:v>
                </c:pt>
                <c:pt idx="33">
                  <c:v>45.8841896736</c:v>
                </c:pt>
                <c:pt idx="34">
                  <c:v>45.8841896736</c:v>
                </c:pt>
                <c:pt idx="35">
                  <c:v>45.8841896736</c:v>
                </c:pt>
                <c:pt idx="36">
                  <c:v>45.8841896736</c:v>
                </c:pt>
                <c:pt idx="37">
                  <c:v>45.8841896736</c:v>
                </c:pt>
                <c:pt idx="38">
                  <c:v>45.8841896736</c:v>
                </c:pt>
                <c:pt idx="39">
                  <c:v>45.8841896736</c:v>
                </c:pt>
                <c:pt idx="40">
                  <c:v>45.8841896736</c:v>
                </c:pt>
                <c:pt idx="41">
                  <c:v>45.8841896736</c:v>
                </c:pt>
                <c:pt idx="42">
                  <c:v>45.8841896736</c:v>
                </c:pt>
                <c:pt idx="43">
                  <c:v>45.8841896736</c:v>
                </c:pt>
                <c:pt idx="44">
                  <c:v>45.8841896736</c:v>
                </c:pt>
                <c:pt idx="45">
                  <c:v>45.8841896736</c:v>
                </c:pt>
                <c:pt idx="46">
                  <c:v>45.8841896736</c:v>
                </c:pt>
                <c:pt idx="47">
                  <c:v>45.8841896736</c:v>
                </c:pt>
                <c:pt idx="48">
                  <c:v>45.8841896736</c:v>
                </c:pt>
                <c:pt idx="49">
                  <c:v>45.8841896736</c:v>
                </c:pt>
                <c:pt idx="50">
                  <c:v>45.8841896736</c:v>
                </c:pt>
                <c:pt idx="51">
                  <c:v>45.8841896736</c:v>
                </c:pt>
                <c:pt idx="52">
                  <c:v>45.8841896736</c:v>
                </c:pt>
                <c:pt idx="53">
                  <c:v>45.8841896736</c:v>
                </c:pt>
                <c:pt idx="54">
                  <c:v>45.8841896736</c:v>
                </c:pt>
                <c:pt idx="55">
                  <c:v>45.8841896736</c:v>
                </c:pt>
                <c:pt idx="56">
                  <c:v>45.8841896736</c:v>
                </c:pt>
                <c:pt idx="57">
                  <c:v>45.8841896736</c:v>
                </c:pt>
                <c:pt idx="58">
                  <c:v>45.8841896736</c:v>
                </c:pt>
                <c:pt idx="59">
                  <c:v>45.8841896736</c:v>
                </c:pt>
                <c:pt idx="60">
                  <c:v>45.8841896736</c:v>
                </c:pt>
                <c:pt idx="61">
                  <c:v>45.8841896736</c:v>
                </c:pt>
                <c:pt idx="62">
                  <c:v>45.8841896736</c:v>
                </c:pt>
                <c:pt idx="63">
                  <c:v>45.8841896736</c:v>
                </c:pt>
                <c:pt idx="64">
                  <c:v>45.8841896736</c:v>
                </c:pt>
                <c:pt idx="65">
                  <c:v>45.8841896736</c:v>
                </c:pt>
                <c:pt idx="66">
                  <c:v>45.8841896736</c:v>
                </c:pt>
                <c:pt idx="67">
                  <c:v>45.8841896736</c:v>
                </c:pt>
                <c:pt idx="68">
                  <c:v>45.8841896736</c:v>
                </c:pt>
                <c:pt idx="69">
                  <c:v>45.8841896736</c:v>
                </c:pt>
                <c:pt idx="70">
                  <c:v>45.8841896736</c:v>
                </c:pt>
                <c:pt idx="71">
                  <c:v>45.8841896736</c:v>
                </c:pt>
                <c:pt idx="72">
                  <c:v>45.8841896736</c:v>
                </c:pt>
                <c:pt idx="73">
                  <c:v>45.8841896736</c:v>
                </c:pt>
                <c:pt idx="74">
                  <c:v>45.8841896736</c:v>
                </c:pt>
                <c:pt idx="75">
                  <c:v>45.8841896736</c:v>
                </c:pt>
                <c:pt idx="76">
                  <c:v>45.8841896736</c:v>
                </c:pt>
                <c:pt idx="77">
                  <c:v>45.8841896736</c:v>
                </c:pt>
                <c:pt idx="78">
                  <c:v>45.8841896736</c:v>
                </c:pt>
                <c:pt idx="79">
                  <c:v>45.8841896736</c:v>
                </c:pt>
                <c:pt idx="80">
                  <c:v>45.8841896736</c:v>
                </c:pt>
                <c:pt idx="81">
                  <c:v>45.8841896736</c:v>
                </c:pt>
                <c:pt idx="82">
                  <c:v>45.8841896736</c:v>
                </c:pt>
                <c:pt idx="83">
                  <c:v>45.8841896736</c:v>
                </c:pt>
                <c:pt idx="84">
                  <c:v>45.8841896736</c:v>
                </c:pt>
                <c:pt idx="85">
                  <c:v>45.8841896736</c:v>
                </c:pt>
                <c:pt idx="86">
                  <c:v>45.8841896736</c:v>
                </c:pt>
                <c:pt idx="87">
                  <c:v>45.8841896736</c:v>
                </c:pt>
                <c:pt idx="88">
                  <c:v>45.8841896736</c:v>
                </c:pt>
                <c:pt idx="89">
                  <c:v>45.8841896736</c:v>
                </c:pt>
                <c:pt idx="90">
                  <c:v>45.8841896736</c:v>
                </c:pt>
                <c:pt idx="91">
                  <c:v>45.8841896736</c:v>
                </c:pt>
                <c:pt idx="92">
                  <c:v>45.8841896736</c:v>
                </c:pt>
                <c:pt idx="93">
                  <c:v>45.8841896736</c:v>
                </c:pt>
                <c:pt idx="94">
                  <c:v>45.8841896736</c:v>
                </c:pt>
                <c:pt idx="95">
                  <c:v>45.8841896736</c:v>
                </c:pt>
                <c:pt idx="96">
                  <c:v>45.8841896736</c:v>
                </c:pt>
                <c:pt idx="97">
                  <c:v>45.8841896736</c:v>
                </c:pt>
                <c:pt idx="98">
                  <c:v>45.8841896736</c:v>
                </c:pt>
                <c:pt idx="99">
                  <c:v>45.8841896736</c:v>
                </c:pt>
                <c:pt idx="100">
                  <c:v>45.8841896736</c:v>
                </c:pt>
                <c:pt idx="101">
                  <c:v>45.8841896736</c:v>
                </c:pt>
                <c:pt idx="102">
                  <c:v>45.8841896736</c:v>
                </c:pt>
                <c:pt idx="103">
                  <c:v>45.8841896736</c:v>
                </c:pt>
                <c:pt idx="104">
                  <c:v>45.8841896736</c:v>
                </c:pt>
                <c:pt idx="105">
                  <c:v>45.8841896736</c:v>
                </c:pt>
                <c:pt idx="106">
                  <c:v>45.8841896736</c:v>
                </c:pt>
                <c:pt idx="107">
                  <c:v>45.8841896736</c:v>
                </c:pt>
                <c:pt idx="108">
                  <c:v>45.8841896736</c:v>
                </c:pt>
                <c:pt idx="109">
                  <c:v>45.8841896736</c:v>
                </c:pt>
                <c:pt idx="110">
                  <c:v>45.8841896736</c:v>
                </c:pt>
                <c:pt idx="111">
                  <c:v>45.8841896736</c:v>
                </c:pt>
                <c:pt idx="112">
                  <c:v>45.8841896736</c:v>
                </c:pt>
                <c:pt idx="113">
                  <c:v>45.8841896736</c:v>
                </c:pt>
                <c:pt idx="114">
                  <c:v>45.8841896736</c:v>
                </c:pt>
                <c:pt idx="115">
                  <c:v>45.8841896736</c:v>
                </c:pt>
                <c:pt idx="116">
                  <c:v>45.8841896736</c:v>
                </c:pt>
                <c:pt idx="117">
                  <c:v>45.8841896736</c:v>
                </c:pt>
                <c:pt idx="118">
                  <c:v>45.8841896736</c:v>
                </c:pt>
                <c:pt idx="119">
                  <c:v>45.8841896736</c:v>
                </c:pt>
                <c:pt idx="120">
                  <c:v>45.8841896736</c:v>
                </c:pt>
              </c:numCache>
            </c:numRef>
          </c:yVal>
          <c:smooth val="0"/>
        </c:ser>
        <c:ser>
          <c:idx val="1"/>
          <c:order val="1"/>
          <c:tx>
            <c:v>Modelo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5718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0.0833333333333</c:v>
                </c:pt>
                <c:pt idx="2">
                  <c:v>0.166666666667</c:v>
                </c:pt>
                <c:pt idx="3">
                  <c:v>0.25</c:v>
                </c:pt>
                <c:pt idx="4">
                  <c:v>0.333333333333</c:v>
                </c:pt>
                <c:pt idx="5">
                  <c:v>0.416666666667</c:v>
                </c:pt>
                <c:pt idx="6">
                  <c:v>0.5</c:v>
                </c:pt>
                <c:pt idx="7">
                  <c:v>0.583333333333</c:v>
                </c:pt>
                <c:pt idx="8">
                  <c:v>0.666666666667</c:v>
                </c:pt>
                <c:pt idx="9">
                  <c:v>0.75</c:v>
                </c:pt>
                <c:pt idx="10">
                  <c:v>0.833333333333</c:v>
                </c:pt>
                <c:pt idx="11">
                  <c:v>0.916666666667</c:v>
                </c:pt>
                <c:pt idx="12">
                  <c:v>1</c:v>
                </c:pt>
                <c:pt idx="13">
                  <c:v>1.08333333333</c:v>
                </c:pt>
                <c:pt idx="14">
                  <c:v>1.16666666667</c:v>
                </c:pt>
                <c:pt idx="15">
                  <c:v>1.25</c:v>
                </c:pt>
                <c:pt idx="16">
                  <c:v>1.33333333333</c:v>
                </c:pt>
                <c:pt idx="17">
                  <c:v>1.41666666667</c:v>
                </c:pt>
                <c:pt idx="18">
                  <c:v>1.5</c:v>
                </c:pt>
                <c:pt idx="19">
                  <c:v>1.58333333333</c:v>
                </c:pt>
                <c:pt idx="20">
                  <c:v>1.66666666667</c:v>
                </c:pt>
                <c:pt idx="21">
                  <c:v>1.75</c:v>
                </c:pt>
                <c:pt idx="22">
                  <c:v>1.83333333333</c:v>
                </c:pt>
                <c:pt idx="23">
                  <c:v>1.91666666667</c:v>
                </c:pt>
                <c:pt idx="24">
                  <c:v>2</c:v>
                </c:pt>
                <c:pt idx="25">
                  <c:v>2.08333333333</c:v>
                </c:pt>
                <c:pt idx="26">
                  <c:v>2.16666666667</c:v>
                </c:pt>
                <c:pt idx="27">
                  <c:v>2.25</c:v>
                </c:pt>
                <c:pt idx="28">
                  <c:v>2.33333333333</c:v>
                </c:pt>
                <c:pt idx="29">
                  <c:v>2.41666666667</c:v>
                </c:pt>
                <c:pt idx="30">
                  <c:v>2.5</c:v>
                </c:pt>
                <c:pt idx="31">
                  <c:v>2.58333333333</c:v>
                </c:pt>
                <c:pt idx="32">
                  <c:v>2.66666666667</c:v>
                </c:pt>
                <c:pt idx="33">
                  <c:v>2.75</c:v>
                </c:pt>
                <c:pt idx="34">
                  <c:v>2.83333333333</c:v>
                </c:pt>
                <c:pt idx="35">
                  <c:v>2.91666666667</c:v>
                </c:pt>
                <c:pt idx="36">
                  <c:v>3</c:v>
                </c:pt>
                <c:pt idx="37">
                  <c:v>3.08333333333</c:v>
                </c:pt>
                <c:pt idx="38">
                  <c:v>3.16666666667</c:v>
                </c:pt>
                <c:pt idx="39">
                  <c:v>3.25</c:v>
                </c:pt>
                <c:pt idx="40">
                  <c:v>3.33333333333</c:v>
                </c:pt>
                <c:pt idx="41">
                  <c:v>3.41666666667</c:v>
                </c:pt>
                <c:pt idx="42">
                  <c:v>3.5</c:v>
                </c:pt>
                <c:pt idx="43">
                  <c:v>3.58333333333</c:v>
                </c:pt>
                <c:pt idx="44">
                  <c:v>3.66666666667</c:v>
                </c:pt>
                <c:pt idx="45">
                  <c:v>3.75</c:v>
                </c:pt>
                <c:pt idx="46">
                  <c:v>3.83333333333</c:v>
                </c:pt>
                <c:pt idx="47">
                  <c:v>3.91666666667</c:v>
                </c:pt>
                <c:pt idx="48">
                  <c:v>4</c:v>
                </c:pt>
                <c:pt idx="49">
                  <c:v>4.08333333333</c:v>
                </c:pt>
                <c:pt idx="50">
                  <c:v>4.16666666667</c:v>
                </c:pt>
                <c:pt idx="51">
                  <c:v>4.25</c:v>
                </c:pt>
                <c:pt idx="52">
                  <c:v>4.33333333333</c:v>
                </c:pt>
                <c:pt idx="53">
                  <c:v>4.41666666667</c:v>
                </c:pt>
                <c:pt idx="54">
                  <c:v>4.5</c:v>
                </c:pt>
                <c:pt idx="55">
                  <c:v>4.58333333333</c:v>
                </c:pt>
                <c:pt idx="56">
                  <c:v>4.66666666667</c:v>
                </c:pt>
                <c:pt idx="57">
                  <c:v>4.75</c:v>
                </c:pt>
                <c:pt idx="58">
                  <c:v>4.83333333333</c:v>
                </c:pt>
                <c:pt idx="59">
                  <c:v>4.91666666667</c:v>
                </c:pt>
                <c:pt idx="60">
                  <c:v>5</c:v>
                </c:pt>
                <c:pt idx="61">
                  <c:v>5.08333333333</c:v>
                </c:pt>
                <c:pt idx="62">
                  <c:v>5.16666666667</c:v>
                </c:pt>
                <c:pt idx="63">
                  <c:v>5.25</c:v>
                </c:pt>
                <c:pt idx="64">
                  <c:v>5.33333333333</c:v>
                </c:pt>
                <c:pt idx="65">
                  <c:v>5.41666666667</c:v>
                </c:pt>
                <c:pt idx="66">
                  <c:v>5.5</c:v>
                </c:pt>
                <c:pt idx="67">
                  <c:v>5.58333333333</c:v>
                </c:pt>
                <c:pt idx="68">
                  <c:v>5.66666666667</c:v>
                </c:pt>
                <c:pt idx="69">
                  <c:v>5.75</c:v>
                </c:pt>
                <c:pt idx="70">
                  <c:v>5.83333333333</c:v>
                </c:pt>
                <c:pt idx="71">
                  <c:v>5.91666666667</c:v>
                </c:pt>
                <c:pt idx="72">
                  <c:v>6</c:v>
                </c:pt>
                <c:pt idx="73">
                  <c:v>6.08333333333</c:v>
                </c:pt>
                <c:pt idx="74">
                  <c:v>6.16666666667</c:v>
                </c:pt>
                <c:pt idx="75">
                  <c:v>6.25</c:v>
                </c:pt>
                <c:pt idx="76">
                  <c:v>6.33333333333</c:v>
                </c:pt>
                <c:pt idx="77">
                  <c:v>6.41666666667</c:v>
                </c:pt>
                <c:pt idx="78">
                  <c:v>6.5</c:v>
                </c:pt>
                <c:pt idx="79">
                  <c:v>6.58333333333</c:v>
                </c:pt>
                <c:pt idx="80">
                  <c:v>6.66666666667</c:v>
                </c:pt>
                <c:pt idx="81">
                  <c:v>6.75</c:v>
                </c:pt>
                <c:pt idx="82">
                  <c:v>6.83333333333</c:v>
                </c:pt>
                <c:pt idx="83">
                  <c:v>6.91666666667</c:v>
                </c:pt>
                <c:pt idx="84">
                  <c:v>7</c:v>
                </c:pt>
                <c:pt idx="85">
                  <c:v>7.08333333333</c:v>
                </c:pt>
                <c:pt idx="86">
                  <c:v>7.16666666667</c:v>
                </c:pt>
                <c:pt idx="87">
                  <c:v>7.25</c:v>
                </c:pt>
                <c:pt idx="88">
                  <c:v>7.33333333333</c:v>
                </c:pt>
                <c:pt idx="89">
                  <c:v>7.41666666667</c:v>
                </c:pt>
                <c:pt idx="90">
                  <c:v>7.5</c:v>
                </c:pt>
                <c:pt idx="91">
                  <c:v>7.58333333333</c:v>
                </c:pt>
                <c:pt idx="92">
                  <c:v>7.66666666667</c:v>
                </c:pt>
                <c:pt idx="93">
                  <c:v>7.75</c:v>
                </c:pt>
                <c:pt idx="94">
                  <c:v>7.83333333333</c:v>
                </c:pt>
                <c:pt idx="95">
                  <c:v>7.91666666667</c:v>
                </c:pt>
                <c:pt idx="96">
                  <c:v>8</c:v>
                </c:pt>
                <c:pt idx="97">
                  <c:v>8.08333333333</c:v>
                </c:pt>
                <c:pt idx="98">
                  <c:v>8.16666666667</c:v>
                </c:pt>
                <c:pt idx="99">
                  <c:v>8.25</c:v>
                </c:pt>
                <c:pt idx="100">
                  <c:v>8.33333333333</c:v>
                </c:pt>
                <c:pt idx="101">
                  <c:v>8.41666666667</c:v>
                </c:pt>
                <c:pt idx="102">
                  <c:v>8.5</c:v>
                </c:pt>
                <c:pt idx="103">
                  <c:v>8.58333333333</c:v>
                </c:pt>
                <c:pt idx="104">
                  <c:v>8.66666666667</c:v>
                </c:pt>
                <c:pt idx="105">
                  <c:v>8.75</c:v>
                </c:pt>
                <c:pt idx="106">
                  <c:v>8.83333333333</c:v>
                </c:pt>
                <c:pt idx="107">
                  <c:v>8.91666666667</c:v>
                </c:pt>
                <c:pt idx="108">
                  <c:v>9</c:v>
                </c:pt>
                <c:pt idx="109">
                  <c:v>9.08333333333</c:v>
                </c:pt>
                <c:pt idx="110">
                  <c:v>9.16666666667</c:v>
                </c:pt>
                <c:pt idx="111">
                  <c:v>9.25</c:v>
                </c:pt>
                <c:pt idx="112">
                  <c:v>9.33333333333</c:v>
                </c:pt>
                <c:pt idx="113">
                  <c:v>9.41666666667</c:v>
                </c:pt>
                <c:pt idx="114">
                  <c:v>9.5</c:v>
                </c:pt>
                <c:pt idx="115">
                  <c:v>9.58333333333</c:v>
                </c:pt>
                <c:pt idx="116">
                  <c:v>9.66666666667</c:v>
                </c:pt>
                <c:pt idx="117">
                  <c:v>9.75</c:v>
                </c:pt>
                <c:pt idx="118">
                  <c:v>9.83333333333</c:v>
                </c:pt>
                <c:pt idx="119">
                  <c:v>9.91666666667</c:v>
                </c:pt>
                <c:pt idx="120">
                  <c:v>10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12.6094341595</c:v>
                </c:pt>
                <c:pt idx="1">
                  <c:v>17.3196380776</c:v>
                </c:pt>
                <c:pt idx="2">
                  <c:v>19.9828554248</c:v>
                </c:pt>
                <c:pt idx="3">
                  <c:v>21.1771723088</c:v>
                </c:pt>
                <c:pt idx="4">
                  <c:v>21.3704071378</c:v>
                </c:pt>
                <c:pt idx="5">
                  <c:v>20.9349018959</c:v>
                </c:pt>
                <c:pt idx="6">
                  <c:v>20.1609521774</c:v>
                </c:pt>
                <c:pt idx="7">
                  <c:v>19.2689497205</c:v>
                </c:pt>
                <c:pt idx="8">
                  <c:v>18.4203107941</c:v>
                </c:pt>
                <c:pt idx="9">
                  <c:v>17.7272631205</c:v>
                </c:pt>
                <c:pt idx="10">
                  <c:v>17.2615630938</c:v>
                </c:pt>
                <c:pt idx="11">
                  <c:v>17.0622138802</c:v>
                </c:pt>
                <c:pt idx="12">
                  <c:v>17.1422535987</c:v>
                </c:pt>
                <c:pt idx="13">
                  <c:v>17.4946811898</c:v>
                </c:pt>
                <c:pt idx="14">
                  <c:v>18.0975858076</c:v>
                </c:pt>
                <c:pt idx="15">
                  <c:v>18.9185436316</c:v>
                </c:pt>
                <c:pt idx="16">
                  <c:v>19.918343913</c:v>
                </c:pt>
                <c:pt idx="17">
                  <c:v>21.0541038565</c:v>
                </c:pt>
                <c:pt idx="18">
                  <c:v>22.2818296123</c:v>
                </c:pt>
                <c:pt idx="19">
                  <c:v>23.5584782321</c:v>
                </c:pt>
                <c:pt idx="20">
                  <c:v>24.8435729386</c:v>
                </c:pt>
                <c:pt idx="21">
                  <c:v>26.1004214876</c:v>
                </c:pt>
                <c:pt idx="22">
                  <c:v>27.2969847817</c:v>
                </c:pt>
                <c:pt idx="23">
                  <c:v>28.406440233</c:v>
                </c:pt>
                <c:pt idx="24">
                  <c:v>29.4074816871</c:v>
                </c:pt>
                <c:pt idx="25">
                  <c:v>30.2843950279</c:v>
                </c:pt>
                <c:pt idx="26">
                  <c:v>31.0269458777</c:v>
                </c:pt>
                <c:pt idx="27">
                  <c:v>31.6301131321</c:v>
                </c:pt>
                <c:pt idx="28">
                  <c:v>32.0936993962</c:v>
                </c:pt>
                <c:pt idx="29">
                  <c:v>32.4218467667</c:v>
                </c:pt>
                <c:pt idx="30">
                  <c:v>32.622483815</c:v>
                </c:pt>
                <c:pt idx="31">
                  <c:v>32.7067270899</c:v>
                </c:pt>
                <c:pt idx="32">
                  <c:v>32.6882579922</c:v>
                </c:pt>
                <c:pt idx="33">
                  <c:v>32.5826934628</c:v>
                </c:pt>
                <c:pt idx="34">
                  <c:v>32.4069666049</c:v>
                </c:pt>
                <c:pt idx="35">
                  <c:v>32.1787311193</c:v>
                </c:pt>
                <c:pt idx="36">
                  <c:v>31.9158012775</c:v>
                </c:pt>
                <c:pt idx="37">
                  <c:v>31.6356371092</c:v>
                </c:pt>
                <c:pt idx="38">
                  <c:v>31.354882526</c:v>
                </c:pt>
                <c:pt idx="39">
                  <c:v>31.0889622637</c:v>
                </c:pt>
                <c:pt idx="40">
                  <c:v>30.8517417912</c:v>
                </c:pt>
                <c:pt idx="41">
                  <c:v>30.6552527212</c:v>
                </c:pt>
                <c:pt idx="42">
                  <c:v>30.5094847627</c:v>
                </c:pt>
                <c:pt idx="43">
                  <c:v>30.4222438784</c:v>
                </c:pt>
                <c:pt idx="44">
                  <c:v>30.3990750627</c:v>
                </c:pt>
                <c:pt idx="45">
                  <c:v>30.4432470323</c:v>
                </c:pt>
                <c:pt idx="46">
                  <c:v>30.555795121</c:v>
                </c:pt>
                <c:pt idx="47">
                  <c:v>30.7356178046</c:v>
                </c:pt>
                <c:pt idx="48">
                  <c:v>30.9796215359</c:v>
                </c:pt>
                <c:pt idx="49">
                  <c:v>31.282907956</c:v>
                </c:pt>
                <c:pt idx="50">
                  <c:v>31.6389970571</c:v>
                </c:pt>
                <c:pt idx="51">
                  <c:v>32.0400795061</c:v>
                </c:pt>
                <c:pt idx="52">
                  <c:v>32.4772910945</c:v>
                </c:pt>
                <c:pt idx="53">
                  <c:v>32.9410021531</c:v>
                </c:pt>
                <c:pt idx="54">
                  <c:v>33.4211147615</c:v>
                </c:pt>
                <c:pt idx="55">
                  <c:v>33.9073606847</c:v>
                </c:pt>
                <c:pt idx="56">
                  <c:v>34.3895931756</c:v>
                </c:pt>
                <c:pt idx="57">
                  <c:v>34.8580660967</c:v>
                </c:pt>
                <c:pt idx="58">
                  <c:v>35.3036942202</c:v>
                </c:pt>
                <c:pt idx="59">
                  <c:v>35.7182890656</c:v>
                </c:pt>
                <c:pt idx="60">
                  <c:v>36.0947652149</c:v>
                </c:pt>
                <c:pt idx="61">
                  <c:v>36.4273127072</c:v>
                </c:pt>
                <c:pt idx="62">
                  <c:v>36.7115318397</c:v>
                </c:pt>
                <c:pt idx="63">
                  <c:v>36.9445274944</c:v>
                </c:pt>
                <c:pt idx="64">
                  <c:v>37.1249609469</c:v>
                </c:pt>
                <c:pt idx="65">
                  <c:v>37.2530579988</c:v>
                </c:pt>
                <c:pt idx="66">
                  <c:v>37.3305731911</c:v>
                </c:pt>
                <c:pt idx="67">
                  <c:v>37.3607107896</c:v>
                </c:pt>
                <c:pt idx="68">
                  <c:v>37.3480041854</c:v>
                </c:pt>
                <c:pt idx="69">
                  <c:v>37.2981562976</c:v>
                </c:pt>
                <c:pt idx="70">
                  <c:v>37.2178444994</c:v>
                </c:pt>
                <c:pt idx="71">
                  <c:v>37.1144944977</c:v>
                </c:pt>
                <c:pt idx="72">
                  <c:v>36.996028464</c:v>
                </c:pt>
                <c:pt idx="73">
                  <c:v>36.8705935306</c:v>
                </c:pt>
                <c:pt idx="74">
                  <c:v>36.7462775134</c:v>
                </c:pt>
                <c:pt idx="75">
                  <c:v>36.6308193898</c:v>
                </c:pt>
                <c:pt idx="76">
                  <c:v>36.531322627</c:v>
                </c:pt>
                <c:pt idx="77">
                  <c:v>36.4539799097</c:v>
                </c:pt>
                <c:pt idx="78">
                  <c:v>36.4038181411</c:v>
                </c:pt>
                <c:pt idx="79">
                  <c:v>36.3844727637</c:v>
                </c:pt>
                <c:pt idx="80">
                  <c:v>36.3980004604</c:v>
                </c:pt>
                <c:pt idx="81">
                  <c:v>36.4447391181</c:v>
                </c:pt>
                <c:pt idx="82">
                  <c:v>36.5232235627</c:v>
                </c:pt>
                <c:pt idx="83">
                  <c:v>36.6301649758</c:v>
                </c:pt>
                <c:pt idx="84">
                  <c:v>36.7605010604</c:v>
                </c:pt>
                <c:pt idx="85">
                  <c:v>36.9075229227</c:v>
                </c:pt>
                <c:pt idx="86">
                  <c:v>37.0630832497</c:v>
                </c:pt>
                <c:pt idx="87">
                  <c:v>37.2178886709</c:v>
                </c:pt>
                <c:pt idx="88">
                  <c:v>37.3618771721</c:v>
                </c:pt>
                <c:pt idx="89">
                  <c:v>37.4846790643</c:v>
                </c:pt>
                <c:pt idx="90">
                  <c:v>37.5761572638</c:v>
                </c:pt>
                <c:pt idx="91">
                  <c:v>37.6270195044</c:v>
                </c:pt>
                <c:pt idx="92">
                  <c:v>37.6294915402</c:v>
                </c:pt>
                <c:pt idx="93">
                  <c:v>37.5780363912</c:v>
                </c:pt>
                <c:pt idx="94">
                  <c:v>37.4701002053</c:v>
                </c:pt>
                <c:pt idx="95">
                  <c:v>37.3068603327</c:v>
                </c:pt>
                <c:pt idx="96">
                  <c:v>37.0939457096</c:v>
                </c:pt>
                <c:pt idx="97">
                  <c:v>36.8420935943</c:v>
                </c:pt>
                <c:pt idx="98">
                  <c:v>36.5677000665</c:v>
                </c:pt>
                <c:pt idx="99">
                  <c:v>36.2932144624</c:v>
                </c:pt>
                <c:pt idx="100">
                  <c:v>36.0473200424</c:v>
                </c:pt>
                <c:pt idx="101">
                  <c:v>35.8648346459</c:v>
                </c:pt>
                <c:pt idx="102">
                  <c:v>35.7862558522</c:v>
                </c:pt>
                <c:pt idx="103">
                  <c:v>35.8568652021</c:v>
                </c:pt>
                <c:pt idx="104">
                  <c:v>36.1252953166</c:v>
                </c:pt>
                <c:pt idx="105">
                  <c:v>36.6414522393</c:v>
                </c:pt>
                <c:pt idx="106">
                  <c:v>37.4536730001</c:v>
                </c:pt>
                <c:pt idx="107">
                  <c:v>38.6049852158</c:v>
                </c:pt>
                <c:pt idx="108">
                  <c:v>40.1283214739</c:v>
                </c:pt>
                <c:pt idx="109">
                  <c:v>42.040526255</c:v>
                </c:pt>
                <c:pt idx="110">
                  <c:v>44.3349772078</c:v>
                </c:pt>
                <c:pt idx="111">
                  <c:v>46.9726256532</c:v>
                </c:pt>
                <c:pt idx="112">
                  <c:v>49.871243238</c:v>
                </c:pt>
                <c:pt idx="113">
                  <c:v>52.8926426383</c:v>
                </c:pt>
                <c:pt idx="114">
                  <c:v>55.8276200932</c:v>
                </c:pt>
                <c:pt idx="115">
                  <c:v>58.3783463001</c:v>
                </c:pt>
                <c:pt idx="116">
                  <c:v>60.1379097769</c:v>
                </c:pt>
                <c:pt idx="117">
                  <c:v>60.5666931608</c:v>
                </c:pt>
                <c:pt idx="118">
                  <c:v>58.9652380313</c:v>
                </c:pt>
                <c:pt idx="119">
                  <c:v>54.4432276707</c:v>
                </c:pt>
                <c:pt idx="120">
                  <c:v>45.8841896736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Resposta 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Entrada 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Treino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'Chart Data'!$B$2:$B$22</c:f>
              <c:numCache>
                <c:formatCode>0.0</c:formatCode>
                <c:ptCount val="21"/>
                <c:pt idx="0">
                  <c:v>0.965</c:v>
                </c:pt>
                <c:pt idx="1">
                  <c:v>0.788220165382</c:v>
                </c:pt>
                <c:pt idx="2">
                  <c:v>0.644686192388</c:v>
                </c:pt>
                <c:pt idx="3">
                  <c:v>0.528145742808</c:v>
                </c:pt>
                <c:pt idx="4">
                  <c:v>0.433522315997</c:v>
                </c:pt>
                <c:pt idx="5">
                  <c:v>0.356694116571</c:v>
                </c:pt>
                <c:pt idx="6">
                  <c:v>0.294314509049</c:v>
                </c:pt>
                <c:pt idx="7">
                  <c:v>0.243666238442</c:v>
                </c:pt>
                <c:pt idx="8">
                  <c:v>0.202543066667</c:v>
                </c:pt>
                <c:pt idx="9">
                  <c:v>0.169153668834</c:v>
                </c:pt>
                <c:pt idx="10">
                  <c:v>0.142043603157</c:v>
                </c:pt>
                <c:pt idx="11">
                  <c:v>0.120031955488</c:v>
                </c:pt>
                <c:pt idx="12">
                  <c:v>0.102159898706</c:v>
                </c:pt>
                <c:pt idx="13">
                  <c:v>0.0876489262251</c:v>
                </c:pt>
                <c:pt idx="14">
                  <c:v>0.0758669402495</c:v>
                </c:pt>
                <c:pt idx="15">
                  <c:v>0.066300717606</c:v>
                </c:pt>
                <c:pt idx="16">
                  <c:v>0.0585335537464</c:v>
                </c:pt>
                <c:pt idx="17">
                  <c:v>0.0522271111023</c:v>
                </c:pt>
                <c:pt idx="18">
                  <c:v>0.0471066811046</c:v>
                </c:pt>
                <c:pt idx="19">
                  <c:v>0.0429492178816</c:v>
                </c:pt>
                <c:pt idx="20">
                  <c:v>0.0395736223831</c:v>
                </c:pt>
              </c:numCache>
            </c:numRef>
          </c:yVal>
          <c:smooth val="0"/>
        </c:ser>
        <c:ser>
          <c:idx val="1"/>
          <c:order val="1"/>
          <c:tx>
            <c:v>Validação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5718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Data'!$C$2:$C$22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'Chart Data'!$D$2:$D$22</c:f>
              <c:numCache>
                <c:formatCode>0.0</c:formatCode>
                <c:ptCount val="21"/>
                <c:pt idx="0">
                  <c:v>0.98</c:v>
                </c:pt>
                <c:pt idx="1">
                  <c:v>0.809230914711</c:v>
                </c:pt>
                <c:pt idx="2">
                  <c:v>0.67317859191</c:v>
                </c:pt>
                <c:pt idx="3">
                  <c:v>0.564785234247</c:v>
                </c:pt>
                <c:pt idx="4">
                  <c:v>0.478427870084</c:v>
                </c:pt>
                <c:pt idx="5">
                  <c:v>0.409626658405</c:v>
                </c:pt>
                <c:pt idx="6">
                  <c:v>0.354812494327</c:v>
                </c:pt>
                <c:pt idx="7">
                  <c:v>0.311141859607</c:v>
                </c:pt>
                <c:pt idx="8">
                  <c:v>0.276349313393</c:v>
                </c:pt>
                <c:pt idx="9">
                  <c:v>0.248629971098</c:v>
                </c:pt>
                <c:pt idx="10">
                  <c:v>0.226545874908</c:v>
                </c:pt>
                <c:pt idx="11">
                  <c:v>0.211326398844</c:v>
                </c:pt>
                <c:pt idx="12">
                  <c:v>0.204433818713</c:v>
                </c:pt>
                <c:pt idx="13">
                  <c:v>0.205140963983</c:v>
                </c:pt>
                <c:pt idx="14">
                  <c:v>0.212868495369</c:v>
                </c:pt>
                <c:pt idx="15">
                  <c:v>0.22715485125</c:v>
                </c:pt>
                <c:pt idx="16">
                  <c:v>0.247632303884</c:v>
                </c:pt>
                <c:pt idx="17">
                  <c:v>0.274007883301</c:v>
                </c:pt>
                <c:pt idx="18">
                  <c:v>0.30604817931</c:v>
                </c:pt>
                <c:pt idx="19">
                  <c:v>0.343567233202</c:v>
                </c:pt>
                <c:pt idx="20">
                  <c:v>0.386416891028</c:v>
                </c:pt>
              </c:numCache>
            </c:numRef>
          </c:yVal>
          <c:smooth val="0"/>
        </c:ser>
        <c:ser>
          <c:idx val="2"/>
          <c:order val="2"/>
          <c:tx>
            <c:v>Melhor época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16193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Data'!$E$2:$E$22</c:f>
              <c:numCache>
                <c:formatCode>General</c:formatCode>
                <c:ptCount val="21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60</c:v>
                </c:pt>
                <c:pt idx="14">
                  <c:v>60</c:v>
                </c:pt>
                <c:pt idx="15">
                  <c:v>60</c:v>
                </c:pt>
                <c:pt idx="16">
                  <c:v>60</c:v>
                </c:pt>
                <c:pt idx="17">
                  <c:v>60</c:v>
                </c:pt>
                <c:pt idx="18">
                  <c:v>60</c:v>
                </c:pt>
                <c:pt idx="19">
                  <c:v>60</c:v>
                </c:pt>
                <c:pt idx="20">
                  <c:v>60</c:v>
                </c:pt>
              </c:numCache>
            </c:numRef>
          </c:xVal>
          <c:yVal>
            <c:numRef>
              <c:f>'Chart Data'!$F$2:$F$22</c:f>
              <c:numCache>
                <c:formatCode>0.0</c:formatCode>
                <c:ptCount val="21"/>
                <c:pt idx="0">
                  <c:v>0</c:v>
                </c:pt>
                <c:pt idx="1">
                  <c:v>1.05</c:v>
                </c:pt>
                <c:pt idx="2">
                  <c:v>1.05</c:v>
                </c:pt>
                <c:pt idx="3">
                  <c:v>1.05</c:v>
                </c:pt>
                <c:pt idx="4">
                  <c:v>1.05</c:v>
                </c:pt>
                <c:pt idx="5">
                  <c:v>1.05</c:v>
                </c:pt>
                <c:pt idx="6">
                  <c:v>1.05</c:v>
                </c:pt>
                <c:pt idx="7">
                  <c:v>1.05</c:v>
                </c:pt>
                <c:pt idx="8">
                  <c:v>1.05</c:v>
                </c:pt>
                <c:pt idx="9">
                  <c:v>1.05</c:v>
                </c:pt>
                <c:pt idx="10">
                  <c:v>1.05</c:v>
                </c:pt>
                <c:pt idx="11">
                  <c:v>1.05</c:v>
                </c:pt>
                <c:pt idx="12">
                  <c:v>1.05</c:v>
                </c:pt>
                <c:pt idx="13">
                  <c:v>1.05</c:v>
                </c:pt>
                <c:pt idx="14">
                  <c:v>1.05</c:v>
                </c:pt>
                <c:pt idx="15">
                  <c:v>1.05</c:v>
                </c:pt>
                <c:pt idx="16">
                  <c:v>1.05</c:v>
                </c:pt>
                <c:pt idx="17">
                  <c:v>1.05</c:v>
                </c:pt>
                <c:pt idx="18">
                  <c:v>1.05</c:v>
                </c:pt>
                <c:pt idx="19">
                  <c:v>1.05</c:v>
                </c:pt>
                <c:pt idx="20">
                  <c:v>1.05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MSE normalizado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Época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Parâmetros na primeira camada</c:v>
          </c:tx>
          <c:spPr>
            <a:solidFill xmlns:a="http://schemas.openxmlformats.org/drawingml/2006/main">
              <a:srgbClr val="83DF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AD6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6 entradas</c:v>
                </c:pt>
                <c:pt idx="1">
                  <c:v>24 entradas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112</c:v>
                </c:pt>
                <c:pt idx="1">
                  <c:v>400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  <c:numFmt formatCode="0" sourceLinked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Pesos + vieses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Pontos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83D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3"/>
          <c:min val="-3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3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Pontos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71E7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  <c:pt idx="4">
                  <c:v>-2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3"/>
          <c:min val="-3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3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Pontos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FAD62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Observações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91A4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Data'!$A$2:$A$22</c:f>
              <c:numCache>
                <c:formatCode>General</c:formatCode>
                <c:ptCount val="21"/>
                <c:pt idx="0">
                  <c:v>-1.65144564769</c:v>
                </c:pt>
                <c:pt idx="1">
                  <c:v>-1.48630108292</c:v>
                </c:pt>
                <c:pt idx="2">
                  <c:v>-1.32115651815</c:v>
                </c:pt>
                <c:pt idx="3">
                  <c:v>-1.15601195338</c:v>
                </c:pt>
                <c:pt idx="4">
                  <c:v>-0.990867388614</c:v>
                </c:pt>
                <c:pt idx="5">
                  <c:v>-0.825722823845</c:v>
                </c:pt>
                <c:pt idx="6">
                  <c:v>-0.660578259076</c:v>
                </c:pt>
                <c:pt idx="7">
                  <c:v>-0.495433694307</c:v>
                </c:pt>
                <c:pt idx="8">
                  <c:v>-0.330289129538</c:v>
                </c:pt>
                <c:pt idx="9">
                  <c:v>-0.165144564769</c:v>
                </c:pt>
                <c:pt idx="10">
                  <c:v>-3.17484499044E-17</c:v>
                </c:pt>
                <c:pt idx="11">
                  <c:v>0.165144564769</c:v>
                </c:pt>
                <c:pt idx="12">
                  <c:v>0.330289129538</c:v>
                </c:pt>
                <c:pt idx="13">
                  <c:v>0.495433694307</c:v>
                </c:pt>
                <c:pt idx="14">
                  <c:v>0.660578259076</c:v>
                </c:pt>
                <c:pt idx="15">
                  <c:v>0.825722823845</c:v>
                </c:pt>
                <c:pt idx="16">
                  <c:v>0.990867388614</c:v>
                </c:pt>
                <c:pt idx="17">
                  <c:v>1.15601195338</c:v>
                </c:pt>
                <c:pt idx="18">
                  <c:v>1.32115651815</c:v>
                </c:pt>
                <c:pt idx="19">
                  <c:v>1.48630108292</c:v>
                </c:pt>
                <c:pt idx="20">
                  <c:v>1.65144564769</c:v>
                </c:pt>
              </c:numCache>
            </c:numRef>
          </c:xVal>
          <c:yVal>
            <c:numRef>
              <c:f>'Chart Data'!$B$2:$B$22</c:f>
              <c:numCache>
                <c:formatCode>0</c:formatCode>
                <c:ptCount val="21"/>
                <c:pt idx="0">
                  <c:v>-1.47222186827</c:v>
                </c:pt>
                <c:pt idx="1">
                  <c:v>-1.62531988517</c:v>
                </c:pt>
                <c:pt idx="2">
                  <c:v>-1.19899576988</c:v>
                </c:pt>
                <c:pt idx="3">
                  <c:v>-1.34393291168</c:v>
                </c:pt>
                <c:pt idx="4">
                  <c:v>-0.844160920477</c:v>
                </c:pt>
                <c:pt idx="5">
                  <c:v>-0.989098062276</c:v>
                </c:pt>
                <c:pt idx="6">
                  <c:v>-0.521969571479</c:v>
                </c:pt>
                <c:pt idx="7">
                  <c:v>-0.585297962265</c:v>
                </c:pt>
                <c:pt idx="8">
                  <c:v>-0.167134722074</c:v>
                </c:pt>
                <c:pt idx="9">
                  <c:v>-0.336554489177</c:v>
                </c:pt>
                <c:pt idx="10">
                  <c:v>-4.31447211359E-17</c:v>
                </c:pt>
                <c:pt idx="11">
                  <c:v>0.336554489177</c:v>
                </c:pt>
                <c:pt idx="12">
                  <c:v>0.167134722074</c:v>
                </c:pt>
                <c:pt idx="13">
                  <c:v>0.585297962265</c:v>
                </c:pt>
                <c:pt idx="14">
                  <c:v>0.521969571479</c:v>
                </c:pt>
                <c:pt idx="15">
                  <c:v>0.989098062276</c:v>
                </c:pt>
                <c:pt idx="16">
                  <c:v>0.844160920477</c:v>
                </c:pt>
                <c:pt idx="17">
                  <c:v>1.34393291168</c:v>
                </c:pt>
                <c:pt idx="18">
                  <c:v>1.19899576988</c:v>
                </c:pt>
                <c:pt idx="19">
                  <c:v>1.62531988517</c:v>
                </c:pt>
                <c:pt idx="20">
                  <c:v>1.47222186827</c:v>
                </c:pt>
              </c:numCache>
            </c:numRef>
          </c:yVal>
          <c:smooth val="0"/>
        </c:ser>
        <c:ser>
          <c:idx val="1"/>
          <c:order val="1"/>
          <c:tx>
            <c:v>PC1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Data'!$C$2:$C$22</c:f>
              <c:numCache>
                <c:formatCode>General</c:formatCode>
                <c:ptCount val="21"/>
                <c:pt idx="0">
                  <c:v>-1.41421356237</c:v>
                </c:pt>
                <c:pt idx="1">
                  <c:v>1.41421356237</c:v>
                </c:pt>
                <c:pt idx="2">
                  <c:v>1.41421356237</c:v>
                </c:pt>
                <c:pt idx="3">
                  <c:v>1.41421356237</c:v>
                </c:pt>
                <c:pt idx="4">
                  <c:v>1.41421356237</c:v>
                </c:pt>
                <c:pt idx="5">
                  <c:v>1.41421356237</c:v>
                </c:pt>
                <c:pt idx="6">
                  <c:v>1.41421356237</c:v>
                </c:pt>
                <c:pt idx="7">
                  <c:v>1.41421356237</c:v>
                </c:pt>
                <c:pt idx="8">
                  <c:v>1.41421356237</c:v>
                </c:pt>
                <c:pt idx="9">
                  <c:v>1.41421356237</c:v>
                </c:pt>
                <c:pt idx="10">
                  <c:v>1.41421356237</c:v>
                </c:pt>
                <c:pt idx="11">
                  <c:v>1.41421356237</c:v>
                </c:pt>
                <c:pt idx="12">
                  <c:v>1.41421356237</c:v>
                </c:pt>
                <c:pt idx="13">
                  <c:v>1.41421356237</c:v>
                </c:pt>
                <c:pt idx="14">
                  <c:v>1.41421356237</c:v>
                </c:pt>
                <c:pt idx="15">
                  <c:v>1.41421356237</c:v>
                </c:pt>
                <c:pt idx="16">
                  <c:v>1.41421356237</c:v>
                </c:pt>
                <c:pt idx="17">
                  <c:v>1.41421356237</c:v>
                </c:pt>
                <c:pt idx="18">
                  <c:v>1.41421356237</c:v>
                </c:pt>
                <c:pt idx="19">
                  <c:v>1.41421356237</c:v>
                </c:pt>
                <c:pt idx="20">
                  <c:v>1.41421356237</c:v>
                </c:pt>
              </c:numCache>
            </c:numRef>
          </c:xVal>
          <c:yVal>
            <c:numRef>
              <c:f>'Chart Data'!$D$2:$D$22</c:f>
              <c:numCache>
                <c:formatCode>0</c:formatCode>
                <c:ptCount val="21"/>
                <c:pt idx="0">
                  <c:v>-1.41421356237</c:v>
                </c:pt>
                <c:pt idx="1">
                  <c:v>1.41421356237</c:v>
                </c:pt>
                <c:pt idx="2">
                  <c:v>1.41421356237</c:v>
                </c:pt>
                <c:pt idx="3">
                  <c:v>1.41421356237</c:v>
                </c:pt>
                <c:pt idx="4">
                  <c:v>1.41421356237</c:v>
                </c:pt>
                <c:pt idx="5">
                  <c:v>1.41421356237</c:v>
                </c:pt>
                <c:pt idx="6">
                  <c:v>1.41421356237</c:v>
                </c:pt>
                <c:pt idx="7">
                  <c:v>1.41421356237</c:v>
                </c:pt>
                <c:pt idx="8">
                  <c:v>1.41421356237</c:v>
                </c:pt>
                <c:pt idx="9">
                  <c:v>1.41421356237</c:v>
                </c:pt>
                <c:pt idx="10">
                  <c:v>1.41421356237</c:v>
                </c:pt>
                <c:pt idx="11">
                  <c:v>1.41421356237</c:v>
                </c:pt>
                <c:pt idx="12">
                  <c:v>1.41421356237</c:v>
                </c:pt>
                <c:pt idx="13">
                  <c:v>1.41421356237</c:v>
                </c:pt>
                <c:pt idx="14">
                  <c:v>1.41421356237</c:v>
                </c:pt>
                <c:pt idx="15">
                  <c:v>1.41421356237</c:v>
                </c:pt>
                <c:pt idx="16">
                  <c:v>1.41421356237</c:v>
                </c:pt>
                <c:pt idx="17">
                  <c:v>1.41421356237</c:v>
                </c:pt>
                <c:pt idx="18">
                  <c:v>1.41421356237</c:v>
                </c:pt>
                <c:pt idx="19">
                  <c:v>1.41421356237</c:v>
                </c:pt>
                <c:pt idx="20">
                  <c:v>1.41421356237</c:v>
                </c:pt>
              </c:numCache>
            </c:numRef>
          </c:yVal>
          <c:smooth val="0"/>
        </c:ser>
        <c:ser>
          <c:idx val="2"/>
          <c:order val="2"/>
          <c:tx>
            <c:v>PC2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5718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Data'!$E$2:$E$22</c:f>
              <c:numCache>
                <c:formatCode>General</c:formatCode>
                <c:ptCount val="21"/>
                <c:pt idx="0">
                  <c:v>-1.06066017178</c:v>
                </c:pt>
                <c:pt idx="1">
                  <c:v>1.06066017178</c:v>
                </c:pt>
                <c:pt idx="2">
                  <c:v>1.06066017178</c:v>
                </c:pt>
                <c:pt idx="3">
                  <c:v>1.06066017178</c:v>
                </c:pt>
                <c:pt idx="4">
                  <c:v>1.06066017178</c:v>
                </c:pt>
                <c:pt idx="5">
                  <c:v>1.06066017178</c:v>
                </c:pt>
                <c:pt idx="6">
                  <c:v>1.06066017178</c:v>
                </c:pt>
                <c:pt idx="7">
                  <c:v>1.06066017178</c:v>
                </c:pt>
                <c:pt idx="8">
                  <c:v>1.06066017178</c:v>
                </c:pt>
                <c:pt idx="9">
                  <c:v>1.06066017178</c:v>
                </c:pt>
                <c:pt idx="10">
                  <c:v>1.06066017178</c:v>
                </c:pt>
                <c:pt idx="11">
                  <c:v>1.06066017178</c:v>
                </c:pt>
                <c:pt idx="12">
                  <c:v>1.06066017178</c:v>
                </c:pt>
                <c:pt idx="13">
                  <c:v>1.06066017178</c:v>
                </c:pt>
                <c:pt idx="14">
                  <c:v>1.06066017178</c:v>
                </c:pt>
                <c:pt idx="15">
                  <c:v>1.06066017178</c:v>
                </c:pt>
                <c:pt idx="16">
                  <c:v>1.06066017178</c:v>
                </c:pt>
                <c:pt idx="17">
                  <c:v>1.06066017178</c:v>
                </c:pt>
                <c:pt idx="18">
                  <c:v>1.06066017178</c:v>
                </c:pt>
                <c:pt idx="19">
                  <c:v>1.06066017178</c:v>
                </c:pt>
                <c:pt idx="20">
                  <c:v>1.06066017178</c:v>
                </c:pt>
              </c:numCache>
            </c:numRef>
          </c:xVal>
          <c:yVal>
            <c:numRef>
              <c:f>'Chart Data'!$F$2:$F$22</c:f>
              <c:numCache>
                <c:formatCode>0</c:formatCode>
                <c:ptCount val="21"/>
                <c:pt idx="0">
                  <c:v>1.06066017178</c:v>
                </c:pt>
                <c:pt idx="1">
                  <c:v>-1.06066017178</c:v>
                </c:pt>
                <c:pt idx="2">
                  <c:v>-1.06066017178</c:v>
                </c:pt>
                <c:pt idx="3">
                  <c:v>-1.06066017178</c:v>
                </c:pt>
                <c:pt idx="4">
                  <c:v>-1.06066017178</c:v>
                </c:pt>
                <c:pt idx="5">
                  <c:v>-1.06066017178</c:v>
                </c:pt>
                <c:pt idx="6">
                  <c:v>-1.06066017178</c:v>
                </c:pt>
                <c:pt idx="7">
                  <c:v>-1.06066017178</c:v>
                </c:pt>
                <c:pt idx="8">
                  <c:v>-1.06066017178</c:v>
                </c:pt>
                <c:pt idx="9">
                  <c:v>-1.06066017178</c:v>
                </c:pt>
                <c:pt idx="10">
                  <c:v>-1.06066017178</c:v>
                </c:pt>
                <c:pt idx="11">
                  <c:v>-1.06066017178</c:v>
                </c:pt>
                <c:pt idx="12">
                  <c:v>-1.06066017178</c:v>
                </c:pt>
                <c:pt idx="13">
                  <c:v>-1.06066017178</c:v>
                </c:pt>
                <c:pt idx="14">
                  <c:v>-1.06066017178</c:v>
                </c:pt>
                <c:pt idx="15">
                  <c:v>-1.06066017178</c:v>
                </c:pt>
                <c:pt idx="16">
                  <c:v>-1.06066017178</c:v>
                </c:pt>
                <c:pt idx="17">
                  <c:v>-1.06066017178</c:v>
                </c:pt>
                <c:pt idx="18">
                  <c:v>-1.06066017178</c:v>
                </c:pt>
                <c:pt idx="19">
                  <c:v>-1.06066017178</c:v>
                </c:pt>
                <c:pt idx="20">
                  <c:v>-1.06066017178</c:v>
                </c:pt>
              </c:numCache>
            </c:numRef>
          </c:yVal>
          <c:smooth val="0"/>
        </c:ser>
        <c:ser>
          <c:idx val="3"/>
          <c:order val="3"/>
          <c:tx>
            <c:v>Projeção 3</c:v>
          </c:tx>
          <c:spPr>
            <a:solidFill xmlns:a="http://schemas.openxmlformats.org/drawingml/2006/main">
              <a:srgbClr val="263A53"/>
            </a:solidFill>
            <a:ln xmlns:a="http://schemas.openxmlformats.org/drawingml/2006/main" w="9525">
              <a:solidFill>
                <a:srgbClr val="263A53"/>
              </a:solidFill>
            </a:ln>
          </c:spPr>
          <c:marker>
            <c:symbol val="none"/>
          </c:marker>
          <c:xVal>
            <c:numRef>
              <c:f>'Chart Data'!$G$2:$G$22</c:f>
              <c:numCache>
                <c:formatCode>General</c:formatCode>
                <c:ptCount val="21"/>
                <c:pt idx="0">
                  <c:v>-1.15601195338</c:v>
                </c:pt>
                <c:pt idx="1">
                  <c:v>-1.24997243253</c:v>
                </c:pt>
                <c:pt idx="2">
                  <c:v>-1.24997243253</c:v>
                </c:pt>
                <c:pt idx="3">
                  <c:v>-1.24997243253</c:v>
                </c:pt>
                <c:pt idx="4">
                  <c:v>-1.24997243253</c:v>
                </c:pt>
                <c:pt idx="5">
                  <c:v>-1.24997243253</c:v>
                </c:pt>
                <c:pt idx="6">
                  <c:v>-1.24997243253</c:v>
                </c:pt>
                <c:pt idx="7">
                  <c:v>-1.24997243253</c:v>
                </c:pt>
                <c:pt idx="8">
                  <c:v>-1.24997243253</c:v>
                </c:pt>
                <c:pt idx="9">
                  <c:v>-1.24997243253</c:v>
                </c:pt>
                <c:pt idx="10">
                  <c:v>-1.24997243253</c:v>
                </c:pt>
                <c:pt idx="11">
                  <c:v>-1.24997243253</c:v>
                </c:pt>
                <c:pt idx="12">
                  <c:v>-1.24997243253</c:v>
                </c:pt>
                <c:pt idx="13">
                  <c:v>-1.24997243253</c:v>
                </c:pt>
                <c:pt idx="14">
                  <c:v>-1.24997243253</c:v>
                </c:pt>
                <c:pt idx="15">
                  <c:v>-1.24997243253</c:v>
                </c:pt>
                <c:pt idx="16">
                  <c:v>-1.24997243253</c:v>
                </c:pt>
                <c:pt idx="17">
                  <c:v>-1.24997243253</c:v>
                </c:pt>
                <c:pt idx="18">
                  <c:v>-1.24997243253</c:v>
                </c:pt>
                <c:pt idx="19">
                  <c:v>-1.24997243253</c:v>
                </c:pt>
                <c:pt idx="20">
                  <c:v>-1.24997243253</c:v>
                </c:pt>
              </c:numCache>
            </c:numRef>
          </c:xVal>
          <c:yVal>
            <c:numRef>
              <c:f>'Chart Data'!$H$2:$H$22</c:f>
              <c:numCache>
                <c:formatCode>0</c:formatCode>
                <c:ptCount val="21"/>
                <c:pt idx="0">
                  <c:v>-1.34393291168</c:v>
                </c:pt>
                <c:pt idx="1">
                  <c:v>-1.24997243253</c:v>
                </c:pt>
                <c:pt idx="2">
                  <c:v>-1.24997243253</c:v>
                </c:pt>
                <c:pt idx="3">
                  <c:v>-1.24997243253</c:v>
                </c:pt>
                <c:pt idx="4">
                  <c:v>-1.24997243253</c:v>
                </c:pt>
                <c:pt idx="5">
                  <c:v>-1.24997243253</c:v>
                </c:pt>
                <c:pt idx="6">
                  <c:v>-1.24997243253</c:v>
                </c:pt>
                <c:pt idx="7">
                  <c:v>-1.24997243253</c:v>
                </c:pt>
                <c:pt idx="8">
                  <c:v>-1.24997243253</c:v>
                </c:pt>
                <c:pt idx="9">
                  <c:v>-1.24997243253</c:v>
                </c:pt>
                <c:pt idx="10">
                  <c:v>-1.24997243253</c:v>
                </c:pt>
                <c:pt idx="11">
                  <c:v>-1.24997243253</c:v>
                </c:pt>
                <c:pt idx="12">
                  <c:v>-1.24997243253</c:v>
                </c:pt>
                <c:pt idx="13">
                  <c:v>-1.24997243253</c:v>
                </c:pt>
                <c:pt idx="14">
                  <c:v>-1.24997243253</c:v>
                </c:pt>
                <c:pt idx="15">
                  <c:v>-1.24997243253</c:v>
                </c:pt>
                <c:pt idx="16">
                  <c:v>-1.24997243253</c:v>
                </c:pt>
                <c:pt idx="17">
                  <c:v>-1.24997243253</c:v>
                </c:pt>
                <c:pt idx="18">
                  <c:v>-1.24997243253</c:v>
                </c:pt>
                <c:pt idx="19">
                  <c:v>-1.24997243253</c:v>
                </c:pt>
                <c:pt idx="20">
                  <c:v>-1.24997243253</c:v>
                </c:pt>
              </c:numCache>
            </c:numRef>
          </c:yVal>
          <c:smooth val="0"/>
        </c:ser>
        <c:ser>
          <c:idx val="4"/>
          <c:order val="4"/>
          <c:tx>
            <c:v>Projeção 8</c:v>
          </c:tx>
          <c:spPr>
            <a:solidFill xmlns:a="http://schemas.openxmlformats.org/drawingml/2006/main">
              <a:srgbClr val="263A53"/>
            </a:solidFill>
            <a:ln xmlns:a="http://schemas.openxmlformats.org/drawingml/2006/main" w="9525">
              <a:solidFill>
                <a:srgbClr val="263A53"/>
              </a:solidFill>
            </a:ln>
          </c:spPr>
          <c:marker>
            <c:symbol val="none"/>
          </c:marker>
          <c:xVal>
            <c:numRef>
              <c:f>'Chart Data'!$I$2:$I$22</c:f>
              <c:numCache>
                <c:formatCode>General</c:formatCode>
                <c:ptCount val="21"/>
                <c:pt idx="0">
                  <c:v>-0.330289129538</c:v>
                </c:pt>
                <c:pt idx="1">
                  <c:v>-0.248711925806</c:v>
                </c:pt>
                <c:pt idx="2">
                  <c:v>-0.248711925806</c:v>
                </c:pt>
                <c:pt idx="3">
                  <c:v>-0.248711925806</c:v>
                </c:pt>
                <c:pt idx="4">
                  <c:v>-0.248711925806</c:v>
                </c:pt>
                <c:pt idx="5">
                  <c:v>-0.248711925806</c:v>
                </c:pt>
                <c:pt idx="6">
                  <c:v>-0.248711925806</c:v>
                </c:pt>
                <c:pt idx="7">
                  <c:v>-0.248711925806</c:v>
                </c:pt>
                <c:pt idx="8">
                  <c:v>-0.248711925806</c:v>
                </c:pt>
                <c:pt idx="9">
                  <c:v>-0.248711925806</c:v>
                </c:pt>
                <c:pt idx="10">
                  <c:v>-0.248711925806</c:v>
                </c:pt>
                <c:pt idx="11">
                  <c:v>-0.248711925806</c:v>
                </c:pt>
                <c:pt idx="12">
                  <c:v>-0.248711925806</c:v>
                </c:pt>
                <c:pt idx="13">
                  <c:v>-0.248711925806</c:v>
                </c:pt>
                <c:pt idx="14">
                  <c:v>-0.248711925806</c:v>
                </c:pt>
                <c:pt idx="15">
                  <c:v>-0.248711925806</c:v>
                </c:pt>
                <c:pt idx="16">
                  <c:v>-0.248711925806</c:v>
                </c:pt>
                <c:pt idx="17">
                  <c:v>-0.248711925806</c:v>
                </c:pt>
                <c:pt idx="18">
                  <c:v>-0.248711925806</c:v>
                </c:pt>
                <c:pt idx="19">
                  <c:v>-0.248711925806</c:v>
                </c:pt>
                <c:pt idx="20">
                  <c:v>-0.248711925806</c:v>
                </c:pt>
              </c:numCache>
            </c:numRef>
          </c:xVal>
          <c:yVal>
            <c:numRef>
              <c:f>'Chart Data'!$J$2:$J$22</c:f>
              <c:numCache>
                <c:formatCode>0</c:formatCode>
                <c:ptCount val="21"/>
                <c:pt idx="0">
                  <c:v>-0.167134722074</c:v>
                </c:pt>
                <c:pt idx="1">
                  <c:v>-0.248711925806</c:v>
                </c:pt>
                <c:pt idx="2">
                  <c:v>-0.248711925806</c:v>
                </c:pt>
                <c:pt idx="3">
                  <c:v>-0.248711925806</c:v>
                </c:pt>
                <c:pt idx="4">
                  <c:v>-0.248711925806</c:v>
                </c:pt>
                <c:pt idx="5">
                  <c:v>-0.248711925806</c:v>
                </c:pt>
                <c:pt idx="6">
                  <c:v>-0.248711925806</c:v>
                </c:pt>
                <c:pt idx="7">
                  <c:v>-0.248711925806</c:v>
                </c:pt>
                <c:pt idx="8">
                  <c:v>-0.248711925806</c:v>
                </c:pt>
                <c:pt idx="9">
                  <c:v>-0.248711925806</c:v>
                </c:pt>
                <c:pt idx="10">
                  <c:v>-0.248711925806</c:v>
                </c:pt>
                <c:pt idx="11">
                  <c:v>-0.248711925806</c:v>
                </c:pt>
                <c:pt idx="12">
                  <c:v>-0.248711925806</c:v>
                </c:pt>
                <c:pt idx="13">
                  <c:v>-0.248711925806</c:v>
                </c:pt>
                <c:pt idx="14">
                  <c:v>-0.248711925806</c:v>
                </c:pt>
                <c:pt idx="15">
                  <c:v>-0.248711925806</c:v>
                </c:pt>
                <c:pt idx="16">
                  <c:v>-0.248711925806</c:v>
                </c:pt>
                <c:pt idx="17">
                  <c:v>-0.248711925806</c:v>
                </c:pt>
                <c:pt idx="18">
                  <c:v>-0.248711925806</c:v>
                </c:pt>
                <c:pt idx="19">
                  <c:v>-0.248711925806</c:v>
                </c:pt>
                <c:pt idx="20">
                  <c:v>-0.248711925806</c:v>
                </c:pt>
              </c:numCache>
            </c:numRef>
          </c:yVal>
          <c:smooth val="0"/>
        </c:ser>
        <c:ser>
          <c:idx val="5"/>
          <c:order val="5"/>
          <c:tx>
            <c:v>Projeção 16</c:v>
          </c:tx>
          <c:spPr>
            <a:solidFill xmlns:a="http://schemas.openxmlformats.org/drawingml/2006/main">
              <a:srgbClr val="263A53"/>
            </a:solidFill>
            <a:ln xmlns:a="http://schemas.openxmlformats.org/drawingml/2006/main" w="9525">
              <a:solidFill>
                <a:srgbClr val="263A53"/>
              </a:solidFill>
            </a:ln>
          </c:spPr>
          <c:marker>
            <c:symbol val="none"/>
          </c:marker>
          <c:xVal>
            <c:numRef>
              <c:f>'Chart Data'!$K$2:$K$22</c:f>
              <c:numCache>
                <c:formatCode>General</c:formatCode>
                <c:ptCount val="21"/>
                <c:pt idx="0">
                  <c:v>0.990867388614</c:v>
                </c:pt>
                <c:pt idx="1">
                  <c:v>0.917514154546</c:v>
                </c:pt>
                <c:pt idx="2">
                  <c:v>0.917514154546</c:v>
                </c:pt>
                <c:pt idx="3">
                  <c:v>0.917514154546</c:v>
                </c:pt>
                <c:pt idx="4">
                  <c:v>0.917514154546</c:v>
                </c:pt>
                <c:pt idx="5">
                  <c:v>0.917514154546</c:v>
                </c:pt>
                <c:pt idx="6">
                  <c:v>0.917514154546</c:v>
                </c:pt>
                <c:pt idx="7">
                  <c:v>0.917514154546</c:v>
                </c:pt>
                <c:pt idx="8">
                  <c:v>0.917514154546</c:v>
                </c:pt>
                <c:pt idx="9">
                  <c:v>0.917514154546</c:v>
                </c:pt>
                <c:pt idx="10">
                  <c:v>0.917514154546</c:v>
                </c:pt>
                <c:pt idx="11">
                  <c:v>0.917514154546</c:v>
                </c:pt>
                <c:pt idx="12">
                  <c:v>0.917514154546</c:v>
                </c:pt>
                <c:pt idx="13">
                  <c:v>0.917514154546</c:v>
                </c:pt>
                <c:pt idx="14">
                  <c:v>0.917514154546</c:v>
                </c:pt>
                <c:pt idx="15">
                  <c:v>0.917514154546</c:v>
                </c:pt>
                <c:pt idx="16">
                  <c:v>0.917514154546</c:v>
                </c:pt>
                <c:pt idx="17">
                  <c:v>0.917514154546</c:v>
                </c:pt>
                <c:pt idx="18">
                  <c:v>0.917514154546</c:v>
                </c:pt>
                <c:pt idx="19">
                  <c:v>0.917514154546</c:v>
                </c:pt>
                <c:pt idx="20">
                  <c:v>0.917514154546</c:v>
                </c:pt>
              </c:numCache>
            </c:numRef>
          </c:xVal>
          <c:yVal>
            <c:numRef>
              <c:f>'Chart Data'!$L$2:$L$22</c:f>
              <c:numCache>
                <c:formatCode>0</c:formatCode>
                <c:ptCount val="21"/>
                <c:pt idx="0">
                  <c:v>0.844160920477</c:v>
                </c:pt>
                <c:pt idx="1">
                  <c:v>0.917514154546</c:v>
                </c:pt>
                <c:pt idx="2">
                  <c:v>0.917514154546</c:v>
                </c:pt>
                <c:pt idx="3">
                  <c:v>0.917514154546</c:v>
                </c:pt>
                <c:pt idx="4">
                  <c:v>0.917514154546</c:v>
                </c:pt>
                <c:pt idx="5">
                  <c:v>0.917514154546</c:v>
                </c:pt>
                <c:pt idx="6">
                  <c:v>0.917514154546</c:v>
                </c:pt>
                <c:pt idx="7">
                  <c:v>0.917514154546</c:v>
                </c:pt>
                <c:pt idx="8">
                  <c:v>0.917514154546</c:v>
                </c:pt>
                <c:pt idx="9">
                  <c:v>0.917514154546</c:v>
                </c:pt>
                <c:pt idx="10">
                  <c:v>0.917514154546</c:v>
                </c:pt>
                <c:pt idx="11">
                  <c:v>0.917514154546</c:v>
                </c:pt>
                <c:pt idx="12">
                  <c:v>0.917514154546</c:v>
                </c:pt>
                <c:pt idx="13">
                  <c:v>0.917514154546</c:v>
                </c:pt>
                <c:pt idx="14">
                  <c:v>0.917514154546</c:v>
                </c:pt>
                <c:pt idx="15">
                  <c:v>0.917514154546</c:v>
                </c:pt>
                <c:pt idx="16">
                  <c:v>0.917514154546</c:v>
                </c:pt>
                <c:pt idx="17">
                  <c:v>0.917514154546</c:v>
                </c:pt>
                <c:pt idx="18">
                  <c:v>0.917514154546</c:v>
                </c:pt>
                <c:pt idx="19">
                  <c:v>0.917514154546</c:v>
                </c:pt>
                <c:pt idx="20">
                  <c:v>0.917514154546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z(P48)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-2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z(P24)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Por componente</c:v>
          </c:tx>
          <c:spPr>
            <a:solidFill xmlns:a="http://schemas.openxmlformats.org/drawingml/2006/main">
              <a:srgbClr val="83DFFF"/>
            </a:solidFill>
          </c:spPr>
          <c:cat>
            <c:numRef>
              <c:f>'Chart Data'!$A$2:$A$7</c:f>
              <c:numCache>
                <c:formatCode>0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0.52</c:v>
                </c:pt>
                <c:pt idx="1">
                  <c:v>0.26</c:v>
                </c:pt>
                <c:pt idx="2">
                  <c:v>0.12</c:v>
                </c:pt>
                <c:pt idx="3">
                  <c:v>0.06</c:v>
                </c:pt>
                <c:pt idx="4">
                  <c:v>0.03</c:v>
                </c:pt>
                <c:pt idx="5">
                  <c:v>0.01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  <c:numFmt formatCode="0%" sourceLinked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Componente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Variância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Acumulada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'Chart Data'!$B$2:$B$7</c:f>
              <c:numCache>
                <c:formatCode>0%</c:formatCode>
                <c:ptCount val="6"/>
                <c:pt idx="0">
                  <c:v>0.52</c:v>
                </c:pt>
                <c:pt idx="1">
                  <c:v>0.78</c:v>
                </c:pt>
                <c:pt idx="2">
                  <c:v>0.9</c:v>
                </c:pt>
                <c:pt idx="3">
                  <c:v>0.96</c:v>
                </c:pt>
                <c:pt idx="4">
                  <c:v>0.99</c:v>
                </c:pt>
                <c:pt idx="5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v>Limiar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5718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xVal>
          <c:yVal>
            <c:numRef>
              <c:f>'Chart Data'!$D$2:$D$7</c:f>
              <c:numCache>
                <c:formatCode>0%</c:formatCode>
                <c:ptCount val="6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  <c:pt idx="4">
                  <c:v>0.95</c:v>
                </c:pt>
                <c:pt idx="5">
                  <c:v>0.95</c:v>
                </c:pt>
              </c:numCache>
            </c:numRef>
          </c:yVal>
          <c:smooth val="0"/>
        </c:ser>
        <c:ser>
          <c:idx val="2"/>
          <c:order val="2"/>
          <c:tx>
            <c:v>Escolha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71E7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Data'!$E$2:$E$7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xVal>
          <c:yVal>
            <c:numRef>
              <c:f>'Chart Data'!$F$2:$F$7</c:f>
              <c:numCache>
                <c:formatCode>0%</c:formatCode>
                <c:ptCount val="6"/>
                <c:pt idx="0">
                  <c:v>0.96</c:v>
                </c:pt>
                <c:pt idx="1">
                  <c:v>0.96</c:v>
                </c:pt>
                <c:pt idx="2">
                  <c:v>0.96</c:v>
                </c:pt>
                <c:pt idx="3">
                  <c:v>0.96</c:v>
                </c:pt>
                <c:pt idx="4">
                  <c:v>0.96</c:v>
                </c:pt>
                <c:pt idx="5">
                  <c:v>0.96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%" sourceLinked="0"/>
        </c:dLbls>
        <c:axId val="48650112"/>
        <c:axId val="48672768"/>
      </c:scatterChart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Acumulada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"/>
          <c:min val="1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Número de componentes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Entropia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0.0166666666667</c:v>
                </c:pt>
                <c:pt idx="2">
                  <c:v>0.0333333333333</c:v>
                </c:pt>
                <c:pt idx="3">
                  <c:v>0.05</c:v>
                </c:pt>
                <c:pt idx="4">
                  <c:v>0.0666666666667</c:v>
                </c:pt>
                <c:pt idx="5">
                  <c:v>0.0833333333333</c:v>
                </c:pt>
                <c:pt idx="6">
                  <c:v>0.1</c:v>
                </c:pt>
                <c:pt idx="7">
                  <c:v>0.116666666667</c:v>
                </c:pt>
                <c:pt idx="8">
                  <c:v>0.133333333333</c:v>
                </c:pt>
                <c:pt idx="9">
                  <c:v>0.15</c:v>
                </c:pt>
                <c:pt idx="10">
                  <c:v>0.166666666667</c:v>
                </c:pt>
                <c:pt idx="11">
                  <c:v>0.183333333333</c:v>
                </c:pt>
                <c:pt idx="12">
                  <c:v>0.2</c:v>
                </c:pt>
                <c:pt idx="13">
                  <c:v>0.216666666667</c:v>
                </c:pt>
                <c:pt idx="14">
                  <c:v>0.233333333333</c:v>
                </c:pt>
                <c:pt idx="15">
                  <c:v>0.25</c:v>
                </c:pt>
                <c:pt idx="16">
                  <c:v>0.266666666667</c:v>
                </c:pt>
                <c:pt idx="17">
                  <c:v>0.283333333333</c:v>
                </c:pt>
                <c:pt idx="18">
                  <c:v>0.3</c:v>
                </c:pt>
                <c:pt idx="19">
                  <c:v>0.316666666667</c:v>
                </c:pt>
                <c:pt idx="20">
                  <c:v>0.333333333333</c:v>
                </c:pt>
                <c:pt idx="21">
                  <c:v>0.35</c:v>
                </c:pt>
                <c:pt idx="22">
                  <c:v>0.366666666667</c:v>
                </c:pt>
                <c:pt idx="23">
                  <c:v>0.383333333333</c:v>
                </c:pt>
                <c:pt idx="24">
                  <c:v>0.4</c:v>
                </c:pt>
                <c:pt idx="25">
                  <c:v>0.416666666667</c:v>
                </c:pt>
                <c:pt idx="26">
                  <c:v>0.433333333333</c:v>
                </c:pt>
                <c:pt idx="27">
                  <c:v>0.45</c:v>
                </c:pt>
                <c:pt idx="28">
                  <c:v>0.466666666667</c:v>
                </c:pt>
                <c:pt idx="29">
                  <c:v>0.483333333333</c:v>
                </c:pt>
                <c:pt idx="30">
                  <c:v>0.5</c:v>
                </c:pt>
                <c:pt idx="31">
                  <c:v>0.516666666667</c:v>
                </c:pt>
                <c:pt idx="32">
                  <c:v>0.533333333333</c:v>
                </c:pt>
                <c:pt idx="33">
                  <c:v>0.55</c:v>
                </c:pt>
                <c:pt idx="34">
                  <c:v>0.566666666667</c:v>
                </c:pt>
                <c:pt idx="35">
                  <c:v>0.583333333333</c:v>
                </c:pt>
                <c:pt idx="36">
                  <c:v>0.6</c:v>
                </c:pt>
                <c:pt idx="37">
                  <c:v>0.616666666667</c:v>
                </c:pt>
                <c:pt idx="38">
                  <c:v>0.633333333333</c:v>
                </c:pt>
                <c:pt idx="39">
                  <c:v>0.65</c:v>
                </c:pt>
                <c:pt idx="40">
                  <c:v>0.666666666667</c:v>
                </c:pt>
                <c:pt idx="41">
                  <c:v>0.683333333333</c:v>
                </c:pt>
                <c:pt idx="42">
                  <c:v>0.7</c:v>
                </c:pt>
                <c:pt idx="43">
                  <c:v>0.716666666667</c:v>
                </c:pt>
                <c:pt idx="44">
                  <c:v>0.733333333333</c:v>
                </c:pt>
                <c:pt idx="45">
                  <c:v>0.75</c:v>
                </c:pt>
                <c:pt idx="46">
                  <c:v>0.766666666667</c:v>
                </c:pt>
                <c:pt idx="47">
                  <c:v>0.783333333333</c:v>
                </c:pt>
                <c:pt idx="48">
                  <c:v>0.8</c:v>
                </c:pt>
                <c:pt idx="49">
                  <c:v>0.816666666667</c:v>
                </c:pt>
                <c:pt idx="50">
                  <c:v>0.833333333333</c:v>
                </c:pt>
                <c:pt idx="51">
                  <c:v>0.85</c:v>
                </c:pt>
                <c:pt idx="52">
                  <c:v>0.866666666667</c:v>
                </c:pt>
                <c:pt idx="53">
                  <c:v>0.883333333333</c:v>
                </c:pt>
                <c:pt idx="54">
                  <c:v>0.9</c:v>
                </c:pt>
                <c:pt idx="55">
                  <c:v>0.916666666667</c:v>
                </c:pt>
                <c:pt idx="56">
                  <c:v>0.933333333333</c:v>
                </c:pt>
                <c:pt idx="57">
                  <c:v>0.95</c:v>
                </c:pt>
                <c:pt idx="58">
                  <c:v>0.966666666667</c:v>
                </c:pt>
                <c:pt idx="59">
                  <c:v>0.983333333333</c:v>
                </c:pt>
                <c:pt idx="60">
                  <c:v>1</c:v>
                </c:pt>
              </c:numCache>
            </c:numRef>
          </c:xVal>
          <c:yVal>
            <c:numRef>
              <c:f>'Chart Data'!$B$2:$B$62</c:f>
              <c:numCache>
                <c:formatCode>0.00</c:formatCode>
                <c:ptCount val="61"/>
                <c:pt idx="0">
                  <c:v>0</c:v>
                </c:pt>
                <c:pt idx="1">
                  <c:v>0.122291597069</c:v>
                </c:pt>
                <c:pt idx="2">
                  <c:v>0.210842300319</c:v>
                </c:pt>
                <c:pt idx="3">
                  <c:v>0.286396957116</c:v>
                </c:pt>
                <c:pt idx="4">
                  <c:v>0.353359335021</c:v>
                </c:pt>
                <c:pt idx="5">
                  <c:v>0.413816850304</c:v>
                </c:pt>
                <c:pt idx="6">
                  <c:v>0.468995593589</c:v>
                </c:pt>
                <c:pt idx="7">
                  <c:v>0.519702786504</c:v>
                </c:pt>
                <c:pt idx="8">
                  <c:v>0.566509506553</c:v>
                </c:pt>
                <c:pt idx="9">
                  <c:v>0.609840304716</c:v>
                </c:pt>
                <c:pt idx="10">
                  <c:v>0.650022421648</c:v>
                </c:pt>
                <c:pt idx="11">
                  <c:v>0.687315092831</c:v>
                </c:pt>
                <c:pt idx="12">
                  <c:v>0.721928094887</c:v>
                </c:pt>
                <c:pt idx="13">
                  <c:v>0.754034056197</c:v>
                </c:pt>
                <c:pt idx="14">
                  <c:v>0.783776947485</c:v>
                </c:pt>
                <c:pt idx="15">
                  <c:v>0.811278124459</c:v>
                </c:pt>
                <c:pt idx="16">
                  <c:v>0.836640741941</c:v>
                </c:pt>
                <c:pt idx="17">
                  <c:v>0.859953049718</c:v>
                </c:pt>
                <c:pt idx="18">
                  <c:v>0.881290899231</c:v>
                </c:pt>
                <c:pt idx="19">
                  <c:v>0.900719679862</c:v>
                </c:pt>
                <c:pt idx="20">
                  <c:v>0.918295834054</c:v>
                </c:pt>
                <c:pt idx="21">
                  <c:v>0.934068055375</c:v>
                </c:pt>
                <c:pt idx="22">
                  <c:v>0.948078243594</c:v>
                </c:pt>
                <c:pt idx="23">
                  <c:v>0.960362270315</c:v>
                </c:pt>
                <c:pt idx="24">
                  <c:v>0.970950594455</c:v>
                </c:pt>
                <c:pt idx="25">
                  <c:v>0.979868756651</c:v>
                </c:pt>
                <c:pt idx="26">
                  <c:v>0.987137774372</c:v>
                </c:pt>
                <c:pt idx="27">
                  <c:v>0.992774453988</c:v>
                </c:pt>
                <c:pt idx="28">
                  <c:v>0.996791631982</c:v>
                </c:pt>
                <c:pt idx="29">
                  <c:v>0.999198354264</c:v>
                </c:pt>
                <c:pt idx="30">
                  <c:v>1</c:v>
                </c:pt>
                <c:pt idx="31">
                  <c:v>0.999198354264</c:v>
                </c:pt>
                <c:pt idx="32">
                  <c:v>0.996791631982</c:v>
                </c:pt>
                <c:pt idx="33">
                  <c:v>0.992774453988</c:v>
                </c:pt>
                <c:pt idx="34">
                  <c:v>0.987137774372</c:v>
                </c:pt>
                <c:pt idx="35">
                  <c:v>0.979868756651</c:v>
                </c:pt>
                <c:pt idx="36">
                  <c:v>0.970950594455</c:v>
                </c:pt>
                <c:pt idx="37">
                  <c:v>0.960362270315</c:v>
                </c:pt>
                <c:pt idx="38">
                  <c:v>0.948078243594</c:v>
                </c:pt>
                <c:pt idx="39">
                  <c:v>0.934068055375</c:v>
                </c:pt>
                <c:pt idx="40">
                  <c:v>0.918295834054</c:v>
                </c:pt>
                <c:pt idx="41">
                  <c:v>0.900719679862</c:v>
                </c:pt>
                <c:pt idx="42">
                  <c:v>0.881290899231</c:v>
                </c:pt>
                <c:pt idx="43">
                  <c:v>0.859953049718</c:v>
                </c:pt>
                <c:pt idx="44">
                  <c:v>0.836640741941</c:v>
                </c:pt>
                <c:pt idx="45">
                  <c:v>0.811278124459</c:v>
                </c:pt>
                <c:pt idx="46">
                  <c:v>0.783776947485</c:v>
                </c:pt>
                <c:pt idx="47">
                  <c:v>0.754034056197</c:v>
                </c:pt>
                <c:pt idx="48">
                  <c:v>0.721928094887</c:v>
                </c:pt>
                <c:pt idx="49">
                  <c:v>0.687315092831</c:v>
                </c:pt>
                <c:pt idx="50">
                  <c:v>0.650022421648</c:v>
                </c:pt>
                <c:pt idx="51">
                  <c:v>0.609840304716</c:v>
                </c:pt>
                <c:pt idx="52">
                  <c:v>0.566509506553</c:v>
                </c:pt>
                <c:pt idx="53">
                  <c:v>0.519702786504</c:v>
                </c:pt>
                <c:pt idx="54">
                  <c:v>0.468995593589</c:v>
                </c:pt>
                <c:pt idx="55">
                  <c:v>0.413816850304</c:v>
                </c:pt>
                <c:pt idx="56">
                  <c:v>0.353359335021</c:v>
                </c:pt>
                <c:pt idx="57">
                  <c:v>0.286396957116</c:v>
                </c:pt>
                <c:pt idx="58">
                  <c:v>0.210842300319</c:v>
                </c:pt>
                <c:pt idx="59">
                  <c:v>0.122291597069</c:v>
                </c:pt>
                <c:pt idx="60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Máximo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FAD62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  <c:pt idx="49">
                  <c:v>0.5</c:v>
                </c:pt>
                <c:pt idx="50">
                  <c:v>0.5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0.5</c:v>
                </c:pt>
                <c:pt idx="55">
                  <c:v>0.5</c:v>
                </c:pt>
                <c:pt idx="56">
                  <c:v>0.5</c:v>
                </c:pt>
                <c:pt idx="57">
                  <c:v>0.5</c:v>
                </c:pt>
                <c:pt idx="58">
                  <c:v>0.5</c:v>
                </c:pt>
                <c:pt idx="59">
                  <c:v>0.5</c:v>
                </c:pt>
                <c:pt idx="60">
                  <c:v>0.5</c:v>
                </c:pt>
              </c:numCache>
            </c:numRef>
          </c:xVal>
          <c:yVal>
            <c:numRef>
              <c:f>'Chart Data'!$D$2:$D$62</c:f>
              <c:numCache>
                <c:formatCode>0.00</c:formatCode>
                <c:ptCount val="6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H(Y), em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p(Y = alta)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y = x²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83D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</c:numCache>
            </c:numRef>
          </c:xVal>
          <c:yVal>
            <c:numRef>
              <c:f>'Chart Data'!$B$2:$B$42</c:f>
              <c:numCache>
                <c:formatCode>0</c:formatCode>
                <c:ptCount val="41"/>
                <c:pt idx="0">
                  <c:v>4</c:v>
                </c:pt>
                <c:pt idx="1">
                  <c:v>3.61</c:v>
                </c:pt>
                <c:pt idx="2">
                  <c:v>3.24</c:v>
                </c:pt>
                <c:pt idx="3">
                  <c:v>2.89</c:v>
                </c:pt>
                <c:pt idx="4">
                  <c:v>2.56</c:v>
                </c:pt>
                <c:pt idx="5">
                  <c:v>2.25</c:v>
                </c:pt>
                <c:pt idx="6">
                  <c:v>1.96</c:v>
                </c:pt>
                <c:pt idx="7">
                  <c:v>1.69</c:v>
                </c:pt>
                <c:pt idx="8">
                  <c:v>1.44</c:v>
                </c:pt>
                <c:pt idx="9">
                  <c:v>1.21</c:v>
                </c:pt>
                <c:pt idx="10">
                  <c:v>1</c:v>
                </c:pt>
                <c:pt idx="11">
                  <c:v>0.81</c:v>
                </c:pt>
                <c:pt idx="12">
                  <c:v>0.64</c:v>
                </c:pt>
                <c:pt idx="13">
                  <c:v>0.49</c:v>
                </c:pt>
                <c:pt idx="14">
                  <c:v>0.36</c:v>
                </c:pt>
                <c:pt idx="15">
                  <c:v>0.25</c:v>
                </c:pt>
                <c:pt idx="16">
                  <c:v>0.16</c:v>
                </c:pt>
                <c:pt idx="17">
                  <c:v>0.09</c:v>
                </c:pt>
                <c:pt idx="18">
                  <c:v>0.04</c:v>
                </c:pt>
                <c:pt idx="19">
                  <c:v>0.01</c:v>
                </c:pt>
                <c:pt idx="20">
                  <c:v>0</c:v>
                </c:pt>
                <c:pt idx="21">
                  <c:v>0.01</c:v>
                </c:pt>
                <c:pt idx="22">
                  <c:v>0.04</c:v>
                </c:pt>
                <c:pt idx="23">
                  <c:v>0.09</c:v>
                </c:pt>
                <c:pt idx="24">
                  <c:v>0.16</c:v>
                </c:pt>
                <c:pt idx="25">
                  <c:v>0.25</c:v>
                </c:pt>
                <c:pt idx="26">
                  <c:v>0.36</c:v>
                </c:pt>
                <c:pt idx="27">
                  <c:v>0.49</c:v>
                </c:pt>
                <c:pt idx="28">
                  <c:v>0.64</c:v>
                </c:pt>
                <c:pt idx="29">
                  <c:v>0.81</c:v>
                </c:pt>
                <c:pt idx="30">
                  <c:v>1</c:v>
                </c:pt>
                <c:pt idx="31">
                  <c:v>1.21</c:v>
                </c:pt>
                <c:pt idx="32">
                  <c:v>1.44</c:v>
                </c:pt>
                <c:pt idx="33">
                  <c:v>1.69</c:v>
                </c:pt>
                <c:pt idx="34">
                  <c:v>1.96</c:v>
                </c:pt>
                <c:pt idx="35">
                  <c:v>2.25</c:v>
                </c:pt>
                <c:pt idx="36">
                  <c:v>2.56</c:v>
                </c:pt>
                <c:pt idx="37">
                  <c:v>2.89</c:v>
                </c:pt>
                <c:pt idx="38">
                  <c:v>3.24</c:v>
                </c:pt>
                <c:pt idx="39">
                  <c:v>3.61</c:v>
                </c:pt>
                <c:pt idx="40">
                  <c:v>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|r|</c:v>
          </c:tx>
          <c:spPr>
            <a:solidFill xmlns:a="http://schemas.openxmlformats.org/drawingml/2006/main">
              <a:srgbClr val="83DF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FAD6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Q(t)</c:v>
                </c:pt>
                <c:pt idx="1">
                  <c:v>Q(t−1)</c:v>
                </c:pt>
                <c:pt idx="2">
                  <c:v>Índice P</c:v>
                </c:pt>
                <c:pt idx="3">
                  <c:v>Ruído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0.517871330301</c:v>
                </c:pt>
                <c:pt idx="1">
                  <c:v>0.483022808286</c:v>
                </c:pt>
                <c:pt idx="2">
                  <c:v>0.042912632856</c:v>
                </c:pt>
                <c:pt idx="3">
                  <c:v>0.00276291982548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  <c:numFmt formatCode="0.00" sourceLinked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|r|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</c:v>
          </c:tx>
          <c:spPr>
            <a:solidFill xmlns:a="http://schemas.openxmlformats.org/drawingml/2006/main">
              <a:srgbClr val="83DF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FAD6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Q(t)</c:v>
                </c:pt>
                <c:pt idx="1">
                  <c:v>Q(t−1)</c:v>
                </c:pt>
                <c:pt idx="2">
                  <c:v>Índice P</c:v>
                </c:pt>
                <c:pt idx="3">
                  <c:v>Ruído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0.414676871217</c:v>
                </c:pt>
                <c:pt idx="1">
                  <c:v>0.28232428571</c:v>
                </c:pt>
                <c:pt idx="2">
                  <c:v>0.69574357043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  <c:numFmt formatCode="0.00" sourceLinked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MI (nats)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Outros exemplos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91A4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-1.2</c:v>
                </c:pt>
                <c:pt idx="1">
                  <c:v>1.1</c:v>
                </c:pt>
                <c:pt idx="2">
                  <c:v>-0.6</c:v>
                </c:pt>
              </c:numCache>
            </c:numRef>
          </c:xVal>
          <c:yVal>
            <c:numRef>
              <c:f>'Chart Data'!$B$2:$B$4</c:f>
              <c:numCache>
                <c:formatCode>0</c:formatCode>
                <c:ptCount val="3"/>
                <c:pt idx="0">
                  <c:v>-1</c:v>
                </c:pt>
                <c:pt idx="1">
                  <c:v>1.3</c:v>
                </c:pt>
                <c:pt idx="2">
                  <c:v>0.9</c:v>
                </c:pt>
              </c:numCache>
            </c:numRef>
          </c:yVal>
          <c:smooth val="0"/>
        </c:ser>
        <c:ser>
          <c:idx val="1"/>
          <c:order val="1"/>
          <c:tx>
            <c:v>Vizinhos A, B, C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71E7BD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0.6</c:v>
                </c:pt>
                <c:pt idx="1">
                  <c:v>0.9</c:v>
                </c:pt>
                <c:pt idx="2">
                  <c:v>0.7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0.2</c:v>
                </c:pt>
                <c:pt idx="1">
                  <c:v>0.1</c:v>
                </c:pt>
                <c:pt idx="2">
                  <c:v>-0.2</c:v>
                </c:pt>
              </c:numCache>
            </c:numRef>
          </c:yVal>
          <c:smooth val="0"/>
        </c:ser>
        <c:ser>
          <c:idx val="2"/>
          <c:order val="2"/>
          <c:tx>
            <c:v>Consulta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FFAD62"/>
              </a:solidFill>
              <ns2:ln xmlns:ns2="http://schemas.openxmlformats.org/drawingml/2006/main" w="0">
                <ns2:noFill/>
              </ns2:ln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</c:numCache>
            </c:numRef>
          </c:xVal>
          <c:yVal>
            <c:numRef>
              <c:f>'Chart Data'!$F$2:$F$4</c:f>
              <c:numCache>
                <c:formatCode>0</c:formatCode>
                <c:ptCount val="3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z(Q)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-2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z(P)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η = 0,025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5718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'Chart Data'!$B$2:$B$12</c:f>
              <c:numCache>
                <c:formatCode>0.0</c:formatCode>
                <c:ptCount val="11"/>
                <c:pt idx="0">
                  <c:v>1</c:v>
                </c:pt>
                <c:pt idx="1">
                  <c:v>0.9025</c:v>
                </c:pt>
                <c:pt idx="2">
                  <c:v>0.81450625</c:v>
                </c:pt>
                <c:pt idx="3">
                  <c:v>0.735091890625</c:v>
                </c:pt>
                <c:pt idx="4">
                  <c:v>0.663420431289</c:v>
                </c:pt>
                <c:pt idx="5">
                  <c:v>0.598736939238</c:v>
                </c:pt>
                <c:pt idx="6">
                  <c:v>0.540360087663</c:v>
                </c:pt>
                <c:pt idx="7">
                  <c:v>0.487674979116</c:v>
                </c:pt>
                <c:pt idx="8">
                  <c:v>0.440126668652</c:v>
                </c:pt>
                <c:pt idx="9">
                  <c:v>0.397214318458</c:v>
                </c:pt>
                <c:pt idx="10">
                  <c:v>0.358485922409</c:v>
                </c:pt>
              </c:numCache>
            </c:numRef>
          </c:yVal>
          <c:smooth val="0"/>
        </c:ser>
        <c:ser>
          <c:idx val="1"/>
          <c:order val="1"/>
          <c:tx>
            <c:v>η = 0,20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25718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'Chart Data'!$D$2:$D$12</c:f>
              <c:numCache>
                <c:formatCode>0.0</c:formatCode>
                <c:ptCount val="11"/>
                <c:pt idx="0">
                  <c:v>1</c:v>
                </c:pt>
                <c:pt idx="1">
                  <c:v>0.36</c:v>
                </c:pt>
                <c:pt idx="2">
                  <c:v>0.1296</c:v>
                </c:pt>
                <c:pt idx="3">
                  <c:v>0.046656</c:v>
                </c:pt>
                <c:pt idx="4">
                  <c:v>0.01679616</c:v>
                </c:pt>
                <c:pt idx="5">
                  <c:v>0.0060466176</c:v>
                </c:pt>
                <c:pt idx="6">
                  <c:v>0.002176782336</c:v>
                </c:pt>
                <c:pt idx="7">
                  <c:v>0.00078364164096</c:v>
                </c:pt>
                <c:pt idx="8">
                  <c:v>0.000282110990746</c:v>
                </c:pt>
                <c:pt idx="9">
                  <c:v>0.000101559956668</c:v>
                </c:pt>
                <c:pt idx="10">
                  <c:v>3.65615844006E-05</c:v>
                </c:pt>
              </c:numCache>
            </c:numRef>
          </c:yVal>
          <c:smooth val="0"/>
        </c:ser>
        <c:ser>
          <c:idx val="2"/>
          <c:order val="2"/>
          <c:tx>
            <c:v>η = 1,05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5718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Data'!$E$2:$E$12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'Chart Data'!$F$2:$F$12</c:f>
              <c:numCache>
                <c:formatCode>0.0</c:formatCode>
                <c:ptCount val="11"/>
                <c:pt idx="0">
                  <c:v>1</c:v>
                </c:pt>
                <c:pt idx="1">
                  <c:v>1.21</c:v>
                </c:pt>
                <c:pt idx="2">
                  <c:v>1.4641</c:v>
                </c:pt>
                <c:pt idx="3">
                  <c:v>1.771561</c:v>
                </c:pt>
                <c:pt idx="4">
                  <c:v>2.14358881</c:v>
                </c:pt>
                <c:pt idx="5">
                  <c:v>2.5937424601</c:v>
                </c:pt>
                <c:pt idx="6">
                  <c:v>3.13842837672</c:v>
                </c:pt>
                <c:pt idx="7">
                  <c:v>3.79749833583</c:v>
                </c:pt>
                <c:pt idx="8">
                  <c:v>4.59497298636</c:v>
                </c:pt>
                <c:pt idx="9">
                  <c:v>5.55991731349</c:v>
                </c:pt>
                <c:pt idx="10">
                  <c:v>6.72749994933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L / L inicial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Atualização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Configurações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83D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-5</c:v>
                </c:pt>
                <c:pt idx="1">
                  <c:v>-5</c:v>
                </c:pt>
                <c:pt idx="2">
                  <c:v>-5</c:v>
                </c:pt>
                <c:pt idx="3">
                  <c:v>-3</c:v>
                </c:pt>
                <c:pt idx="4">
                  <c:v>-3</c:v>
                </c:pt>
                <c:pt idx="5">
                  <c:v>-3</c:v>
                </c:pt>
                <c:pt idx="6">
                  <c:v>-1</c:v>
                </c:pt>
                <c:pt idx="7">
                  <c:v>-1</c:v>
                </c:pt>
                <c:pt idx="8">
                  <c:v>-1</c:v>
                </c:pt>
              </c:numCache>
            </c:numRef>
          </c:xVal>
          <c:yVal>
            <c:numRef>
              <c:f>'Chart Data'!$B$2:$B$10</c:f>
              <c:numCache>
                <c:formatCode>0</c:formatCode>
                <c:ptCount val="9"/>
                <c:pt idx="0">
                  <c:v>8</c:v>
                </c:pt>
                <c:pt idx="1">
                  <c:v>32</c:v>
                </c:pt>
                <c:pt idx="2">
                  <c:v>64</c:v>
                </c:pt>
                <c:pt idx="3">
                  <c:v>8</c:v>
                </c:pt>
                <c:pt idx="4">
                  <c:v>32</c:v>
                </c:pt>
                <c:pt idx="5">
                  <c:v>64</c:v>
                </c:pt>
                <c:pt idx="6">
                  <c:v>8</c:v>
                </c:pt>
                <c:pt idx="7">
                  <c:v>32</c:v>
                </c:pt>
                <c:pt idx="8">
                  <c:v>64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7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Neurônios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32"/>
      </c:valAx>
      <c:valAx>
        <c:axId val="48650112"/>
        <c:scaling>
          <c:orientation val="minMax"/>
          <c:max val="0"/>
          <c:min val="-6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log₁₀(regularização)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Configurações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71E7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-4.7</c:v>
                </c:pt>
                <c:pt idx="1">
                  <c:v>-4.1</c:v>
                </c:pt>
                <c:pt idx="2">
                  <c:v>-3.9</c:v>
                </c:pt>
                <c:pt idx="3">
                  <c:v>-3.2</c:v>
                </c:pt>
                <c:pt idx="4">
                  <c:v>-2.8</c:v>
                </c:pt>
                <c:pt idx="5">
                  <c:v>-2.2</c:v>
                </c:pt>
                <c:pt idx="6">
                  <c:v>-1.8</c:v>
                </c:pt>
                <c:pt idx="7">
                  <c:v>-1.5</c:v>
                </c:pt>
                <c:pt idx="8">
                  <c:v>-1.1</c:v>
                </c:pt>
              </c:numCache>
            </c:numRef>
          </c:xVal>
          <c:yVal>
            <c:numRef>
              <c:f>'Chart Data'!$B$2:$B$10</c:f>
              <c:numCache>
                <c:formatCode>0</c:formatCode>
                <c:ptCount val="9"/>
                <c:pt idx="0">
                  <c:v>16</c:v>
                </c:pt>
                <c:pt idx="1">
                  <c:v>64</c:v>
                </c:pt>
                <c:pt idx="2">
                  <c:v>32</c:v>
                </c:pt>
                <c:pt idx="3">
                  <c:v>8</c:v>
                </c:pt>
                <c:pt idx="4">
                  <c:v>64</c:v>
                </c:pt>
                <c:pt idx="5">
                  <c:v>16</c:v>
                </c:pt>
                <c:pt idx="6">
                  <c:v>32</c:v>
                </c:pt>
                <c:pt idx="7">
                  <c:v>64</c:v>
                </c:pt>
                <c:pt idx="8">
                  <c:v>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7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Neurônios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32"/>
      </c:valAx>
      <c:valAx>
        <c:axId val="48650112"/>
        <c:scaling>
          <c:orientation val="minMax"/>
          <c:max val="0"/>
          <c:min val="-6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log₁₀(regularização)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Modelo ilustrativo 1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20955">
              <a:solidFill>
                <a:srgbClr val="91A4BD"/>
              </a:solidFill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</c:numCache>
            </c:numRef>
          </c:xVal>
          <c:yVal>
            <c:numRef>
              <c:f>'Chart Data'!$B$2:$B$52</c:f>
              <c:numCache>
                <c:formatCode>0</c:formatCode>
                <c:ptCount val="51"/>
                <c:pt idx="0">
                  <c:v>15</c:v>
                </c:pt>
                <c:pt idx="1">
                  <c:v>16.1447169062</c:v>
                </c:pt>
                <c:pt idx="2">
                  <c:v>17.3097557574</c:v>
                </c:pt>
                <c:pt idx="3">
                  <c:v>18.4915404309</c:v>
                </c:pt>
                <c:pt idx="4">
                  <c:v>19.6866958425</c:v>
                </c:pt>
                <c:pt idx="5">
                  <c:v>20.8921414826</c:v>
                </c:pt>
                <c:pt idx="6">
                  <c:v>22.1051767878</c:v>
                </c:pt>
                <c:pt idx="7">
                  <c:v>23.3235559834</c:v>
                </c:pt>
                <c:pt idx="8">
                  <c:v>24.5455503211</c:v>
                </c:pt>
                <c:pt idx="9">
                  <c:v>25.7699959893</c:v>
                </c:pt>
                <c:pt idx="10">
                  <c:v>26.9963263662</c:v>
                </c:pt>
                <c:pt idx="11">
                  <c:v>28.224587723</c:v>
                </c:pt>
                <c:pt idx="12">
                  <c:v>29.4554379415</c:v>
                </c:pt>
                <c:pt idx="13">
                  <c:v>30.6901282817</c:v>
                </c:pt>
                <c:pt idx="14">
                  <c:v>31.9304687054</c:v>
                </c:pt>
                <c:pt idx="15">
                  <c:v>33.1787777153</c:v>
                </c:pt>
                <c:pt idx="16">
                  <c:v>34.4378181013</c:v>
                </c:pt>
                <c:pt idx="17">
                  <c:v>35.7107203739</c:v>
                </c:pt>
                <c:pt idx="18">
                  <c:v>37.0008960064</c:v>
                </c:pt>
                <c:pt idx="19">
                  <c:v>38.3119428914</c:v>
                </c:pt>
                <c:pt idx="20">
                  <c:v>39.6475456297</c:v>
                </c:pt>
                <c:pt idx="21">
                  <c:v>41.0113734178</c:v>
                </c:pt>
                <c:pt idx="22">
                  <c:v>42.4069783611</c:v>
                </c:pt>
                <c:pt idx="23">
                  <c:v>43.8376970324</c:v>
                </c:pt>
                <c:pt idx="24">
                  <c:v>45.3065580038</c:v>
                </c:pt>
                <c:pt idx="25">
                  <c:v>46.8161979142</c:v>
                </c:pt>
                <c:pt idx="26">
                  <c:v>48.368788399</c:v>
                </c:pt>
                <c:pt idx="27">
                  <c:v>49.9659759059</c:v>
                </c:pt>
                <c:pt idx="28">
                  <c:v>51.5964903873</c:v>
                </c:pt>
                <c:pt idx="29">
                  <c:v>53.1867327748</c:v>
                </c:pt>
                <c:pt idx="30">
                  <c:v>54.724218605</c:v>
                </c:pt>
                <c:pt idx="31">
                  <c:v>56.2081991496</c:v>
                </c:pt>
                <c:pt idx="32">
                  <c:v>57.6373364867</c:v>
                </c:pt>
                <c:pt idx="33">
                  <c:v>59.009740579</c:v>
                </c:pt>
                <c:pt idx="34">
                  <c:v>60.3230216535</c:v>
                </c:pt>
                <c:pt idx="35">
                  <c:v>61.5743564305</c:v>
                </c:pt>
                <c:pt idx="36">
                  <c:v>62.7605663669</c:v>
                </c:pt>
                <c:pt idx="37">
                  <c:v>63.8782057445</c:v>
                </c:pt>
                <c:pt idx="38">
                  <c:v>64.9236571635</c:v>
                </c:pt>
                <c:pt idx="39">
                  <c:v>65.8932317929</c:v>
                </c:pt>
                <c:pt idx="40">
                  <c:v>66.7832716017</c:v>
                </c:pt>
                <c:pt idx="41">
                  <c:v>67.5902507353</c:v>
                </c:pt>
                <c:pt idx="42">
                  <c:v>68.3108732296</c:v>
                </c:pt>
                <c:pt idx="43">
                  <c:v>68.9421643539</c:v>
                </c:pt>
                <c:pt idx="44">
                  <c:v>69.4815530513</c:v>
                </c:pt>
                <c:pt idx="45">
                  <c:v>69.9269431913</c:v>
                </c:pt>
                <c:pt idx="46">
                  <c:v>70.2767716617</c:v>
                </c:pt>
                <c:pt idx="47">
                  <c:v>70.5300516874</c:v>
                </c:pt>
                <c:pt idx="48">
                  <c:v>70.6864001775</c:v>
                </c:pt>
                <c:pt idx="49">
                  <c:v>70.7460483426</c:v>
                </c:pt>
                <c:pt idx="50">
                  <c:v>70.7098352865</c:v>
                </c:pt>
              </c:numCache>
            </c:numRef>
          </c:yVal>
          <c:smooth val="0"/>
        </c:ser>
        <c:ser>
          <c:idx val="1"/>
          <c:order val="1"/>
          <c:tx>
            <c:v>Modelo ilustrativo 2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2095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Data'!$C$2:$C$52</c:f>
              <c:numCache>
                <c:formatCode>General</c:formatCode>
                <c:ptCount val="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</c:numCache>
            </c:numRef>
          </c:xVal>
          <c:yVal>
            <c:numRef>
              <c:f>'Chart Data'!$D$2:$D$52</c:f>
              <c:numCache>
                <c:formatCode>0</c:formatCode>
                <c:ptCount val="51"/>
                <c:pt idx="0">
                  <c:v>15.6731767878</c:v>
                </c:pt>
                <c:pt idx="1">
                  <c:v>16.7475559834</c:v>
                </c:pt>
                <c:pt idx="2">
                  <c:v>17.8255503211</c:v>
                </c:pt>
                <c:pt idx="3">
                  <c:v>18.9059959893</c:v>
                </c:pt>
                <c:pt idx="4">
                  <c:v>19.9883263662</c:v>
                </c:pt>
                <c:pt idx="5">
                  <c:v>21.072587723</c:v>
                </c:pt>
                <c:pt idx="6">
                  <c:v>22.1594379415</c:v>
                </c:pt>
                <c:pt idx="7">
                  <c:v>23.2501282817</c:v>
                </c:pt>
                <c:pt idx="8">
                  <c:v>24.3464687054</c:v>
                </c:pt>
                <c:pt idx="9">
                  <c:v>25.4507777153</c:v>
                </c:pt>
                <c:pt idx="10">
                  <c:v>26.5658181013</c:v>
                </c:pt>
                <c:pt idx="11">
                  <c:v>27.6947203739</c:v>
                </c:pt>
                <c:pt idx="12">
                  <c:v>28.8408960064</c:v>
                </c:pt>
                <c:pt idx="13">
                  <c:v>30.0079428914</c:v>
                </c:pt>
                <c:pt idx="14">
                  <c:v>31.1995456297</c:v>
                </c:pt>
                <c:pt idx="15">
                  <c:v>32.4193734178</c:v>
                </c:pt>
                <c:pt idx="16">
                  <c:v>33.6709783611</c:v>
                </c:pt>
                <c:pt idx="17">
                  <c:v>34.9576970324</c:v>
                </c:pt>
                <c:pt idx="18">
                  <c:v>36.2825580038</c:v>
                </c:pt>
                <c:pt idx="19">
                  <c:v>37.6481979142</c:v>
                </c:pt>
                <c:pt idx="20">
                  <c:v>39.056788399</c:v>
                </c:pt>
                <c:pt idx="21">
                  <c:v>40.5099759059</c:v>
                </c:pt>
                <c:pt idx="22">
                  <c:v>42.0088360663</c:v>
                </c:pt>
                <c:pt idx="23">
                  <c:v>43.5538438859</c:v>
                </c:pt>
                <c:pt idx="24">
                  <c:v>45.1448605803</c:v>
                </c:pt>
                <c:pt idx="25">
                  <c:v>46.7811374212</c:v>
                </c:pt>
                <c:pt idx="26">
                  <c:v>48.4613364867</c:v>
                </c:pt>
                <c:pt idx="27">
                  <c:v>50.1835677395</c:v>
                </c:pt>
                <c:pt idx="28">
                  <c:v>51.9392685671</c:v>
                </c:pt>
                <c:pt idx="29">
                  <c:v>53.6885786527</c:v>
                </c:pt>
                <c:pt idx="30">
                  <c:v>55.4221466138</c:v>
                </c:pt>
                <c:pt idx="31">
                  <c:v>57.1365267321</c:v>
                </c:pt>
                <c:pt idx="32">
                  <c:v>58.8281016079</c:v>
                </c:pt>
                <c:pt idx="33">
                  <c:v>60.4931824102</c:v>
                </c:pt>
                <c:pt idx="34">
                  <c:v>62.1281111079</c:v>
                </c:pt>
                <c:pt idx="35">
                  <c:v>63.7293618464</c:v>
                </c:pt>
                <c:pt idx="36">
                  <c:v>65.2936386617</c:v>
                </c:pt>
                <c:pt idx="37">
                  <c:v>66.8179668231</c:v>
                </c:pt>
                <c:pt idx="38">
                  <c:v>68.2997752735</c:v>
                </c:pt>
                <c:pt idx="39">
                  <c:v>69.7369678827</c:v>
                </c:pt>
                <c:pt idx="40">
                  <c:v>71.1279815382</c:v>
                </c:pt>
                <c:pt idx="41">
                  <c:v>72.4718294651</c:v>
                </c:pt>
                <c:pt idx="42">
                  <c:v>73.7681285726</c:v>
                </c:pt>
                <c:pt idx="43">
                  <c:v>75.017110071</c:v>
                </c:pt>
                <c:pt idx="44">
                  <c:v>76.2196130643</c:v>
                </c:pt>
                <c:pt idx="45">
                  <c:v>77.377061295</c:v>
                </c:pt>
                <c:pt idx="46">
                  <c:v>78.4914236881</c:v>
                </c:pt>
                <c:pt idx="47">
                  <c:v>79.5651597844</c:v>
                </c:pt>
                <c:pt idx="48">
                  <c:v>80.6011515783</c:v>
                </c:pt>
                <c:pt idx="49">
                  <c:v>81.6026236475</c:v>
                </c:pt>
                <c:pt idx="50">
                  <c:v>82.5730537884</c:v>
                </c:pt>
              </c:numCache>
            </c:numRef>
          </c:yVal>
          <c:smooth val="0"/>
        </c:ser>
        <c:ser>
          <c:idx val="2"/>
          <c:order val="2"/>
          <c:tx>
            <c:v>Modelo ilustrativo 3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20955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Data'!$E$2:$E$52</c:f>
              <c:numCache>
                <c:formatCode>General</c:formatCode>
                <c:ptCount val="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</c:numCache>
            </c:numRef>
          </c:xVal>
          <c:yVal>
            <c:numRef>
              <c:f>'Chart Data'!$F$2:$F$52</c:f>
              <c:numCache>
                <c:formatCode>0</c:formatCode>
                <c:ptCount val="51"/>
                <c:pt idx="0">
                  <c:v>15.7274379415</c:v>
                </c:pt>
                <c:pt idx="1">
                  <c:v>16.6741282817</c:v>
                </c:pt>
                <c:pt idx="2">
                  <c:v>17.6264687054</c:v>
                </c:pt>
                <c:pt idx="3">
                  <c:v>18.5867777153</c:v>
                </c:pt>
                <c:pt idx="4">
                  <c:v>19.5578181013</c:v>
                </c:pt>
                <c:pt idx="5">
                  <c:v>20.5427203739</c:v>
                </c:pt>
                <c:pt idx="6">
                  <c:v>21.5448960064</c:v>
                </c:pt>
                <c:pt idx="7">
                  <c:v>22.5679428914</c:v>
                </c:pt>
                <c:pt idx="8">
                  <c:v>23.6155456297</c:v>
                </c:pt>
                <c:pt idx="9">
                  <c:v>24.6913734178</c:v>
                </c:pt>
                <c:pt idx="10">
                  <c:v>25.7989783611</c:v>
                </c:pt>
                <c:pt idx="11">
                  <c:v>26.9416970324</c:v>
                </c:pt>
                <c:pt idx="12">
                  <c:v>28.1225580038</c:v>
                </c:pt>
                <c:pt idx="13">
                  <c:v>29.3441979142</c:v>
                </c:pt>
                <c:pt idx="14">
                  <c:v>30.608788399</c:v>
                </c:pt>
                <c:pt idx="15">
                  <c:v>31.9179759059</c:v>
                </c:pt>
                <c:pt idx="16">
                  <c:v>33.2728360663</c:v>
                </c:pt>
                <c:pt idx="17">
                  <c:v>34.6738438859</c:v>
                </c:pt>
                <c:pt idx="18">
                  <c:v>36.1208605803</c:v>
                </c:pt>
                <c:pt idx="19">
                  <c:v>37.6131374212</c:v>
                </c:pt>
                <c:pt idx="20">
                  <c:v>39.1493364867</c:v>
                </c:pt>
                <c:pt idx="21">
                  <c:v>40.7275677395</c:v>
                </c:pt>
                <c:pt idx="22">
                  <c:v>42.3454414066</c:v>
                </c:pt>
                <c:pt idx="23">
                  <c:v>44.0001342083</c:v>
                </c:pt>
                <c:pt idx="24">
                  <c:v>45.6884676014</c:v>
                </c:pt>
                <c:pt idx="25">
                  <c:v>47.406995868</c:v>
                </c:pt>
                <c:pt idx="26">
                  <c:v>49.1521016079</c:v>
                </c:pt>
                <c:pt idx="27">
                  <c:v>50.9200959905</c:v>
                </c:pt>
                <c:pt idx="28">
                  <c:v>52.7073209845</c:v>
                </c:pt>
                <c:pt idx="29">
                  <c:v>54.5102507353</c:v>
                </c:pt>
                <c:pt idx="30">
                  <c:v>56.325589279</c:v>
                </c:pt>
                <c:pt idx="31">
                  <c:v>58.1503618848</c:v>
                </c:pt>
                <c:pt idx="32">
                  <c:v>59.9819974957</c:v>
                </c:pt>
                <c:pt idx="33">
                  <c:v>61.8183999814</c:v>
                </c:pt>
                <c:pt idx="34">
                  <c:v>63.6580062296</c:v>
                </c:pt>
                <c:pt idx="35">
                  <c:v>65.4998294651</c:v>
                </c:pt>
                <c:pt idx="36">
                  <c:v>67.3434865973</c:v>
                </c:pt>
                <c:pt idx="37">
                  <c:v>69.1892088365</c:v>
                </c:pt>
                <c:pt idx="38">
                  <c:v>71.0378352865</c:v>
                </c:pt>
                <c:pt idx="39">
                  <c:v>72.8907896901</c:v>
                </c:pt>
                <c:pt idx="40">
                  <c:v>74.7500409721</c:v>
                </c:pt>
                <c:pt idx="41">
                  <c:v>76.6180486733</c:v>
                </c:pt>
                <c:pt idx="42">
                  <c:v>78.4976947882</c:v>
                </c:pt>
                <c:pt idx="43">
                  <c:v>80.3922038944</c:v>
                </c:pt>
                <c:pt idx="44">
                  <c:v>82.3050537884</c:v>
                </c:pt>
                <c:pt idx="45">
                  <c:v>84.2398791036</c:v>
                </c:pt>
                <c:pt idx="46">
                  <c:v>86.2003705815</c:v>
                </c:pt>
                <c:pt idx="47">
                  <c:v>88.1901727883</c:v>
                </c:pt>
                <c:pt idx="48">
                  <c:v>90.2127831113</c:v>
                </c:pt>
                <c:pt idx="49">
                  <c:v>92.2714548336</c:v>
                </c:pt>
                <c:pt idx="50">
                  <c:v>94.3691069742</c:v>
                </c:pt>
              </c:numCache>
            </c:numRef>
          </c:yVal>
          <c:smooth val="0"/>
        </c:ser>
        <c:ser>
          <c:idx val="3"/>
          <c:order val="3"/>
          <c:tx>
            <c:v>Modelo ilustrativo 4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2095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Data'!$G$2:$G$52</c:f>
              <c:numCache>
                <c:formatCode>General</c:formatCode>
                <c:ptCount val="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</c:numCache>
            </c:numRef>
          </c:xVal>
          <c:yVal>
            <c:numRef>
              <c:f>'Chart Data'!$H$2:$H$52</c:f>
              <c:numCache>
                <c:formatCode>0</c:formatCode>
                <c:ptCount val="51"/>
                <c:pt idx="0">
                  <c:v>15.1128960064</c:v>
                </c:pt>
                <c:pt idx="1">
                  <c:v>15.9919428914</c:v>
                </c:pt>
                <c:pt idx="2">
                  <c:v>16.8955456297</c:v>
                </c:pt>
                <c:pt idx="3">
                  <c:v>17.8273734178</c:v>
                </c:pt>
                <c:pt idx="4">
                  <c:v>18.7909783611</c:v>
                </c:pt>
                <c:pt idx="5">
                  <c:v>19.7896970324</c:v>
                </c:pt>
                <c:pt idx="6">
                  <c:v>20.8265580038</c:v>
                </c:pt>
                <c:pt idx="7">
                  <c:v>21.9041979142</c:v>
                </c:pt>
                <c:pt idx="8">
                  <c:v>23.024788399</c:v>
                </c:pt>
                <c:pt idx="9">
                  <c:v>24.1899759059</c:v>
                </c:pt>
                <c:pt idx="10">
                  <c:v>25.4008360663</c:v>
                </c:pt>
                <c:pt idx="11">
                  <c:v>26.6578438859</c:v>
                </c:pt>
                <c:pt idx="12">
                  <c:v>27.9608605803</c:v>
                </c:pt>
                <c:pt idx="13">
                  <c:v>29.3091374212</c:v>
                </c:pt>
                <c:pt idx="14">
                  <c:v>30.7013364867</c:v>
                </c:pt>
                <c:pt idx="15">
                  <c:v>32.1355677395</c:v>
                </c:pt>
                <c:pt idx="16">
                  <c:v>33.6094414066</c:v>
                </c:pt>
                <c:pt idx="17">
                  <c:v>35.1201342083</c:v>
                </c:pt>
                <c:pt idx="18">
                  <c:v>36.6644676014</c:v>
                </c:pt>
                <c:pt idx="19">
                  <c:v>38.238995868</c:v>
                </c:pt>
                <c:pt idx="20">
                  <c:v>39.8401016079</c:v>
                </c:pt>
                <c:pt idx="21">
                  <c:v>41.4640959905</c:v>
                </c:pt>
                <c:pt idx="22">
                  <c:v>43.1073209845</c:v>
                </c:pt>
                <c:pt idx="23">
                  <c:v>44.7662507353</c:v>
                </c:pt>
                <c:pt idx="24">
                  <c:v>46.437589279</c:v>
                </c:pt>
                <c:pt idx="25">
                  <c:v>48.1183618848</c:v>
                </c:pt>
                <c:pt idx="26">
                  <c:v>49.8059974957</c:v>
                </c:pt>
                <c:pt idx="27">
                  <c:v>51.4983999814</c:v>
                </c:pt>
                <c:pt idx="28">
                  <c:v>53.2001790691</c:v>
                </c:pt>
                <c:pt idx="29">
                  <c:v>54.9473850207</c:v>
                </c:pt>
                <c:pt idx="30">
                  <c:v>56.745807585</c:v>
                </c:pt>
                <c:pt idx="31">
                  <c:v>58.5956779723</c:v>
                </c:pt>
                <c:pt idx="32">
                  <c:v>60.4978352865</c:v>
                </c:pt>
                <c:pt idx="33">
                  <c:v>62.4537032703</c:v>
                </c:pt>
                <c:pt idx="34">
                  <c:v>64.4652508486</c:v>
                </c:pt>
                <c:pt idx="35">
                  <c:v>66.5349375622</c:v>
                </c:pt>
                <c:pt idx="36">
                  <c:v>68.6656454055</c:v>
                </c:pt>
                <c:pt idx="37">
                  <c:v>70.8605989561</c:v>
                </c:pt>
                <c:pt idx="38">
                  <c:v>73.1232760107</c:v>
                </c:pt>
                <c:pt idx="39">
                  <c:v>75.4573112024</c:v>
                </c:pt>
                <c:pt idx="40">
                  <c:v>77.8663952729</c:v>
                </c:pt>
                <c:pt idx="41">
                  <c:v>80.3541727883</c:v>
                </c:pt>
                <c:pt idx="42">
                  <c:v>82.924141136</c:v>
                </c:pt>
                <c:pt idx="43">
                  <c:v>85.579553599</c:v>
                </c:pt>
                <c:pt idx="44">
                  <c:v>88.3233291964</c:v>
                </c:pt>
                <c:pt idx="45">
                  <c:v>91.1579717871</c:v>
                </c:pt>
                <c:pt idx="46">
                  <c:v>94.0855006785</c:v>
                </c:pt>
                <c:pt idx="47">
                  <c:v>97.1073946649</c:v>
                </c:pt>
                <c:pt idx="48">
                  <c:v>100.224551045</c:v>
                </c:pt>
                <c:pt idx="49">
                  <c:v>103.437260753</c:v>
                </c:pt>
                <c:pt idx="50">
                  <c:v>106.745200298</c:v>
                </c:pt>
              </c:numCache>
            </c:numRef>
          </c:yVal>
          <c:smooth val="0"/>
        </c:ser>
        <c:ser>
          <c:idx val="4"/>
          <c:order val="4"/>
          <c:tx>
            <c:v>Modelo ilustrativo 5</c:v>
          </c:tx>
          <c:spPr>
            <a:solidFill xmlns:a="http://schemas.openxmlformats.org/drawingml/2006/main">
              <a:srgbClr val="6598ED"/>
            </a:solidFill>
            <a:ln xmlns:a="http://schemas.openxmlformats.org/drawingml/2006/main" w="20955">
              <a:solidFill>
                <a:srgbClr val="6598ED"/>
              </a:solidFill>
            </a:ln>
          </c:spPr>
          <c:marker>
            <c:symbol val="none"/>
          </c:marker>
          <c:xVal>
            <c:numRef>
              <c:f>'Chart Data'!$I$2:$I$52</c:f>
              <c:numCache>
                <c:formatCode>General</c:formatCode>
                <c:ptCount val="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</c:numCache>
            </c:numRef>
          </c:xVal>
          <c:yVal>
            <c:numRef>
              <c:f>'Chart Data'!$J$2:$J$52</c:f>
              <c:numCache>
                <c:formatCode>0</c:formatCode>
                <c:ptCount val="51"/>
                <c:pt idx="0">
                  <c:v>14.3945580038</c:v>
                </c:pt>
                <c:pt idx="1">
                  <c:v>15.3281979142</c:v>
                </c:pt>
                <c:pt idx="2">
                  <c:v>16.304788399</c:v>
                </c:pt>
                <c:pt idx="3">
                  <c:v>17.3259759059</c:v>
                </c:pt>
                <c:pt idx="4">
                  <c:v>18.3928360663</c:v>
                </c:pt>
                <c:pt idx="5">
                  <c:v>19.5058438859</c:v>
                </c:pt>
                <c:pt idx="6">
                  <c:v>20.6648605803</c:v>
                </c:pt>
                <c:pt idx="7">
                  <c:v>21.8691374212</c:v>
                </c:pt>
                <c:pt idx="8">
                  <c:v>23.1173364867</c:v>
                </c:pt>
                <c:pt idx="9">
                  <c:v>24.4075677395</c:v>
                </c:pt>
                <c:pt idx="10">
                  <c:v>25.7374414066</c:v>
                </c:pt>
                <c:pt idx="11">
                  <c:v>27.1041342083</c:v>
                </c:pt>
                <c:pt idx="12">
                  <c:v>28.5044676014</c:v>
                </c:pt>
                <c:pt idx="13">
                  <c:v>29.934995868</c:v>
                </c:pt>
                <c:pt idx="14">
                  <c:v>31.3921016079</c:v>
                </c:pt>
                <c:pt idx="15">
                  <c:v>32.8720959905</c:v>
                </c:pt>
                <c:pt idx="16">
                  <c:v>34.3713209845</c:v>
                </c:pt>
                <c:pt idx="17">
                  <c:v>35.8862507353</c:v>
                </c:pt>
                <c:pt idx="18">
                  <c:v>37.413589279</c:v>
                </c:pt>
                <c:pt idx="19">
                  <c:v>38.9503618848</c:v>
                </c:pt>
                <c:pt idx="20">
                  <c:v>40.4939974957</c:v>
                </c:pt>
                <c:pt idx="21">
                  <c:v>42.0423999814</c:v>
                </c:pt>
                <c:pt idx="22">
                  <c:v>43.5940062296</c:v>
                </c:pt>
                <c:pt idx="23">
                  <c:v>45.1478294651</c:v>
                </c:pt>
                <c:pt idx="24">
                  <c:v>46.7034865973</c:v>
                </c:pt>
                <c:pt idx="25">
                  <c:v>48.2612088365</c:v>
                </c:pt>
                <c:pt idx="26">
                  <c:v>49.8218352865</c:v>
                </c:pt>
                <c:pt idx="27">
                  <c:v>51.3867896901</c:v>
                </c:pt>
                <c:pt idx="28">
                  <c:v>52.9703866511</c:v>
                </c:pt>
                <c:pt idx="29">
                  <c:v>54.6491597844</c:v>
                </c:pt>
                <c:pt idx="30">
                  <c:v>56.4383367635</c:v>
                </c:pt>
                <c:pt idx="31">
                  <c:v>58.341142166</c:v>
                </c:pt>
                <c:pt idx="32">
                  <c:v>60.3610537884</c:v>
                </c:pt>
                <c:pt idx="33">
                  <c:v>62.5017062641</c:v>
                </c:pt>
                <c:pt idx="34">
                  <c:v>64.7667903346</c:v>
                </c:pt>
                <c:pt idx="35">
                  <c:v>67.1599505661</c:v>
                </c:pt>
                <c:pt idx="36">
                  <c:v>69.6846843459</c:v>
                </c:pt>
                <c:pt idx="37">
                  <c:v>72.344244957</c:v>
                </c:pt>
                <c:pt idx="38">
                  <c:v>75.1415514187</c:v>
                </c:pt>
                <c:pt idx="39">
                  <c:v>78.0791075896</c:v>
                </c:pt>
                <c:pt idx="40">
                  <c:v>81.1589327772</c:v>
                </c:pt>
                <c:pt idx="41">
                  <c:v>84.382505776</c:v>
                </c:pt>
                <c:pt idx="42">
                  <c:v>87.7507238841</c:v>
                </c:pt>
                <c:pt idx="43">
                  <c:v>91.2638780368</c:v>
                </c:pt>
                <c:pt idx="44">
                  <c:v>94.9216447428</c:v>
                </c:pt>
                <c:pt idx="45">
                  <c:v>98.7230950504</c:v>
                </c:pt>
                <c:pt idx="46">
                  <c:v>102.666720291</c:v>
                </c:pt>
                <c:pt idx="47">
                  <c:v>106.75047389</c:v>
                </c:pt>
                <c:pt idx="48">
                  <c:v>110.971828085</c:v>
                </c:pt>
                <c:pt idx="49">
                  <c:v>115.327843979</c:v>
                </c:pt>
                <c:pt idx="50">
                  <c:v>119.815252987</c:v>
                </c:pt>
              </c:numCache>
            </c:numRef>
          </c:yVal>
          <c:smooth val="0"/>
        </c:ser>
        <c:ser>
          <c:idx val="5"/>
          <c:order val="5"/>
          <c:tx>
            <c:v>Observações de treino</c:v>
          </c:tx>
          <c:spPr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Data'!$K$2:$K$52</c:f>
              <c:numCache>
                <c:formatCode>General</c:formatCode>
                <c:ptCount val="51"/>
                <c:pt idx="0">
                  <c:v>2</c:v>
                </c:pt>
                <c:pt idx="1">
                  <c:v>8</c:v>
                </c:pt>
                <c:pt idx="2">
                  <c:v>12</c:v>
                </c:pt>
                <c:pt idx="3">
                  <c:v>17</c:v>
                </c:pt>
                <c:pt idx="4">
                  <c:v>23</c:v>
                </c:pt>
                <c:pt idx="5">
                  <c:v>28</c:v>
                </c:pt>
                <c:pt idx="6">
                  <c:v>34</c:v>
                </c:pt>
                <c:pt idx="7">
                  <c:v>40</c:v>
                </c:pt>
                <c:pt idx="8">
                  <c:v>47</c:v>
                </c:pt>
                <c:pt idx="9">
                  <c:v>52</c:v>
                </c:pt>
                <c:pt idx="10">
                  <c:v>52</c:v>
                </c:pt>
                <c:pt idx="11">
                  <c:v>52</c:v>
                </c:pt>
                <c:pt idx="12">
                  <c:v>52</c:v>
                </c:pt>
                <c:pt idx="13">
                  <c:v>52</c:v>
                </c:pt>
                <c:pt idx="14">
                  <c:v>52</c:v>
                </c:pt>
                <c:pt idx="15">
                  <c:v>52</c:v>
                </c:pt>
                <c:pt idx="16">
                  <c:v>52</c:v>
                </c:pt>
                <c:pt idx="17">
                  <c:v>52</c:v>
                </c:pt>
                <c:pt idx="18">
                  <c:v>52</c:v>
                </c:pt>
                <c:pt idx="19">
                  <c:v>52</c:v>
                </c:pt>
                <c:pt idx="20">
                  <c:v>52</c:v>
                </c:pt>
                <c:pt idx="21">
                  <c:v>52</c:v>
                </c:pt>
                <c:pt idx="22">
                  <c:v>52</c:v>
                </c:pt>
                <c:pt idx="23">
                  <c:v>52</c:v>
                </c:pt>
                <c:pt idx="24">
                  <c:v>52</c:v>
                </c:pt>
                <c:pt idx="25">
                  <c:v>52</c:v>
                </c:pt>
                <c:pt idx="26">
                  <c:v>52</c:v>
                </c:pt>
                <c:pt idx="27">
                  <c:v>52</c:v>
                </c:pt>
                <c:pt idx="28">
                  <c:v>52</c:v>
                </c:pt>
                <c:pt idx="29">
                  <c:v>52</c:v>
                </c:pt>
                <c:pt idx="30">
                  <c:v>52</c:v>
                </c:pt>
                <c:pt idx="31">
                  <c:v>52</c:v>
                </c:pt>
                <c:pt idx="32">
                  <c:v>52</c:v>
                </c:pt>
                <c:pt idx="33">
                  <c:v>52</c:v>
                </c:pt>
                <c:pt idx="34">
                  <c:v>52</c:v>
                </c:pt>
                <c:pt idx="35">
                  <c:v>52</c:v>
                </c:pt>
                <c:pt idx="36">
                  <c:v>52</c:v>
                </c:pt>
                <c:pt idx="37">
                  <c:v>52</c:v>
                </c:pt>
                <c:pt idx="38">
                  <c:v>52</c:v>
                </c:pt>
                <c:pt idx="39">
                  <c:v>52</c:v>
                </c:pt>
                <c:pt idx="40">
                  <c:v>52</c:v>
                </c:pt>
                <c:pt idx="41">
                  <c:v>52</c:v>
                </c:pt>
                <c:pt idx="42">
                  <c:v>52</c:v>
                </c:pt>
                <c:pt idx="43">
                  <c:v>52</c:v>
                </c:pt>
                <c:pt idx="44">
                  <c:v>52</c:v>
                </c:pt>
                <c:pt idx="45">
                  <c:v>52</c:v>
                </c:pt>
                <c:pt idx="46">
                  <c:v>52</c:v>
                </c:pt>
                <c:pt idx="47">
                  <c:v>52</c:v>
                </c:pt>
                <c:pt idx="48">
                  <c:v>52</c:v>
                </c:pt>
                <c:pt idx="49">
                  <c:v>52</c:v>
                </c:pt>
                <c:pt idx="50">
                  <c:v>52</c:v>
                </c:pt>
              </c:numCache>
            </c:numRef>
          </c:xVal>
          <c:yVal>
            <c:numRef>
              <c:f>'Chart Data'!$L$2:$L$52</c:f>
              <c:numCache>
                <c:formatCode>0</c:formatCode>
                <c:ptCount val="51"/>
                <c:pt idx="0">
                  <c:v>14.9449281959</c:v>
                </c:pt>
                <c:pt idx="1">
                  <c:v>16.7306765122</c:v>
                </c:pt>
                <c:pt idx="2">
                  <c:v>22.9257859792</c:v>
                </c:pt>
                <c:pt idx="3">
                  <c:v>25.4682935638</c:v>
                </c:pt>
                <c:pt idx="4">
                  <c:v>26.477838397</c:v>
                </c:pt>
                <c:pt idx="5">
                  <c:v>33.2269003154</c:v>
                </c:pt>
                <c:pt idx="6">
                  <c:v>38.7218704838</c:v>
                </c:pt>
                <c:pt idx="7">
                  <c:v>40.5851963359</c:v>
                </c:pt>
                <c:pt idx="8">
                  <c:v>45.4831796889</c:v>
                </c:pt>
                <c:pt idx="9">
                  <c:v>49.6579006223</c:v>
                </c:pt>
                <c:pt idx="10">
                  <c:v>49.6579006223</c:v>
                </c:pt>
                <c:pt idx="11">
                  <c:v>49.6579006223</c:v>
                </c:pt>
                <c:pt idx="12">
                  <c:v>49.6579006223</c:v>
                </c:pt>
                <c:pt idx="13">
                  <c:v>49.6579006223</c:v>
                </c:pt>
                <c:pt idx="14">
                  <c:v>49.6579006223</c:v>
                </c:pt>
                <c:pt idx="15">
                  <c:v>49.6579006223</c:v>
                </c:pt>
                <c:pt idx="16">
                  <c:v>49.6579006223</c:v>
                </c:pt>
                <c:pt idx="17">
                  <c:v>49.6579006223</c:v>
                </c:pt>
                <c:pt idx="18">
                  <c:v>49.6579006223</c:v>
                </c:pt>
                <c:pt idx="19">
                  <c:v>49.6579006223</c:v>
                </c:pt>
                <c:pt idx="20">
                  <c:v>49.6579006223</c:v>
                </c:pt>
                <c:pt idx="21">
                  <c:v>49.6579006223</c:v>
                </c:pt>
                <c:pt idx="22">
                  <c:v>49.6579006223</c:v>
                </c:pt>
                <c:pt idx="23">
                  <c:v>49.6579006223</c:v>
                </c:pt>
                <c:pt idx="24">
                  <c:v>49.6579006223</c:v>
                </c:pt>
                <c:pt idx="25">
                  <c:v>49.6579006223</c:v>
                </c:pt>
                <c:pt idx="26">
                  <c:v>49.6579006223</c:v>
                </c:pt>
                <c:pt idx="27">
                  <c:v>49.6579006223</c:v>
                </c:pt>
                <c:pt idx="28">
                  <c:v>49.6579006223</c:v>
                </c:pt>
                <c:pt idx="29">
                  <c:v>49.6579006223</c:v>
                </c:pt>
                <c:pt idx="30">
                  <c:v>49.6579006223</c:v>
                </c:pt>
                <c:pt idx="31">
                  <c:v>49.6579006223</c:v>
                </c:pt>
                <c:pt idx="32">
                  <c:v>49.6579006223</c:v>
                </c:pt>
                <c:pt idx="33">
                  <c:v>49.6579006223</c:v>
                </c:pt>
                <c:pt idx="34">
                  <c:v>49.6579006223</c:v>
                </c:pt>
                <c:pt idx="35">
                  <c:v>49.6579006223</c:v>
                </c:pt>
                <c:pt idx="36">
                  <c:v>49.6579006223</c:v>
                </c:pt>
                <c:pt idx="37">
                  <c:v>49.6579006223</c:v>
                </c:pt>
                <c:pt idx="38">
                  <c:v>49.6579006223</c:v>
                </c:pt>
                <c:pt idx="39">
                  <c:v>49.6579006223</c:v>
                </c:pt>
                <c:pt idx="40">
                  <c:v>49.6579006223</c:v>
                </c:pt>
                <c:pt idx="41">
                  <c:v>49.6579006223</c:v>
                </c:pt>
                <c:pt idx="42">
                  <c:v>49.6579006223</c:v>
                </c:pt>
                <c:pt idx="43">
                  <c:v>49.6579006223</c:v>
                </c:pt>
                <c:pt idx="44">
                  <c:v>49.6579006223</c:v>
                </c:pt>
                <c:pt idx="45">
                  <c:v>49.6579006223</c:v>
                </c:pt>
                <c:pt idx="46">
                  <c:v>49.6579006223</c:v>
                </c:pt>
                <c:pt idx="47">
                  <c:v>49.6579006223</c:v>
                </c:pt>
                <c:pt idx="48">
                  <c:v>49.6579006223</c:v>
                </c:pt>
                <c:pt idx="49">
                  <c:v>49.6579006223</c:v>
                </c:pt>
                <c:pt idx="50">
                  <c:v>49.6579006223</c:v>
                </c:pt>
              </c:numCache>
            </c:numRef>
          </c:yVal>
          <c:smooth val="0"/>
        </c:ser>
        <c:ser>
          <c:idx val="6"/>
          <c:order val="6"/>
          <c:tx>
            <c:v>Fim da região observada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9525">
              <a:solidFill>
                <a:srgbClr val="91A4BD"/>
              </a:solidFill>
            </a:ln>
          </c:spPr>
          <c:marker>
            <c:symbol val="none"/>
          </c:marker>
          <c:xVal>
            <c:numRef>
              <c:f>'Chart Data'!$M$2:$M$52</c:f>
              <c:numCache>
                <c:formatCode>General</c:formatCode>
                <c:ptCount val="51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  <c:pt idx="8">
                  <c:v>55</c:v>
                </c:pt>
                <c:pt idx="9">
                  <c:v>55</c:v>
                </c:pt>
                <c:pt idx="10">
                  <c:v>55</c:v>
                </c:pt>
                <c:pt idx="11">
                  <c:v>55</c:v>
                </c:pt>
                <c:pt idx="12">
                  <c:v>55</c:v>
                </c:pt>
                <c:pt idx="13">
                  <c:v>55</c:v>
                </c:pt>
                <c:pt idx="14">
                  <c:v>55</c:v>
                </c:pt>
                <c:pt idx="15">
                  <c:v>55</c:v>
                </c:pt>
                <c:pt idx="16">
                  <c:v>55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55</c:v>
                </c:pt>
                <c:pt idx="21">
                  <c:v>55</c:v>
                </c:pt>
                <c:pt idx="22">
                  <c:v>55</c:v>
                </c:pt>
                <c:pt idx="23">
                  <c:v>55</c:v>
                </c:pt>
                <c:pt idx="24">
                  <c:v>55</c:v>
                </c:pt>
                <c:pt idx="25">
                  <c:v>55</c:v>
                </c:pt>
                <c:pt idx="26">
                  <c:v>55</c:v>
                </c:pt>
                <c:pt idx="27">
                  <c:v>55</c:v>
                </c:pt>
                <c:pt idx="28">
                  <c:v>55</c:v>
                </c:pt>
                <c:pt idx="29">
                  <c:v>55</c:v>
                </c:pt>
                <c:pt idx="30">
                  <c:v>55</c:v>
                </c:pt>
                <c:pt idx="31">
                  <c:v>55</c:v>
                </c:pt>
                <c:pt idx="32">
                  <c:v>55</c:v>
                </c:pt>
                <c:pt idx="33">
                  <c:v>55</c:v>
                </c:pt>
                <c:pt idx="34">
                  <c:v>55</c:v>
                </c:pt>
                <c:pt idx="35">
                  <c:v>55</c:v>
                </c:pt>
                <c:pt idx="36">
                  <c:v>55</c:v>
                </c:pt>
                <c:pt idx="37">
                  <c:v>55</c:v>
                </c:pt>
                <c:pt idx="38">
                  <c:v>55</c:v>
                </c:pt>
                <c:pt idx="39">
                  <c:v>55</c:v>
                </c:pt>
                <c:pt idx="40">
                  <c:v>55</c:v>
                </c:pt>
                <c:pt idx="41">
                  <c:v>55</c:v>
                </c:pt>
                <c:pt idx="42">
                  <c:v>55</c:v>
                </c:pt>
                <c:pt idx="43">
                  <c:v>55</c:v>
                </c:pt>
                <c:pt idx="44">
                  <c:v>55</c:v>
                </c:pt>
                <c:pt idx="45">
                  <c:v>55</c:v>
                </c:pt>
                <c:pt idx="46">
                  <c:v>55</c:v>
                </c:pt>
                <c:pt idx="47">
                  <c:v>55</c:v>
                </c:pt>
                <c:pt idx="48">
                  <c:v>55</c:v>
                </c:pt>
                <c:pt idx="49">
                  <c:v>55</c:v>
                </c:pt>
                <c:pt idx="50">
                  <c:v>55</c:v>
                </c:pt>
              </c:numCache>
            </c:numRef>
          </c:xVal>
          <c:yVal>
            <c:numRef>
              <c:f>'Chart Data'!$N$2:$N$52</c:f>
              <c:numCache>
                <c:formatCode>0</c:formatCode>
                <c:ptCount val="51"/>
                <c:pt idx="0">
                  <c:v>0</c:v>
                </c:pt>
                <c:pt idx="1">
                  <c:v>140</c:v>
                </c:pt>
                <c:pt idx="2">
                  <c:v>140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140</c:v>
                </c:pt>
                <c:pt idx="7">
                  <c:v>140</c:v>
                </c:pt>
                <c:pt idx="8">
                  <c:v>140</c:v>
                </c:pt>
                <c:pt idx="9">
                  <c:v>140</c:v>
                </c:pt>
                <c:pt idx="10">
                  <c:v>140</c:v>
                </c:pt>
                <c:pt idx="11">
                  <c:v>140</c:v>
                </c:pt>
                <c:pt idx="12">
                  <c:v>140</c:v>
                </c:pt>
                <c:pt idx="13">
                  <c:v>140</c:v>
                </c:pt>
                <c:pt idx="14">
                  <c:v>140</c:v>
                </c:pt>
                <c:pt idx="15">
                  <c:v>140</c:v>
                </c:pt>
                <c:pt idx="16">
                  <c:v>140</c:v>
                </c:pt>
                <c:pt idx="17">
                  <c:v>140</c:v>
                </c:pt>
                <c:pt idx="18">
                  <c:v>140</c:v>
                </c:pt>
                <c:pt idx="19">
                  <c:v>140</c:v>
                </c:pt>
                <c:pt idx="20">
                  <c:v>140</c:v>
                </c:pt>
                <c:pt idx="21">
                  <c:v>140</c:v>
                </c:pt>
                <c:pt idx="22">
                  <c:v>140</c:v>
                </c:pt>
                <c:pt idx="23">
                  <c:v>140</c:v>
                </c:pt>
                <c:pt idx="24">
                  <c:v>140</c:v>
                </c:pt>
                <c:pt idx="25">
                  <c:v>140</c:v>
                </c:pt>
                <c:pt idx="26">
                  <c:v>140</c:v>
                </c:pt>
                <c:pt idx="27">
                  <c:v>140</c:v>
                </c:pt>
                <c:pt idx="28">
                  <c:v>140</c:v>
                </c:pt>
                <c:pt idx="29">
                  <c:v>140</c:v>
                </c:pt>
                <c:pt idx="30">
                  <c:v>140</c:v>
                </c:pt>
                <c:pt idx="31">
                  <c:v>140</c:v>
                </c:pt>
                <c:pt idx="32">
                  <c:v>140</c:v>
                </c:pt>
                <c:pt idx="33">
                  <c:v>140</c:v>
                </c:pt>
                <c:pt idx="34">
                  <c:v>140</c:v>
                </c:pt>
                <c:pt idx="35">
                  <c:v>140</c:v>
                </c:pt>
                <c:pt idx="36">
                  <c:v>140</c:v>
                </c:pt>
                <c:pt idx="37">
                  <c:v>140</c:v>
                </c:pt>
                <c:pt idx="38">
                  <c:v>140</c:v>
                </c:pt>
                <c:pt idx="39">
                  <c:v>140</c:v>
                </c:pt>
                <c:pt idx="40">
                  <c:v>140</c:v>
                </c:pt>
                <c:pt idx="41">
                  <c:v>140</c:v>
                </c:pt>
                <c:pt idx="42">
                  <c:v>140</c:v>
                </c:pt>
                <c:pt idx="43">
                  <c:v>140</c:v>
                </c:pt>
                <c:pt idx="44">
                  <c:v>140</c:v>
                </c:pt>
                <c:pt idx="45">
                  <c:v>140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  <c:pt idx="49">
                  <c:v>140</c:v>
                </c:pt>
                <c:pt idx="50">
                  <c:v>140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estimada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35"/>
      </c:valAx>
      <c:valAx>
        <c:axId val="48650112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Precipitação P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Amostra 1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95.4813878846</c:v>
                </c:pt>
                <c:pt idx="1">
                  <c:v>103.321243823</c:v>
                </c:pt>
                <c:pt idx="2">
                  <c:v>103.321243823</c:v>
                </c:pt>
                <c:pt idx="3">
                  <c:v>103.321243823</c:v>
                </c:pt>
                <c:pt idx="4">
                  <c:v>103.321243823</c:v>
                </c:pt>
                <c:pt idx="5">
                  <c:v>103.321243823</c:v>
                </c:pt>
                <c:pt idx="6">
                  <c:v>103.321243823</c:v>
                </c:pt>
                <c:pt idx="7">
                  <c:v>103.321243823</c:v>
                </c:pt>
                <c:pt idx="8">
                  <c:v>103.321243823</c:v>
                </c:pt>
                <c:pt idx="9">
                  <c:v>103.321243823</c:v>
                </c:pt>
                <c:pt idx="10">
                  <c:v>103.321243823</c:v>
                </c:pt>
                <c:pt idx="11">
                  <c:v>103.321243823</c:v>
                </c:pt>
                <c:pt idx="12">
                  <c:v>103.321243823</c:v>
                </c:pt>
                <c:pt idx="13">
                  <c:v>103.321243823</c:v>
                </c:pt>
                <c:pt idx="14">
                  <c:v>103.321243823</c:v>
                </c:pt>
                <c:pt idx="15">
                  <c:v>103.321243823</c:v>
                </c:pt>
                <c:pt idx="16">
                  <c:v>103.321243823</c:v>
                </c:pt>
                <c:pt idx="17">
                  <c:v>103.321243823</c:v>
                </c:pt>
                <c:pt idx="18">
                  <c:v>103.321243823</c:v>
                </c:pt>
                <c:pt idx="19">
                  <c:v>103.321243823</c:v>
                </c:pt>
              </c:numCache>
            </c:numRef>
          </c:xVal>
          <c:yVal>
            <c:numRef>
              <c:f>'Chart Data'!$B$2:$B$21</c:f>
              <c:numCache>
                <c:formatCode>0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v>Amostra 2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19050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101.020327557</c:v>
                </c:pt>
                <c:pt idx="1">
                  <c:v>108.860183495</c:v>
                </c:pt>
                <c:pt idx="2">
                  <c:v>108.860183495</c:v>
                </c:pt>
                <c:pt idx="3">
                  <c:v>108.860183495</c:v>
                </c:pt>
                <c:pt idx="4">
                  <c:v>108.860183495</c:v>
                </c:pt>
                <c:pt idx="5">
                  <c:v>108.860183495</c:v>
                </c:pt>
                <c:pt idx="6">
                  <c:v>108.860183495</c:v>
                </c:pt>
                <c:pt idx="7">
                  <c:v>108.860183495</c:v>
                </c:pt>
                <c:pt idx="8">
                  <c:v>108.860183495</c:v>
                </c:pt>
                <c:pt idx="9">
                  <c:v>108.860183495</c:v>
                </c:pt>
                <c:pt idx="10">
                  <c:v>108.860183495</c:v>
                </c:pt>
                <c:pt idx="11">
                  <c:v>108.860183495</c:v>
                </c:pt>
                <c:pt idx="12">
                  <c:v>108.860183495</c:v>
                </c:pt>
                <c:pt idx="13">
                  <c:v>108.860183495</c:v>
                </c:pt>
                <c:pt idx="14">
                  <c:v>108.860183495</c:v>
                </c:pt>
                <c:pt idx="15">
                  <c:v>108.860183495</c:v>
                </c:pt>
                <c:pt idx="16">
                  <c:v>108.860183495</c:v>
                </c:pt>
                <c:pt idx="17">
                  <c:v>108.860183495</c:v>
                </c:pt>
                <c:pt idx="18">
                  <c:v>108.860183495</c:v>
                </c:pt>
                <c:pt idx="19">
                  <c:v>108.860183495</c:v>
                </c:pt>
              </c:numCache>
            </c:numRef>
          </c:xVal>
          <c:yVal>
            <c:numRef>
              <c:f>'Chart Data'!$D$2:$D$21</c:f>
              <c:numCache>
                <c:formatCode>0</c:formatCode>
                <c:ptCount val="2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v>Amostra 3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Data'!$E$2:$E$21</c:f>
              <c:numCache>
                <c:formatCode>General</c:formatCode>
                <c:ptCount val="20"/>
                <c:pt idx="0">
                  <c:v>95.2796249296</c:v>
                </c:pt>
                <c:pt idx="1">
                  <c:v>103.119480868</c:v>
                </c:pt>
                <c:pt idx="2">
                  <c:v>103.119480868</c:v>
                </c:pt>
                <c:pt idx="3">
                  <c:v>103.119480868</c:v>
                </c:pt>
                <c:pt idx="4">
                  <c:v>103.119480868</c:v>
                </c:pt>
                <c:pt idx="5">
                  <c:v>103.119480868</c:v>
                </c:pt>
                <c:pt idx="6">
                  <c:v>103.119480868</c:v>
                </c:pt>
                <c:pt idx="7">
                  <c:v>103.119480868</c:v>
                </c:pt>
                <c:pt idx="8">
                  <c:v>103.119480868</c:v>
                </c:pt>
                <c:pt idx="9">
                  <c:v>103.119480868</c:v>
                </c:pt>
                <c:pt idx="10">
                  <c:v>103.119480868</c:v>
                </c:pt>
                <c:pt idx="11">
                  <c:v>103.119480868</c:v>
                </c:pt>
                <c:pt idx="12">
                  <c:v>103.119480868</c:v>
                </c:pt>
                <c:pt idx="13">
                  <c:v>103.119480868</c:v>
                </c:pt>
                <c:pt idx="14">
                  <c:v>103.119480868</c:v>
                </c:pt>
                <c:pt idx="15">
                  <c:v>103.119480868</c:v>
                </c:pt>
                <c:pt idx="16">
                  <c:v>103.119480868</c:v>
                </c:pt>
                <c:pt idx="17">
                  <c:v>103.119480868</c:v>
                </c:pt>
                <c:pt idx="18">
                  <c:v>103.119480868</c:v>
                </c:pt>
                <c:pt idx="19">
                  <c:v>103.119480868</c:v>
                </c:pt>
              </c:numCache>
            </c:numRef>
          </c:xVal>
          <c:yVal>
            <c:numRef>
              <c:f>'Chart Data'!$F$2:$F$21</c:f>
              <c:numCache>
                <c:formatCode>0</c:formatCode>
                <c:ptCount val="2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v>Amostra 4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Data'!$G$2:$G$21</c:f>
              <c:numCache>
                <c:formatCode>General</c:formatCode>
                <c:ptCount val="20"/>
                <c:pt idx="0">
                  <c:v>94.3386752953</c:v>
                </c:pt>
                <c:pt idx="1">
                  <c:v>102.178531233</c:v>
                </c:pt>
                <c:pt idx="2">
                  <c:v>102.178531233</c:v>
                </c:pt>
                <c:pt idx="3">
                  <c:v>102.178531233</c:v>
                </c:pt>
                <c:pt idx="4">
                  <c:v>102.178531233</c:v>
                </c:pt>
                <c:pt idx="5">
                  <c:v>102.178531233</c:v>
                </c:pt>
                <c:pt idx="6">
                  <c:v>102.178531233</c:v>
                </c:pt>
                <c:pt idx="7">
                  <c:v>102.178531233</c:v>
                </c:pt>
                <c:pt idx="8">
                  <c:v>102.178531233</c:v>
                </c:pt>
                <c:pt idx="9">
                  <c:v>102.178531233</c:v>
                </c:pt>
                <c:pt idx="10">
                  <c:v>102.178531233</c:v>
                </c:pt>
                <c:pt idx="11">
                  <c:v>102.178531233</c:v>
                </c:pt>
                <c:pt idx="12">
                  <c:v>102.178531233</c:v>
                </c:pt>
                <c:pt idx="13">
                  <c:v>102.178531233</c:v>
                </c:pt>
                <c:pt idx="14">
                  <c:v>102.178531233</c:v>
                </c:pt>
                <c:pt idx="15">
                  <c:v>102.178531233</c:v>
                </c:pt>
                <c:pt idx="16">
                  <c:v>102.178531233</c:v>
                </c:pt>
                <c:pt idx="17">
                  <c:v>102.178531233</c:v>
                </c:pt>
                <c:pt idx="18">
                  <c:v>102.178531233</c:v>
                </c:pt>
                <c:pt idx="19">
                  <c:v>102.178531233</c:v>
                </c:pt>
              </c:numCache>
            </c:numRef>
          </c:xVal>
          <c:yVal>
            <c:numRef>
              <c:f>'Chart Data'!$H$2:$H$21</c:f>
              <c:numCache>
                <c:formatCode>0</c:formatCode>
                <c:ptCount val="2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</c:numCache>
            </c:numRef>
          </c:yVal>
          <c:smooth val="0"/>
        </c:ser>
        <c:ser>
          <c:idx val="4"/>
          <c:order val="4"/>
          <c:tx>
            <c:v>Amostra 5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Data'!$I$2:$I$21</c:f>
              <c:numCache>
                <c:formatCode>General</c:formatCode>
                <c:ptCount val="20"/>
                <c:pt idx="0">
                  <c:v>97.3488451632</c:v>
                </c:pt>
                <c:pt idx="1">
                  <c:v>105.188701101</c:v>
                </c:pt>
                <c:pt idx="2">
                  <c:v>105.188701101</c:v>
                </c:pt>
                <c:pt idx="3">
                  <c:v>105.188701101</c:v>
                </c:pt>
                <c:pt idx="4">
                  <c:v>105.188701101</c:v>
                </c:pt>
                <c:pt idx="5">
                  <c:v>105.188701101</c:v>
                </c:pt>
                <c:pt idx="6">
                  <c:v>105.188701101</c:v>
                </c:pt>
                <c:pt idx="7">
                  <c:v>105.188701101</c:v>
                </c:pt>
                <c:pt idx="8">
                  <c:v>105.188701101</c:v>
                </c:pt>
                <c:pt idx="9">
                  <c:v>105.188701101</c:v>
                </c:pt>
                <c:pt idx="10">
                  <c:v>105.188701101</c:v>
                </c:pt>
                <c:pt idx="11">
                  <c:v>105.188701101</c:v>
                </c:pt>
                <c:pt idx="12">
                  <c:v>105.188701101</c:v>
                </c:pt>
                <c:pt idx="13">
                  <c:v>105.188701101</c:v>
                </c:pt>
                <c:pt idx="14">
                  <c:v>105.188701101</c:v>
                </c:pt>
                <c:pt idx="15">
                  <c:v>105.188701101</c:v>
                </c:pt>
                <c:pt idx="16">
                  <c:v>105.188701101</c:v>
                </c:pt>
                <c:pt idx="17">
                  <c:v>105.188701101</c:v>
                </c:pt>
                <c:pt idx="18">
                  <c:v>105.188701101</c:v>
                </c:pt>
                <c:pt idx="19">
                  <c:v>105.188701101</c:v>
                </c:pt>
              </c:numCache>
            </c:numRef>
          </c:xVal>
          <c:yVal>
            <c:numRef>
              <c:f>'Chart Data'!$J$2:$J$21</c:f>
              <c:numCache>
                <c:formatCode>0</c:formatCode>
                <c:ptCount val="2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</c:numCache>
            </c:numRef>
          </c:yVal>
          <c:smooth val="0"/>
        </c:ser>
        <c:ser>
          <c:idx val="5"/>
          <c:order val="5"/>
          <c:tx>
            <c:v>Amostra 6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Data'!$K$2:$K$21</c:f>
              <c:numCache>
                <c:formatCode>General</c:formatCode>
                <c:ptCount val="20"/>
                <c:pt idx="0">
                  <c:v>96.9653874308</c:v>
                </c:pt>
                <c:pt idx="1">
                  <c:v>104.805243369</c:v>
                </c:pt>
                <c:pt idx="2">
                  <c:v>104.805243369</c:v>
                </c:pt>
                <c:pt idx="3">
                  <c:v>104.805243369</c:v>
                </c:pt>
                <c:pt idx="4">
                  <c:v>104.805243369</c:v>
                </c:pt>
                <c:pt idx="5">
                  <c:v>104.805243369</c:v>
                </c:pt>
                <c:pt idx="6">
                  <c:v>104.805243369</c:v>
                </c:pt>
                <c:pt idx="7">
                  <c:v>104.805243369</c:v>
                </c:pt>
                <c:pt idx="8">
                  <c:v>104.805243369</c:v>
                </c:pt>
                <c:pt idx="9">
                  <c:v>104.805243369</c:v>
                </c:pt>
                <c:pt idx="10">
                  <c:v>104.805243369</c:v>
                </c:pt>
                <c:pt idx="11">
                  <c:v>104.805243369</c:v>
                </c:pt>
                <c:pt idx="12">
                  <c:v>104.805243369</c:v>
                </c:pt>
                <c:pt idx="13">
                  <c:v>104.805243369</c:v>
                </c:pt>
                <c:pt idx="14">
                  <c:v>104.805243369</c:v>
                </c:pt>
                <c:pt idx="15">
                  <c:v>104.805243369</c:v>
                </c:pt>
                <c:pt idx="16">
                  <c:v>104.805243369</c:v>
                </c:pt>
                <c:pt idx="17">
                  <c:v>104.805243369</c:v>
                </c:pt>
                <c:pt idx="18">
                  <c:v>104.805243369</c:v>
                </c:pt>
                <c:pt idx="19">
                  <c:v>104.805243369</c:v>
                </c:pt>
              </c:numCache>
            </c:numRef>
          </c:xVal>
          <c:yVal>
            <c:numRef>
              <c:f>'Chart Data'!$L$2:$L$21</c:f>
              <c:numCache>
                <c:formatCode>0</c:formatCode>
                <c:ptCount val="20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</c:numCache>
            </c:numRef>
          </c:yVal>
          <c:smooth val="0"/>
        </c:ser>
        <c:ser>
          <c:idx val="6"/>
          <c:order val="6"/>
          <c:tx>
            <c:v>Amostra 7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Data'!$M$2:$M$21</c:f>
              <c:numCache>
                <c:formatCode>General</c:formatCode>
                <c:ptCount val="20"/>
                <c:pt idx="0">
                  <c:v>97.5533228268</c:v>
                </c:pt>
                <c:pt idx="1">
                  <c:v>105.393178765</c:v>
                </c:pt>
                <c:pt idx="2">
                  <c:v>105.393178765</c:v>
                </c:pt>
                <c:pt idx="3">
                  <c:v>105.393178765</c:v>
                </c:pt>
                <c:pt idx="4">
                  <c:v>105.393178765</c:v>
                </c:pt>
                <c:pt idx="5">
                  <c:v>105.393178765</c:v>
                </c:pt>
                <c:pt idx="6">
                  <c:v>105.393178765</c:v>
                </c:pt>
                <c:pt idx="7">
                  <c:v>105.393178765</c:v>
                </c:pt>
                <c:pt idx="8">
                  <c:v>105.393178765</c:v>
                </c:pt>
                <c:pt idx="9">
                  <c:v>105.393178765</c:v>
                </c:pt>
                <c:pt idx="10">
                  <c:v>105.393178765</c:v>
                </c:pt>
                <c:pt idx="11">
                  <c:v>105.393178765</c:v>
                </c:pt>
                <c:pt idx="12">
                  <c:v>105.393178765</c:v>
                </c:pt>
                <c:pt idx="13">
                  <c:v>105.393178765</c:v>
                </c:pt>
                <c:pt idx="14">
                  <c:v>105.393178765</c:v>
                </c:pt>
                <c:pt idx="15">
                  <c:v>105.393178765</c:v>
                </c:pt>
                <c:pt idx="16">
                  <c:v>105.393178765</c:v>
                </c:pt>
                <c:pt idx="17">
                  <c:v>105.393178765</c:v>
                </c:pt>
                <c:pt idx="18">
                  <c:v>105.393178765</c:v>
                </c:pt>
                <c:pt idx="19">
                  <c:v>105.393178765</c:v>
                </c:pt>
              </c:numCache>
            </c:numRef>
          </c:xVal>
          <c:yVal>
            <c:numRef>
              <c:f>'Chart Data'!$N$2:$N$21</c:f>
              <c:numCache>
                <c:formatCode>0</c:formatCode>
                <c:ptCount val="20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</c:numCache>
            </c:numRef>
          </c:yVal>
          <c:smooth val="0"/>
        </c:ser>
        <c:ser>
          <c:idx val="7"/>
          <c:order val="7"/>
          <c:tx>
            <c:v>Amostra 8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Data'!$O$2:$O$21</c:f>
              <c:numCache>
                <c:formatCode>General</c:formatCode>
                <c:ptCount val="20"/>
                <c:pt idx="0">
                  <c:v>96.5427416991</c:v>
                </c:pt>
                <c:pt idx="1">
                  <c:v>104.382597637</c:v>
                </c:pt>
                <c:pt idx="2">
                  <c:v>104.382597637</c:v>
                </c:pt>
                <c:pt idx="3">
                  <c:v>104.382597637</c:v>
                </c:pt>
                <c:pt idx="4">
                  <c:v>104.382597637</c:v>
                </c:pt>
                <c:pt idx="5">
                  <c:v>104.382597637</c:v>
                </c:pt>
                <c:pt idx="6">
                  <c:v>104.382597637</c:v>
                </c:pt>
                <c:pt idx="7">
                  <c:v>104.382597637</c:v>
                </c:pt>
                <c:pt idx="8">
                  <c:v>104.382597637</c:v>
                </c:pt>
                <c:pt idx="9">
                  <c:v>104.382597637</c:v>
                </c:pt>
                <c:pt idx="10">
                  <c:v>104.382597637</c:v>
                </c:pt>
                <c:pt idx="11">
                  <c:v>104.382597637</c:v>
                </c:pt>
                <c:pt idx="12">
                  <c:v>104.382597637</c:v>
                </c:pt>
                <c:pt idx="13">
                  <c:v>104.382597637</c:v>
                </c:pt>
                <c:pt idx="14">
                  <c:v>104.382597637</c:v>
                </c:pt>
                <c:pt idx="15">
                  <c:v>104.382597637</c:v>
                </c:pt>
                <c:pt idx="16">
                  <c:v>104.382597637</c:v>
                </c:pt>
                <c:pt idx="17">
                  <c:v>104.382597637</c:v>
                </c:pt>
                <c:pt idx="18">
                  <c:v>104.382597637</c:v>
                </c:pt>
                <c:pt idx="19">
                  <c:v>104.382597637</c:v>
                </c:pt>
              </c:numCache>
            </c:numRef>
          </c:xVal>
          <c:yVal>
            <c:numRef>
              <c:f>'Chart Data'!$P$2:$P$21</c:f>
              <c:numCache>
                <c:formatCode>0</c:formatCode>
                <c:ptCount val="20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8</c:v>
                </c:pt>
              </c:numCache>
            </c:numRef>
          </c:yVal>
          <c:smooth val="0"/>
        </c:ser>
        <c:ser>
          <c:idx val="8"/>
          <c:order val="8"/>
          <c:tx>
            <c:v>Amostra 9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Data'!$Q$2:$Q$21</c:f>
              <c:numCache>
                <c:formatCode>General</c:formatCode>
                <c:ptCount val="20"/>
                <c:pt idx="0">
                  <c:v>94.4649698806</c:v>
                </c:pt>
                <c:pt idx="1">
                  <c:v>102.304825819</c:v>
                </c:pt>
                <c:pt idx="2">
                  <c:v>102.304825819</c:v>
                </c:pt>
                <c:pt idx="3">
                  <c:v>102.304825819</c:v>
                </c:pt>
                <c:pt idx="4">
                  <c:v>102.304825819</c:v>
                </c:pt>
                <c:pt idx="5">
                  <c:v>102.304825819</c:v>
                </c:pt>
                <c:pt idx="6">
                  <c:v>102.304825819</c:v>
                </c:pt>
                <c:pt idx="7">
                  <c:v>102.304825819</c:v>
                </c:pt>
                <c:pt idx="8">
                  <c:v>102.304825819</c:v>
                </c:pt>
                <c:pt idx="9">
                  <c:v>102.304825819</c:v>
                </c:pt>
                <c:pt idx="10">
                  <c:v>102.304825819</c:v>
                </c:pt>
                <c:pt idx="11">
                  <c:v>102.304825819</c:v>
                </c:pt>
                <c:pt idx="12">
                  <c:v>102.304825819</c:v>
                </c:pt>
                <c:pt idx="13">
                  <c:v>102.304825819</c:v>
                </c:pt>
                <c:pt idx="14">
                  <c:v>102.304825819</c:v>
                </c:pt>
                <c:pt idx="15">
                  <c:v>102.304825819</c:v>
                </c:pt>
                <c:pt idx="16">
                  <c:v>102.304825819</c:v>
                </c:pt>
                <c:pt idx="17">
                  <c:v>102.304825819</c:v>
                </c:pt>
                <c:pt idx="18">
                  <c:v>102.304825819</c:v>
                </c:pt>
                <c:pt idx="19">
                  <c:v>102.304825819</c:v>
                </c:pt>
              </c:numCache>
            </c:numRef>
          </c:xVal>
          <c:yVal>
            <c:numRef>
              <c:f>'Chart Data'!$R$2:$R$21</c:f>
              <c:numCache>
                <c:formatCode>0</c:formatCode>
                <c:ptCount val="20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9</c:v>
                </c:pt>
                <c:pt idx="12">
                  <c:v>9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</c:v>
                </c:pt>
                <c:pt idx="17">
                  <c:v>9</c:v>
                </c:pt>
                <c:pt idx="18">
                  <c:v>9</c:v>
                </c:pt>
                <c:pt idx="19">
                  <c:v>9</c:v>
                </c:pt>
              </c:numCache>
            </c:numRef>
          </c:yVal>
          <c:smooth val="0"/>
        </c:ser>
        <c:ser>
          <c:idx val="9"/>
          <c:order val="9"/>
          <c:tx>
            <c:v>Amostra 10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Data'!$S$2:$S$21</c:f>
              <c:numCache>
                <c:formatCode>General</c:formatCode>
                <c:ptCount val="20"/>
                <c:pt idx="0">
                  <c:v>99.2047357838</c:v>
                </c:pt>
                <c:pt idx="1">
                  <c:v>107.044591722</c:v>
                </c:pt>
                <c:pt idx="2">
                  <c:v>107.044591722</c:v>
                </c:pt>
                <c:pt idx="3">
                  <c:v>107.044591722</c:v>
                </c:pt>
                <c:pt idx="4">
                  <c:v>107.044591722</c:v>
                </c:pt>
                <c:pt idx="5">
                  <c:v>107.044591722</c:v>
                </c:pt>
                <c:pt idx="6">
                  <c:v>107.044591722</c:v>
                </c:pt>
                <c:pt idx="7">
                  <c:v>107.044591722</c:v>
                </c:pt>
                <c:pt idx="8">
                  <c:v>107.044591722</c:v>
                </c:pt>
                <c:pt idx="9">
                  <c:v>107.044591722</c:v>
                </c:pt>
                <c:pt idx="10">
                  <c:v>107.044591722</c:v>
                </c:pt>
                <c:pt idx="11">
                  <c:v>107.044591722</c:v>
                </c:pt>
                <c:pt idx="12">
                  <c:v>107.044591722</c:v>
                </c:pt>
                <c:pt idx="13">
                  <c:v>107.044591722</c:v>
                </c:pt>
                <c:pt idx="14">
                  <c:v>107.044591722</c:v>
                </c:pt>
                <c:pt idx="15">
                  <c:v>107.044591722</c:v>
                </c:pt>
                <c:pt idx="16">
                  <c:v>107.044591722</c:v>
                </c:pt>
                <c:pt idx="17">
                  <c:v>107.044591722</c:v>
                </c:pt>
                <c:pt idx="18">
                  <c:v>107.044591722</c:v>
                </c:pt>
                <c:pt idx="19">
                  <c:v>107.044591722</c:v>
                </c:pt>
              </c:numCache>
            </c:numRef>
          </c:xVal>
          <c:yVal>
            <c:numRef>
              <c:f>'Chart Data'!$T$2:$T$21</c:f>
              <c:numCache>
                <c:formatCode>0</c:formatCode>
                <c:ptCount val="2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</c:numCache>
            </c:numRef>
          </c:yVal>
          <c:smooth val="0"/>
        </c:ser>
        <c:ser>
          <c:idx val="10"/>
          <c:order val="10"/>
          <c:tx>
            <c:v>Amostra 11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Data'!$U$2:$U$21</c:f>
              <c:numCache>
                <c:formatCode>General</c:formatCode>
                <c:ptCount val="20"/>
                <c:pt idx="0">
                  <c:v>95.1028329508</c:v>
                </c:pt>
                <c:pt idx="1">
                  <c:v>102.942688889</c:v>
                </c:pt>
                <c:pt idx="2">
                  <c:v>102.942688889</c:v>
                </c:pt>
                <c:pt idx="3">
                  <c:v>102.942688889</c:v>
                </c:pt>
                <c:pt idx="4">
                  <c:v>102.942688889</c:v>
                </c:pt>
                <c:pt idx="5">
                  <c:v>102.942688889</c:v>
                </c:pt>
                <c:pt idx="6">
                  <c:v>102.942688889</c:v>
                </c:pt>
                <c:pt idx="7">
                  <c:v>102.942688889</c:v>
                </c:pt>
                <c:pt idx="8">
                  <c:v>102.942688889</c:v>
                </c:pt>
                <c:pt idx="9">
                  <c:v>102.942688889</c:v>
                </c:pt>
                <c:pt idx="10">
                  <c:v>102.942688889</c:v>
                </c:pt>
                <c:pt idx="11">
                  <c:v>102.942688889</c:v>
                </c:pt>
                <c:pt idx="12">
                  <c:v>102.942688889</c:v>
                </c:pt>
                <c:pt idx="13">
                  <c:v>102.942688889</c:v>
                </c:pt>
                <c:pt idx="14">
                  <c:v>102.942688889</c:v>
                </c:pt>
                <c:pt idx="15">
                  <c:v>102.942688889</c:v>
                </c:pt>
                <c:pt idx="16">
                  <c:v>102.942688889</c:v>
                </c:pt>
                <c:pt idx="17">
                  <c:v>102.942688889</c:v>
                </c:pt>
                <c:pt idx="18">
                  <c:v>102.942688889</c:v>
                </c:pt>
                <c:pt idx="19">
                  <c:v>102.942688889</c:v>
                </c:pt>
              </c:numCache>
            </c:numRef>
          </c:xVal>
          <c:yVal>
            <c:numRef>
              <c:f>'Chart Data'!$V$2:$V$21</c:f>
              <c:numCache>
                <c:formatCode>0</c:formatCode>
                <c:ptCount val="20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</c:numCache>
            </c:numRef>
          </c:yVal>
          <c:smooth val="0"/>
        </c:ser>
        <c:ser>
          <c:idx val="11"/>
          <c:order val="11"/>
          <c:tx>
            <c:v>Amostra 12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Data'!$W$2:$W$21</c:f>
              <c:numCache>
                <c:formatCode>General</c:formatCode>
                <c:ptCount val="20"/>
                <c:pt idx="0">
                  <c:v>99.4051355669</c:v>
                </c:pt>
                <c:pt idx="1">
                  <c:v>107.244991505</c:v>
                </c:pt>
                <c:pt idx="2">
                  <c:v>107.244991505</c:v>
                </c:pt>
                <c:pt idx="3">
                  <c:v>107.244991505</c:v>
                </c:pt>
                <c:pt idx="4">
                  <c:v>107.244991505</c:v>
                </c:pt>
                <c:pt idx="5">
                  <c:v>107.244991505</c:v>
                </c:pt>
                <c:pt idx="6">
                  <c:v>107.244991505</c:v>
                </c:pt>
                <c:pt idx="7">
                  <c:v>107.244991505</c:v>
                </c:pt>
                <c:pt idx="8">
                  <c:v>107.244991505</c:v>
                </c:pt>
                <c:pt idx="9">
                  <c:v>107.244991505</c:v>
                </c:pt>
                <c:pt idx="10">
                  <c:v>107.244991505</c:v>
                </c:pt>
                <c:pt idx="11">
                  <c:v>107.244991505</c:v>
                </c:pt>
                <c:pt idx="12">
                  <c:v>107.244991505</c:v>
                </c:pt>
                <c:pt idx="13">
                  <c:v>107.244991505</c:v>
                </c:pt>
                <c:pt idx="14">
                  <c:v>107.244991505</c:v>
                </c:pt>
                <c:pt idx="15">
                  <c:v>107.244991505</c:v>
                </c:pt>
                <c:pt idx="16">
                  <c:v>107.244991505</c:v>
                </c:pt>
                <c:pt idx="17">
                  <c:v>107.244991505</c:v>
                </c:pt>
                <c:pt idx="18">
                  <c:v>107.244991505</c:v>
                </c:pt>
                <c:pt idx="19">
                  <c:v>107.244991505</c:v>
                </c:pt>
              </c:numCache>
            </c:numRef>
          </c:xVal>
          <c:yVal>
            <c:numRef>
              <c:f>'Chart Data'!$X$2:$X$21</c:f>
              <c:numCache>
                <c:formatCode>0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</c:numCache>
            </c:numRef>
          </c:yVal>
          <c:smooth val="0"/>
        </c:ser>
        <c:ser>
          <c:idx val="12"/>
          <c:order val="12"/>
          <c:tx>
            <c:v>Amostra 13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Data'!$Y$2:$Y$21</c:f>
              <c:numCache>
                <c:formatCode>General</c:formatCode>
                <c:ptCount val="20"/>
                <c:pt idx="0">
                  <c:v>94.7256804034</c:v>
                </c:pt>
                <c:pt idx="1">
                  <c:v>102.565536342</c:v>
                </c:pt>
                <c:pt idx="2">
                  <c:v>102.565536342</c:v>
                </c:pt>
                <c:pt idx="3">
                  <c:v>102.565536342</c:v>
                </c:pt>
                <c:pt idx="4">
                  <c:v>102.565536342</c:v>
                </c:pt>
                <c:pt idx="5">
                  <c:v>102.565536342</c:v>
                </c:pt>
                <c:pt idx="6">
                  <c:v>102.565536342</c:v>
                </c:pt>
                <c:pt idx="7">
                  <c:v>102.565536342</c:v>
                </c:pt>
                <c:pt idx="8">
                  <c:v>102.565536342</c:v>
                </c:pt>
                <c:pt idx="9">
                  <c:v>102.565536342</c:v>
                </c:pt>
                <c:pt idx="10">
                  <c:v>102.565536342</c:v>
                </c:pt>
                <c:pt idx="11">
                  <c:v>102.565536342</c:v>
                </c:pt>
                <c:pt idx="12">
                  <c:v>102.565536342</c:v>
                </c:pt>
                <c:pt idx="13">
                  <c:v>102.565536342</c:v>
                </c:pt>
                <c:pt idx="14">
                  <c:v>102.565536342</c:v>
                </c:pt>
                <c:pt idx="15">
                  <c:v>102.565536342</c:v>
                </c:pt>
                <c:pt idx="16">
                  <c:v>102.565536342</c:v>
                </c:pt>
                <c:pt idx="17">
                  <c:v>102.565536342</c:v>
                </c:pt>
                <c:pt idx="18">
                  <c:v>102.565536342</c:v>
                </c:pt>
                <c:pt idx="19">
                  <c:v>102.565536342</c:v>
                </c:pt>
              </c:numCache>
            </c:numRef>
          </c:xVal>
          <c:yVal>
            <c:numRef>
              <c:f>'Chart Data'!$Z$2:$Z$21</c:f>
              <c:numCache>
                <c:formatCode>0</c:formatCode>
                <c:ptCount val="20"/>
                <c:pt idx="0">
                  <c:v>13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13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</c:numCache>
            </c:numRef>
          </c:yVal>
          <c:smooth val="0"/>
        </c:ser>
        <c:ser>
          <c:idx val="13"/>
          <c:order val="13"/>
          <c:tx>
            <c:v>Amostra 14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Data'!$AA$2:$AA$21</c:f>
              <c:numCache>
                <c:formatCode>General</c:formatCode>
                <c:ptCount val="20"/>
                <c:pt idx="0">
                  <c:v>93.3667090782</c:v>
                </c:pt>
                <c:pt idx="1">
                  <c:v>101.206565016</c:v>
                </c:pt>
                <c:pt idx="2">
                  <c:v>101.206565016</c:v>
                </c:pt>
                <c:pt idx="3">
                  <c:v>101.206565016</c:v>
                </c:pt>
                <c:pt idx="4">
                  <c:v>101.206565016</c:v>
                </c:pt>
                <c:pt idx="5">
                  <c:v>101.206565016</c:v>
                </c:pt>
                <c:pt idx="6">
                  <c:v>101.206565016</c:v>
                </c:pt>
                <c:pt idx="7">
                  <c:v>101.206565016</c:v>
                </c:pt>
                <c:pt idx="8">
                  <c:v>101.206565016</c:v>
                </c:pt>
                <c:pt idx="9">
                  <c:v>101.206565016</c:v>
                </c:pt>
                <c:pt idx="10">
                  <c:v>101.206565016</c:v>
                </c:pt>
                <c:pt idx="11">
                  <c:v>101.206565016</c:v>
                </c:pt>
                <c:pt idx="12">
                  <c:v>101.206565016</c:v>
                </c:pt>
                <c:pt idx="13">
                  <c:v>101.206565016</c:v>
                </c:pt>
                <c:pt idx="14">
                  <c:v>101.206565016</c:v>
                </c:pt>
                <c:pt idx="15">
                  <c:v>101.206565016</c:v>
                </c:pt>
                <c:pt idx="16">
                  <c:v>101.206565016</c:v>
                </c:pt>
                <c:pt idx="17">
                  <c:v>101.206565016</c:v>
                </c:pt>
                <c:pt idx="18">
                  <c:v>101.206565016</c:v>
                </c:pt>
                <c:pt idx="19">
                  <c:v>101.206565016</c:v>
                </c:pt>
              </c:numCache>
            </c:numRef>
          </c:xVal>
          <c:yVal>
            <c:numRef>
              <c:f>'Chart Data'!$AB$2:$AB$21</c:f>
              <c:numCache>
                <c:formatCode>0</c:formatCode>
                <c:ptCount val="20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14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14</c:v>
                </c:pt>
                <c:pt idx="14">
                  <c:v>14</c:v>
                </c:pt>
                <c:pt idx="15">
                  <c:v>14</c:v>
                </c:pt>
                <c:pt idx="16">
                  <c:v>14</c:v>
                </c:pt>
                <c:pt idx="17">
                  <c:v>14</c:v>
                </c:pt>
                <c:pt idx="18">
                  <c:v>14</c:v>
                </c:pt>
                <c:pt idx="19">
                  <c:v>14</c:v>
                </c:pt>
              </c:numCache>
            </c:numRef>
          </c:yVal>
          <c:smooth val="0"/>
        </c:ser>
        <c:ser>
          <c:idx val="14"/>
          <c:order val="14"/>
          <c:tx>
            <c:v>Amostra 15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Data'!$AC$2:$AC$21</c:f>
              <c:numCache>
                <c:formatCode>General</c:formatCode>
                <c:ptCount val="20"/>
                <c:pt idx="0">
                  <c:v>97.8322827496</c:v>
                </c:pt>
                <c:pt idx="1">
                  <c:v>105.672138688</c:v>
                </c:pt>
                <c:pt idx="2">
                  <c:v>105.672138688</c:v>
                </c:pt>
                <c:pt idx="3">
                  <c:v>105.672138688</c:v>
                </c:pt>
                <c:pt idx="4">
                  <c:v>105.672138688</c:v>
                </c:pt>
                <c:pt idx="5">
                  <c:v>105.672138688</c:v>
                </c:pt>
                <c:pt idx="6">
                  <c:v>105.672138688</c:v>
                </c:pt>
                <c:pt idx="7">
                  <c:v>105.672138688</c:v>
                </c:pt>
                <c:pt idx="8">
                  <c:v>105.672138688</c:v>
                </c:pt>
                <c:pt idx="9">
                  <c:v>105.672138688</c:v>
                </c:pt>
                <c:pt idx="10">
                  <c:v>105.672138688</c:v>
                </c:pt>
                <c:pt idx="11">
                  <c:v>105.672138688</c:v>
                </c:pt>
                <c:pt idx="12">
                  <c:v>105.672138688</c:v>
                </c:pt>
                <c:pt idx="13">
                  <c:v>105.672138688</c:v>
                </c:pt>
                <c:pt idx="14">
                  <c:v>105.672138688</c:v>
                </c:pt>
                <c:pt idx="15">
                  <c:v>105.672138688</c:v>
                </c:pt>
                <c:pt idx="16">
                  <c:v>105.672138688</c:v>
                </c:pt>
                <c:pt idx="17">
                  <c:v>105.672138688</c:v>
                </c:pt>
                <c:pt idx="18">
                  <c:v>105.672138688</c:v>
                </c:pt>
                <c:pt idx="19">
                  <c:v>105.672138688</c:v>
                </c:pt>
              </c:numCache>
            </c:numRef>
          </c:xVal>
          <c:yVal>
            <c:numRef>
              <c:f>'Chart Data'!$AD$2:$AD$21</c:f>
              <c:numCache>
                <c:formatCode>0</c:formatCode>
                <c:ptCount val="20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  <c:pt idx="16">
                  <c:v>15</c:v>
                </c:pt>
                <c:pt idx="17">
                  <c:v>15</c:v>
                </c:pt>
                <c:pt idx="18">
                  <c:v>15</c:v>
                </c:pt>
                <c:pt idx="19">
                  <c:v>15</c:v>
                </c:pt>
              </c:numCache>
            </c:numRef>
          </c:yVal>
          <c:smooth val="0"/>
        </c:ser>
        <c:ser>
          <c:idx val="15"/>
          <c:order val="15"/>
          <c:tx>
            <c:v>Amostra 16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Data'!$AE$2:$AE$21</c:f>
              <c:numCache>
                <c:formatCode>General</c:formatCode>
                <c:ptCount val="20"/>
                <c:pt idx="0">
                  <c:v>95.9506810071</c:v>
                </c:pt>
                <c:pt idx="1">
                  <c:v>103.790536945</c:v>
                </c:pt>
                <c:pt idx="2">
                  <c:v>103.790536945</c:v>
                </c:pt>
                <c:pt idx="3">
                  <c:v>103.790536945</c:v>
                </c:pt>
                <c:pt idx="4">
                  <c:v>103.790536945</c:v>
                </c:pt>
                <c:pt idx="5">
                  <c:v>103.790536945</c:v>
                </c:pt>
                <c:pt idx="6">
                  <c:v>103.790536945</c:v>
                </c:pt>
                <c:pt idx="7">
                  <c:v>103.790536945</c:v>
                </c:pt>
                <c:pt idx="8">
                  <c:v>103.790536945</c:v>
                </c:pt>
                <c:pt idx="9">
                  <c:v>103.790536945</c:v>
                </c:pt>
                <c:pt idx="10">
                  <c:v>103.790536945</c:v>
                </c:pt>
                <c:pt idx="11">
                  <c:v>103.790536945</c:v>
                </c:pt>
                <c:pt idx="12">
                  <c:v>103.790536945</c:v>
                </c:pt>
                <c:pt idx="13">
                  <c:v>103.790536945</c:v>
                </c:pt>
                <c:pt idx="14">
                  <c:v>103.790536945</c:v>
                </c:pt>
                <c:pt idx="15">
                  <c:v>103.790536945</c:v>
                </c:pt>
                <c:pt idx="16">
                  <c:v>103.790536945</c:v>
                </c:pt>
                <c:pt idx="17">
                  <c:v>103.790536945</c:v>
                </c:pt>
                <c:pt idx="18">
                  <c:v>103.790536945</c:v>
                </c:pt>
                <c:pt idx="19">
                  <c:v>103.790536945</c:v>
                </c:pt>
              </c:numCache>
            </c:numRef>
          </c:xVal>
          <c:yVal>
            <c:numRef>
              <c:f>'Chart Data'!$AF$2:$AF$21</c:f>
              <c:numCache>
                <c:formatCode>0</c:formatCode>
                <c:ptCount val="20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16</c:v>
                </c:pt>
                <c:pt idx="16">
                  <c:v>16</c:v>
                </c:pt>
                <c:pt idx="17">
                  <c:v>16</c:v>
                </c:pt>
                <c:pt idx="18">
                  <c:v>16</c:v>
                </c:pt>
                <c:pt idx="19">
                  <c:v>16</c:v>
                </c:pt>
              </c:numCache>
            </c:numRef>
          </c:yVal>
          <c:smooth val="0"/>
        </c:ser>
        <c:ser>
          <c:idx val="16"/>
          <c:order val="16"/>
          <c:tx>
            <c:v>Amostra 17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Data'!$AG$2:$AG$21</c:f>
              <c:numCache>
                <c:formatCode>General</c:formatCode>
                <c:ptCount val="20"/>
                <c:pt idx="0">
                  <c:v>98.6577467825</c:v>
                </c:pt>
                <c:pt idx="1">
                  <c:v>106.497602721</c:v>
                </c:pt>
                <c:pt idx="2">
                  <c:v>106.497602721</c:v>
                </c:pt>
                <c:pt idx="3">
                  <c:v>106.497602721</c:v>
                </c:pt>
                <c:pt idx="4">
                  <c:v>106.497602721</c:v>
                </c:pt>
                <c:pt idx="5">
                  <c:v>106.497602721</c:v>
                </c:pt>
                <c:pt idx="6">
                  <c:v>106.497602721</c:v>
                </c:pt>
                <c:pt idx="7">
                  <c:v>106.497602721</c:v>
                </c:pt>
                <c:pt idx="8">
                  <c:v>106.497602721</c:v>
                </c:pt>
                <c:pt idx="9">
                  <c:v>106.497602721</c:v>
                </c:pt>
                <c:pt idx="10">
                  <c:v>106.497602721</c:v>
                </c:pt>
                <c:pt idx="11">
                  <c:v>106.497602721</c:v>
                </c:pt>
                <c:pt idx="12">
                  <c:v>106.497602721</c:v>
                </c:pt>
                <c:pt idx="13">
                  <c:v>106.497602721</c:v>
                </c:pt>
                <c:pt idx="14">
                  <c:v>106.497602721</c:v>
                </c:pt>
                <c:pt idx="15">
                  <c:v>106.497602721</c:v>
                </c:pt>
                <c:pt idx="16">
                  <c:v>106.497602721</c:v>
                </c:pt>
                <c:pt idx="17">
                  <c:v>106.497602721</c:v>
                </c:pt>
                <c:pt idx="18">
                  <c:v>106.497602721</c:v>
                </c:pt>
                <c:pt idx="19">
                  <c:v>106.497602721</c:v>
                </c:pt>
              </c:numCache>
            </c:numRef>
          </c:xVal>
          <c:yVal>
            <c:numRef>
              <c:f>'Chart Data'!$AH$2:$AH$21</c:f>
              <c:numCache>
                <c:formatCode>0</c:formatCode>
                <c:ptCount val="20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</c:numCache>
            </c:numRef>
          </c:yVal>
          <c:smooth val="0"/>
        </c:ser>
        <c:ser>
          <c:idx val="17"/>
          <c:order val="17"/>
          <c:tx>
            <c:v>Amostra 18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Data'!$AI$2:$AI$21</c:f>
              <c:numCache>
                <c:formatCode>General</c:formatCode>
                <c:ptCount val="20"/>
                <c:pt idx="0">
                  <c:v>96.1692902843</c:v>
                </c:pt>
                <c:pt idx="1">
                  <c:v>104.009146222</c:v>
                </c:pt>
                <c:pt idx="2">
                  <c:v>104.009146222</c:v>
                </c:pt>
                <c:pt idx="3">
                  <c:v>104.009146222</c:v>
                </c:pt>
                <c:pt idx="4">
                  <c:v>104.009146222</c:v>
                </c:pt>
                <c:pt idx="5">
                  <c:v>104.009146222</c:v>
                </c:pt>
                <c:pt idx="6">
                  <c:v>104.009146222</c:v>
                </c:pt>
                <c:pt idx="7">
                  <c:v>104.009146222</c:v>
                </c:pt>
                <c:pt idx="8">
                  <c:v>104.009146222</c:v>
                </c:pt>
                <c:pt idx="9">
                  <c:v>104.009146222</c:v>
                </c:pt>
                <c:pt idx="10">
                  <c:v>104.009146222</c:v>
                </c:pt>
                <c:pt idx="11">
                  <c:v>104.009146222</c:v>
                </c:pt>
                <c:pt idx="12">
                  <c:v>104.009146222</c:v>
                </c:pt>
                <c:pt idx="13">
                  <c:v>104.009146222</c:v>
                </c:pt>
                <c:pt idx="14">
                  <c:v>104.009146222</c:v>
                </c:pt>
                <c:pt idx="15">
                  <c:v>104.009146222</c:v>
                </c:pt>
                <c:pt idx="16">
                  <c:v>104.009146222</c:v>
                </c:pt>
                <c:pt idx="17">
                  <c:v>104.009146222</c:v>
                </c:pt>
                <c:pt idx="18">
                  <c:v>104.009146222</c:v>
                </c:pt>
                <c:pt idx="19">
                  <c:v>104.009146222</c:v>
                </c:pt>
              </c:numCache>
            </c:numRef>
          </c:xVal>
          <c:yVal>
            <c:numRef>
              <c:f>'Chart Data'!$AJ$2:$AJ$21</c:f>
              <c:numCache>
                <c:formatCode>0</c:formatCode>
                <c:ptCount val="20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18</c:v>
                </c:pt>
                <c:pt idx="8">
                  <c:v>18</c:v>
                </c:pt>
                <c:pt idx="9">
                  <c:v>18</c:v>
                </c:pt>
                <c:pt idx="10">
                  <c:v>18</c:v>
                </c:pt>
                <c:pt idx="11">
                  <c:v>18</c:v>
                </c:pt>
                <c:pt idx="12">
                  <c:v>18</c:v>
                </c:pt>
                <c:pt idx="13">
                  <c:v>18</c:v>
                </c:pt>
                <c:pt idx="14">
                  <c:v>18</c:v>
                </c:pt>
                <c:pt idx="15">
                  <c:v>18</c:v>
                </c:pt>
                <c:pt idx="16">
                  <c:v>18</c:v>
                </c:pt>
                <c:pt idx="17">
                  <c:v>18</c:v>
                </c:pt>
                <c:pt idx="18">
                  <c:v>18</c:v>
                </c:pt>
                <c:pt idx="19">
                  <c:v>18</c:v>
                </c:pt>
              </c:numCache>
            </c:numRef>
          </c:yVal>
          <c:smooth val="0"/>
        </c:ser>
        <c:ser>
          <c:idx val="18"/>
          <c:order val="18"/>
          <c:tx>
            <c:v>Amostra 19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Data'!$AK$2:$AK$21</c:f>
              <c:numCache>
                <c:formatCode>General</c:formatCode>
                <c:ptCount val="20"/>
                <c:pt idx="0">
                  <c:v>94.9564370005</c:v>
                </c:pt>
                <c:pt idx="1">
                  <c:v>102.796292939</c:v>
                </c:pt>
                <c:pt idx="2">
                  <c:v>102.796292939</c:v>
                </c:pt>
                <c:pt idx="3">
                  <c:v>102.796292939</c:v>
                </c:pt>
                <c:pt idx="4">
                  <c:v>102.796292939</c:v>
                </c:pt>
                <c:pt idx="5">
                  <c:v>102.796292939</c:v>
                </c:pt>
                <c:pt idx="6">
                  <c:v>102.796292939</c:v>
                </c:pt>
                <c:pt idx="7">
                  <c:v>102.796292939</c:v>
                </c:pt>
                <c:pt idx="8">
                  <c:v>102.796292939</c:v>
                </c:pt>
                <c:pt idx="9">
                  <c:v>102.796292939</c:v>
                </c:pt>
                <c:pt idx="10">
                  <c:v>102.796292939</c:v>
                </c:pt>
                <c:pt idx="11">
                  <c:v>102.796292939</c:v>
                </c:pt>
                <c:pt idx="12">
                  <c:v>102.796292939</c:v>
                </c:pt>
                <c:pt idx="13">
                  <c:v>102.796292939</c:v>
                </c:pt>
                <c:pt idx="14">
                  <c:v>102.796292939</c:v>
                </c:pt>
                <c:pt idx="15">
                  <c:v>102.796292939</c:v>
                </c:pt>
                <c:pt idx="16">
                  <c:v>102.796292939</c:v>
                </c:pt>
                <c:pt idx="17">
                  <c:v>102.796292939</c:v>
                </c:pt>
                <c:pt idx="18">
                  <c:v>102.796292939</c:v>
                </c:pt>
                <c:pt idx="19">
                  <c:v>102.796292939</c:v>
                </c:pt>
              </c:numCache>
            </c:numRef>
          </c:xVal>
          <c:yVal>
            <c:numRef>
              <c:f>'Chart Data'!$AL$2:$AL$21</c:f>
              <c:numCache>
                <c:formatCode>0</c:formatCode>
                <c:ptCount val="20"/>
                <c:pt idx="0">
                  <c:v>19</c:v>
                </c:pt>
                <c:pt idx="1">
                  <c:v>19</c:v>
                </c:pt>
                <c:pt idx="2">
                  <c:v>19</c:v>
                </c:pt>
                <c:pt idx="3">
                  <c:v>19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  <c:pt idx="10">
                  <c:v>19</c:v>
                </c:pt>
                <c:pt idx="11">
                  <c:v>19</c:v>
                </c:pt>
                <c:pt idx="12">
                  <c:v>19</c:v>
                </c:pt>
                <c:pt idx="13">
                  <c:v>19</c:v>
                </c:pt>
                <c:pt idx="14">
                  <c:v>19</c:v>
                </c:pt>
                <c:pt idx="15">
                  <c:v>19</c:v>
                </c:pt>
                <c:pt idx="16">
                  <c:v>19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</c:numCache>
            </c:numRef>
          </c:yVal>
          <c:smooth val="0"/>
        </c:ser>
        <c:ser>
          <c:idx val="19"/>
          <c:order val="19"/>
          <c:tx>
            <c:v>Amostra 20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Data'!$AM$2:$AM$21</c:f>
              <c:numCache>
                <c:formatCode>General</c:formatCode>
                <c:ptCount val="20"/>
                <c:pt idx="0">
                  <c:v>93.5373096389</c:v>
                </c:pt>
                <c:pt idx="1">
                  <c:v>101.377165577</c:v>
                </c:pt>
                <c:pt idx="2">
                  <c:v>101.377165577</c:v>
                </c:pt>
                <c:pt idx="3">
                  <c:v>101.377165577</c:v>
                </c:pt>
                <c:pt idx="4">
                  <c:v>101.377165577</c:v>
                </c:pt>
                <c:pt idx="5">
                  <c:v>101.377165577</c:v>
                </c:pt>
                <c:pt idx="6">
                  <c:v>101.377165577</c:v>
                </c:pt>
                <c:pt idx="7">
                  <c:v>101.377165577</c:v>
                </c:pt>
                <c:pt idx="8">
                  <c:v>101.377165577</c:v>
                </c:pt>
                <c:pt idx="9">
                  <c:v>101.377165577</c:v>
                </c:pt>
                <c:pt idx="10">
                  <c:v>101.377165577</c:v>
                </c:pt>
                <c:pt idx="11">
                  <c:v>101.377165577</c:v>
                </c:pt>
                <c:pt idx="12">
                  <c:v>101.377165577</c:v>
                </c:pt>
                <c:pt idx="13">
                  <c:v>101.377165577</c:v>
                </c:pt>
                <c:pt idx="14">
                  <c:v>101.377165577</c:v>
                </c:pt>
                <c:pt idx="15">
                  <c:v>101.377165577</c:v>
                </c:pt>
                <c:pt idx="16">
                  <c:v>101.377165577</c:v>
                </c:pt>
                <c:pt idx="17">
                  <c:v>101.377165577</c:v>
                </c:pt>
                <c:pt idx="18">
                  <c:v>101.377165577</c:v>
                </c:pt>
                <c:pt idx="19">
                  <c:v>101.377165577</c:v>
                </c:pt>
              </c:numCache>
            </c:numRef>
          </c:xVal>
          <c:yVal>
            <c:numRef>
              <c:f>'Chart Data'!$AN$2:$AN$21</c:f>
              <c:numCache>
                <c:formatCode>0</c:formatCode>
                <c:ptCount val="20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</c:numCache>
            </c:numRef>
          </c:yVal>
          <c:smooth val="0"/>
        </c:ser>
        <c:ser>
          <c:idx val="20"/>
          <c:order val="20"/>
          <c:tx>
            <c:v>Médias amostrais</c:v>
          </c:tx>
          <c:spPr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FFF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Data'!$AO$2:$AO$21</c:f>
              <c:numCache>
                <c:formatCode>General</c:formatCode>
                <c:ptCount val="20"/>
                <c:pt idx="0">
                  <c:v>99.4013158537</c:v>
                </c:pt>
                <c:pt idx="1">
                  <c:v>104.940255526</c:v>
                </c:pt>
                <c:pt idx="2">
                  <c:v>99.1995528987</c:v>
                </c:pt>
                <c:pt idx="3">
                  <c:v>98.2586032643</c:v>
                </c:pt>
                <c:pt idx="4">
                  <c:v>101.268773132</c:v>
                </c:pt>
                <c:pt idx="5">
                  <c:v>100.8853154</c:v>
                </c:pt>
                <c:pt idx="6">
                  <c:v>101.473250796</c:v>
                </c:pt>
                <c:pt idx="7">
                  <c:v>100.462669668</c:v>
                </c:pt>
                <c:pt idx="8">
                  <c:v>98.3848978497</c:v>
                </c:pt>
                <c:pt idx="9">
                  <c:v>103.124663753</c:v>
                </c:pt>
                <c:pt idx="10">
                  <c:v>99.0227609199</c:v>
                </c:pt>
                <c:pt idx="11">
                  <c:v>103.325063536</c:v>
                </c:pt>
                <c:pt idx="12">
                  <c:v>98.6456083724</c:v>
                </c:pt>
                <c:pt idx="13">
                  <c:v>97.2866370473</c:v>
                </c:pt>
                <c:pt idx="14">
                  <c:v>101.752210719</c:v>
                </c:pt>
                <c:pt idx="15">
                  <c:v>99.8706089762</c:v>
                </c:pt>
                <c:pt idx="16">
                  <c:v>102.577674752</c:v>
                </c:pt>
                <c:pt idx="17">
                  <c:v>100.089218253</c:v>
                </c:pt>
                <c:pt idx="18">
                  <c:v>98.8763649696</c:v>
                </c:pt>
                <c:pt idx="19">
                  <c:v>97.457237608</c:v>
                </c:pt>
              </c:numCache>
            </c:numRef>
          </c:xVal>
          <c:yVal>
            <c:numRef>
              <c:f>'Chart Data'!$AP$2:$AP$21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yVal>
          <c:smooth val="0"/>
        </c:ser>
        <c:ser>
          <c:idx val="21"/>
          <c:order val="21"/>
          <c:tx>
            <c:v>Média populacional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19050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Data'!$AQ$2:$AQ$21</c:f>
              <c:numCache>
                <c:formatCode>General</c:formatCode>
                <c:ptCount val="2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</c:numCache>
            </c:numRef>
          </c:xVal>
          <c:yVal>
            <c:numRef>
              <c:f>'Chart Data'!$AR$2:$AR$21</c:f>
              <c:numCache>
                <c:formatCode>0</c:formatCode>
                <c:ptCount val="20"/>
                <c:pt idx="0">
                  <c:v>0</c:v>
                </c:pt>
                <c:pt idx="1">
                  <c:v>21</c:v>
                </c:pt>
                <c:pt idx="2">
                  <c:v>21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21</c:v>
                </c:pt>
                <c:pt idx="7">
                  <c:v>21</c:v>
                </c:pt>
                <c:pt idx="8">
                  <c:v>21</c:v>
                </c:pt>
                <c:pt idx="9">
                  <c:v>21</c:v>
                </c:pt>
                <c:pt idx="10">
                  <c:v>21</c:v>
                </c:pt>
                <c:pt idx="11">
                  <c:v>21</c:v>
                </c:pt>
                <c:pt idx="12">
                  <c:v>21</c:v>
                </c:pt>
                <c:pt idx="13">
                  <c:v>21</c:v>
                </c:pt>
                <c:pt idx="14">
                  <c:v>21</c:v>
                </c:pt>
                <c:pt idx="15">
                  <c:v>21</c:v>
                </c:pt>
                <c:pt idx="16">
                  <c:v>21</c:v>
                </c:pt>
                <c:pt idx="17">
                  <c:v>21</c:v>
                </c:pt>
                <c:pt idx="18">
                  <c:v>21</c:v>
                </c:pt>
                <c:pt idx="19">
                  <c:v>21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2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Repetição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110"/>
          <c:min val="9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Média de vazão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IC da média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4762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95.8722028767</c:v>
                </c:pt>
                <c:pt idx="1">
                  <c:v>104.127797123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1.5</c:v>
                </c:pt>
                <c:pt idx="1">
                  <c:v>1.5</c:v>
                </c:pt>
              </c:numCache>
            </c:numRef>
          </c:yVal>
          <c:smooth val="0"/>
        </c:ser>
        <c:ser>
          <c:idx val="1"/>
          <c:order val="1"/>
          <c:tx>
            <c:v>Intervalo de previsão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47625">
              <a:solidFill>
                <a:srgbClr val="FFAD62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78.9522819204</c:v>
                </c:pt>
                <c:pt idx="1">
                  <c:v>121.04771808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yVal>
          <c:smooth val="0"/>
        </c:ser>
        <c:ser>
          <c:idx val="2"/>
          <c:order val="2"/>
          <c:tx>
            <c:v>Estimativa central</c:v>
          </c:tx>
          <c:spPr>
            <a:solidFill xmlns:a="http://schemas.openxmlformats.org/drawingml/2006/main">
              <a:srgbClr val="FFFFFF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FFF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0.5</c:v>
                </c:pt>
                <c:pt idx="1">
                  <c:v>1.5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</c:valAx>
      <c:valAx>
        <c:axId val="48650112"/>
        <c:scaling>
          <c:orientation val="minMax"/>
          <c:max val="130"/>
          <c:min val="7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1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Estimativas por classe</c:v>
          </c:tx>
          <c:spPr>
            <a:solidFill xmlns:a="http://schemas.openxmlformats.org/drawingml/2006/main">
              <a:srgbClr val="83DFFF"/>
            </a:solidFill>
          </c:spPr>
          <c:cat>
            <c:numRef>
              <c:f>'Chart Data'!$A$2:$A$13</c:f>
              <c:numCache>
                <c:formatCode>0</c:formatCode>
                <c:ptCount val="12"/>
                <c:pt idx="0">
                  <c:v>84</c:v>
                </c:pt>
                <c:pt idx="1">
                  <c:v>87</c:v>
                </c:pt>
                <c:pt idx="2">
                  <c:v>90</c:v>
                </c:pt>
                <c:pt idx="3">
                  <c:v>93</c:v>
                </c:pt>
                <c:pt idx="4">
                  <c:v>96</c:v>
                </c:pt>
                <c:pt idx="5">
                  <c:v>99</c:v>
                </c:pt>
                <c:pt idx="6">
                  <c:v>102</c:v>
                </c:pt>
                <c:pt idx="7">
                  <c:v>105</c:v>
                </c:pt>
                <c:pt idx="8">
                  <c:v>108</c:v>
                </c:pt>
                <c:pt idx="9">
                  <c:v>111</c:v>
                </c:pt>
                <c:pt idx="10">
                  <c:v>114</c:v>
                </c:pt>
                <c:pt idx="11">
                  <c:v>117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4</c:v>
                </c:pt>
                <c:pt idx="1">
                  <c:v>4</c:v>
                </c:pt>
                <c:pt idx="2">
                  <c:v>27</c:v>
                </c:pt>
                <c:pt idx="3">
                  <c:v>44</c:v>
                </c:pt>
                <c:pt idx="4">
                  <c:v>80</c:v>
                </c:pt>
                <c:pt idx="5">
                  <c:v>108</c:v>
                </c:pt>
                <c:pt idx="6">
                  <c:v>87</c:v>
                </c:pt>
                <c:pt idx="7">
                  <c:v>73</c:v>
                </c:pt>
                <c:pt idx="8">
                  <c:v>43</c:v>
                </c:pt>
                <c:pt idx="9">
                  <c:v>18</c:v>
                </c:pt>
                <c:pt idx="10">
                  <c:v>8</c:v>
                </c:pt>
                <c:pt idx="11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" sourceLinked="0"/>
        </c:dLbls>
        <c:gapWidth val="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Estimativa de μ(x*)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Contagem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Limite inferior B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</c:formatCode>
                <c:ptCount val="20"/>
                <c:pt idx="0">
                  <c:v>49.0036013625</c:v>
                </c:pt>
                <c:pt idx="1">
                  <c:v>55.9184393815</c:v>
                </c:pt>
                <c:pt idx="2">
                  <c:v>59.3006652434</c:v>
                </c:pt>
                <c:pt idx="3">
                  <c:v>58.7683735292</c:v>
                </c:pt>
                <c:pt idx="4">
                  <c:v>55.0472626119</c:v>
                </c:pt>
                <c:pt idx="5">
                  <c:v>49.6385321712</c:v>
                </c:pt>
                <c:pt idx="6">
                  <c:v>44.24093288</c:v>
                </c:pt>
                <c:pt idx="7">
                  <c:v>40.1466194769</c:v>
                </c:pt>
                <c:pt idx="8">
                  <c:v>37.8350243709</c:v>
                </c:pt>
                <c:pt idx="9">
                  <c:v>36.909226041</c:v>
                </c:pt>
                <c:pt idx="10">
                  <c:v>36.3859203278</c:v>
                </c:pt>
                <c:pt idx="11">
                  <c:v>35.2139624078</c:v>
                </c:pt>
                <c:pt idx="12">
                  <c:v>32.809273846</c:v>
                </c:pt>
                <c:pt idx="13">
                  <c:v>29.3887439198</c:v>
                </c:pt>
                <c:pt idx="14">
                  <c:v>25.9644377242</c:v>
                </c:pt>
                <c:pt idx="15">
                  <c:v>23.9919113503</c:v>
                </c:pt>
                <c:pt idx="16">
                  <c:v>24.8021897294</c:v>
                </c:pt>
                <c:pt idx="17">
                  <c:v>29.0341115444</c:v>
                </c:pt>
                <c:pt idx="18">
                  <c:v>36.2887494942</c:v>
                </c:pt>
                <c:pt idx="19">
                  <c:v>45.1480151771</c:v>
                </c:pt>
              </c:numCache>
            </c:numRef>
          </c:yVal>
          <c:smooth val="0"/>
        </c:ser>
        <c:ser>
          <c:idx val="1"/>
          <c:order val="1"/>
          <c:tx>
            <c:v>Limite superior B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19050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Data'!$D$2:$D$21</c:f>
              <c:numCache>
                <c:formatCode>0</c:formatCode>
                <c:ptCount val="20"/>
                <c:pt idx="0">
                  <c:v>89.0036013625</c:v>
                </c:pt>
                <c:pt idx="1">
                  <c:v>95.9184393815</c:v>
                </c:pt>
                <c:pt idx="2">
                  <c:v>99.3006652434</c:v>
                </c:pt>
                <c:pt idx="3">
                  <c:v>98.7683735292</c:v>
                </c:pt>
                <c:pt idx="4">
                  <c:v>95.0472626119</c:v>
                </c:pt>
                <c:pt idx="5">
                  <c:v>89.6385321712</c:v>
                </c:pt>
                <c:pt idx="6">
                  <c:v>84.24093288</c:v>
                </c:pt>
                <c:pt idx="7">
                  <c:v>80.1466194769</c:v>
                </c:pt>
                <c:pt idx="8">
                  <c:v>77.8350243709</c:v>
                </c:pt>
                <c:pt idx="9">
                  <c:v>76.909226041</c:v>
                </c:pt>
                <c:pt idx="10">
                  <c:v>76.3859203278</c:v>
                </c:pt>
                <c:pt idx="11">
                  <c:v>75.2139624078</c:v>
                </c:pt>
                <c:pt idx="12">
                  <c:v>72.809273846</c:v>
                </c:pt>
                <c:pt idx="13">
                  <c:v>69.3887439198</c:v>
                </c:pt>
                <c:pt idx="14">
                  <c:v>65.9644377242</c:v>
                </c:pt>
                <c:pt idx="15">
                  <c:v>63.9919113503</c:v>
                </c:pt>
                <c:pt idx="16">
                  <c:v>64.8021897294</c:v>
                </c:pt>
                <c:pt idx="17">
                  <c:v>69.0341115444</c:v>
                </c:pt>
                <c:pt idx="18">
                  <c:v>76.2887494942</c:v>
                </c:pt>
                <c:pt idx="19">
                  <c:v>85.1480151771</c:v>
                </c:pt>
              </c:numCache>
            </c:numRef>
          </c:yVal>
          <c:smooth val="0"/>
        </c:ser>
        <c:ser>
          <c:idx val="2"/>
          <c:order val="2"/>
          <c:tx>
            <c:v>Previsão pontual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14288">
              <a:solidFill>
                <a:srgbClr val="91A4BD"/>
              </a:solidFill>
            </a:ln>
          </c:spPr>
          <c:marker>
            <c:symbol val="none"/>
          </c:marker>
          <c:xVal>
            <c:numRef>
              <c:f>'Chart Data'!$E$2:$E$21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Data'!$F$2:$F$21</c:f>
              <c:numCache>
                <c:formatCode>0</c:formatCode>
                <c:ptCount val="20"/>
                <c:pt idx="0">
                  <c:v>69.0036013625</c:v>
                </c:pt>
                <c:pt idx="1">
                  <c:v>75.9184393815</c:v>
                </c:pt>
                <c:pt idx="2">
                  <c:v>79.3006652434</c:v>
                </c:pt>
                <c:pt idx="3">
                  <c:v>78.7683735292</c:v>
                </c:pt>
                <c:pt idx="4">
                  <c:v>75.0472626119</c:v>
                </c:pt>
                <c:pt idx="5">
                  <c:v>69.6385321712</c:v>
                </c:pt>
                <c:pt idx="6">
                  <c:v>64.24093288</c:v>
                </c:pt>
                <c:pt idx="7">
                  <c:v>60.1466194769</c:v>
                </c:pt>
                <c:pt idx="8">
                  <c:v>57.8350243709</c:v>
                </c:pt>
                <c:pt idx="9">
                  <c:v>56.909226041</c:v>
                </c:pt>
                <c:pt idx="10">
                  <c:v>56.3859203278</c:v>
                </c:pt>
                <c:pt idx="11">
                  <c:v>55.2139624078</c:v>
                </c:pt>
                <c:pt idx="12">
                  <c:v>52.809273846</c:v>
                </c:pt>
                <c:pt idx="13">
                  <c:v>49.3887439198</c:v>
                </c:pt>
                <c:pt idx="14">
                  <c:v>45.9644377242</c:v>
                </c:pt>
                <c:pt idx="15">
                  <c:v>43.9919113503</c:v>
                </c:pt>
                <c:pt idx="16">
                  <c:v>44.8021897294</c:v>
                </c:pt>
                <c:pt idx="17">
                  <c:v>49.0341115444</c:v>
                </c:pt>
                <c:pt idx="18">
                  <c:v>56.2887494942</c:v>
                </c:pt>
                <c:pt idx="19">
                  <c:v>65.1480151771</c:v>
                </c:pt>
              </c:numCache>
            </c:numRef>
          </c:yVal>
          <c:smooth val="0"/>
        </c:ser>
        <c:ser>
          <c:idx val="3"/>
          <c:order val="3"/>
          <c:tx>
            <c:v>Observações cobertas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71E7BD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Data'!$G$2:$G$21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18</c:v>
                </c:pt>
                <c:pt idx="19">
                  <c:v>18</c:v>
                </c:pt>
              </c:numCache>
            </c:numRef>
          </c:xVal>
          <c:yVal>
            <c:numRef>
              <c:f>'Chart Data'!$H$2:$H$21</c:f>
              <c:numCache>
                <c:formatCode>0</c:formatCode>
                <c:ptCount val="20"/>
                <c:pt idx="0">
                  <c:v>51.0036013625</c:v>
                </c:pt>
                <c:pt idx="1">
                  <c:v>62.9184393815</c:v>
                </c:pt>
                <c:pt idx="2">
                  <c:v>68.3006652434</c:v>
                </c:pt>
                <c:pt idx="3">
                  <c:v>69.7683735292</c:v>
                </c:pt>
                <c:pt idx="4">
                  <c:v>68.0472626119</c:v>
                </c:pt>
                <c:pt idx="5">
                  <c:v>64.6385321712</c:v>
                </c:pt>
                <c:pt idx="6">
                  <c:v>61.24093288</c:v>
                </c:pt>
                <c:pt idx="7">
                  <c:v>59.1466194769</c:v>
                </c:pt>
                <c:pt idx="8">
                  <c:v>57.8350243709</c:v>
                </c:pt>
                <c:pt idx="9">
                  <c:v>57.909226041</c:v>
                </c:pt>
                <c:pt idx="10">
                  <c:v>59.3859203278</c:v>
                </c:pt>
                <c:pt idx="11">
                  <c:v>60.2139624078</c:v>
                </c:pt>
                <c:pt idx="12">
                  <c:v>58.809273846</c:v>
                </c:pt>
                <c:pt idx="13">
                  <c:v>57.3887439198</c:v>
                </c:pt>
                <c:pt idx="14">
                  <c:v>55.9644377242</c:v>
                </c:pt>
                <c:pt idx="15">
                  <c:v>55.9919113503</c:v>
                </c:pt>
                <c:pt idx="16">
                  <c:v>59.8021897294</c:v>
                </c:pt>
                <c:pt idx="17">
                  <c:v>66.0341115444</c:v>
                </c:pt>
                <c:pt idx="18">
                  <c:v>66.0341115444</c:v>
                </c:pt>
                <c:pt idx="19">
                  <c:v>66.0341115444</c:v>
                </c:pt>
              </c:numCache>
            </c:numRef>
          </c:yVal>
          <c:smooth val="0"/>
        </c:ser>
        <c:ser>
          <c:idx val="4"/>
          <c:order val="4"/>
          <c:tx>
            <c:v>Observações fora</c:v>
          </c:tx>
          <c:spPr>
            <a:solidFill xmlns:a="http://schemas.openxmlformats.org/drawingml/2006/main">
              <a:srgbClr val="FFAD62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FFAD62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Data'!$I$2:$I$21</c:f>
              <c:numCache>
                <c:formatCode>General</c:formatCode>
                <c:ptCount val="20"/>
                <c:pt idx="0">
                  <c:v>19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</c:numCache>
            </c:numRef>
          </c:xVal>
          <c:yVal>
            <c:numRef>
              <c:f>'Chart Data'!$J$2:$J$21</c:f>
              <c:numCache>
                <c:formatCode>0</c:formatCode>
                <c:ptCount val="20"/>
                <c:pt idx="0">
                  <c:v>80.2887494942</c:v>
                </c:pt>
                <c:pt idx="1">
                  <c:v>38.1480151771</c:v>
                </c:pt>
                <c:pt idx="2">
                  <c:v>38.1480151771</c:v>
                </c:pt>
                <c:pt idx="3">
                  <c:v>38.1480151771</c:v>
                </c:pt>
                <c:pt idx="4">
                  <c:v>38.1480151771</c:v>
                </c:pt>
                <c:pt idx="5">
                  <c:v>38.1480151771</c:v>
                </c:pt>
                <c:pt idx="6">
                  <c:v>38.1480151771</c:v>
                </c:pt>
                <c:pt idx="7">
                  <c:v>38.1480151771</c:v>
                </c:pt>
                <c:pt idx="8">
                  <c:v>38.1480151771</c:v>
                </c:pt>
                <c:pt idx="9">
                  <c:v>38.1480151771</c:v>
                </c:pt>
                <c:pt idx="10">
                  <c:v>38.1480151771</c:v>
                </c:pt>
                <c:pt idx="11">
                  <c:v>38.1480151771</c:v>
                </c:pt>
                <c:pt idx="12">
                  <c:v>38.1480151771</c:v>
                </c:pt>
                <c:pt idx="13">
                  <c:v>38.1480151771</c:v>
                </c:pt>
                <c:pt idx="14">
                  <c:v>38.1480151771</c:v>
                </c:pt>
                <c:pt idx="15">
                  <c:v>38.1480151771</c:v>
                </c:pt>
                <c:pt idx="16">
                  <c:v>38.1480151771</c:v>
                </c:pt>
                <c:pt idx="17">
                  <c:v>38.1480151771</c:v>
                </c:pt>
                <c:pt idx="18">
                  <c:v>38.1480151771</c:v>
                </c:pt>
                <c:pt idx="19">
                  <c:v>38.1480151771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110"/>
          <c:min val="2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Vazão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majorUnit val="30"/>
      </c:valAx>
      <c:valAx>
        <c:axId val="48650112"/>
        <c:scaling>
          <c:orientation val="minMax"/>
          <c:max val="2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Caso de previsão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Cobertura observada</c:v>
          </c:tx>
          <c:spPr>
            <a:solidFill xmlns:a="http://schemas.openxmlformats.org/drawingml/2006/main">
              <a:srgbClr val="83DF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FAD62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Estiagem
(n = 60)</c:v>
                </c:pt>
                <c:pt idx="1">
                  <c:v>Vazão usual
(n = 80)</c:v>
                </c:pt>
                <c:pt idx="2">
                  <c:v>Picos
(n = 10)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  <c:numFmt formatCode="0%" sourceLinked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Cobertura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Comparação 1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47625">
              <a:solidFill>
                <a:srgbClr val="83DFFF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-1.1</c:v>
                </c:pt>
                <c:pt idx="1">
                  <c:v>0.3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1.5</c:v>
                </c:pt>
                <c:pt idx="1">
                  <c:v>1.5</c:v>
                </c:pt>
              </c:numCache>
            </c:numRef>
          </c:yVal>
          <c:smooth val="0"/>
        </c:ser>
        <c:ser>
          <c:idx val="1"/>
          <c:order val="1"/>
          <c:tx>
            <c:v>Comparação 2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47625">
              <a:solidFill>
                <a:srgbClr val="71E7BD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-1.8</c:v>
                </c:pt>
                <c:pt idx="1">
                  <c:v>-0.6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yVal>
          <c:smooth val="0"/>
        </c:ser>
        <c:ser>
          <c:idx val="2"/>
          <c:order val="2"/>
          <c:tx>
            <c:v>Estimativa 1</c:v>
          </c:tx>
          <c:spPr>
            <a:solidFill xmlns:a="http://schemas.openxmlformats.org/drawingml/2006/main">
              <a:srgbClr val="83DFFF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83DFFF"/>
              </a:solidFill>
              <ns0:ln xmlns:ns0="http://schemas.openxmlformats.org/drawingml/2006/main" w="0">
                <ns0:noFill/>
              </ns0:ln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-0.4</c:v>
                </c:pt>
                <c:pt idx="1">
                  <c:v>-0.4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1.5</c:v>
                </c:pt>
                <c:pt idx="1">
                  <c:v>1.5</c:v>
                </c:pt>
              </c:numCache>
            </c:numRef>
          </c:yVal>
          <c:smooth val="0"/>
        </c:ser>
        <c:ser>
          <c:idx val="3"/>
          <c:order val="3"/>
          <c:tx>
            <c:v>Estimativa 2</c:v>
          </c:tx>
          <c:spPr>
            <a:solidFill xmlns:a="http://schemas.openxmlformats.org/drawingml/2006/main">
              <a:srgbClr val="71E7BD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71E7BD"/>
              </a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-1.2</c:v>
                </c:pt>
                <c:pt idx="1">
                  <c:v>-1.2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yVal>
          <c:smooth val="0"/>
        </c:ser>
        <c:ser>
          <c:idx val="4"/>
          <c:order val="4"/>
          <c:tx>
            <c:v>Igualdade de RMSE</c:v>
          </c:tx>
          <c:spPr>
            <a:solidFill xmlns:a="http://schemas.openxmlformats.org/drawingml/2006/main">
              <a:srgbClr val="91A4BD"/>
            </a:solidFill>
            <a:ln xmlns:a="http://schemas.openxmlformats.org/drawingml/2006/main" w="12383">
              <a:solidFill>
                <a:srgbClr val="91A4BD"/>
              </a:solidFill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JetBrains Mono"/>
                  <a:ea typeface="JetBrains Mono"/>
                  <a:cs typeface="JetBrains Mon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  <c:numFmt formatCode="0.00" sourceLinked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-2"/>
        </c:scaling>
        <c:delete val="0"/>
        <c:axPos val="b"/>
        <c:majorGridlines>
          <c:spPr>
            <a:ln xmlns:a="http://schemas.openxmlformats.org/drawingml/2006/main" w="6668">
              <a:solidFill>
                <a:srgbClr val="263A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Diferença de RMSE (m³/s)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91A4B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000F2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00F2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A7BCC281-5B1A-E42F-FA21-9AFB05AE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248E9EC-C16F-B589-A5AE-0EDC8FA5F08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3700" y="1803493"/>
            <a:ext cx="6153926" cy="678363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4000" b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Hydro-UAI Course</a:t>
            </a:r>
          </a:p>
        </p:txBody>
      </p:sp>
      <p:sp>
        <p:nvSpPr>
          <p:cNvPr id="6" name="Título 1">
            <a:extLst xmlns:a="http://schemas.openxmlformats.org/drawingml/2006/main">
              <a:ext uri="{FF2B5EF4-FFF2-40B4-BE49-F238E27FC236}">
                <a16:creationId xmlns:a16="http://schemas.microsoft.com/office/drawing/2014/main" id="{5CEC0323-6869-348B-85A8-CB235E1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616267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Melhorias na modelagem</a:t>
            </a:r>
          </a:p>
          <a:p xmlns:a="http://schemas.openxmlformats.org/drawingml/2006/main">
            <a:pPr algn="l">
              <a:buNone/>
              <a:def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1" i="1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 dados</a:t>
            </a:r>
          </a:p>
        </p:txBody>
      </p:sp>
      <p:pic>
        <p:nvPicPr>
          <p:cNvPr id="29" name="Imagem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7976dee704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1326" y="0"/>
            <a:ext cx="5143500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dca4769e049d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287" y="5924579"/>
            <a:ext cx="592780" cy="523392"/>
          </a:xfrm>
          <a:prstGeom xmlns:a="http://schemas.openxmlformats.org/drawingml/2006/main" prst="rect">
            <a:avLst/>
          </a:prstGeom>
        </p:spPr>
      </p:pic>
      <p:pic>
        <p:nvPicPr>
          <p:cNvPr id="31" name="Imagem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ca4e909874e52"/>
          <a:srcRect xmlns:a="http://schemas.openxmlformats.org/drawingml/2006/main" l="1924" t="7917" r="1239" b="5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0" y="410029"/>
            <a:ext cx="1080460" cy="374888"/>
          </a:xfrm>
          <a:prstGeom xmlns:a="http://schemas.openxmlformats.org/drawingml/2006/main" prst="rect">
            <a:avLst/>
          </a:prstGeom>
        </p:spPr>
      </p:pic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1CBA0E37-0230-4B37-BE68-B698210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ítulo 1">
            <a:extLst xmlns:a="http://schemas.openxmlformats.org/drawingml/2006/main">
              <a:ext uri="{FF2B5EF4-FFF2-40B4-BE49-F238E27FC236}">
                <a16:creationId xmlns:a16="http://schemas.microsoft.com/office/drawing/2014/main" id="{F3E776DE-6AF7-7DB4-C3A0-AEE5117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6153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André Ferreira Rodrigues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Bruno Melo Brentan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Rodrigo Perdigão Bezerra</a:t>
            </a:r>
          </a:p>
        </p:txBody>
      </p:sp>
      <p:sp>
        <p:nvSpPr>
          <p:cNvPr id="21" name="Descrição da aula">
            <a:extLst xmlns:a="http://schemas.openxmlformats.org/drawingml/2006/main">
              <a:ext uri="{FF2B5EF4-FFF2-40B4-BE49-F238E27FC236}">
                <a16:creationId xmlns:a16="http://schemas.microsoft.com/office/drawing/2014/main" id="{5394F8F4-DC81-47C8-BE67-DF153FC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617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MLP, atributos, hiperparâmetros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análise de incerteza</a:t>
            </a:r>
          </a:p>
        </p:txBody>
      </p:sp>
      <p:sp>
        <p:nvSpPr>
          <p:cNvPr id="22" name="Identificação">
            <a:extLst xmlns:a="http://schemas.openxmlformats.org/drawingml/2006/main">
              <a:ext uri="{FF2B5EF4-FFF2-40B4-BE49-F238E27FC236}">
                <a16:creationId xmlns:a16="http://schemas.microsoft.com/office/drawing/2014/main" id="{0452D925-9531-4D0C-BC6A-2C8678D8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615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QUINTA-FEIRA  /  PARTE 1</a:t>
            </a:r>
          </a:p>
        </p:txBody>
      </p:sp>
    </p:spTree>
    <p:extLst>
      <p:ext uri="{BB962C8B-B14F-4D97-AF65-F5344CB8AC3E}">
        <p14:creationId xmlns:p14="http://schemas.microsoft.com/office/powerpoint/2010/main" val="30485224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Melhorias na modelagem</a:t>
            </a:r>
          </a:p>
        </p:txBody>
      </p:sp>
      <p:pic>
        <p:nvPicPr>
          <p:cNvPr id="6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91147ce5486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6CD140D-FE96-4E2B-BA42-36954DCA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Objetivos e roteiro da aula</a:t>
            </a:r>
          </a:p>
        </p:txBody>
      </p:sp>
      <p:sp>
        <p:nvSpPr>
          <p:cNvPr id="42" name="Número 01">
            <a:extLst xmlns:a="http://schemas.openxmlformats.org/drawingml/2006/main">
              <a:ext uri="{FF2B5EF4-FFF2-40B4-BE49-F238E27FC236}">
                <a16:creationId xmlns:a16="http://schemas.microsoft.com/office/drawing/2014/main" id="{3AAE07B3-D911-4512-8344-41721223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3" name="Objetivo 01">
            <a:extLst xmlns:a="http://schemas.openxmlformats.org/drawingml/2006/main">
              <a:ext uri="{FF2B5EF4-FFF2-40B4-BE49-F238E27FC236}">
                <a16:creationId xmlns:a16="http://schemas.microsoft.com/office/drawing/2014/main" id="{35B4C9DE-9177-46C3-A06B-037E2EA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Como a rede aprende</a:t>
            </a:r>
          </a:p>
        </p:txBody>
      </p:sp>
      <p:sp>
        <p:nvSpPr>
          <p:cNvPr id="44" name="Explicação 01">
            <a:extLst xmlns:a="http://schemas.openxmlformats.org/drawingml/2006/main">
              <a:ext uri="{FF2B5EF4-FFF2-40B4-BE49-F238E27FC236}">
                <a16:creationId xmlns:a16="http://schemas.microsoft.com/office/drawing/2014/main" id="{C09EFD53-B660-4831-A275-6DB79B2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MLP, gradiente e atualização dos pesos.</a:t>
            </a:r>
          </a:p>
        </p:txBody>
      </p:sp>
      <p:sp>
        <p:nvSpPr>
          <p:cNvPr id="45" name="Número 02">
            <a:extLst xmlns:a="http://schemas.openxmlformats.org/drawingml/2006/main">
              <a:ext uri="{FF2B5EF4-FFF2-40B4-BE49-F238E27FC236}">
                <a16:creationId xmlns:a16="http://schemas.microsoft.com/office/drawing/2014/main" id="{B97756C2-F284-40E1-AC83-C97CA673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6" name="Objetivo 02">
            <a:extLst xmlns:a="http://schemas.openxmlformats.org/drawingml/2006/main">
              <a:ext uri="{FF2B5EF4-FFF2-40B4-BE49-F238E27FC236}">
                <a16:creationId xmlns:a16="http://schemas.microsoft.com/office/drawing/2014/main" id="{B3A3076F-CFEC-4B59-A7E2-CF030B6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Como avaliar a generalização</a:t>
            </a:r>
          </a:p>
        </p:txBody>
      </p:sp>
      <p:sp>
        <p:nvSpPr>
          <p:cNvPr id="47" name="Explicação 02">
            <a:extLst xmlns:a="http://schemas.openxmlformats.org/drawingml/2006/main">
              <a:ext uri="{FF2B5EF4-FFF2-40B4-BE49-F238E27FC236}">
                <a16:creationId xmlns:a16="http://schemas.microsoft.com/office/drawing/2014/main" id="{C47343FB-B42A-4CD4-B25F-E4F17D95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Separação temporal e curvas de validação.</a:t>
            </a:r>
          </a:p>
        </p:txBody>
      </p:sp>
      <p:sp>
        <p:nvSpPr>
          <p:cNvPr id="48" name="Número 03">
            <a:extLst xmlns:a="http://schemas.openxmlformats.org/drawingml/2006/main">
              <a:ext uri="{FF2B5EF4-FFF2-40B4-BE49-F238E27FC236}">
                <a16:creationId xmlns:a16="http://schemas.microsoft.com/office/drawing/2014/main" id="{FE02C7D4-ADDF-4BFD-A564-86E2167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9" name="Objetivo 03">
            <a:extLst xmlns:a="http://schemas.openxmlformats.org/drawingml/2006/main">
              <a:ext uri="{FF2B5EF4-FFF2-40B4-BE49-F238E27FC236}">
                <a16:creationId xmlns:a16="http://schemas.microsoft.com/office/drawing/2014/main" id="{7496E9E9-807F-4DCF-B713-E05ABE5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Como escolher as entradas</a:t>
            </a:r>
          </a:p>
        </p:txBody>
      </p:sp>
      <p:sp>
        <p:nvSpPr>
          <p:cNvPr id="50" name="Explicação 03">
            <a:extLst xmlns:a="http://schemas.openxmlformats.org/drawingml/2006/main">
              <a:ext uri="{FF2B5EF4-FFF2-40B4-BE49-F238E27FC236}">
                <a16:creationId xmlns:a16="http://schemas.microsoft.com/office/drawing/2014/main" id="{4B422331-EB26-441F-81EE-69EB4EF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6717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Correlação, PCA e informação mútua.</a:t>
            </a:r>
          </a:p>
        </p:txBody>
      </p:sp>
      <p:sp>
        <p:nvSpPr>
          <p:cNvPr id="51" name="Número 04">
            <a:extLst xmlns:a="http://schemas.openxmlformats.org/drawingml/2006/main">
              <a:ext uri="{FF2B5EF4-FFF2-40B4-BE49-F238E27FC236}">
                <a16:creationId xmlns:a16="http://schemas.microsoft.com/office/drawing/2014/main" id="{C38B0BE1-783C-4FF3-BF65-461F577C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52" name="Objetivo 04">
            <a:extLst xmlns:a="http://schemas.openxmlformats.org/drawingml/2006/main">
              <a:ext uri="{FF2B5EF4-FFF2-40B4-BE49-F238E27FC236}">
                <a16:creationId xmlns:a16="http://schemas.microsoft.com/office/drawing/2014/main" id="{BA761711-4C2E-4DAC-956E-9182E21B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Como comparar configurações</a:t>
            </a:r>
          </a:p>
        </p:txBody>
      </p:sp>
      <p:sp>
        <p:nvSpPr>
          <p:cNvPr id="53" name="Explicação 04">
            <a:extLst xmlns:a="http://schemas.openxmlformats.org/drawingml/2006/main">
              <a:ext uri="{FF2B5EF4-FFF2-40B4-BE49-F238E27FC236}">
                <a16:creationId xmlns:a16="http://schemas.microsoft.com/office/drawing/2014/main" id="{24395BFE-4713-41F1-B84F-5A852195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Hiperparâmetros e experimentos controlados.</a:t>
            </a:r>
          </a:p>
        </p:txBody>
      </p:sp>
      <p:sp>
        <p:nvSpPr>
          <p:cNvPr id="54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A8240582-79A5-4F65-A6C1-27D77FA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02 / 51</a:t>
            </a:r>
          </a:p>
        </p:txBody>
      </p:sp>
      <p:sp>
        <p:nvSpPr>
          <p:cNvPr id="56" name="Número 05">
            <a:extLst xmlns:a="http://schemas.openxmlformats.org/drawingml/2006/main">
              <a:ext uri="{FF2B5EF4-FFF2-40B4-BE49-F238E27FC236}">
                <a16:creationId xmlns:a16="http://schemas.microsoft.com/office/drawing/2014/main" id="{19835086-031C-480A-9B8A-952A0AB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57" name="Objetivo 05">
            <a:extLst xmlns:a="http://schemas.openxmlformats.org/drawingml/2006/main">
              <a:ext uri="{FF2B5EF4-FFF2-40B4-BE49-F238E27FC236}">
                <a16:creationId xmlns:a16="http://schemas.microsoft.com/office/drawing/2014/main" id="{0204F386-B8B8-4DBF-B332-52F8A3C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Como interpretar a incerteza</a:t>
            </a:r>
          </a:p>
        </p:txBody>
      </p:sp>
      <p:sp>
        <p:nvSpPr>
          <p:cNvPr id="58" name="Explicação 05">
            <a:extLst xmlns:a="http://schemas.openxmlformats.org/drawingml/2006/main">
              <a:ext uri="{FF2B5EF4-FFF2-40B4-BE49-F238E27FC236}">
                <a16:creationId xmlns:a16="http://schemas.microsoft.com/office/drawing/2014/main" id="{635B2D37-A4FB-41D2-A030-8B015120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972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Dispersão do modelo, confiança e intervalos de previsão.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Problema e dados</a:t>
            </a:r>
          </a:p>
        </p:txBody>
      </p:sp>
      <p:pic>
        <p:nvPicPr>
          <p:cNvPr id="7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cd0784dbb43d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8C672872-91F3-47BD-9B18-4DBCFD21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Exemplo condutor: vazão do próximo dia</a:t>
            </a:r>
          </a:p>
        </p:txBody>
      </p:sp>
      <p:sp>
        <p:nvSpPr>
          <p:cNvPr id="42" name="Horizonte">
            <a:extLst xmlns:a="http://schemas.openxmlformats.org/drawingml/2006/main">
              <a:ext uri="{FF2B5EF4-FFF2-40B4-BE49-F238E27FC236}">
                <a16:creationId xmlns:a16="http://schemas.microsoft.com/office/drawing/2014/main" id="{1FE7FBA1-CB6B-4B08-B1DD-90CF93C9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No fim do dia t, queremos estimar Q(t+1).</a:t>
            </a:r>
          </a:p>
        </p:txBody>
      </p:sp>
      <p:sp>
        <p:nvSpPr>
          <p:cNvPr id="43" name="Etapa 1">
            <a:extLst xmlns:a="http://schemas.openxmlformats.org/drawingml/2006/main">
              <a:ext uri="{FF2B5EF4-FFF2-40B4-BE49-F238E27FC236}">
                <a16:creationId xmlns:a16="http://schemas.microsoft.com/office/drawing/2014/main" id="{9CCB95E2-065A-421A-97AE-E32DD2AD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6707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Dados até t</a:t>
            </a:r>
          </a:p>
        </p:txBody>
      </p:sp>
      <p:sp>
        <p:nvSpPr>
          <p:cNvPr id="44" name="Etapa 2">
            <a:extLst xmlns:a="http://schemas.openxmlformats.org/drawingml/2006/main">
              <a:ext uri="{FF2B5EF4-FFF2-40B4-BE49-F238E27FC236}">
                <a16:creationId xmlns:a16="http://schemas.microsoft.com/office/drawing/2014/main" id="{9E26A13B-8B4F-4124-A683-EEC66EA8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6707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Entradas x(t)</a:t>
            </a:r>
          </a:p>
        </p:txBody>
      </p:sp>
      <p:sp>
        <p:nvSpPr>
          <p:cNvPr id="45" name="Etapa 3">
            <a:extLst xmlns:a="http://schemas.openxmlformats.org/drawingml/2006/main">
              <a:ext uri="{FF2B5EF4-FFF2-40B4-BE49-F238E27FC236}">
                <a16:creationId xmlns:a16="http://schemas.microsoft.com/office/drawing/2014/main" id="{7AFD4A9F-2F01-459E-8C24-DA4FE719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07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Modelo</a:t>
            </a:r>
          </a:p>
        </p:txBody>
      </p:sp>
      <p:sp>
        <p:nvSpPr>
          <p:cNvPr id="46" name="Etapa 4">
            <a:extLst xmlns:a="http://schemas.openxmlformats.org/drawingml/2006/main">
              <a:ext uri="{FF2B5EF4-FFF2-40B4-BE49-F238E27FC236}">
                <a16:creationId xmlns:a16="http://schemas.microsoft.com/office/drawing/2014/main" id="{7A4A090F-01AA-4EAD-BE9C-C05E8F54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6707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Q̂(t+1)</a:t>
            </a:r>
          </a:p>
        </p:txBody>
      </p:sp>
      <p:cxnSp>
        <p:nvCxnSpPr>
          <p:cNvPr id="8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933700" y="3695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867400" y="3695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801100" y="3695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50" name="Inputs">
            <a:extLst xmlns:a="http://schemas.openxmlformats.org/drawingml/2006/main">
              <a:ext uri="{FF2B5EF4-FFF2-40B4-BE49-F238E27FC236}">
                <a16:creationId xmlns:a16="http://schemas.microsoft.com/office/drawing/2014/main" id="{EFCDED60-9640-4EAC-B274-D9D56CE8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7225"/>
            <a:ext cx="5448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P(t), P(t−1)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Q(t), Q(t−1)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Estado antecedente da bacia</a:t>
            </a:r>
          </a:p>
        </p:txBody>
      </p:sp>
      <p:sp>
        <p:nvSpPr>
          <p:cNvPr id="51" name="Disponibilidade">
            <a:extLst xmlns:a="http://schemas.openxmlformats.org/drawingml/2006/main">
              <a:ext uri="{FF2B5EF4-FFF2-40B4-BE49-F238E27FC236}">
                <a16:creationId xmlns:a16="http://schemas.microsoft.com/office/drawing/2014/main" id="{A901CBC9-6F4D-4529-9636-1E007C4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67225"/>
            <a:ext cx="5248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Cada entrada precisa estar disponível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no momento da previsão.</a:t>
            </a:r>
          </a:p>
        </p:txBody>
      </p:sp>
      <p:sp>
        <p:nvSpPr>
          <p:cNvPr id="52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9A5A908D-D678-40A7-B73E-DD0D2D9B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Q: vazão em m³/s. P: precipitação em mm. Exemplo conceitual de previsão diária.</a:t>
            </a:r>
          </a:p>
        </p:txBody>
      </p:sp>
      <p:sp>
        <p:nvSpPr>
          <p:cNvPr id="53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F98267E3-5E7C-4F20-90C4-5630C5E6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03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Problema e dados</a:t>
            </a:r>
          </a:p>
        </p:txBody>
      </p:sp>
      <p:pic>
        <p:nvPicPr>
          <p:cNvPr id="5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4cf35fa04402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8CC1BCCB-2E15-4134-9431-98242F95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Treino, validação e teste no tempo</a:t>
            </a:r>
          </a:p>
        </p:txBody>
      </p:sp>
      <p:sp>
        <p:nvSpPr>
          <p:cNvPr id="42" name="Tempo">
            <a:extLst xmlns:a="http://schemas.openxmlformats.org/drawingml/2006/main">
              <a:ext uri="{FF2B5EF4-FFF2-40B4-BE49-F238E27FC236}">
                <a16:creationId xmlns:a16="http://schemas.microsoft.com/office/drawing/2014/main" id="{7C15020D-A810-455C-A89A-809EEDA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Passado</a:t>
            </a:r>
          </a:p>
        </p:txBody>
      </p:sp>
      <p:sp>
        <p:nvSpPr>
          <p:cNvPr id="43" name="Futuro">
            <a:extLst xmlns:a="http://schemas.openxmlformats.org/drawingml/2006/main">
              <a:ext uri="{FF2B5EF4-FFF2-40B4-BE49-F238E27FC236}">
                <a16:creationId xmlns:a16="http://schemas.microsoft.com/office/drawing/2014/main" id="{765FB956-6799-4A6F-BB06-17C9D19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1935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Futuro</a:t>
            </a:r>
          </a:p>
        </p:txBody>
      </p:sp>
      <p:sp>
        <p:nvSpPr>
          <p:cNvPr id="44" name="TREINO">
            <a:extLst xmlns:a="http://schemas.openxmlformats.org/drawingml/2006/main">
              <a:ext uri="{FF2B5EF4-FFF2-40B4-BE49-F238E27FC236}">
                <a16:creationId xmlns:a16="http://schemas.microsoft.com/office/drawing/2014/main" id="{9BA02A63-356C-4368-9C8C-C6AB3D5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153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EB"/>
          </a:solidFill>
          <a:ln xmlns:a="http://schemas.openxmlformats.org/drawingml/2006/main" w="14288">
            <a:solidFill>
              <a:srgbClr val="0053EB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TREINO</a:t>
            </a:r>
          </a:p>
        </p:txBody>
      </p:sp>
      <p:sp>
        <p:nvSpPr>
          <p:cNvPr id="45" name="VALIDAÇÃO">
            <a:extLst xmlns:a="http://schemas.openxmlformats.org/drawingml/2006/main">
              <a:ext uri="{FF2B5EF4-FFF2-40B4-BE49-F238E27FC236}">
                <a16:creationId xmlns:a16="http://schemas.microsoft.com/office/drawing/2014/main" id="{0DD33BF6-28BC-434A-8323-250C7E4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2724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56A"/>
          </a:solidFill>
          <a:ln xmlns:a="http://schemas.openxmlformats.org/drawingml/2006/main" w="14288">
            <a:solidFill>
              <a:srgbClr val="0C556A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VALIDAÇÃO</a:t>
            </a:r>
          </a:p>
        </p:txBody>
      </p:sp>
      <p:sp>
        <p:nvSpPr>
          <p:cNvPr id="46" name="TESTE">
            <a:extLst xmlns:a="http://schemas.openxmlformats.org/drawingml/2006/main">
              <a:ext uri="{FF2B5EF4-FFF2-40B4-BE49-F238E27FC236}">
                <a16:creationId xmlns:a16="http://schemas.microsoft.com/office/drawing/2014/main" id="{414E5C30-08EF-4B8A-955E-7F20FE92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2324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358"/>
          </a:solidFill>
          <a:ln xmlns:a="http://schemas.openxmlformats.org/drawingml/2006/main" w="14288">
            <a:solidFill>
              <a:srgbClr val="334358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TESTE</a:t>
            </a:r>
          </a:p>
        </p:txBody>
      </p:sp>
      <p:sp>
        <p:nvSpPr>
          <p:cNvPr id="47" name="Uso 48">
            <a:extLst xmlns:a="http://schemas.openxmlformats.org/drawingml/2006/main">
              <a:ext uri="{FF2B5EF4-FFF2-40B4-BE49-F238E27FC236}">
                <a16:creationId xmlns:a16="http://schemas.microsoft.com/office/drawing/2014/main" id="{62FECFDD-EA6E-45A5-95A9-23A3A008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15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Aprende os pesos.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Ajusta os transformadores.</a:t>
            </a:r>
          </a:p>
        </p:txBody>
      </p:sp>
      <p:sp>
        <p:nvSpPr>
          <p:cNvPr id="48" name="Uso 698">
            <a:extLst xmlns:a="http://schemas.openxmlformats.org/drawingml/2006/main">
              <a:ext uri="{FF2B5EF4-FFF2-40B4-BE49-F238E27FC236}">
                <a16:creationId xmlns:a16="http://schemas.microsoft.com/office/drawing/2014/main" id="{A085E040-952E-4D47-9EF9-848D447A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Escolhe o modelo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as configurações.</a:t>
            </a:r>
          </a:p>
        </p:txBody>
      </p:sp>
      <p:sp>
        <p:nvSpPr>
          <p:cNvPr id="49" name="Uso 988">
            <a:extLst xmlns:a="http://schemas.openxmlformats.org/drawingml/2006/main">
              <a:ext uri="{FF2B5EF4-FFF2-40B4-BE49-F238E27FC236}">
                <a16:creationId xmlns:a16="http://schemas.microsoft.com/office/drawing/2014/main" id="{1DB9DA72-1499-4B64-92E7-94BC0B1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5765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Avalia o modelo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já escolhido.</a:t>
            </a:r>
          </a:p>
        </p:txBody>
      </p:sp>
      <p:sp>
        <p:nvSpPr>
          <p:cNvPr id="50" name="Cuidado temporal">
            <a:extLst xmlns:a="http://schemas.openxmlformats.org/drawingml/2006/main">
              <a:ext uri="{FF2B5EF4-FFF2-40B4-BE49-F238E27FC236}">
                <a16:creationId xmlns:a16="http://schemas.microsoft.com/office/drawing/2014/main" id="{D515CBDC-1E83-4631-BB8C-98DC0DEC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Janelas e defasagens podem exigir um intervalo entre blocos.</a:t>
            </a:r>
          </a:p>
        </p:txBody>
      </p:sp>
      <p:sp>
        <p:nvSpPr>
          <p:cNvPr id="51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548F9EB0-8042-407E-AE12-810EA275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Esquema conceitual. As larguras ilustram os papéis, sem prescrever proporções.</a:t>
            </a:r>
          </a:p>
        </p:txBody>
      </p:sp>
      <p:sp>
        <p:nvSpPr>
          <p:cNvPr id="52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C72C2B1A-414F-4B2F-9138-A10A0DD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04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MLP e treinamento</a:t>
            </a:r>
          </a:p>
        </p:txBody>
      </p:sp>
      <p:pic>
        <p:nvPicPr>
          <p:cNvPr id="12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94f7c8ca7404b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E8EAE5F-6B99-460B-88A6-D42D9EF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Arquitetura do perceptron multicamadas</a:t>
            </a:r>
          </a:p>
        </p:txBody>
      </p:sp>
      <p:cxnSp>
        <p:nvCxnSpPr>
          <p:cNvPr id="129" name=""/>
          <p:cNvCxnSpPr>
            <a:stCxn xmlns:a="http://schemas.openxmlformats.org/drawingml/2006/main" id="42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2114550" y="3276600"/>
            <a:ext cx="238125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0" name=""/>
          <p:cNvCxnSpPr>
            <a:stCxn xmlns:a="http://schemas.openxmlformats.org/drawingml/2006/main" id="42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2114550" y="3457575"/>
            <a:ext cx="23812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1" name=""/>
          <p:cNvCxnSpPr>
            <a:stCxn xmlns:a="http://schemas.openxmlformats.org/drawingml/2006/main" id="42" idx="6"/>
            <a:endCxn xmlns:a="http://schemas.openxmlformats.org/drawingml/2006/main" id="47" idx="2"/>
          </p:cNvCxnSpPr>
          <p:nvPr/>
        </p:nvCxnSpPr>
        <p:spPr>
          <a:xfrm xmlns:a="http://schemas.openxmlformats.org/drawingml/2006/main">
            <a:off x="2114550" y="3457575"/>
            <a:ext cx="238125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2" name=""/>
          <p:cNvCxnSpPr>
            <a:stCxn xmlns:a="http://schemas.openxmlformats.org/drawingml/2006/main" id="42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2114550" y="3457575"/>
            <a:ext cx="2381250" cy="2105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3" name=""/>
          <p:cNvCxnSpPr>
            <a:stCxn xmlns:a="http://schemas.openxmlformats.org/drawingml/2006/main" id="43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2114550" y="3276600"/>
            <a:ext cx="2381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4" name=""/>
          <p:cNvCxnSpPr>
            <a:stCxn xmlns:a="http://schemas.openxmlformats.org/drawingml/2006/main" id="43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2114550" y="4038600"/>
            <a:ext cx="238125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5" name=""/>
          <p:cNvCxnSpPr>
            <a:stCxn xmlns:a="http://schemas.openxmlformats.org/drawingml/2006/main" id="43" idx="6"/>
            <a:endCxn xmlns:a="http://schemas.openxmlformats.org/drawingml/2006/main" id="47" idx="2"/>
          </p:cNvCxnSpPr>
          <p:nvPr/>
        </p:nvCxnSpPr>
        <p:spPr>
          <a:xfrm xmlns:a="http://schemas.openxmlformats.org/drawingml/2006/main">
            <a:off x="2114550" y="4276725"/>
            <a:ext cx="2381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6" name=""/>
          <p:cNvCxnSpPr>
            <a:stCxn xmlns:a="http://schemas.openxmlformats.org/drawingml/2006/main" id="43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2114550" y="4276725"/>
            <a:ext cx="23812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7" name=""/>
          <p:cNvCxnSpPr>
            <a:stCxn xmlns:a="http://schemas.openxmlformats.org/drawingml/2006/main" id="44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2114550" y="3276600"/>
            <a:ext cx="2381250" cy="1819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8" name=""/>
          <p:cNvCxnSpPr>
            <a:stCxn xmlns:a="http://schemas.openxmlformats.org/drawingml/2006/main" id="44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2114550" y="4038600"/>
            <a:ext cx="238125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39" name=""/>
          <p:cNvCxnSpPr>
            <a:stCxn xmlns:a="http://schemas.openxmlformats.org/drawingml/2006/main" id="44" idx="6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2114550" y="4800600"/>
            <a:ext cx="238125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0" name=""/>
          <p:cNvCxnSpPr>
            <a:stCxn xmlns:a="http://schemas.openxmlformats.org/drawingml/2006/main" id="44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2114550" y="5095875"/>
            <a:ext cx="238125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1" name=""/>
          <p:cNvCxnSpPr>
            <a:stCxn xmlns:a="http://schemas.openxmlformats.org/drawingml/2006/main" id="45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5048250" y="3276600"/>
            <a:ext cx="22288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2" name=""/>
          <p:cNvCxnSpPr>
            <a:stCxn xmlns:a="http://schemas.openxmlformats.org/drawingml/2006/main" id="45" idx="6"/>
            <a:endCxn xmlns:a="http://schemas.openxmlformats.org/drawingml/2006/main" id="50" idx="2"/>
          </p:cNvCxnSpPr>
          <p:nvPr/>
        </p:nvCxnSpPr>
        <p:spPr>
          <a:xfrm xmlns:a="http://schemas.openxmlformats.org/drawingml/2006/main">
            <a:off x="5048250" y="3276600"/>
            <a:ext cx="22288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3" name=""/>
          <p:cNvCxnSpPr>
            <a:stCxn xmlns:a="http://schemas.openxmlformats.org/drawingml/2006/main" id="45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5048250" y="3276600"/>
            <a:ext cx="222885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4" name=""/>
          <p:cNvCxnSpPr>
            <a:stCxn xmlns:a="http://schemas.openxmlformats.org/drawingml/2006/main" id="46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V="1">
            <a:off x="5048250" y="3562350"/>
            <a:ext cx="22288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5" name=""/>
          <p:cNvCxnSpPr>
            <a:stCxn xmlns:a="http://schemas.openxmlformats.org/drawingml/2006/main" id="46" idx="6"/>
            <a:endCxn xmlns:a="http://schemas.openxmlformats.org/drawingml/2006/main" id="50" idx="2"/>
          </p:cNvCxnSpPr>
          <p:nvPr/>
        </p:nvCxnSpPr>
        <p:spPr>
          <a:xfrm xmlns:a="http://schemas.openxmlformats.org/drawingml/2006/main">
            <a:off x="5048250" y="4038600"/>
            <a:ext cx="22288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6" name=""/>
          <p:cNvCxnSpPr>
            <a:stCxn xmlns:a="http://schemas.openxmlformats.org/drawingml/2006/main" id="46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5048250" y="4038600"/>
            <a:ext cx="22288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7" name=""/>
          <p:cNvCxnSpPr>
            <a:stCxn xmlns:a="http://schemas.openxmlformats.org/drawingml/2006/main" id="47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V="1">
            <a:off x="5048250" y="3562350"/>
            <a:ext cx="22288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8" name=""/>
          <p:cNvCxnSpPr>
            <a:stCxn xmlns:a="http://schemas.openxmlformats.org/drawingml/2006/main" id="47" idx="6"/>
            <a:endCxn xmlns:a="http://schemas.openxmlformats.org/drawingml/2006/main" id="50" idx="2"/>
          </p:cNvCxnSpPr>
          <p:nvPr/>
        </p:nvCxnSpPr>
        <p:spPr>
          <a:xfrm xmlns:a="http://schemas.openxmlformats.org/drawingml/2006/main" flipV="1">
            <a:off x="5048250" y="4514850"/>
            <a:ext cx="22288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49" name=""/>
          <p:cNvCxnSpPr>
            <a:stCxn xmlns:a="http://schemas.openxmlformats.org/drawingml/2006/main" id="47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5048250" y="4800600"/>
            <a:ext cx="22288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50" name=""/>
          <p:cNvCxnSpPr>
            <a:stCxn xmlns:a="http://schemas.openxmlformats.org/drawingml/2006/main" id="48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V="1">
            <a:off x="5048250" y="3562350"/>
            <a:ext cx="222885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51" name=""/>
          <p:cNvCxnSpPr>
            <a:stCxn xmlns:a="http://schemas.openxmlformats.org/drawingml/2006/main" id="48" idx="6"/>
            <a:endCxn xmlns:a="http://schemas.openxmlformats.org/drawingml/2006/main" id="50" idx="2"/>
          </p:cNvCxnSpPr>
          <p:nvPr/>
        </p:nvCxnSpPr>
        <p:spPr>
          <a:xfrm xmlns:a="http://schemas.openxmlformats.org/drawingml/2006/main" flipV="1">
            <a:off x="5048250" y="4514850"/>
            <a:ext cx="22288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52" name=""/>
          <p:cNvCxnSpPr>
            <a:stCxn xmlns:a="http://schemas.openxmlformats.org/drawingml/2006/main" id="48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 flipV="1">
            <a:off x="5048250" y="5467350"/>
            <a:ext cx="22288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53" name=""/>
          <p:cNvCxnSpPr>
            <a:stCxn xmlns:a="http://schemas.openxmlformats.org/drawingml/2006/main" id="49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7829550" y="3562350"/>
            <a:ext cx="2600325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54" name=""/>
          <p:cNvCxnSpPr>
            <a:stCxn xmlns:a="http://schemas.openxmlformats.org/drawingml/2006/main" id="50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 flipV="1">
            <a:off x="7829550" y="4448175"/>
            <a:ext cx="260032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cxnSp>
        <p:nvCxnSpPr>
          <p:cNvPr id="155" name=""/>
          <p:cNvCxnSpPr>
            <a:stCxn xmlns:a="http://schemas.openxmlformats.org/drawingml/2006/main" id="51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 flipV="1">
            <a:off x="7829550" y="4448175"/>
            <a:ext cx="2600325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470"/>
            </a:solidFill>
            <a:prstDash val="solid"/>
          </a:ln>
        </p:spPr>
      </p:cxnSp>
      <p:sp>
        <p:nvSpPr>
          <p:cNvPr id="42" name="Neurônio 0-0">
            <a:extLst xmlns:a="http://schemas.openxmlformats.org/drawingml/2006/main">
              <a:ext uri="{FF2B5EF4-FFF2-40B4-BE49-F238E27FC236}">
                <a16:creationId xmlns:a16="http://schemas.microsoft.com/office/drawing/2014/main" id="{E7453267-F0CF-44F2-A79B-316985E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x₁</a:t>
            </a:r>
          </a:p>
        </p:txBody>
      </p:sp>
      <p:sp>
        <p:nvSpPr>
          <p:cNvPr id="43" name="Neurônio 0-1">
            <a:extLst xmlns:a="http://schemas.openxmlformats.org/drawingml/2006/main">
              <a:ext uri="{FF2B5EF4-FFF2-40B4-BE49-F238E27FC236}">
                <a16:creationId xmlns:a16="http://schemas.microsoft.com/office/drawing/2014/main" id="{FE49561E-FF56-4CD0-953D-E2B84F58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x₂</a:t>
            </a:r>
          </a:p>
        </p:txBody>
      </p:sp>
      <p:sp>
        <p:nvSpPr>
          <p:cNvPr id="44" name="Neurônio 0-2">
            <a:extLst xmlns:a="http://schemas.openxmlformats.org/drawingml/2006/main">
              <a:ext uri="{FF2B5EF4-FFF2-40B4-BE49-F238E27FC236}">
                <a16:creationId xmlns:a16="http://schemas.microsoft.com/office/drawing/2014/main" id="{AE242453-78CE-4F29-B340-D828F829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83DFFF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x₃</a:t>
            </a:r>
          </a:p>
        </p:txBody>
      </p:sp>
      <p:sp>
        <p:nvSpPr>
          <p:cNvPr id="45" name="Neurônio 1-0">
            <a:extLst xmlns:a="http://schemas.openxmlformats.org/drawingml/2006/main">
              <a:ext uri="{FF2B5EF4-FFF2-40B4-BE49-F238E27FC236}">
                <a16:creationId xmlns:a16="http://schemas.microsoft.com/office/drawing/2014/main" id="{2C5EA5BE-335D-4656-BF3F-1BCF6FC6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0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h₁</a:t>
            </a:r>
          </a:p>
        </p:txBody>
      </p:sp>
      <p:sp>
        <p:nvSpPr>
          <p:cNvPr id="46" name="Neurônio 1-1">
            <a:extLst xmlns:a="http://schemas.openxmlformats.org/drawingml/2006/main">
              <a:ext uri="{FF2B5EF4-FFF2-40B4-BE49-F238E27FC236}">
                <a16:creationId xmlns:a16="http://schemas.microsoft.com/office/drawing/2014/main" id="{C04EF896-8524-469B-B8F3-42D44251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62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h₂</a:t>
            </a:r>
          </a:p>
        </p:txBody>
      </p:sp>
      <p:sp>
        <p:nvSpPr>
          <p:cNvPr id="47" name="Neurônio 1-2">
            <a:extLst xmlns:a="http://schemas.openxmlformats.org/drawingml/2006/main">
              <a:ext uri="{FF2B5EF4-FFF2-40B4-BE49-F238E27FC236}">
                <a16:creationId xmlns:a16="http://schemas.microsoft.com/office/drawing/2014/main" id="{5092E2B6-D757-4E5E-844F-8E00403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24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h₃</a:t>
            </a:r>
          </a:p>
        </p:txBody>
      </p:sp>
      <p:sp>
        <p:nvSpPr>
          <p:cNvPr id="48" name="Neurônio 1-3">
            <a:extLst xmlns:a="http://schemas.openxmlformats.org/drawingml/2006/main">
              <a:ext uri="{FF2B5EF4-FFF2-40B4-BE49-F238E27FC236}">
                <a16:creationId xmlns:a16="http://schemas.microsoft.com/office/drawing/2014/main" id="{D1CE96AA-F8D3-4D67-A27E-E9E708E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86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h₄</a:t>
            </a:r>
          </a:p>
        </p:txBody>
      </p:sp>
      <p:sp>
        <p:nvSpPr>
          <p:cNvPr id="49" name="Neurônio 2-0">
            <a:extLst xmlns:a="http://schemas.openxmlformats.org/drawingml/2006/main">
              <a:ext uri="{FF2B5EF4-FFF2-40B4-BE49-F238E27FC236}">
                <a16:creationId xmlns:a16="http://schemas.microsoft.com/office/drawing/2014/main" id="{4923268A-7DDA-4DAC-B3B0-092978C5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86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g₁</a:t>
            </a:r>
          </a:p>
        </p:txBody>
      </p:sp>
      <p:sp>
        <p:nvSpPr>
          <p:cNvPr id="50" name="Neurônio 2-1">
            <a:extLst xmlns:a="http://schemas.openxmlformats.org/drawingml/2006/main">
              <a:ext uri="{FF2B5EF4-FFF2-40B4-BE49-F238E27FC236}">
                <a16:creationId xmlns:a16="http://schemas.microsoft.com/office/drawing/2014/main" id="{22E6AA4F-3CD0-4CB5-8AB3-DCC44FC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38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g₂</a:t>
            </a:r>
          </a:p>
        </p:txBody>
      </p:sp>
      <p:sp>
        <p:nvSpPr>
          <p:cNvPr id="51" name="Neurônio 2-2">
            <a:extLst xmlns:a="http://schemas.openxmlformats.org/drawingml/2006/main">
              <a:ext uri="{FF2B5EF4-FFF2-40B4-BE49-F238E27FC236}">
                <a16:creationId xmlns:a16="http://schemas.microsoft.com/office/drawing/2014/main" id="{E3201C44-4694-4B66-8A10-02BDD872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911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71E7BD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g₃</a:t>
            </a:r>
          </a:p>
        </p:txBody>
      </p:sp>
      <p:sp>
        <p:nvSpPr>
          <p:cNvPr id="52" name="Neurônio 3-0">
            <a:extLst xmlns:a="http://schemas.openxmlformats.org/drawingml/2006/main">
              <a:ext uri="{FF2B5EF4-FFF2-40B4-BE49-F238E27FC236}">
                <a16:creationId xmlns:a16="http://schemas.microsoft.com/office/drawing/2014/main" id="{58D575E3-7F8C-47F4-9A17-6142BA1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17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9050">
            <a:solidFill>
              <a:srgbClr val="FFAD6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Q̂</a:t>
            </a:r>
          </a:p>
        </p:txBody>
      </p:sp>
      <p:sp>
        <p:nvSpPr>
          <p:cNvPr id="80" name="Nome da entrada 0">
            <a:extLst xmlns:a="http://schemas.openxmlformats.org/drawingml/2006/main">
              <a:ext uri="{FF2B5EF4-FFF2-40B4-BE49-F238E27FC236}">
                <a16:creationId xmlns:a16="http://schemas.microsoft.com/office/drawing/2014/main" id="{13958AA5-C807-4F4F-97E3-9D7279BF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P(t)</a:t>
            </a:r>
          </a:p>
        </p:txBody>
      </p:sp>
      <p:sp>
        <p:nvSpPr>
          <p:cNvPr id="81" name="Nome da entrada 1">
            <a:extLst xmlns:a="http://schemas.openxmlformats.org/drawingml/2006/main">
              <a:ext uri="{FF2B5EF4-FFF2-40B4-BE49-F238E27FC236}">
                <a16:creationId xmlns:a16="http://schemas.microsoft.com/office/drawing/2014/main" id="{54F98BBA-CD4F-467C-A9CC-ED56E82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Q(t)</a:t>
            </a:r>
          </a:p>
        </p:txBody>
      </p:sp>
      <p:sp>
        <p:nvSpPr>
          <p:cNvPr id="82" name="Nome da entrada 2">
            <a:extLst xmlns:a="http://schemas.openxmlformats.org/drawingml/2006/main">
              <a:ext uri="{FF2B5EF4-FFF2-40B4-BE49-F238E27FC236}">
                <a16:creationId xmlns:a16="http://schemas.microsoft.com/office/drawing/2014/main" id="{7A3B2A1D-5332-44DD-AF09-F6F016CF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Q(t−1)</a:t>
            </a:r>
          </a:p>
        </p:txBody>
      </p:sp>
      <p:sp>
        <p:nvSpPr>
          <p:cNvPr id="83" name="Camada 0">
            <a:extLst xmlns:a="http://schemas.openxmlformats.org/drawingml/2006/main">
              <a:ext uri="{FF2B5EF4-FFF2-40B4-BE49-F238E27FC236}">
                <a16:creationId xmlns:a16="http://schemas.microsoft.com/office/drawing/2014/main" id="{BF29F03B-C3D2-4750-AABD-D2DD41BF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6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Entradas</a:t>
            </a:r>
          </a:p>
        </p:txBody>
      </p:sp>
      <p:sp>
        <p:nvSpPr>
          <p:cNvPr id="84" name="Camada 1">
            <a:extLst xmlns:a="http://schemas.openxmlformats.org/drawingml/2006/main">
              <a:ext uri="{FF2B5EF4-FFF2-40B4-BE49-F238E27FC236}">
                <a16:creationId xmlns:a16="http://schemas.microsoft.com/office/drawing/2014/main" id="{99E9E8D6-EAA5-48F9-AA2C-A32ED159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860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Oculta 1</a:t>
            </a:r>
          </a:p>
        </p:txBody>
      </p:sp>
      <p:sp>
        <p:nvSpPr>
          <p:cNvPr id="85" name="Camada 2">
            <a:extLst xmlns:a="http://schemas.openxmlformats.org/drawingml/2006/main">
              <a:ext uri="{FF2B5EF4-FFF2-40B4-BE49-F238E27FC236}">
                <a16:creationId xmlns:a16="http://schemas.microsoft.com/office/drawing/2014/main" id="{4853F3CA-58F2-4440-811B-81A7355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Oculta 2</a:t>
            </a:r>
          </a:p>
        </p:txBody>
      </p:sp>
      <p:sp>
        <p:nvSpPr>
          <p:cNvPr id="86" name="Camada 3">
            <a:extLst xmlns:a="http://schemas.openxmlformats.org/drawingml/2006/main">
              <a:ext uri="{FF2B5EF4-FFF2-40B4-BE49-F238E27FC236}">
                <a16:creationId xmlns:a16="http://schemas.microsoft.com/office/drawing/2014/main" id="{77A2A32D-27FE-41B3-8F1A-3C17C475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86025"/>
            <a:ext cx="182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Saída</a:t>
            </a:r>
          </a:p>
        </p:txBody>
      </p:sp>
      <p:sp>
        <p:nvSpPr>
          <p:cNvPr id="8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1DF70484-400D-4151-89DA-1E9224D8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A combinação de camadas com ativações não lineares permite representar relações não lineares.</a:t>
            </a:r>
          </a:p>
        </p:txBody>
      </p:sp>
      <p:sp>
        <p:nvSpPr>
          <p:cNvPr id="8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5E3BE77D-1503-4E04-9939-DBF4A052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05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MLP e treinamento</a:t>
            </a:r>
          </a:p>
        </p:txBody>
      </p:sp>
      <p:pic>
        <p:nvPicPr>
          <p:cNvPr id="6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2c10985c4664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4B2A1B7C-ABF8-4796-9CE8-B1DE38B8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 neurônio: combinação e ativação</a:t>
            </a:r>
          </a:p>
        </p:txBody>
      </p:sp>
      <p:sp>
        <p:nvSpPr>
          <p:cNvPr id="42" name="Etapa 1">
            <a:extLst xmlns:a="http://schemas.openxmlformats.org/drawingml/2006/main">
              <a:ext uri="{FF2B5EF4-FFF2-40B4-BE49-F238E27FC236}">
                <a16:creationId xmlns:a16="http://schemas.microsoft.com/office/drawing/2014/main" id="{7195681D-E028-4B66-8798-ABEB6AB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3454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x₁, x₂</a:t>
            </a:r>
          </a:p>
        </p:txBody>
      </p:sp>
      <p:sp>
        <p:nvSpPr>
          <p:cNvPr id="43" name="Etapa 2">
            <a:extLst xmlns:a="http://schemas.openxmlformats.org/drawingml/2006/main">
              <a:ext uri="{FF2B5EF4-FFF2-40B4-BE49-F238E27FC236}">
                <a16:creationId xmlns:a16="http://schemas.microsoft.com/office/drawing/2014/main" id="{FB29EC56-6942-4700-A55F-16ADE7B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454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z = w₁x₁ + w₂x₂ + b</a:t>
            </a:r>
          </a:p>
        </p:txBody>
      </p:sp>
      <p:sp>
        <p:nvSpPr>
          <p:cNvPr id="44" name="Etapa 3">
            <a:extLst xmlns:a="http://schemas.openxmlformats.org/drawingml/2006/main">
              <a:ext uri="{FF2B5EF4-FFF2-40B4-BE49-F238E27FC236}">
                <a16:creationId xmlns:a16="http://schemas.microsoft.com/office/drawing/2014/main" id="{BFEDB6EA-6A12-444A-86F1-16880053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05125"/>
            <a:ext cx="3454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 = ReLU(z)</a:t>
            </a:r>
          </a:p>
        </p:txBody>
      </p:sp>
      <p:cxnSp>
        <p:nvCxnSpPr>
          <p:cNvPr id="73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9116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8232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47" name="Exemplo">
            <a:extLst xmlns:a="http://schemas.openxmlformats.org/drawingml/2006/main">
              <a:ext uri="{FF2B5EF4-FFF2-40B4-BE49-F238E27FC236}">
                <a16:creationId xmlns:a16="http://schemas.microsoft.com/office/drawing/2014/main" id="{53C4BA35-2F07-479A-AD95-A0FC4E1C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Exemplo com entradas já padronizadas</a:t>
            </a:r>
          </a:p>
        </p:txBody>
      </p:sp>
      <p:graphicFrame>
        <p:nvGraphicFramePr>
          <p:cNvPr id="76" name=""/>
          <p:cNvGraphicFramePr/>
          <p:nvPr/>
        </p:nvGraphicFramePr>
        <p:xfrm>
          <a:off xmlns:a="http://schemas.openxmlformats.org/drawingml/2006/main" x="457200" y="4562475"/>
          <a:ext xmlns:a="http://schemas.openxmlformats.org/drawingml/2006/main" cx="11277600" cy="1266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914650"/>
                <a:gridCol w="5791200"/>
              </a:tblGrid>
              <a:tr h="38100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Pesos e viés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Cálculo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88582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x₁ = 1,0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x₂ = 0,5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w₁ = 0,8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w₂ = −0,4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 = 0,1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 = 0,8 − 0,2 + 0,1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 = 0,7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 = max(0, z) = 0,7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9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DCBB9B0C-CD4C-42E1-AC65-B5566216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Valores hipotéticos e adimensionais. ReLU(z) = max(0, z).</a:t>
            </a:r>
          </a:p>
        </p:txBody>
      </p:sp>
      <p:sp>
        <p:nvSpPr>
          <p:cNvPr id="5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6BCEA3A6-29D6-4E0F-A514-76A32D43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06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MLP e treinamento</a:t>
            </a:r>
          </a:p>
        </p:txBody>
      </p:sp>
      <p:pic>
        <p:nvPicPr>
          <p:cNvPr id="7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595ecd1a140f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74BBAC1D-D081-4078-923E-5A2774E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ciclo de treinamento</a:t>
            </a:r>
          </a:p>
        </p:txBody>
      </p:sp>
      <p:sp>
        <p:nvSpPr>
          <p:cNvPr id="42" name="Etapa 1">
            <a:extLst xmlns:a="http://schemas.openxmlformats.org/drawingml/2006/main">
              <a:ext uri="{FF2B5EF4-FFF2-40B4-BE49-F238E27FC236}">
                <a16:creationId xmlns:a16="http://schemas.microsoft.com/office/drawing/2014/main" id="{FADF8F52-79EA-4FA1-9212-32F28D5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 ŷ</a:t>
            </a:r>
          </a:p>
        </p:txBody>
      </p:sp>
      <p:sp>
        <p:nvSpPr>
          <p:cNvPr id="43" name="Etapa 2">
            <a:extLst xmlns:a="http://schemas.openxmlformats.org/drawingml/2006/main">
              <a:ext uri="{FF2B5EF4-FFF2-40B4-BE49-F238E27FC236}">
                <a16:creationId xmlns:a16="http://schemas.microsoft.com/office/drawing/2014/main" id="{AD2D15C6-5A40-41D1-8813-60409F06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860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Perda L(y, ŷ)</a:t>
            </a:r>
          </a:p>
        </p:txBody>
      </p:sp>
      <p:sp>
        <p:nvSpPr>
          <p:cNvPr id="44" name="Etapa 3">
            <a:extLst xmlns:a="http://schemas.openxmlformats.org/drawingml/2006/main">
              <a:ext uri="{FF2B5EF4-FFF2-40B4-BE49-F238E27FC236}">
                <a16:creationId xmlns:a16="http://schemas.microsoft.com/office/drawing/2014/main" id="{F8CD78FC-8BB0-4883-A182-30FE4942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860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Gradientes</a:t>
            </a:r>
          </a:p>
        </p:txBody>
      </p:sp>
      <p:sp>
        <p:nvSpPr>
          <p:cNvPr id="45" name="Etapa 4">
            <a:extLst xmlns:a="http://schemas.openxmlformats.org/drawingml/2006/main">
              <a:ext uri="{FF2B5EF4-FFF2-40B4-BE49-F238E27FC236}">
                <a16:creationId xmlns:a16="http://schemas.microsoft.com/office/drawing/2014/main" id="{71B45AEE-2C81-4162-90C2-23BFE2C7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Atualização</a:t>
            </a:r>
          </a:p>
        </p:txBody>
      </p:sp>
      <p:cxnSp>
        <p:nvCxnSpPr>
          <p:cNvPr id="82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2933700" y="33194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867400" y="33194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801100" y="33194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49" name="Operação 0">
            <a:extLst xmlns:a="http://schemas.openxmlformats.org/drawingml/2006/main">
              <a:ext uri="{FF2B5EF4-FFF2-40B4-BE49-F238E27FC236}">
                <a16:creationId xmlns:a16="http://schemas.microsoft.com/office/drawing/2014/main" id="{6F9399ED-3E82-4D89-80E6-055058B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Forward</a:t>
            </a:r>
          </a:p>
        </p:txBody>
      </p:sp>
      <p:sp>
        <p:nvSpPr>
          <p:cNvPr id="50" name="Operação 1">
            <a:extLst xmlns:a="http://schemas.openxmlformats.org/drawingml/2006/main">
              <a:ext uri="{FF2B5EF4-FFF2-40B4-BE49-F238E27FC236}">
                <a16:creationId xmlns:a16="http://schemas.microsoft.com/office/drawing/2014/main" id="{A7BDEE30-E428-4AE9-B8D9-73500C0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Comparação</a:t>
            </a:r>
          </a:p>
        </p:txBody>
      </p:sp>
      <p:sp>
        <p:nvSpPr>
          <p:cNvPr id="51" name="Operação 2">
            <a:extLst xmlns:a="http://schemas.openxmlformats.org/drawingml/2006/main">
              <a:ext uri="{FF2B5EF4-FFF2-40B4-BE49-F238E27FC236}">
                <a16:creationId xmlns:a16="http://schemas.microsoft.com/office/drawing/2014/main" id="{E9CED1CA-5E87-41E9-9D18-7AB22A1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Backpropagation</a:t>
            </a:r>
          </a:p>
        </p:txBody>
      </p:sp>
      <p:sp>
        <p:nvSpPr>
          <p:cNvPr id="52" name="Operação 3">
            <a:extLst xmlns:a="http://schemas.openxmlformats.org/drawingml/2006/main">
              <a:ext uri="{FF2B5EF4-FFF2-40B4-BE49-F238E27FC236}">
                <a16:creationId xmlns:a16="http://schemas.microsoft.com/office/drawing/2014/main" id="{EC6FA6F3-1481-419A-9341-C0F98F03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Otimizador</a:t>
            </a:r>
          </a:p>
        </p:txBody>
      </p:sp>
      <p:sp>
        <p:nvSpPr>
          <p:cNvPr id="53" name="Loss">
            <a:extLst xmlns:a="http://schemas.openxmlformats.org/drawingml/2006/main">
              <a:ext uri="{FF2B5EF4-FFF2-40B4-BE49-F238E27FC236}">
                <a16:creationId xmlns:a16="http://schemas.microsoft.com/office/drawing/2014/main" id="{7B8B5C82-2207-42A8-BF06-3AF320F4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 = média dos erros quadráticos</a:t>
            </a:r>
          </a:p>
        </p:txBody>
      </p:sp>
      <p:sp>
        <p:nvSpPr>
          <p:cNvPr id="54" name="Update">
            <a:extLst xmlns:a="http://schemas.openxmlformats.org/drawingml/2006/main">
              <a:ext uri="{FF2B5EF4-FFF2-40B4-BE49-F238E27FC236}">
                <a16:creationId xmlns:a16="http://schemas.microsoft.com/office/drawing/2014/main" id="{0AB64AC7-8959-4793-856B-D493518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w novo = w − η · ∂L/∂w</a:t>
            </a:r>
          </a:p>
        </p:txBody>
      </p:sp>
      <p:sp>
        <p:nvSpPr>
          <p:cNvPr id="55" name="Distinção">
            <a:extLst xmlns:a="http://schemas.openxmlformats.org/drawingml/2006/main">
              <a:ext uri="{FF2B5EF4-FFF2-40B4-BE49-F238E27FC236}">
                <a16:creationId xmlns:a16="http://schemas.microsoft.com/office/drawing/2014/main" id="{BBF062A3-277B-4A87-A149-FE8B1F1E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895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Backpropagation calcula gradientes.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otimizador usa esses gradientes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para modificar pesos e vieses.</a:t>
            </a:r>
          </a:p>
        </p:txBody>
      </p:sp>
      <p:sp>
        <p:nvSpPr>
          <p:cNvPr id="5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F9CEFF68-EEF5-4D6C-BCF1-EDFD335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η é a taxa de aprendizado. O exemplo representa a atualização por gradiente descendente.</a:t>
            </a:r>
          </a:p>
        </p:txBody>
      </p:sp>
      <p:sp>
        <p:nvSpPr>
          <p:cNvPr id="5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4AD9F222-1EDD-4CC0-AE6F-687BC045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07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MLP e treinamento</a:t>
            </a:r>
          </a:p>
        </p:txBody>
      </p:sp>
      <p:pic>
        <p:nvPicPr>
          <p:cNvPr id="6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afe01ee264ee9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9CE0FFA-4402-4298-A5E4-4B252F6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Uma atualização calculada à mão</a:t>
            </a:r>
          </a:p>
        </p:txBody>
      </p:sp>
      <p:sp>
        <p:nvSpPr>
          <p:cNvPr id="42" name="Modelo escalar">
            <a:extLst xmlns:a="http://schemas.openxmlformats.org/drawingml/2006/main">
              <a:ext uri="{FF2B5EF4-FFF2-40B4-BE49-F238E27FC236}">
                <a16:creationId xmlns:a16="http://schemas.microsoft.com/office/drawing/2014/main" id="{EB5BAFAF-DC2B-41FD-9656-C322E31F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Modelo: ŷ = w · x</a:t>
            </a:r>
          </a:p>
        </p:txBody>
      </p:sp>
      <p:sp>
        <p:nvSpPr>
          <p:cNvPr id="43" name="Initial">
            <a:extLst xmlns:a="http://schemas.openxmlformats.org/drawingml/2006/main">
              <a:ext uri="{FF2B5EF4-FFF2-40B4-BE49-F238E27FC236}">
                <a16:creationId xmlns:a16="http://schemas.microsoft.com/office/drawing/2014/main" id="{29E4ACE3-D058-43F8-8732-E40F65F0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54102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x = 2, y = 2, w = 0,5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ŷ = 1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 = ½(ŷ − y)² = 0,50</a:t>
            </a:r>
          </a:p>
        </p:txBody>
      </p:sp>
      <p:sp>
        <p:nvSpPr>
          <p:cNvPr id="44" name="Gradient">
            <a:extLst xmlns:a="http://schemas.openxmlformats.org/drawingml/2006/main">
              <a:ext uri="{FF2B5EF4-FFF2-40B4-BE49-F238E27FC236}">
                <a16:creationId xmlns:a16="http://schemas.microsoft.com/office/drawing/2014/main" id="{5D04ADAF-605B-4DE2-93FE-8933C9A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41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∂L/∂w = (ŷ − y) · x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∂L/∂w = (1 − 2) · 2 = −2</a:t>
            </a:r>
          </a:p>
        </p:txBody>
      </p:sp>
      <p:sp>
        <p:nvSpPr>
          <p:cNvPr id="45" name="Peso inicial">
            <a:extLst xmlns:a="http://schemas.openxmlformats.org/drawingml/2006/main">
              <a:ext uri="{FF2B5EF4-FFF2-40B4-BE49-F238E27FC236}">
                <a16:creationId xmlns:a16="http://schemas.microsoft.com/office/drawing/2014/main" id="{06E385BF-50E4-45CD-B7CA-836107C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38450"/>
            <a:ext cx="31718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w = 0,5</a:t>
            </a:r>
          </a:p>
        </p:txBody>
      </p:sp>
      <p:sp>
        <p:nvSpPr>
          <p:cNvPr id="46" name="Peso novo">
            <a:extLst xmlns:a="http://schemas.openxmlformats.org/drawingml/2006/main">
              <a:ext uri="{FF2B5EF4-FFF2-40B4-BE49-F238E27FC236}">
                <a16:creationId xmlns:a16="http://schemas.microsoft.com/office/drawing/2014/main" id="{50702F26-3CA3-4AD1-949B-228B6FFC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162425"/>
            <a:ext cx="31718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71E7BD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w novo = 0,7</a:t>
            </a:r>
          </a:p>
        </p:txBody>
      </p:sp>
      <p:cxnSp>
        <p:nvCxnSpPr>
          <p:cNvPr id="76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8758238" y="357187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E7BD"/>
            </a:solidFill>
            <a:prstDash val="solid"/>
            <a:tailEnd type="triangle" w="med" len="med"/>
          </a:ln>
        </p:spPr>
      </p:cxnSp>
      <p:sp>
        <p:nvSpPr>
          <p:cNvPr id="48" name="Step">
            <a:extLst xmlns:a="http://schemas.openxmlformats.org/drawingml/2006/main">
              <a:ext uri="{FF2B5EF4-FFF2-40B4-BE49-F238E27FC236}">
                <a16:creationId xmlns:a16="http://schemas.microsoft.com/office/drawing/2014/main" id="{644D6773-5CE1-49C7-94BB-24603CAD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448050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η = 0,1</a:t>
            </a:r>
          </a:p>
        </p:txBody>
      </p:sp>
      <p:sp>
        <p:nvSpPr>
          <p:cNvPr id="49" name="Result">
            <a:extLst xmlns:a="http://schemas.openxmlformats.org/drawingml/2006/main">
              <a:ext uri="{FF2B5EF4-FFF2-40B4-BE49-F238E27FC236}">
                <a16:creationId xmlns:a16="http://schemas.microsoft.com/office/drawing/2014/main" id="{3E66D419-4A7B-460B-B57A-20E58D9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387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ŷ novo = 1,4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L novo = 0,18</a:t>
            </a:r>
          </a:p>
        </p:txBody>
      </p:sp>
      <p:sp>
        <p:nvSpPr>
          <p:cNvPr id="50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6D4493B-A9B8-4235-B58A-A15D19C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escalar hipotético. w novo = 0,5 − 0,1 × (−2) = 0,7.</a:t>
            </a:r>
          </a:p>
        </p:txBody>
      </p:sp>
      <p:sp>
        <p:nvSpPr>
          <p:cNvPr id="51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920534F-B0A3-441B-AEB9-20BF790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08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MLP e treinamento</a:t>
            </a:r>
          </a:p>
        </p:txBody>
      </p:sp>
      <p:pic>
        <p:nvPicPr>
          <p:cNvPr id="5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e8192b094866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B85CAEF-8F96-4E58-B398-FA06763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Parâmetros e hiperparâmetros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457200" y="2600325"/>
          <a:ext xmlns:a="http://schemas.openxmlformats.org/drawingml/2006/main" cx="11277600" cy="2171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86025"/>
                <a:gridCol w="4867275"/>
                <a:gridCol w="3924300"/>
              </a:tblGrid>
              <a:tr h="5143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Conceito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Exemplos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Como obter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72390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Parâmetros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Pesos w e vieses b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Aprendizado com o treino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933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Hiperparâmetros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Camadas, neurônios, η,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batch size, regularização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Escolha e comparação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na validação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8555938A-1A67-4BB9-B512-DCCD7E13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Ao trocar um hiperparâmetro, treinamos uma nova configuração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 comparamos seu desempenho no mesmo protocolo.</a:t>
            </a:r>
          </a:p>
        </p:txBody>
      </p:sp>
      <p:sp>
        <p:nvSpPr>
          <p:cNvPr id="44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AB4E649C-E6A4-47E9-BB34-3507D31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09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Generalização</a:t>
            </a:r>
          </a:p>
        </p:txBody>
      </p:sp>
      <p:pic>
        <p:nvPicPr>
          <p:cNvPr id="58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a92c3c1c3423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AA351F73-0C4C-4B6E-A18D-9782A32F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Capacidade e ajuste aos mesmos dados</a:t>
            </a:r>
          </a:p>
        </p:txBody>
      </p:sp>
      <p:sp>
        <p:nvSpPr>
          <p:cNvPr id="42" name="Modelo 1">
            <a:extLst xmlns:a="http://schemas.openxmlformats.org/drawingml/2006/main">
              <a:ext uri="{FF2B5EF4-FFF2-40B4-BE49-F238E27FC236}">
                <a16:creationId xmlns:a16="http://schemas.microsoft.com/office/drawing/2014/main" id="{E2E27213-95C0-47A0-8701-46428A44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Ajuste linear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457200" y="2857500"/>
          <a:ext xmlns:a="http://schemas.openxmlformats.org/drawingml/2006/main" cx="34861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b1df8947604010"/>
          </a:graphicData>
        </a:graphic>
      </p:graphicFrame>
      <p:sp>
        <p:nvSpPr>
          <p:cNvPr id="44" name="Modelo 3">
            <a:extLst xmlns:a="http://schemas.openxmlformats.org/drawingml/2006/main">
              <a:ext uri="{FF2B5EF4-FFF2-40B4-BE49-F238E27FC236}">
                <a16:creationId xmlns:a16="http://schemas.microsoft.com/office/drawing/2014/main" id="{64C5CB6B-F214-4C65-B208-04F35BE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Curvatura moderada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4267200" y="2857500"/>
          <a:ext xmlns:a="http://schemas.openxmlformats.org/drawingml/2006/main" cx="34861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8ab18325974530"/>
          </a:graphicData>
        </a:graphic>
      </p:graphicFrame>
      <p:sp>
        <p:nvSpPr>
          <p:cNvPr id="46" name="Modelo 11">
            <a:extLst xmlns:a="http://schemas.openxmlformats.org/drawingml/2006/main">
              <a:ext uri="{FF2B5EF4-FFF2-40B4-BE49-F238E27FC236}">
                <a16:creationId xmlns:a16="http://schemas.microsoft.com/office/drawing/2014/main" id="{18317CE2-4BA5-43E2-878E-8021076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Interpolação flexível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077200" y="2857500"/>
          <a:ext xmlns:a="http://schemas.openxmlformats.org/drawingml/2006/main" cx="34861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53655fa16b4f83"/>
          </a:graphicData>
        </a:graphic>
      </p:graphicFrame>
      <p:sp>
        <p:nvSpPr>
          <p:cNvPr id="48" name="Reading">
            <a:extLst xmlns:a="http://schemas.openxmlformats.org/drawingml/2006/main">
              <a:ext uri="{FF2B5EF4-FFF2-40B4-BE49-F238E27FC236}">
                <a16:creationId xmlns:a16="http://schemas.microsoft.com/office/drawing/2014/main" id="{C058AFB8-D067-447F-A272-34726D98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O terceiro modelo acompanha o ruído e oscila entre observações.</a:t>
            </a:r>
          </a:p>
        </p:txBody>
      </p:sp>
      <p:sp>
        <p:nvSpPr>
          <p:cNvPr id="49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955A6A9-456D-4115-B38A-272D245E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Dados sintéticos. Ajustes polinomiais de graus 1, 3 e 11 ilustram o efeito da capacidade.</a:t>
            </a:r>
          </a:p>
        </p:txBody>
      </p:sp>
      <p:sp>
        <p:nvSpPr>
          <p:cNvPr id="5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6ED2CEC5-9878-4142-9D76-33F470EF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10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Generalização</a:t>
            </a:r>
          </a:p>
        </p:txBody>
      </p:sp>
      <p:pic>
        <p:nvPicPr>
          <p:cNvPr id="5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a4f7e0996456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15E37F5-3576-4C04-9FCA-0885BE3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Curvas de treino e validação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457200" y="2495550"/>
          <a:ext xmlns:a="http://schemas.openxmlformats.org/drawingml/2006/main" cx="76581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3dc6c72bde4f1c"/>
          </a:graphicData>
        </a:graphic>
      </p:graphicFrame>
      <p:sp>
        <p:nvSpPr>
          <p:cNvPr id="43" name="Checkpoint">
            <a:extLst xmlns:a="http://schemas.openxmlformats.org/drawingml/2006/main">
              <a:ext uri="{FF2B5EF4-FFF2-40B4-BE49-F238E27FC236}">
                <a16:creationId xmlns:a16="http://schemas.microsoft.com/office/drawing/2014/main" id="{4F09704C-A36C-49FF-A0A6-427F5AAD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Menor erro de validação</a:t>
            </a:r>
          </a:p>
        </p:txBody>
      </p:sp>
      <p:sp>
        <p:nvSpPr>
          <p:cNvPr id="44" name="Best">
            <a:extLst xmlns:a="http://schemas.openxmlformats.org/drawingml/2006/main">
              <a:ext uri="{FF2B5EF4-FFF2-40B4-BE49-F238E27FC236}">
                <a16:creationId xmlns:a16="http://schemas.microsoft.com/office/drawing/2014/main" id="{7737901B-323E-4BE7-AD7B-FCDB5B8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76625"/>
            <a:ext cx="331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Época 60</a:t>
            </a:r>
          </a:p>
        </p:txBody>
      </p:sp>
      <p:sp>
        <p:nvSpPr>
          <p:cNvPr id="45" name="Lesson">
            <a:extLst xmlns:a="http://schemas.openxmlformats.org/drawingml/2006/main">
              <a:ext uri="{FF2B5EF4-FFF2-40B4-BE49-F238E27FC236}">
                <a16:creationId xmlns:a16="http://schemas.microsoft.com/office/drawing/2014/main" id="{605DBAFB-2100-4C4F-8444-49BE8608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95775"/>
            <a:ext cx="3314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Depois desse ponto,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treino melhora,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mas a validação piora.</a:t>
            </a:r>
          </a:p>
        </p:txBody>
      </p:sp>
      <p:sp>
        <p:nvSpPr>
          <p:cNvPr id="46" name="Legenda Treino">
            <a:extLst xmlns:a="http://schemas.openxmlformats.org/drawingml/2006/main">
              <a:ext uri="{FF2B5EF4-FFF2-40B4-BE49-F238E27FC236}">
                <a16:creationId xmlns:a16="http://schemas.microsoft.com/office/drawing/2014/main" id="{C16228CB-BB5C-4A22-8FD9-F44C728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47" name="Texto da legenda Treino">
            <a:extLst xmlns:a="http://schemas.openxmlformats.org/drawingml/2006/main">
              <a:ext uri="{FF2B5EF4-FFF2-40B4-BE49-F238E27FC236}">
                <a16:creationId xmlns:a16="http://schemas.microsoft.com/office/drawing/2014/main" id="{4623007D-3FB0-4272-B527-483AD8A5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Treino</a:t>
            </a:r>
          </a:p>
        </p:txBody>
      </p:sp>
      <p:sp>
        <p:nvSpPr>
          <p:cNvPr id="48" name="Legenda Validação">
            <a:extLst xmlns:a="http://schemas.openxmlformats.org/drawingml/2006/main">
              <a:ext uri="{FF2B5EF4-FFF2-40B4-BE49-F238E27FC236}">
                <a16:creationId xmlns:a16="http://schemas.microsoft.com/office/drawing/2014/main" id="{D0E32906-0EB8-4B82-A457-A04A6A5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49" name="Texto da legenda Validação">
            <a:extLst xmlns:a="http://schemas.openxmlformats.org/drawingml/2006/main">
              <a:ext uri="{FF2B5EF4-FFF2-40B4-BE49-F238E27FC236}">
                <a16:creationId xmlns:a16="http://schemas.microsoft.com/office/drawing/2014/main" id="{9BE03385-FFFD-457D-A62A-6109EDB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769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Validação</a:t>
            </a:r>
          </a:p>
        </p:txBody>
      </p:sp>
      <p:sp>
        <p:nvSpPr>
          <p:cNvPr id="50" name="Legenda Melhor época">
            <a:extLst xmlns:a="http://schemas.openxmlformats.org/drawingml/2006/main">
              <a:ext uri="{FF2B5EF4-FFF2-40B4-BE49-F238E27FC236}">
                <a16:creationId xmlns:a16="http://schemas.microsoft.com/office/drawing/2014/main" id="{D0A802EF-B82C-4CB1-862B-DF27BD93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E7BD"/>
            </a:solidFill>
          </a:ln>
        </p:spPr>
      </p:sp>
      <p:sp>
        <p:nvSpPr>
          <p:cNvPr id="51" name="Texto da legenda Melhor época">
            <a:extLst xmlns:a="http://schemas.openxmlformats.org/drawingml/2006/main">
              <a:ext uri="{FF2B5EF4-FFF2-40B4-BE49-F238E27FC236}">
                <a16:creationId xmlns:a16="http://schemas.microsoft.com/office/drawing/2014/main" id="{F618F69A-5B72-449D-9DEF-017067B4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Melhor época</a:t>
            </a:r>
          </a:p>
        </p:txBody>
      </p:sp>
      <p:sp>
        <p:nvSpPr>
          <p:cNvPr id="52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EBF8BDF9-877D-4BDC-B0EC-B9BA087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Curvas sintéticas para diagnóstico. O menor MSE de validação ocorre na época 60.</a:t>
            </a:r>
          </a:p>
        </p:txBody>
      </p:sp>
      <p:sp>
        <p:nvSpPr>
          <p:cNvPr id="53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065256C2-FCAA-4753-8CDE-D2A2F94F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11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Generalização</a:t>
            </a:r>
          </a:p>
        </p:txBody>
      </p:sp>
      <p:pic>
        <p:nvPicPr>
          <p:cNvPr id="5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7ea7daa61483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D75EB1F-B9DF-411A-8833-280E850A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Early stopping e o melhor estado da rede</a:t>
            </a:r>
          </a:p>
        </p:txBody>
      </p:sp>
      <p:graphicFrame>
        <p:nvGraphicFramePr>
          <p:cNvPr id="56" name=""/>
          <p:cNvGraphicFramePr/>
          <p:nvPr/>
        </p:nvGraphicFramePr>
        <p:xfrm>
          <a:off xmlns:a="http://schemas.openxmlformats.org/drawingml/2006/main" x="457200" y="2562225"/>
          <a:ext xmlns:a="http://schemas.openxmlformats.org/drawingml/2006/main" cx="6591300" cy="3114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57350"/>
                <a:gridCol w="2857500"/>
                <a:gridCol w="2076450"/>
              </a:tblGrid>
              <a:tr h="519113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Época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MSE de validação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Épocas sem melhora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19113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0,240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19113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19113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0,225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19113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0,224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19113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0,226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Settings">
            <a:extLst xmlns:a="http://schemas.openxmlformats.org/drawingml/2006/main">
              <a:ext uri="{FF2B5EF4-FFF2-40B4-BE49-F238E27FC236}">
                <a16:creationId xmlns:a16="http://schemas.microsoft.com/office/drawing/2014/main" id="{05C85C57-0D36-443B-AC60-3264F407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76525"/>
            <a:ext cx="415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Patience = 3</a:t>
            </a:r>
          </a:p>
        </p:txBody>
      </p:sp>
      <p:sp>
        <p:nvSpPr>
          <p:cNvPr id="44" name="Restore">
            <a:extLst xmlns:a="http://schemas.openxmlformats.org/drawingml/2006/main">
              <a:ext uri="{FF2B5EF4-FFF2-40B4-BE49-F238E27FC236}">
                <a16:creationId xmlns:a16="http://schemas.microsoft.com/office/drawing/2014/main" id="{A42E3F62-DD57-4432-8325-B0A1C103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62325"/>
            <a:ext cx="4152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Parada na época 44.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Retorno aos pesos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da época 41.</a:t>
            </a:r>
          </a:p>
        </p:txBody>
      </p:sp>
      <p:sp>
        <p:nvSpPr>
          <p:cNvPr id="45" name="Tolerance">
            <a:extLst xmlns:a="http://schemas.openxmlformats.org/drawingml/2006/main">
              <a:ext uri="{FF2B5EF4-FFF2-40B4-BE49-F238E27FC236}">
                <a16:creationId xmlns:a16="http://schemas.microsoft.com/office/drawing/2014/main" id="{D7A4E286-D472-48D0-9EB3-2AFFE8D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9675"/>
            <a:ext cx="4152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tolerância define o que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conta como melhora.</a:t>
            </a:r>
          </a:p>
        </p:txBody>
      </p:sp>
      <p:sp>
        <p:nvSpPr>
          <p:cNvPr id="4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4811B02F-7FA1-40CF-8535-CB73CA80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hipotético. Regra ilustrada com tolerância zero e preservação do melhor checkpoint.</a:t>
            </a:r>
          </a:p>
        </p:txBody>
      </p:sp>
      <p:sp>
        <p:nvSpPr>
          <p:cNvPr id="4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3C71EBB5-E4DA-4F73-B634-02FE1453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12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Generalização</a:t>
            </a:r>
          </a:p>
        </p:txBody>
      </p:sp>
      <p:pic>
        <p:nvPicPr>
          <p:cNvPr id="5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a909a755647f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3490D0C5-F1F9-43AD-AC2D-4B98A36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Diagnóstico orienta a intervenção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457200" y="2590800"/>
          <a:ext xmlns:a="http://schemas.openxmlformats.org/drawingml/2006/main" cx="11277600" cy="2914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67100"/>
                <a:gridCol w="3981450"/>
                <a:gridCol w="3829050"/>
              </a:tblGrid>
              <a:tr h="49530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Sinal observado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Hipótese a investigar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Intervenção a comparar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7810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Erros altos no treino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 na validação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Capacidade insuficiente,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 fracas ou treino curto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Melhorar atributos,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rever arquitetura e treino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 melhora,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validação piora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Overfitting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Early stopping,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regularização, menor rede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Perda oscila ou cresce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Taxa alta, escala das entradas,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outliers ou instabilidade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Padronização,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revisão de η e dos dados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C018B6FE-94D2-492B-82CB-E6A49BB4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As curvas sugerem hipóteses. Cada intervenção precisa de validação.</a:t>
            </a:r>
          </a:p>
        </p:txBody>
      </p:sp>
      <p:sp>
        <p:nvSpPr>
          <p:cNvPr id="44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0AA0056-6AD0-40FD-B7BB-2D9EE72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13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Seleção de atributos</a:t>
            </a:r>
          </a:p>
        </p:txBody>
      </p:sp>
      <p:pic>
        <p:nvPicPr>
          <p:cNvPr id="5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0af930f844ba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A3DF8718-72DD-43CB-8BED-CC911E1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Mais atributos aumentam a carga de ajuste</a:t>
            </a:r>
          </a:p>
        </p:txBody>
      </p:sp>
      <p:sp>
        <p:nvSpPr>
          <p:cNvPr id="42" name="Context">
            <a:extLst xmlns:a="http://schemas.openxmlformats.org/drawingml/2006/main">
              <a:ext uri="{FF2B5EF4-FFF2-40B4-BE49-F238E27FC236}">
                <a16:creationId xmlns:a16="http://schemas.microsoft.com/office/drawing/2014/main" id="{A34DA6A2-2472-4323-A6E7-7833B7A5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Camada inicial com 16 neurônios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457200" y="3000375"/>
          <a:ext xmlns:a="http://schemas.openxmlformats.org/drawingml/2006/main" cx="5610225" cy="2505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f001d9df1c4353"/>
          </a:graphicData>
        </a:graphic>
      </p:graphicFrame>
      <p:sp>
        <p:nvSpPr>
          <p:cNvPr id="44" name="Formula">
            <a:extLst xmlns:a="http://schemas.openxmlformats.org/drawingml/2006/main">
              <a:ext uri="{FF2B5EF4-FFF2-40B4-BE49-F238E27FC236}">
                <a16:creationId xmlns:a16="http://schemas.microsoft.com/office/drawing/2014/main" id="{739EA4DA-B3D1-4025-B922-7AA96762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57525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N = (p + 1) · 16</a:t>
            </a:r>
          </a:p>
        </p:txBody>
      </p:sp>
      <p:sp>
        <p:nvSpPr>
          <p:cNvPr id="45" name="Cases">
            <a:extLst xmlns:a="http://schemas.openxmlformats.org/drawingml/2006/main">
              <a:ext uri="{FF2B5EF4-FFF2-40B4-BE49-F238E27FC236}">
                <a16:creationId xmlns:a16="http://schemas.microsoft.com/office/drawing/2014/main" id="{4EA121EB-F38A-4251-96C3-561A88B7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719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 = 6: 112 parâmetros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 = 24: 400 parâmetros</a:t>
            </a:r>
          </a:p>
        </p:txBody>
      </p:sp>
      <p:sp>
        <p:nvSpPr>
          <p:cNvPr id="46" name="Meaning">
            <a:extLst xmlns:a="http://schemas.openxmlformats.org/drawingml/2006/main">
              <a:ext uri="{FF2B5EF4-FFF2-40B4-BE49-F238E27FC236}">
                <a16:creationId xmlns:a16="http://schemas.microsoft.com/office/drawing/2014/main" id="{4C34C053-9213-4A84-831D-08FC663D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895850"/>
            <a:ext cx="4810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Entradas redundantes ou irrelevantes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podem aumentar o esforço de ajuste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sem melhorar a previsão.</a:t>
            </a:r>
          </a:p>
        </p:txBody>
      </p:sp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FF760D00-0C08-4547-B4A4-6567C9D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Contagem exata para uma camada densa com viés. p é o número de entradas.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73EF2105-397C-49A5-8E41-B522C13A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14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Seleção de atributos</a:t>
            </a:r>
          </a:p>
        </p:txBody>
      </p:sp>
      <p:pic>
        <p:nvPicPr>
          <p:cNvPr id="6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ab32faeec498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01782A1-B8A3-4F8C-9D26-D874CF2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Correlação de Pearson: direção linear</a:t>
            </a:r>
          </a:p>
        </p:txBody>
      </p:sp>
      <p:sp>
        <p:nvSpPr>
          <p:cNvPr id="42" name="Relação 0">
            <a:extLst xmlns:a="http://schemas.openxmlformats.org/drawingml/2006/main">
              <a:ext uri="{FF2B5EF4-FFF2-40B4-BE49-F238E27FC236}">
                <a16:creationId xmlns:a16="http://schemas.microsoft.com/office/drawing/2014/main" id="{A75703E5-4AFE-4558-8FE2-6927C50E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486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Linear positiva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457200" y="2876550"/>
          <a:ext xmlns:a="http://schemas.openxmlformats.org/drawingml/2006/main" cx="348615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4f0d0157e84e4f"/>
          </a:graphicData>
        </a:graphic>
      </p:graphicFrame>
      <p:sp>
        <p:nvSpPr>
          <p:cNvPr id="44" name="r 0">
            <a:extLst xmlns:a="http://schemas.openxmlformats.org/drawingml/2006/main">
              <a:ext uri="{FF2B5EF4-FFF2-40B4-BE49-F238E27FC236}">
                <a16:creationId xmlns:a16="http://schemas.microsoft.com/office/drawing/2014/main" id="{896AD1E6-19F9-40E5-958D-6983F9F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 = +1</a:t>
            </a:r>
          </a:p>
        </p:txBody>
      </p:sp>
      <p:sp>
        <p:nvSpPr>
          <p:cNvPr id="45" name="Relação 1">
            <a:extLst xmlns:a="http://schemas.openxmlformats.org/drawingml/2006/main">
              <a:ext uri="{FF2B5EF4-FFF2-40B4-BE49-F238E27FC236}">
                <a16:creationId xmlns:a16="http://schemas.microsoft.com/office/drawing/2014/main" id="{C4A6AAC8-CF16-427E-BD4D-EBC1D2AD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486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Linear negativa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267200" y="2876550"/>
          <a:ext xmlns:a="http://schemas.openxmlformats.org/drawingml/2006/main" cx="348615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4d2978bc19465c"/>
          </a:graphicData>
        </a:graphic>
      </p:graphicFrame>
      <p:sp>
        <p:nvSpPr>
          <p:cNvPr id="47" name="r 1">
            <a:extLst xmlns:a="http://schemas.openxmlformats.org/drawingml/2006/main">
              <a:ext uri="{FF2B5EF4-FFF2-40B4-BE49-F238E27FC236}">
                <a16:creationId xmlns:a16="http://schemas.microsoft.com/office/drawing/2014/main" id="{2DACB38C-C1A8-43AB-8DA8-C052F67F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578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r = −1</a:t>
            </a:r>
          </a:p>
        </p:txBody>
      </p:sp>
      <p:sp>
        <p:nvSpPr>
          <p:cNvPr id="48" name="Relação 2">
            <a:extLst xmlns:a="http://schemas.openxmlformats.org/drawingml/2006/main">
              <a:ext uri="{FF2B5EF4-FFF2-40B4-BE49-F238E27FC236}">
                <a16:creationId xmlns:a16="http://schemas.microsoft.com/office/drawing/2014/main" id="{9CC94C90-5AF3-4C27-8582-F2CA1FD0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3486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Relação quadrática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8077200" y="2876550"/>
          <a:ext xmlns:a="http://schemas.openxmlformats.org/drawingml/2006/main" cx="348615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077b49dedb43b9"/>
          </a:graphicData>
        </a:graphic>
      </p:graphicFrame>
      <p:sp>
        <p:nvSpPr>
          <p:cNvPr id="50" name="r 2">
            <a:extLst xmlns:a="http://schemas.openxmlformats.org/drawingml/2006/main">
              <a:ext uri="{FF2B5EF4-FFF2-40B4-BE49-F238E27FC236}">
                <a16:creationId xmlns:a16="http://schemas.microsoft.com/office/drawing/2014/main" id="{E064789C-BFFD-4251-9358-5129F827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578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 = 0</a:t>
            </a:r>
          </a:p>
        </p:txBody>
      </p:sp>
      <p:sp>
        <p:nvSpPr>
          <p:cNvPr id="51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4BEE4E9-CD9C-4BC1-A554-B06986F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Exemplos matemáticos exatos. r próximo de zero não implica independência.</a:t>
            </a:r>
          </a:p>
        </p:txBody>
      </p:sp>
      <p:sp>
        <p:nvSpPr>
          <p:cNvPr id="52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E6F72DB1-A02A-4A10-80AE-8F4F4782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15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Seleção de atributos</a:t>
            </a:r>
          </a:p>
        </p:txBody>
      </p:sp>
      <p:pic>
        <p:nvPicPr>
          <p:cNvPr id="5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7c77904a64c6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02F4B0C-BDB9-472C-8B98-C76CCA2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Matriz de correlação entre entradas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457200" y="2667000"/>
          <a:ext xmlns:a="http://schemas.openxmlformats.org/drawingml/2006/main" cx="6143625" cy="2724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28725"/>
                <a:gridCol w="1228725"/>
                <a:gridCol w="1228725"/>
                <a:gridCol w="1228725"/>
                <a:gridCol w="1228725"/>
              </a:tblGrid>
              <a:tr h="544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P24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P48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P72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ETP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44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P24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marL="91440" marR="91440" marT="45720" marB="45720" anchor="ctr">
                    <a:solidFill>
                      <a:srgbClr val="1C3554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0,98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0,96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-0,60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</a:tr>
              <a:tr h="544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P48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0,98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marL="91440" marR="91440" marT="45720" marB="45720" anchor="ctr">
                    <a:solidFill>
                      <a:srgbClr val="1C3554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0,94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-0,59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</a:tr>
              <a:tr h="544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P72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0,96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0,94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marL="91440" marR="91440" marT="45720" marB="45720" anchor="ctr">
                    <a:solidFill>
                      <a:srgbClr val="1C3554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-0,57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</a:tr>
              <a:tr h="544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ETP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-0,60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-0,59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-0,57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marL="91440" marR="91440" marT="45720" marB="45720" anchor="ctr">
                    <a:solidFill>
                      <a:srgbClr val="1C3554"/>
                    </a:solidFill>
                  </a:tcPr>
                </a:tc>
              </a:tr>
            </a:tbl>
          </a:graphicData>
        </a:graphic>
      </p:graphicFrame>
      <p:sp>
        <p:nvSpPr>
          <p:cNvPr id="43" name="Redundancy">
            <a:extLst xmlns:a="http://schemas.openxmlformats.org/drawingml/2006/main">
              <a:ext uri="{FF2B5EF4-FFF2-40B4-BE49-F238E27FC236}">
                <a16:creationId xmlns:a16="http://schemas.microsoft.com/office/drawing/2014/main" id="{3C05CAB7-F16A-4CD8-9574-6ACE388A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P24, P48 e P72</a:t>
            </a:r>
          </a:p>
        </p:txBody>
      </p:sp>
      <p:sp>
        <p:nvSpPr>
          <p:cNvPr id="44" name="Read">
            <a:extLst xmlns:a="http://schemas.openxmlformats.org/drawingml/2006/main">
              <a:ext uri="{FF2B5EF4-FFF2-40B4-BE49-F238E27FC236}">
                <a16:creationId xmlns:a16="http://schemas.microsoft.com/office/drawing/2014/main" id="{E691D5F6-64D6-4E9C-A4AD-413E2D1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As chuvas acumuladas têm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forte associação linear.</a:t>
            </a:r>
          </a:p>
        </p:txBody>
      </p:sp>
      <p:sp>
        <p:nvSpPr>
          <p:cNvPr id="45" name="Negative">
            <a:extLst xmlns:a="http://schemas.openxmlformats.org/drawingml/2006/main">
              <a:ext uri="{FF2B5EF4-FFF2-40B4-BE49-F238E27FC236}">
                <a16:creationId xmlns:a16="http://schemas.microsoft.com/office/drawing/2014/main" id="{75EB9355-5499-4BC1-8173-61C65F7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95775"/>
            <a:ext cx="4591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ETP apresenta sinal negativo</a:t>
            </a:r>
          </a:p>
        </p:txBody>
      </p:sp>
      <p:sp>
        <p:nvSpPr>
          <p:cNvPr id="46" name="Absolute">
            <a:extLst xmlns:a="http://schemas.openxmlformats.org/drawingml/2006/main">
              <a:ext uri="{FF2B5EF4-FFF2-40B4-BE49-F238E27FC236}">
                <a16:creationId xmlns:a16="http://schemas.microsoft.com/office/drawing/2014/main" id="{927C955E-ADE5-4EE9-B2B9-FA1EB847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57775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magnitude |r| também importa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na análise de redundância.</a:t>
            </a:r>
          </a:p>
        </p:txBody>
      </p:sp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0142484C-B555-4A05-8F99-43B70AE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Matriz sintética. P24/P48/P72: chuvas acumuladas. ETP: evapotranspiração potencial.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33D91904-D064-4621-B44A-D7C82B5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16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Seleção de atributos</a:t>
            </a:r>
          </a:p>
        </p:txBody>
      </p:sp>
      <p:pic>
        <p:nvPicPr>
          <p:cNvPr id="6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db14893cb4ef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D9B18E8-7C06-4A67-9F4D-E534E9B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Filtro de redundância por correlação</a:t>
            </a:r>
          </a:p>
        </p:txBody>
      </p:sp>
      <p:sp>
        <p:nvSpPr>
          <p:cNvPr id="42" name="Etapa 1">
            <a:extLst xmlns:a="http://schemas.openxmlformats.org/drawingml/2006/main">
              <a:ext uri="{FF2B5EF4-FFF2-40B4-BE49-F238E27FC236}">
                <a16:creationId xmlns:a16="http://schemas.microsoft.com/office/drawing/2014/main" id="{DF856925-BC63-4929-8811-59AF93A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3454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Calcular r no treino</a:t>
            </a:r>
          </a:p>
        </p:txBody>
      </p:sp>
      <p:sp>
        <p:nvSpPr>
          <p:cNvPr id="43" name="Etapa 2">
            <a:extLst xmlns:a="http://schemas.openxmlformats.org/drawingml/2006/main">
              <a:ext uri="{FF2B5EF4-FFF2-40B4-BE49-F238E27FC236}">
                <a16:creationId xmlns:a16="http://schemas.microsoft.com/office/drawing/2014/main" id="{2912E70F-FB3B-4D2A-89A5-615790A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867025"/>
            <a:ext cx="3454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Formar grupos correlacionados</a:t>
            </a:r>
          </a:p>
        </p:txBody>
      </p:sp>
      <p:sp>
        <p:nvSpPr>
          <p:cNvPr id="44" name="Etapa 3">
            <a:extLst xmlns:a="http://schemas.openxmlformats.org/drawingml/2006/main">
              <a:ext uri="{FF2B5EF4-FFF2-40B4-BE49-F238E27FC236}">
                <a16:creationId xmlns:a16="http://schemas.microsoft.com/office/drawing/2014/main" id="{956D3025-7F02-41EB-BC18-47DBA1A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867025"/>
            <a:ext cx="3454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Comparar representantes</a:t>
            </a:r>
          </a:p>
        </p:txBody>
      </p:sp>
      <p:cxnSp>
        <p:nvCxnSpPr>
          <p:cNvPr id="72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9116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823200" y="33718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47" name="Threshold">
            <a:extLst xmlns:a="http://schemas.openxmlformats.org/drawingml/2006/main">
              <a:ext uri="{FF2B5EF4-FFF2-40B4-BE49-F238E27FC236}">
                <a16:creationId xmlns:a16="http://schemas.microsoft.com/office/drawing/2014/main" id="{FBB36C9C-D29D-41EC-B750-BB94557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Exemplo de regra: |r| &gt; 0,90</a:t>
            </a:r>
          </a:p>
        </p:txBody>
      </p:sp>
      <p:sp>
        <p:nvSpPr>
          <p:cNvPr id="48" name="Choice">
            <a:extLst xmlns:a="http://schemas.openxmlformats.org/drawingml/2006/main">
              <a:ext uri="{FF2B5EF4-FFF2-40B4-BE49-F238E27FC236}">
                <a16:creationId xmlns:a16="http://schemas.microsoft.com/office/drawing/2014/main" id="{B68F16DF-7B27-4AB4-88A7-F4BE9A51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escolha dentro de um grupo considera qualidade dos dados,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disponibilidade, significado físico e desempenho na validação.</a:t>
            </a:r>
          </a:p>
        </p:txBody>
      </p:sp>
      <p:sp>
        <p:nvSpPr>
          <p:cNvPr id="49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016ED866-9D2F-467C-9F08-2078FE3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O limiar 0,90 é uma heurística de triagem. Ele não garante o melhor conjunto de entradas.</a:t>
            </a:r>
          </a:p>
        </p:txBody>
      </p:sp>
      <p:sp>
        <p:nvSpPr>
          <p:cNvPr id="5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CBEE9001-B668-4554-B8F1-566F2BCB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17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de componentes principais</a:t>
            </a:r>
          </a:p>
        </p:txBody>
      </p:sp>
      <p:pic>
        <p:nvPicPr>
          <p:cNvPr id="6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a76e62e87483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4CC53693-2F9F-42E4-8D58-7A6C8C60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PCA: rotação para novos eixos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1066800" y="2305050"/>
          <a:ext xmlns:a="http://schemas.openxmlformats.org/drawingml/2006/main" cx="38481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fdcf364d1147d9"/>
          </a:graphicData>
        </a:graphic>
      </p:graphicFrame>
      <p:sp>
        <p:nvSpPr>
          <p:cNvPr id="43" name="PC1">
            <a:extLst xmlns:a="http://schemas.openxmlformats.org/drawingml/2006/main">
              <a:ext uri="{FF2B5EF4-FFF2-40B4-BE49-F238E27FC236}">
                <a16:creationId xmlns:a16="http://schemas.microsoft.com/office/drawing/2014/main" id="{FA667312-93B7-4D30-917E-1A9B74E2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43200"/>
            <a:ext cx="4410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PC1: maior variância</a:t>
            </a:r>
          </a:p>
        </p:txBody>
      </p:sp>
      <p:sp>
        <p:nvSpPr>
          <p:cNvPr id="44" name="PC1 meaning">
            <a:extLst xmlns:a="http://schemas.openxmlformats.org/drawingml/2006/main">
              <a:ext uri="{FF2B5EF4-FFF2-40B4-BE49-F238E27FC236}">
                <a16:creationId xmlns:a16="http://schemas.microsoft.com/office/drawing/2014/main" id="{A24298AF-1211-45F8-90E0-47A81BE4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57550"/>
            <a:ext cx="4410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Acompanha a direção principal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da nuvem de observações.</a:t>
            </a:r>
          </a:p>
        </p:txBody>
      </p:sp>
      <p:sp>
        <p:nvSpPr>
          <p:cNvPr id="45" name="PC2">
            <a:extLst xmlns:a="http://schemas.openxmlformats.org/drawingml/2006/main">
              <a:ext uri="{FF2B5EF4-FFF2-40B4-BE49-F238E27FC236}">
                <a16:creationId xmlns:a16="http://schemas.microsoft.com/office/drawing/2014/main" id="{F97D6565-F74A-471D-B722-7443B694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76750"/>
            <a:ext cx="441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PC2: eixo perpendicular</a:t>
            </a:r>
          </a:p>
        </p:txBody>
      </p:sp>
      <p:sp>
        <p:nvSpPr>
          <p:cNvPr id="46" name="PC2 meaning">
            <a:extLst xmlns:a="http://schemas.openxmlformats.org/drawingml/2006/main">
              <a:ext uri="{FF2B5EF4-FFF2-40B4-BE49-F238E27FC236}">
                <a16:creationId xmlns:a16="http://schemas.microsoft.com/office/drawing/2014/main" id="{3811ED37-F8F1-44C8-B9C8-216DE2C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00625"/>
            <a:ext cx="4410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Captura a variância restante.</a:t>
            </a:r>
          </a:p>
        </p:txBody>
      </p:sp>
      <p:sp>
        <p:nvSpPr>
          <p:cNvPr id="47" name="Legenda PC1">
            <a:extLst xmlns:a="http://schemas.openxmlformats.org/drawingml/2006/main">
              <a:ext uri="{FF2B5EF4-FFF2-40B4-BE49-F238E27FC236}">
                <a16:creationId xmlns:a16="http://schemas.microsoft.com/office/drawing/2014/main" id="{06C1733C-0465-4E70-87C8-5DD79A4F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48" name="Texto da legenda PC1">
            <a:extLst xmlns:a="http://schemas.openxmlformats.org/drawingml/2006/main">
              <a:ext uri="{FF2B5EF4-FFF2-40B4-BE49-F238E27FC236}">
                <a16:creationId xmlns:a16="http://schemas.microsoft.com/office/drawing/2014/main" id="{1B7F00D7-D8B7-4ED2-9A8B-20F555E5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769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PC1</a:t>
            </a:r>
          </a:p>
        </p:txBody>
      </p:sp>
      <p:sp>
        <p:nvSpPr>
          <p:cNvPr id="49" name="Legenda PC2">
            <a:extLst xmlns:a="http://schemas.openxmlformats.org/drawingml/2006/main">
              <a:ext uri="{FF2B5EF4-FFF2-40B4-BE49-F238E27FC236}">
                <a16:creationId xmlns:a16="http://schemas.microsoft.com/office/drawing/2014/main" id="{63B99380-7054-4DE6-A5F8-F7F8354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50" name="Texto da legenda PC2">
            <a:extLst xmlns:a="http://schemas.openxmlformats.org/drawingml/2006/main">
              <a:ext uri="{FF2B5EF4-FFF2-40B4-BE49-F238E27FC236}">
                <a16:creationId xmlns:a16="http://schemas.microsoft.com/office/drawing/2014/main" id="{BA00B1CC-4DF3-43B2-98C6-090BFED5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PC2</a:t>
            </a:r>
          </a:p>
        </p:txBody>
      </p:sp>
      <p:sp>
        <p:nvSpPr>
          <p:cNvPr id="51" name="Legenda Observações">
            <a:extLst xmlns:a="http://schemas.openxmlformats.org/drawingml/2006/main">
              <a:ext uri="{FF2B5EF4-FFF2-40B4-BE49-F238E27FC236}">
                <a16:creationId xmlns:a16="http://schemas.microsoft.com/office/drawing/2014/main" id="{5D502E21-5C42-49F8-893E-D3044DAA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4BD"/>
            </a:solidFill>
          </a:ln>
        </p:spPr>
      </p:sp>
      <p:sp>
        <p:nvSpPr>
          <p:cNvPr id="52" name="Texto da legenda Observações">
            <a:extLst xmlns:a="http://schemas.openxmlformats.org/drawingml/2006/main">
              <a:ext uri="{FF2B5EF4-FFF2-40B4-BE49-F238E27FC236}">
                <a16:creationId xmlns:a16="http://schemas.microsoft.com/office/drawing/2014/main" id="{AE34C208-2D2A-4DA8-9C26-6030E8A1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6769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Observações</a:t>
            </a:r>
          </a:p>
        </p:txBody>
      </p:sp>
      <p:sp>
        <p:nvSpPr>
          <p:cNvPr id="53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FDC95CBA-1328-4B43-BE56-CA2E247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Dados sintéticos, centrados e padronizados. Linhas curtas indicam projeção na PC1.</a:t>
            </a:r>
          </a:p>
        </p:txBody>
      </p:sp>
      <p:sp>
        <p:nvSpPr>
          <p:cNvPr id="54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EDB49FB3-9A08-4D33-B8F0-CCF2A030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18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de componentes principais</a:t>
            </a:r>
          </a:p>
        </p:txBody>
      </p:sp>
      <p:pic>
        <p:nvPicPr>
          <p:cNvPr id="5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6bb85fda0434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DE4EC95-8A52-40E0-827B-6FA9BCD1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Componentes são combinações de atributos</a:t>
            </a:r>
          </a:p>
        </p:txBody>
      </p:sp>
      <p:sp>
        <p:nvSpPr>
          <p:cNvPr id="42" name="PC equations">
            <a:extLst xmlns:a="http://schemas.openxmlformats.org/drawingml/2006/main">
              <a:ext uri="{FF2B5EF4-FFF2-40B4-BE49-F238E27FC236}">
                <a16:creationId xmlns:a16="http://schemas.microsoft.com/office/drawing/2014/main" id="{60EB0914-90F2-42FE-90B5-D51C739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58197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PC1 = (z₁ + z₂) / √2</a:t>
            </a:r>
          </a:p>
          <a:p xmlns:a="http://schemas.openxmlformats.org/drawingml/2006/main">
            <a:pPr algn="l">
              <a:buNone/>
              <a:defRPr sz="21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PC2 = (z₁ − z₂) / √2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457200" y="3952875"/>
          <a:ext xmlns:a="http://schemas.openxmlformats.org/drawingml/2006/main" cx="6419850" cy="1762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33500"/>
                <a:gridCol w="1333500"/>
                <a:gridCol w="1876425"/>
                <a:gridCol w="1876425"/>
              </a:tblGrid>
              <a:tr h="440531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z₁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z₂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PC1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PC2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40531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1,414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40531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0,707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0,707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40531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−1,414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5165EC04-AFD8-4D2F-9464-D2D4C2A9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42767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PC1: variação conjunta</a:t>
            </a:r>
          </a:p>
        </p:txBody>
      </p:sp>
      <p:sp>
        <p:nvSpPr>
          <p:cNvPr id="45" name="Meaning">
            <a:extLst xmlns:a="http://schemas.openxmlformats.org/drawingml/2006/main">
              <a:ext uri="{FF2B5EF4-FFF2-40B4-BE49-F238E27FC236}">
                <a16:creationId xmlns:a16="http://schemas.microsoft.com/office/drawing/2014/main" id="{502903A2-E71C-49EA-88D7-AF7ABCA9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543300"/>
            <a:ext cx="42767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PC2: contraste entre as entradas.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modelo recebe os scores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das componentes escolhidas.</a:t>
            </a:r>
          </a:p>
        </p:txBody>
      </p:sp>
      <p:sp>
        <p:nvSpPr>
          <p:cNvPr id="4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D3317D2D-DC20-4D8A-ADA0-C5AD1DF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com variáveis padronizadas e correlação positiva. O sinal de um eixo pode inverter.</a:t>
            </a:r>
          </a:p>
        </p:txBody>
      </p:sp>
      <p:sp>
        <p:nvSpPr>
          <p:cNvPr id="4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5D0E1984-71F3-4048-940F-BBEB9CA0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19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de componentes principais</a:t>
            </a:r>
          </a:p>
        </p:txBody>
      </p:sp>
      <p:pic>
        <p:nvPicPr>
          <p:cNvPr id="5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64bc02c7b4fe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E2BBB76D-5190-4D29-88D1-54E8E109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Quantas componentes manter?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457200" y="2705100"/>
          <a:ext xmlns:a="http://schemas.openxmlformats.org/drawingml/2006/main" cx="5314950" cy="2609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87f54e454b4c1e"/>
          </a:graphicData>
        </a:graphic>
      </p:graphicFrame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6400800" y="2705100"/>
          <a:ext xmlns:a="http://schemas.openxmlformats.org/drawingml/2006/main" cx="5334000" cy="2609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b7c678a854477"/>
          </a:graphicData>
        </a:graphic>
      </p:graphicFrame>
      <p:sp>
        <p:nvSpPr>
          <p:cNvPr id="44" name="Conclusion">
            <a:extLst xmlns:a="http://schemas.openxmlformats.org/drawingml/2006/main">
              <a:ext uri="{FF2B5EF4-FFF2-40B4-BE49-F238E27FC236}">
                <a16:creationId xmlns:a16="http://schemas.microsoft.com/office/drawing/2014/main" id="{23F83B4E-DAF7-4699-B4B1-3D805A28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Com limiar de 95%, mantemos 4 componentes (96% da variância).</a:t>
            </a:r>
          </a:p>
        </p:txBody>
      </p:sp>
      <p:sp>
        <p:nvSpPr>
          <p:cNvPr id="45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6F3431D5-D8E2-4ADC-845C-1AF1C46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Distribuição hipotética. Variância preservada não equivale a habilidade de previsão preservada.</a:t>
            </a:r>
          </a:p>
        </p:txBody>
      </p:sp>
      <p:sp>
        <p:nvSpPr>
          <p:cNvPr id="46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9E9AEE30-6F69-4844-84A9-6753C7A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20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Análise de componentes principais</a:t>
            </a:r>
          </a:p>
        </p:txBody>
      </p:sp>
      <p:pic>
        <p:nvPicPr>
          <p:cNvPr id="8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6bcaf005c418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670A784-057B-4478-B244-BAE67F2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 e seleção dentro do procedimento de treino</a:t>
            </a:r>
          </a:p>
        </p:txBody>
      </p:sp>
      <p:sp>
        <p:nvSpPr>
          <p:cNvPr id="42" name="Train row">
            <a:extLst xmlns:a="http://schemas.openxmlformats.org/drawingml/2006/main">
              <a:ext uri="{FF2B5EF4-FFF2-40B4-BE49-F238E27FC236}">
                <a16:creationId xmlns:a16="http://schemas.microsoft.com/office/drawing/2014/main" id="{DF7EAAF5-710A-476D-81C1-49B5F27D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TREINO</a:t>
            </a:r>
          </a:p>
        </p:txBody>
      </p:sp>
      <p:sp>
        <p:nvSpPr>
          <p:cNvPr id="43" name="Etapa 1">
            <a:extLst xmlns:a="http://schemas.openxmlformats.org/drawingml/2006/main">
              <a:ext uri="{FF2B5EF4-FFF2-40B4-BE49-F238E27FC236}">
                <a16:creationId xmlns:a16="http://schemas.microsoft.com/office/drawing/2014/main" id="{BAB6A8DD-A699-4750-8BE3-9AD380BC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Imputar</a:t>
            </a:r>
          </a:p>
        </p:txBody>
      </p:sp>
      <p:sp>
        <p:nvSpPr>
          <p:cNvPr id="44" name="Etapa 2">
            <a:extLst xmlns:a="http://schemas.openxmlformats.org/drawingml/2006/main">
              <a:ext uri="{FF2B5EF4-FFF2-40B4-BE49-F238E27FC236}">
                <a16:creationId xmlns:a16="http://schemas.microsoft.com/office/drawing/2014/main" id="{BB92E2F2-8E77-4987-9340-255D556A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Padronizar</a:t>
            </a:r>
          </a:p>
        </p:txBody>
      </p:sp>
      <p:sp>
        <p:nvSpPr>
          <p:cNvPr id="45" name="Etapa 3">
            <a:extLst xmlns:a="http://schemas.openxmlformats.org/drawingml/2006/main">
              <a:ext uri="{FF2B5EF4-FFF2-40B4-BE49-F238E27FC236}">
                <a16:creationId xmlns:a16="http://schemas.microsoft.com/office/drawing/2014/main" id="{2B3FF1FB-2BBD-4820-AF53-3EF7DCA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PCA ou seleção</a:t>
            </a:r>
          </a:p>
        </p:txBody>
      </p:sp>
      <p:sp>
        <p:nvSpPr>
          <p:cNvPr id="46" name="Etapa 4">
            <a:extLst xmlns:a="http://schemas.openxmlformats.org/drawingml/2006/main">
              <a:ext uri="{FF2B5EF4-FFF2-40B4-BE49-F238E27FC236}">
                <a16:creationId xmlns:a16="http://schemas.microsoft.com/office/drawing/2014/main" id="{DCFBB8B7-3830-432E-BEF3-85E3B45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Ajustar MLP</a:t>
            </a:r>
          </a:p>
        </p:txBody>
      </p:sp>
      <p:cxnSp>
        <p:nvCxnSpPr>
          <p:cNvPr id="9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933700" y="32813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95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867400" y="32813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9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801100" y="32813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50" name="Validation row">
            <a:extLst xmlns:a="http://schemas.openxmlformats.org/drawingml/2006/main">
              <a:ext uri="{FF2B5EF4-FFF2-40B4-BE49-F238E27FC236}">
                <a16:creationId xmlns:a16="http://schemas.microsoft.com/office/drawing/2014/main" id="{0D757234-78A0-4893-8073-1A0B04BD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622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VALIDAÇÃO E TESTE</a:t>
            </a:r>
          </a:p>
        </p:txBody>
      </p:sp>
      <p:sp>
        <p:nvSpPr>
          <p:cNvPr id="51" name="Etapa 1">
            <a:extLst xmlns:a="http://schemas.openxmlformats.org/drawingml/2006/main">
              <a:ext uri="{FF2B5EF4-FFF2-40B4-BE49-F238E27FC236}">
                <a16:creationId xmlns:a16="http://schemas.microsoft.com/office/drawing/2014/main" id="{CB1E19CA-493D-49B4-96DF-FBCE96D0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Imputar</a:t>
            </a:r>
          </a:p>
        </p:txBody>
      </p:sp>
      <p:sp>
        <p:nvSpPr>
          <p:cNvPr id="52" name="Etapa 2">
            <a:extLst xmlns:a="http://schemas.openxmlformats.org/drawingml/2006/main">
              <a:ext uri="{FF2B5EF4-FFF2-40B4-BE49-F238E27FC236}">
                <a16:creationId xmlns:a16="http://schemas.microsoft.com/office/drawing/2014/main" id="{DEFBC6CA-72F2-4AC8-ACAE-E195ED98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Mesma escala</a:t>
            </a:r>
          </a:p>
        </p:txBody>
      </p:sp>
      <p:sp>
        <p:nvSpPr>
          <p:cNvPr id="53" name="Etapa 3">
            <a:extLst xmlns:a="http://schemas.openxmlformats.org/drawingml/2006/main">
              <a:ext uri="{FF2B5EF4-FFF2-40B4-BE49-F238E27FC236}">
                <a16:creationId xmlns:a16="http://schemas.microsoft.com/office/drawing/2014/main" id="{15DD1349-A7E3-45A9-B2FF-2BF931B5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Mesma transformação</a:t>
            </a:r>
          </a:p>
        </p:txBody>
      </p:sp>
      <p:sp>
        <p:nvSpPr>
          <p:cNvPr id="54" name="Etapa 4">
            <a:extLst xmlns:a="http://schemas.openxmlformats.org/drawingml/2006/main">
              <a:ext uri="{FF2B5EF4-FFF2-40B4-BE49-F238E27FC236}">
                <a16:creationId xmlns:a16="http://schemas.microsoft.com/office/drawing/2014/main" id="{F4D4F690-9BB5-475E-AC5D-73F37DA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52950"/>
            <a:ext cx="24765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Prever</a:t>
            </a:r>
          </a:p>
        </p:txBody>
      </p:sp>
      <p:cxnSp>
        <p:nvCxnSpPr>
          <p:cNvPr id="10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933700" y="49387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03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867400" y="49387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04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8801100" y="49387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58" name="Train transform">
            <a:extLst xmlns:a="http://schemas.openxmlformats.org/drawingml/2006/main">
              <a:ext uri="{FF2B5EF4-FFF2-40B4-BE49-F238E27FC236}">
                <a16:creationId xmlns:a16="http://schemas.microsoft.com/office/drawing/2014/main" id="{EFDB75A7-10AD-483D-98BE-F268EB4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O treino determina médias, escalas, componentes e atributos selecionados.</a:t>
            </a:r>
          </a:p>
        </p:txBody>
      </p:sp>
      <p:sp>
        <p:nvSpPr>
          <p:cNvPr id="59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B2B91FD7-828C-4DAE-9D04-5B42298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21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Informação mútua</a:t>
            </a:r>
          </a:p>
        </p:txBody>
      </p:sp>
      <p:pic>
        <p:nvPicPr>
          <p:cNvPr id="5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761711d5c4199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2566E95-E77B-45CF-91A8-0827045C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Informação mútua: redução da incerteza</a:t>
            </a:r>
          </a:p>
        </p:txBody>
      </p:sp>
      <p:sp>
        <p:nvSpPr>
          <p:cNvPr id="42" name="Entropy">
            <a:extLst xmlns:a="http://schemas.openxmlformats.org/drawingml/2006/main">
              <a:ext uri="{FF2B5EF4-FFF2-40B4-BE49-F238E27FC236}">
                <a16:creationId xmlns:a16="http://schemas.microsoft.com/office/drawing/2014/main" id="{2F6DF0BD-0072-4578-B0B9-AC5E5453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6067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H(Y) = −Σ p(y) log₂ p(y)</a:t>
            </a:r>
          </a:p>
        </p:txBody>
      </p:sp>
      <p:sp>
        <p:nvSpPr>
          <p:cNvPr id="43" name="MI definition">
            <a:extLst xmlns:a="http://schemas.openxmlformats.org/drawingml/2006/main">
              <a:ext uri="{FF2B5EF4-FFF2-40B4-BE49-F238E27FC236}">
                <a16:creationId xmlns:a16="http://schemas.microsoft.com/office/drawing/2014/main" id="{49EA992F-439C-4E6F-A618-88D129BA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6067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I(X;Y) = H(Y) − H(Y|X)</a:t>
            </a:r>
          </a:p>
        </p:txBody>
      </p:sp>
      <p:sp>
        <p:nvSpPr>
          <p:cNvPr id="44" name="Meaning">
            <a:extLst xmlns:a="http://schemas.openxmlformats.org/drawingml/2006/main">
              <a:ext uri="{FF2B5EF4-FFF2-40B4-BE49-F238E27FC236}">
                <a16:creationId xmlns:a16="http://schemas.microsoft.com/office/drawing/2014/main" id="{8EF439A9-D212-4D4C-96DC-D93C42E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667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MI mede quanto conhecer X reduz,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em média, a incerteza sobre Y.</a:t>
            </a:r>
          </a:p>
        </p:txBody>
      </p:sp>
      <p:sp>
        <p:nvSpPr>
          <p:cNvPr id="45" name="Domain">
            <a:extLst xmlns:a="http://schemas.openxmlformats.org/drawingml/2006/main">
              <a:ext uri="{FF2B5EF4-FFF2-40B4-BE49-F238E27FC236}">
                <a16:creationId xmlns:a16="http://schemas.microsoft.com/office/drawing/2014/main" id="{76C96786-2D59-43A9-887B-7C88E56C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566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Aqui, Y é vazão baixa ou alta.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791325" y="2476500"/>
          <a:ext xmlns:a="http://schemas.openxmlformats.org/drawingml/2006/main" cx="4943475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50461d8d54dfb"/>
          </a:graphicData>
        </a:graphic>
      </p:graphicFrame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C0033430-0A9D-4A04-AE79-D36B80A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binário teórico. A incerteza é máxima quando baixa e alta têm a mesma probabilidade.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71A273D7-873B-4DFF-B2EA-B3704D57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22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Informação mútua</a:t>
            </a:r>
          </a:p>
        </p:txBody>
      </p:sp>
      <p:pic>
        <p:nvPicPr>
          <p:cNvPr id="5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76ecbdcd148a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1C35A99E-6F9A-4F4A-943A-70C89EBA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 cálculo com probabilidades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457200" y="2752725"/>
          <a:ext xmlns:a="http://schemas.openxmlformats.org/drawingml/2006/main" cx="6457950" cy="2362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57400"/>
                <a:gridCol w="1466850"/>
                <a:gridCol w="1466850"/>
                <a:gridCol w="1466850"/>
              </a:tblGrid>
              <a:tr h="5905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X / Y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Vazão baixa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Vazão alta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Dia seco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0,375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0,125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Dia chuvoso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0,125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0,375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Prior">
            <a:extLst xmlns:a="http://schemas.openxmlformats.org/drawingml/2006/main">
              <a:ext uri="{FF2B5EF4-FFF2-40B4-BE49-F238E27FC236}">
                <a16:creationId xmlns:a16="http://schemas.microsoft.com/office/drawing/2014/main" id="{EA7EEBB7-2222-47D0-AC46-2F1BACE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4248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Antes de observar X: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H(Y) = 1 bit</a:t>
            </a:r>
          </a:p>
        </p:txBody>
      </p:sp>
      <p:sp>
        <p:nvSpPr>
          <p:cNvPr id="44" name="Conditional">
            <a:extLst xmlns:a="http://schemas.openxmlformats.org/drawingml/2006/main">
              <a:ext uri="{FF2B5EF4-FFF2-40B4-BE49-F238E27FC236}">
                <a16:creationId xmlns:a16="http://schemas.microsoft.com/office/drawing/2014/main" id="{F0CE17A4-58F4-494B-B91B-71FACB86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05225"/>
            <a:ext cx="4248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Depois de observar X: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H(Y|X) ≈ 0,811 bit</a:t>
            </a:r>
          </a:p>
        </p:txBody>
      </p:sp>
      <p:sp>
        <p:nvSpPr>
          <p:cNvPr id="45" name="Information">
            <a:extLst xmlns:a="http://schemas.openxmlformats.org/drawingml/2006/main">
              <a:ext uri="{FF2B5EF4-FFF2-40B4-BE49-F238E27FC236}">
                <a16:creationId xmlns:a16="http://schemas.microsoft.com/office/drawing/2014/main" id="{4B01A673-ACA2-4E77-AA2D-4C3F6B77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1015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I(X;Y) ≈ 0,189 bit</a:t>
            </a:r>
          </a:p>
        </p:txBody>
      </p:sp>
      <p:sp>
        <p:nvSpPr>
          <p:cNvPr id="46" name="Probability lesson">
            <a:extLst xmlns:a="http://schemas.openxmlformats.org/drawingml/2006/main">
              <a:ext uri="{FF2B5EF4-FFF2-40B4-BE49-F238E27FC236}">
                <a16:creationId xmlns:a16="http://schemas.microsoft.com/office/drawing/2014/main" id="{37C4DD33-4C43-43CB-BB1A-D7888BFF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Em dias chuvosos: p(vazão alta | chuva) = 0,75.</a:t>
            </a:r>
          </a:p>
        </p:txBody>
      </p:sp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8ABEBF56-DF5E-4E17-8C1D-73CB9C24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Distribuição conjunta hipotética. A chuva reduz a incerteza, mas não determina a classe de vazão.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E54F3C2A-00CE-4473-8BBD-7A217DE6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23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Informação mútua</a:t>
            </a:r>
          </a:p>
        </p:txBody>
      </p:sp>
      <p:pic>
        <p:nvPicPr>
          <p:cNvPr id="5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8bd6954044f44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25EC909C-A639-4196-80EF-497D8052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Dependência não linear pode ter r = 0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457200" y="2505075"/>
          <a:ext xmlns:a="http://schemas.openxmlformats.org/drawingml/2006/main" cx="6791325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f9709e2d3e43b8"/>
          </a:graphicData>
        </a:graphic>
      </p:graphicFrame>
      <p:sp>
        <p:nvSpPr>
          <p:cNvPr id="43" name="Exact relationship">
            <a:extLst xmlns:a="http://schemas.openxmlformats.org/drawingml/2006/main">
              <a:ext uri="{FF2B5EF4-FFF2-40B4-BE49-F238E27FC236}">
                <a16:creationId xmlns:a16="http://schemas.microsoft.com/office/drawing/2014/main" id="{FB7186EE-B16D-41E8-A2D5-3B534D79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71462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4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y = x²</a:t>
            </a:r>
          </a:p>
        </p:txBody>
      </p:sp>
      <p:sp>
        <p:nvSpPr>
          <p:cNvPr id="44" name="r zero">
            <a:extLst xmlns:a="http://schemas.openxmlformats.org/drawingml/2006/main">
              <a:ext uri="{FF2B5EF4-FFF2-40B4-BE49-F238E27FC236}">
                <a16:creationId xmlns:a16="http://schemas.microsoft.com/office/drawing/2014/main" id="{CC9B07D4-CC3D-4610-9FDC-512269B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14725"/>
            <a:ext cx="3914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3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 = 0</a:t>
            </a:r>
          </a:p>
        </p:txBody>
      </p:sp>
      <p:sp>
        <p:nvSpPr>
          <p:cNvPr id="45" name="MI interpretation">
            <a:extLst xmlns:a="http://schemas.openxmlformats.org/drawingml/2006/main">
              <a:ext uri="{FF2B5EF4-FFF2-40B4-BE49-F238E27FC236}">
                <a16:creationId xmlns:a16="http://schemas.microsoft.com/office/drawing/2014/main" id="{A0C6A843-E4DB-436A-942E-3D13BF2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52925"/>
            <a:ext cx="39147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Conhecer x determina y.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informação mútua reconhece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dependência entre eles.</a:t>
            </a:r>
          </a:p>
        </p:txBody>
      </p:sp>
      <p:sp>
        <p:nvSpPr>
          <p:cNvPr id="4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D3A47DD1-2086-4DC5-BFD8-8E758153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matemático simétrico. Pearson resume a associação linear.</a:t>
            </a:r>
          </a:p>
        </p:txBody>
      </p:sp>
      <p:sp>
        <p:nvSpPr>
          <p:cNvPr id="4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5451568-CC8C-450D-9088-76CF7E03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24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Informação mútua</a:t>
            </a:r>
          </a:p>
        </p:txBody>
      </p:sp>
      <p:pic>
        <p:nvPicPr>
          <p:cNvPr id="5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0545672a94a9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29264AFC-308A-4C13-976E-6F59013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Correlação e MI podem ordenar entradas de modos diferentes</a:t>
            </a:r>
          </a:p>
        </p:txBody>
      </p:sp>
      <p:sp>
        <p:nvSpPr>
          <p:cNvPr id="42" name="Pearson">
            <a:extLst xmlns:a="http://schemas.openxmlformats.org/drawingml/2006/main">
              <a:ext uri="{FF2B5EF4-FFF2-40B4-BE49-F238E27FC236}">
                <a16:creationId xmlns:a16="http://schemas.microsoft.com/office/drawing/2014/main" id="{F3AC93C3-B03F-4CB8-96AB-2C01FDCC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|r| de Pearson</a:t>
            </a:r>
          </a:p>
        </p:txBody>
      </p:sp>
      <p:sp>
        <p:nvSpPr>
          <p:cNvPr id="43" name="MI score">
            <a:extLst xmlns:a="http://schemas.openxmlformats.org/drawingml/2006/main">
              <a:ext uri="{FF2B5EF4-FFF2-40B4-BE49-F238E27FC236}">
                <a16:creationId xmlns:a16="http://schemas.microsoft.com/office/drawing/2014/main" id="{0D3E7473-FABA-4BF7-B2EA-6F014572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90775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MI estimada, em nats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57200" y="2847975"/>
          <a:ext xmlns:a="http://schemas.openxmlformats.org/drawingml/2006/main" cx="53149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052d74ca3d4255"/>
          </a:graphicData>
        </a:graphic>
      </p:graphicFrame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419850" y="2847975"/>
          <a:ext xmlns:a="http://schemas.openxmlformats.org/drawingml/2006/main" cx="53149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e68c95c3174162"/>
          </a:graphicData>
        </a:graphic>
      </p:graphicFrame>
      <p:sp>
        <p:nvSpPr>
          <p:cNvPr id="46" name="Finding">
            <a:extLst xmlns:a="http://schemas.openxmlformats.org/drawingml/2006/main">
              <a:ext uri="{FF2B5EF4-FFF2-40B4-BE49-F238E27FC236}">
                <a16:creationId xmlns:a16="http://schemas.microsoft.com/office/drawing/2014/main" id="{569441A5-953C-4BEE-8E83-3A52BB3F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 índice de chuva tem efeito quadrático no alvo sintético.</a:t>
            </a:r>
          </a:p>
        </p:txBody>
      </p:sp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D60D87A8-F4FD-44E1-9CA7-8A12BBA3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600 amostras sintéticas. Comparar rankings. As escalas de |r| e MI têm significados diferentes.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18B9C7D0-9016-4EF2-B7CF-D6F88C3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25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Escolha do método</a:t>
            </a:r>
          </a:p>
        </p:txBody>
      </p:sp>
      <p:pic>
        <p:nvPicPr>
          <p:cNvPr id="5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c9ded72f04fa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83FE3676-369D-4B1F-8D0D-7BDDDB84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Seleção de atributos e extração de componentes</a:t>
            </a:r>
          </a:p>
        </p:txBody>
      </p:sp>
      <p:graphicFrame>
        <p:nvGraphicFramePr>
          <p:cNvPr id="53" name=""/>
          <p:cNvGraphicFramePr/>
          <p:nvPr/>
        </p:nvGraphicFramePr>
        <p:xfrm>
          <a:off xmlns:a="http://schemas.openxmlformats.org/drawingml/2006/main" x="457200" y="2562225"/>
          <a:ext xmlns:a="http://schemas.openxmlformats.org/drawingml/2006/main" cx="11277600" cy="28479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62200"/>
                <a:gridCol w="3276600"/>
                <a:gridCol w="3371850"/>
                <a:gridCol w="2266950"/>
              </a:tblGrid>
              <a:tr h="5143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Método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produz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Critério principal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Usa o alvo?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76200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Correlação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Subconjunto das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 originais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Associação linear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 redundância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Pode usar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76200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PCA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Novas combinações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das entradas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Variância das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0962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Informação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mútua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Ranking das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 originais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Dependência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 o alvo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Sim, na seleção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Choice">
            <a:extLst xmlns:a="http://schemas.openxmlformats.org/drawingml/2006/main">
              <a:ext uri="{FF2B5EF4-FFF2-40B4-BE49-F238E27FC236}">
                <a16:creationId xmlns:a16="http://schemas.microsoft.com/office/drawing/2014/main" id="{A868172C-030F-4953-AFDD-9CE6E104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escolha depende do objetivo e do desempenho fora do treino.</a:t>
            </a:r>
          </a:p>
        </p:txBody>
      </p:sp>
      <p:sp>
        <p:nvSpPr>
          <p:cNvPr id="44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5493FDC5-3302-44F0-BF50-5E93CB4D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26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Modelos de referência</a:t>
            </a:r>
          </a:p>
        </p:txBody>
      </p:sp>
      <p:pic>
        <p:nvPicPr>
          <p:cNvPr id="5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652fdfb254a13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7257EDF-6B23-4EB9-A74C-008B56FC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KNN como modelo de referência</a:t>
            </a:r>
          </a:p>
        </p:txBody>
      </p:sp>
      <p:sp>
        <p:nvSpPr>
          <p:cNvPr id="42" name="KNN concept">
            <a:extLst xmlns:a="http://schemas.openxmlformats.org/drawingml/2006/main">
              <a:ext uri="{FF2B5EF4-FFF2-40B4-BE49-F238E27FC236}">
                <a16:creationId xmlns:a16="http://schemas.microsoft.com/office/drawing/2014/main" id="{A18381D8-8F4E-4901-9AC3-B1BCC27D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KNN estima a resposta usando os k exemplos mais próximos.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457200" y="3257550"/>
          <a:ext xmlns:a="http://schemas.openxmlformats.org/drawingml/2006/main" cx="4905375" cy="1971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28825"/>
                <a:gridCol w="2876550"/>
              </a:tblGrid>
              <a:tr h="492919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Vizinho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Q(t+1) observado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92919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22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92919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28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92919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25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4" name="Mean">
            <a:extLst xmlns:a="http://schemas.openxmlformats.org/drawingml/2006/main">
              <a:ext uri="{FF2B5EF4-FFF2-40B4-BE49-F238E27FC236}">
                <a16:creationId xmlns:a16="http://schemas.microsoft.com/office/drawing/2014/main" id="{7778BEFF-3F5C-4B74-BEB9-CB138ED0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k = 3, pesos iguais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Q̂ = (22 + 28 + 25) / 3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Q̂ = 25 m³/s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6524625" y="3038475"/>
          <a:ext xmlns:a="http://schemas.openxmlformats.org/drawingml/2006/main" cx="5210175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a936bb762f479f"/>
          </a:graphicData>
        </a:graphic>
      </p:graphicFrame>
      <p:sp>
        <p:nvSpPr>
          <p:cNvPr id="4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9EED0514-D27B-40FA-8010-7F881BF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hipotético. Verde: os três vizinhos. Laranja: nova consulta. Entradas padronizadas.</a:t>
            </a:r>
          </a:p>
        </p:txBody>
      </p:sp>
      <p:sp>
        <p:nvSpPr>
          <p:cNvPr id="4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F9A16432-CFCF-413C-86A0-6B37C2B8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27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Discussão em sala</a:t>
            </a:r>
          </a:p>
        </p:txBody>
      </p:sp>
      <p:pic>
        <p:nvPicPr>
          <p:cNvPr id="57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8923eabfb444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844F9E66-8AD4-4F4F-BAEA-1DF88B33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Atividade: escolha de entradas</a:t>
            </a:r>
          </a:p>
        </p:txBody>
      </p:sp>
      <p:sp>
        <p:nvSpPr>
          <p:cNvPr id="42" name="Task">
            <a:extLst xmlns:a="http://schemas.openxmlformats.org/drawingml/2006/main">
              <a:ext uri="{FF2B5EF4-FFF2-40B4-BE49-F238E27FC236}">
                <a16:creationId xmlns:a16="http://schemas.microsoft.com/office/drawing/2014/main" id="{B9911454-99AF-4BCE-8629-9E89ECA9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Em duplas, discutam por 3 minutos.</a:t>
            </a:r>
          </a:p>
        </p:txBody>
      </p:sp>
      <p:sp>
        <p:nvSpPr>
          <p:cNvPr id="43" name="Caso A">
            <a:extLst xmlns:a="http://schemas.openxmlformats.org/drawingml/2006/main">
              <a:ext uri="{FF2B5EF4-FFF2-40B4-BE49-F238E27FC236}">
                <a16:creationId xmlns:a16="http://schemas.microsoft.com/office/drawing/2014/main" id="{316919CA-188B-4A75-BDDC-FC1237FF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A</a:t>
            </a:r>
          </a:p>
        </p:txBody>
      </p:sp>
      <p:sp>
        <p:nvSpPr>
          <p:cNvPr id="44" name="Dado A">
            <a:extLst xmlns:a="http://schemas.openxmlformats.org/drawingml/2006/main">
              <a:ext uri="{FF2B5EF4-FFF2-40B4-BE49-F238E27FC236}">
                <a16:creationId xmlns:a16="http://schemas.microsoft.com/office/drawing/2014/main" id="{0623AB60-B274-435B-BF01-D48A340D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P24 e P48 têm |r| = 0,98.</a:t>
            </a:r>
          </a:p>
        </p:txBody>
      </p:sp>
      <p:sp>
        <p:nvSpPr>
          <p:cNvPr id="45" name="Pergunta A">
            <a:extLst xmlns:a="http://schemas.openxmlformats.org/drawingml/2006/main">
              <a:ext uri="{FF2B5EF4-FFF2-40B4-BE49-F238E27FC236}">
                <a16:creationId xmlns:a16="http://schemas.microsoft.com/office/drawing/2014/main" id="{1021B785-F3A3-4EF4-871F-B71FDF08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Qual entrada manter? O que falta avaliar?</a:t>
            </a:r>
          </a:p>
        </p:txBody>
      </p:sp>
      <p:sp>
        <p:nvSpPr>
          <p:cNvPr id="46" name="Caso B">
            <a:extLst xmlns:a="http://schemas.openxmlformats.org/drawingml/2006/main">
              <a:ext uri="{FF2B5EF4-FFF2-40B4-BE49-F238E27FC236}">
                <a16:creationId xmlns:a16="http://schemas.microsoft.com/office/drawing/2014/main" id="{A6C4DD6A-9CBB-4CED-A463-35ADE9BB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B</a:t>
            </a:r>
          </a:p>
        </p:txBody>
      </p:sp>
      <p:sp>
        <p:nvSpPr>
          <p:cNvPr id="47" name="Dado B">
            <a:extLst xmlns:a="http://schemas.openxmlformats.org/drawingml/2006/main">
              <a:ext uri="{FF2B5EF4-FFF2-40B4-BE49-F238E27FC236}">
                <a16:creationId xmlns:a16="http://schemas.microsoft.com/office/drawing/2014/main" id="{67F6B89E-F5AD-4DC8-ADBE-AE4396B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Uma entrada tem r ≈ 0 e MI alta.</a:t>
            </a:r>
          </a:p>
        </p:txBody>
      </p:sp>
      <p:sp>
        <p:nvSpPr>
          <p:cNvPr id="48" name="Pergunta B">
            <a:extLst xmlns:a="http://schemas.openxmlformats.org/drawingml/2006/main">
              <a:ext uri="{FF2B5EF4-FFF2-40B4-BE49-F238E27FC236}">
                <a16:creationId xmlns:a16="http://schemas.microsoft.com/office/drawing/2014/main" id="{FC584490-2C13-46D3-AD1F-81801F5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529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Ela deve sair do modelo?</a:t>
            </a:r>
          </a:p>
        </p:txBody>
      </p:sp>
      <p:sp>
        <p:nvSpPr>
          <p:cNvPr id="49" name="Caso C">
            <a:extLst xmlns:a="http://schemas.openxmlformats.org/drawingml/2006/main">
              <a:ext uri="{FF2B5EF4-FFF2-40B4-BE49-F238E27FC236}">
                <a16:creationId xmlns:a16="http://schemas.microsoft.com/office/drawing/2014/main" id="{F4824B49-97A8-4E9D-A100-6AFB9DD6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5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C</a:t>
            </a:r>
          </a:p>
        </p:txBody>
      </p:sp>
      <p:sp>
        <p:nvSpPr>
          <p:cNvPr id="50" name="Dado C">
            <a:extLst xmlns:a="http://schemas.openxmlformats.org/drawingml/2006/main">
              <a:ext uri="{FF2B5EF4-FFF2-40B4-BE49-F238E27FC236}">
                <a16:creationId xmlns:a16="http://schemas.microsoft.com/office/drawing/2014/main" id="{A52CF0FE-F836-457B-B2C2-BF00DD2C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4 componentes explicam 96% da variância.</a:t>
            </a:r>
          </a:p>
        </p:txBody>
      </p:sp>
      <p:sp>
        <p:nvSpPr>
          <p:cNvPr id="51" name="Pergunta C">
            <a:extLst xmlns:a="http://schemas.openxmlformats.org/drawingml/2006/main">
              <a:ext uri="{FF2B5EF4-FFF2-40B4-BE49-F238E27FC236}">
                <a16:creationId xmlns:a16="http://schemas.microsoft.com/office/drawing/2014/main" id="{BB7F6028-D118-4C8E-B66D-3798D40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Isso basta para aprovar o PCA?</a:t>
            </a:r>
          </a:p>
        </p:txBody>
      </p:sp>
      <p:sp>
        <p:nvSpPr>
          <p:cNvPr id="52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5A2F83C6-5126-4EB0-924B-B95678D6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28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Ajuste de hiperparâmetros</a:t>
            </a:r>
          </a:p>
        </p:txBody>
      </p:sp>
      <p:pic>
        <p:nvPicPr>
          <p:cNvPr id="4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c16da8fdc4c4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AB38FEDC-2244-4D8D-865A-ECAD85D0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Hiperparâmetros e seus efeitos</a:t>
            </a:r>
          </a:p>
        </p:txBody>
      </p:sp>
      <p:graphicFrame>
        <p:nvGraphicFramePr>
          <p:cNvPr id="52" name=""/>
          <p:cNvGraphicFramePr/>
          <p:nvPr/>
        </p:nvGraphicFramePr>
        <p:xfrm>
          <a:off xmlns:a="http://schemas.openxmlformats.org/drawingml/2006/main" x="457200" y="2514600"/>
          <a:ext xmlns:a="http://schemas.openxmlformats.org/drawingml/2006/main" cx="11277600" cy="3295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81425"/>
                <a:gridCol w="4257675"/>
              </a:tblGrid>
              <a:tr h="5143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Configuração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controla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Efeito a observar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79057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Camadas e neurônios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Capacidade e número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 parâmetros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Ajuste insuficiente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ou overfitting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6667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Taxa de aprendizado η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Tamanho dos passos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do otimizador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Velocidade e estabilidade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61912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Batch size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Exemplos por atualização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Custo e ruído do gradiente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7048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Regularização L2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Penalização dos pesos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Compromisso entre ajuste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 generalização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FA44C3DE-02F8-401E-AA9A-CFBF8D3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29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Ajuste de hiperparâmetros</a:t>
            </a:r>
          </a:p>
        </p:txBody>
      </p:sp>
      <p:pic>
        <p:nvPicPr>
          <p:cNvPr id="6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45183c7094c46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C071B6F-91D9-4B36-87A5-E2A7F5E2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Taxa de aprendizado e estabilidade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457200" y="2514600"/>
          <a:ext xmlns:a="http://schemas.openxmlformats.org/drawingml/2006/main" cx="7515225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1ed31e0b6d4096"/>
          </a:graphicData>
        </a:graphic>
      </p:graphicFrame>
      <p:sp>
        <p:nvSpPr>
          <p:cNvPr id="43" name="Small">
            <a:extLst xmlns:a="http://schemas.openxmlformats.org/drawingml/2006/main">
              <a:ext uri="{FF2B5EF4-FFF2-40B4-BE49-F238E27FC236}">
                <a16:creationId xmlns:a16="http://schemas.microsoft.com/office/drawing/2014/main" id="{8A5BE734-345B-4B46-9E4F-C7988EC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33675"/>
            <a:ext cx="3305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Passo pequeno</a:t>
            </a:r>
          </a:p>
        </p:txBody>
      </p:sp>
      <p:sp>
        <p:nvSpPr>
          <p:cNvPr id="44" name="Small explanation">
            <a:extLst xmlns:a="http://schemas.openxmlformats.org/drawingml/2006/main">
              <a:ext uri="{FF2B5EF4-FFF2-40B4-BE49-F238E27FC236}">
                <a16:creationId xmlns:a16="http://schemas.microsoft.com/office/drawing/2014/main" id="{DED94430-DD2C-4223-953C-D7ECFE8F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81350"/>
            <a:ext cx="3305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Redução lenta da perda.</a:t>
            </a:r>
          </a:p>
        </p:txBody>
      </p:sp>
      <p:sp>
        <p:nvSpPr>
          <p:cNvPr id="45" name="Adequate">
            <a:extLst xmlns:a="http://schemas.openxmlformats.org/drawingml/2006/main">
              <a:ext uri="{FF2B5EF4-FFF2-40B4-BE49-F238E27FC236}">
                <a16:creationId xmlns:a16="http://schemas.microsoft.com/office/drawing/2014/main" id="{225FD16F-6A5B-47AA-B545-B781330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3305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Passo adequado</a:t>
            </a:r>
          </a:p>
        </p:txBody>
      </p:sp>
      <p:sp>
        <p:nvSpPr>
          <p:cNvPr id="46" name="Adequate explanation">
            <a:extLst xmlns:a="http://schemas.openxmlformats.org/drawingml/2006/main">
              <a:ext uri="{FF2B5EF4-FFF2-40B4-BE49-F238E27FC236}">
                <a16:creationId xmlns:a16="http://schemas.microsoft.com/office/drawing/2014/main" id="{74DB7ED0-EF51-429C-BB53-6E3815D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76725"/>
            <a:ext cx="33051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Redução rápida e estável.</a:t>
            </a:r>
          </a:p>
        </p:txBody>
      </p:sp>
      <p:sp>
        <p:nvSpPr>
          <p:cNvPr id="47" name="Big">
            <a:extLst xmlns:a="http://schemas.openxmlformats.org/drawingml/2006/main">
              <a:ext uri="{FF2B5EF4-FFF2-40B4-BE49-F238E27FC236}">
                <a16:creationId xmlns:a16="http://schemas.microsoft.com/office/drawing/2014/main" id="{339B476C-5CDE-4655-9BE2-DA505285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19675"/>
            <a:ext cx="3305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Passo grande</a:t>
            </a:r>
          </a:p>
        </p:txBody>
      </p:sp>
      <p:sp>
        <p:nvSpPr>
          <p:cNvPr id="48" name="Big explanation">
            <a:extLst xmlns:a="http://schemas.openxmlformats.org/drawingml/2006/main">
              <a:ext uri="{FF2B5EF4-FFF2-40B4-BE49-F238E27FC236}">
                <a16:creationId xmlns:a16="http://schemas.microsoft.com/office/drawing/2014/main" id="{C5E32B0F-FE81-4A09-A651-094F4912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391150"/>
            <a:ext cx="3305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Oscilação do peso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com perda crescente.</a:t>
            </a:r>
          </a:p>
        </p:txBody>
      </p:sp>
      <p:sp>
        <p:nvSpPr>
          <p:cNvPr id="49" name="Legenda η = 0,025">
            <a:extLst xmlns:a="http://schemas.openxmlformats.org/drawingml/2006/main">
              <a:ext uri="{FF2B5EF4-FFF2-40B4-BE49-F238E27FC236}">
                <a16:creationId xmlns:a16="http://schemas.microsoft.com/office/drawing/2014/main" id="{C38C14B6-FF36-469D-A3CC-1A4137C4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50" name="Texto da legenda η = 0,025">
            <a:extLst xmlns:a="http://schemas.openxmlformats.org/drawingml/2006/main">
              <a:ext uri="{FF2B5EF4-FFF2-40B4-BE49-F238E27FC236}">
                <a16:creationId xmlns:a16="http://schemas.microsoft.com/office/drawing/2014/main" id="{6D900A2B-00B7-415C-9F0E-CE5FBB7F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η = 0,025</a:t>
            </a:r>
          </a:p>
        </p:txBody>
      </p:sp>
      <p:sp>
        <p:nvSpPr>
          <p:cNvPr id="51" name="Legenda η = 0,20">
            <a:extLst xmlns:a="http://schemas.openxmlformats.org/drawingml/2006/main">
              <a:ext uri="{FF2B5EF4-FFF2-40B4-BE49-F238E27FC236}">
                <a16:creationId xmlns:a16="http://schemas.microsoft.com/office/drawing/2014/main" id="{4F666799-D743-4CBF-A8BE-991803B7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E7BD"/>
            </a:solidFill>
          </a:ln>
        </p:spPr>
      </p:sp>
      <p:sp>
        <p:nvSpPr>
          <p:cNvPr id="52" name="Texto da legenda η = 0,20">
            <a:extLst xmlns:a="http://schemas.openxmlformats.org/drawingml/2006/main">
              <a:ext uri="{FF2B5EF4-FFF2-40B4-BE49-F238E27FC236}">
                <a16:creationId xmlns:a16="http://schemas.microsoft.com/office/drawing/2014/main" id="{BDDFA88B-F817-41F8-B960-021A8F59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6769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η = 0,20</a:t>
            </a:r>
          </a:p>
        </p:txBody>
      </p:sp>
      <p:sp>
        <p:nvSpPr>
          <p:cNvPr id="53" name="Legenda η = 1,05">
            <a:extLst xmlns:a="http://schemas.openxmlformats.org/drawingml/2006/main">
              <a:ext uri="{FF2B5EF4-FFF2-40B4-BE49-F238E27FC236}">
                <a16:creationId xmlns:a16="http://schemas.microsoft.com/office/drawing/2014/main" id="{1ED217AA-79E9-4D9D-ABB3-98A7E58B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816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54" name="Texto da legenda η = 1,05">
            <a:extLst xmlns:a="http://schemas.openxmlformats.org/drawingml/2006/main">
              <a:ext uri="{FF2B5EF4-FFF2-40B4-BE49-F238E27FC236}">
                <a16:creationId xmlns:a16="http://schemas.microsoft.com/office/drawing/2014/main" id="{31FD773C-3393-48EC-8568-52E3DBEC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769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η = 1,05</a:t>
            </a:r>
          </a:p>
        </p:txBody>
      </p:sp>
      <p:sp>
        <p:nvSpPr>
          <p:cNvPr id="55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24BC0B6-1186-49B6-AA59-94F259A0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exato: L(w) = w² e w novo = (1 − 2η)w. Estas taxas não são recomendações para MLP.</a:t>
            </a:r>
          </a:p>
        </p:txBody>
      </p:sp>
      <p:sp>
        <p:nvSpPr>
          <p:cNvPr id="56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A18C9D75-1322-4373-AEFB-FA63144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30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Ajuste de hiperparâmetros</a:t>
            </a:r>
          </a:p>
        </p:txBody>
      </p:sp>
      <p:pic>
        <p:nvPicPr>
          <p:cNvPr id="10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f7a1d19e64c4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D4D15B3A-D326-4D39-8B03-769A0699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Arquitetura e número de parâmetros</a:t>
            </a:r>
          </a:p>
        </p:txBody>
      </p:sp>
      <p:sp>
        <p:nvSpPr>
          <p:cNvPr id="42" name="Arquitetura 0">
            <a:extLst xmlns:a="http://schemas.openxmlformats.org/drawingml/2006/main">
              <a:ext uri="{FF2B5EF4-FFF2-40B4-BE49-F238E27FC236}">
                <a16:creationId xmlns:a16="http://schemas.microsoft.com/office/drawing/2014/main" id="{078A99BB-6E4F-43DB-95F6-6E7D0097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3486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6 – 8 – 1</a:t>
            </a:r>
          </a:p>
        </p:txBody>
      </p:sp>
      <p:sp>
        <p:nvSpPr>
          <p:cNvPr id="43" name="Camada 0-0">
            <a:extLst xmlns:a="http://schemas.openxmlformats.org/drawingml/2006/main">
              <a:ext uri="{FF2B5EF4-FFF2-40B4-BE49-F238E27FC236}">
                <a16:creationId xmlns:a16="http://schemas.microsoft.com/office/drawing/2014/main" id="{60CB8151-2C5C-4FC2-9283-DB553C2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44" name="Camada 0-1">
            <a:extLst xmlns:a="http://schemas.openxmlformats.org/drawingml/2006/main">
              <a:ext uri="{FF2B5EF4-FFF2-40B4-BE49-F238E27FC236}">
                <a16:creationId xmlns:a16="http://schemas.microsoft.com/office/drawing/2014/main" id="{CAB046C4-E451-456B-9A22-2FAC14E1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8</a:t>
            </a:r>
          </a:p>
        </p:txBody>
      </p:sp>
      <p:sp>
        <p:nvSpPr>
          <p:cNvPr id="45" name="Camada 0-2">
            <a:extLst xmlns:a="http://schemas.openxmlformats.org/drawingml/2006/main">
              <a:ext uri="{FF2B5EF4-FFF2-40B4-BE49-F238E27FC236}">
                <a16:creationId xmlns:a16="http://schemas.microsoft.com/office/drawing/2014/main" id="{3440E7D2-9F9B-45A4-8FDF-AA4B233E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cxnSp>
        <p:nvCxnSpPr>
          <p:cNvPr id="11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695450" y="3619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12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2495550" y="36195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48" name="Contagem 0">
            <a:extLst xmlns:a="http://schemas.openxmlformats.org/drawingml/2006/main">
              <a:ext uri="{FF2B5EF4-FFF2-40B4-BE49-F238E27FC236}">
                <a16:creationId xmlns:a16="http://schemas.microsoft.com/office/drawing/2014/main" id="{ADFC1403-4A43-4C13-9E9D-98760F1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65 parâmetros</a:t>
            </a:r>
          </a:p>
        </p:txBody>
      </p:sp>
      <p:sp>
        <p:nvSpPr>
          <p:cNvPr id="49" name="Arquitetura 1">
            <a:extLst xmlns:a="http://schemas.openxmlformats.org/drawingml/2006/main">
              <a:ext uri="{FF2B5EF4-FFF2-40B4-BE49-F238E27FC236}">
                <a16:creationId xmlns:a16="http://schemas.microsoft.com/office/drawing/2014/main" id="{1A121CB2-F59E-443E-9E3C-E536676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47925"/>
            <a:ext cx="3486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6 – 16 – 16 – 1</a:t>
            </a:r>
          </a:p>
        </p:txBody>
      </p:sp>
      <p:sp>
        <p:nvSpPr>
          <p:cNvPr id="50" name="Camada 1-0">
            <a:extLst xmlns:a="http://schemas.openxmlformats.org/drawingml/2006/main">
              <a:ext uri="{FF2B5EF4-FFF2-40B4-BE49-F238E27FC236}">
                <a16:creationId xmlns:a16="http://schemas.microsoft.com/office/drawing/2014/main" id="{2451E0D4-1D59-4FE3-BCE9-9BE1499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51" name="Camada 1-1">
            <a:extLst xmlns:a="http://schemas.openxmlformats.org/drawingml/2006/main">
              <a:ext uri="{FF2B5EF4-FFF2-40B4-BE49-F238E27FC236}">
                <a16:creationId xmlns:a16="http://schemas.microsoft.com/office/drawing/2014/main" id="{8FEF2268-5315-4263-B37E-23323BB7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90875"/>
            <a:ext cx="5905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  <p:sp>
        <p:nvSpPr>
          <p:cNvPr id="52" name="Camada 1-2">
            <a:extLst xmlns:a="http://schemas.openxmlformats.org/drawingml/2006/main">
              <a:ext uri="{FF2B5EF4-FFF2-40B4-BE49-F238E27FC236}">
                <a16:creationId xmlns:a16="http://schemas.microsoft.com/office/drawing/2014/main" id="{1F462DB7-AA4C-45D9-A928-8A2FE79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90875"/>
            <a:ext cx="5905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  <p:sp>
        <p:nvSpPr>
          <p:cNvPr id="53" name="Camada 1-3">
            <a:extLst xmlns:a="http://schemas.openxmlformats.org/drawingml/2006/main">
              <a:ext uri="{FF2B5EF4-FFF2-40B4-BE49-F238E27FC236}">
                <a16:creationId xmlns:a16="http://schemas.microsoft.com/office/drawing/2014/main" id="{E14E3429-3EEC-48EE-84C6-B848F3E9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cxnSp>
        <p:nvCxnSpPr>
          <p:cNvPr id="119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105400" y="3619500"/>
            <a:ext cx="20955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5905500" y="38814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6705600" y="3619500"/>
            <a:ext cx="20955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57" name="Contagem 1">
            <a:extLst xmlns:a="http://schemas.openxmlformats.org/drawingml/2006/main">
              <a:ext uri="{FF2B5EF4-FFF2-40B4-BE49-F238E27FC236}">
                <a16:creationId xmlns:a16="http://schemas.microsoft.com/office/drawing/2014/main" id="{DF96531E-FC65-491D-B3D8-70DB467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577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401 parâmetros</a:t>
            </a:r>
          </a:p>
        </p:txBody>
      </p:sp>
      <p:sp>
        <p:nvSpPr>
          <p:cNvPr id="58" name="Arquitetura 2">
            <a:extLst xmlns:a="http://schemas.openxmlformats.org/drawingml/2006/main">
              <a:ext uri="{FF2B5EF4-FFF2-40B4-BE49-F238E27FC236}">
                <a16:creationId xmlns:a16="http://schemas.microsoft.com/office/drawing/2014/main" id="{F260BA50-992D-4819-898D-93FFBEFC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47925"/>
            <a:ext cx="3486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6 – 64 – 64 – 1</a:t>
            </a:r>
          </a:p>
        </p:txBody>
      </p:sp>
      <p:sp>
        <p:nvSpPr>
          <p:cNvPr id="59" name="Camada 2-0">
            <a:extLst xmlns:a="http://schemas.openxmlformats.org/drawingml/2006/main">
              <a:ext uri="{FF2B5EF4-FFF2-40B4-BE49-F238E27FC236}">
                <a16:creationId xmlns:a16="http://schemas.microsoft.com/office/drawing/2014/main" id="{BCD306A3-02FC-4702-89E6-AB89E95A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</a:t>
            </a:r>
          </a:p>
        </p:txBody>
      </p:sp>
      <p:sp>
        <p:nvSpPr>
          <p:cNvPr id="60" name="Camada 2-1">
            <a:extLst xmlns:a="http://schemas.openxmlformats.org/drawingml/2006/main">
              <a:ext uri="{FF2B5EF4-FFF2-40B4-BE49-F238E27FC236}">
                <a16:creationId xmlns:a16="http://schemas.microsoft.com/office/drawing/2014/main" id="{659BAB36-A6BB-4779-885D-F4D341C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90875"/>
            <a:ext cx="5905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64</a:t>
            </a:r>
          </a:p>
        </p:txBody>
      </p:sp>
      <p:sp>
        <p:nvSpPr>
          <p:cNvPr id="61" name="Camada 2-2">
            <a:extLst xmlns:a="http://schemas.openxmlformats.org/drawingml/2006/main">
              <a:ext uri="{FF2B5EF4-FFF2-40B4-BE49-F238E27FC236}">
                <a16:creationId xmlns:a16="http://schemas.microsoft.com/office/drawing/2014/main" id="{C5CC5D9C-B17E-4761-9B6B-44815EA5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90875"/>
            <a:ext cx="5905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64</a:t>
            </a:r>
          </a:p>
        </p:txBody>
      </p:sp>
      <p:sp>
        <p:nvSpPr>
          <p:cNvPr id="62" name="Camada 2-3">
            <a:extLst xmlns:a="http://schemas.openxmlformats.org/drawingml/2006/main">
              <a:ext uri="{FF2B5EF4-FFF2-40B4-BE49-F238E27FC236}">
                <a16:creationId xmlns:a16="http://schemas.microsoft.com/office/drawing/2014/main" id="{A62CC9DD-0B26-497F-9321-268B583D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90875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cxnSp>
        <p:nvCxnSpPr>
          <p:cNvPr id="128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8915400" y="3619500"/>
            <a:ext cx="20955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9715500" y="3881438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10515600" y="3619500"/>
            <a:ext cx="20955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prstDash val="solid"/>
            <a:tailEnd type="triangle" w="med" len="med"/>
          </a:ln>
        </p:spPr>
      </p:cxnSp>
      <p:sp>
        <p:nvSpPr>
          <p:cNvPr id="66" name="Contagem 2">
            <a:extLst xmlns:a="http://schemas.openxmlformats.org/drawingml/2006/main">
              <a:ext uri="{FF2B5EF4-FFF2-40B4-BE49-F238E27FC236}">
                <a16:creationId xmlns:a16="http://schemas.microsoft.com/office/drawing/2014/main" id="{893B2C9C-47C2-4D89-BEB8-4FD2EC5F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577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4673 parâmetros</a:t>
            </a:r>
          </a:p>
        </p:txBody>
      </p:sp>
      <p:sp>
        <p:nvSpPr>
          <p:cNvPr id="67" name="Parameter rule">
            <a:extLst xmlns:a="http://schemas.openxmlformats.org/drawingml/2006/main">
              <a:ext uri="{FF2B5EF4-FFF2-40B4-BE49-F238E27FC236}">
                <a16:creationId xmlns:a16="http://schemas.microsoft.com/office/drawing/2014/main" id="{03A92C95-D6C4-4153-846D-DD983256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 = Σ (n anterior + 1) · n atual</a:t>
            </a:r>
          </a:p>
        </p:txBody>
      </p:sp>
      <p:sp>
        <p:nvSpPr>
          <p:cNvPr id="68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11DE1154-F2D4-43BD-8494-FEEF46BF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Redes densas com viés e uma saída. Cada número no diagrama representa neurônios em uma camada.</a:t>
            </a:r>
          </a:p>
        </p:txBody>
      </p:sp>
      <p:sp>
        <p:nvSpPr>
          <p:cNvPr id="69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366EB816-3F54-40F5-8D64-C27DFAA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31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Ajuste de hiperparâmetros</a:t>
            </a:r>
          </a:p>
        </p:txBody>
      </p:sp>
      <p:pic>
        <p:nvPicPr>
          <p:cNvPr id="5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04f9d341f443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69E381D7-C11E-4B3D-9F96-16E8B84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Busca em grade e busca aleatória</a:t>
            </a:r>
          </a:p>
        </p:txBody>
      </p:sp>
      <p:sp>
        <p:nvSpPr>
          <p:cNvPr id="42" name="Grid search">
            <a:extLst xmlns:a="http://schemas.openxmlformats.org/drawingml/2006/main">
              <a:ext uri="{FF2B5EF4-FFF2-40B4-BE49-F238E27FC236}">
                <a16:creationId xmlns:a16="http://schemas.microsoft.com/office/drawing/2014/main" id="{61EB5F67-CC0D-4732-A377-9CE105D2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31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Grade: 9 combinações</a:t>
            </a:r>
          </a:p>
        </p:txBody>
      </p:sp>
      <p:sp>
        <p:nvSpPr>
          <p:cNvPr id="43" name="Random search">
            <a:extLst xmlns:a="http://schemas.openxmlformats.org/drawingml/2006/main">
              <a:ext uri="{FF2B5EF4-FFF2-40B4-BE49-F238E27FC236}">
                <a16:creationId xmlns:a16="http://schemas.microsoft.com/office/drawing/2014/main" id="{52725587-D4D5-4C96-80C4-8F63317C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531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Aleatória: 9 combinações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57200" y="2876550"/>
          <a:ext xmlns:a="http://schemas.openxmlformats.org/drawingml/2006/main" cx="5314950" cy="2438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9a69a678ed4dcd"/>
          </a:graphicData>
        </a:graphic>
      </p:graphicFrame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419850" y="2876550"/>
          <a:ext xmlns:a="http://schemas.openxmlformats.org/drawingml/2006/main" cx="5314950" cy="2438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4e5e457cc14b6c"/>
          </a:graphicData>
        </a:graphic>
      </p:graphicFrame>
      <p:sp>
        <p:nvSpPr>
          <p:cNvPr id="46" name="Budget">
            <a:extLst xmlns:a="http://schemas.openxmlformats.org/drawingml/2006/main">
              <a:ext uri="{FF2B5EF4-FFF2-40B4-BE49-F238E27FC236}">
                <a16:creationId xmlns:a16="http://schemas.microsoft.com/office/drawing/2014/main" id="{F2E522CA-F8E5-4516-815F-8BA0F928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Cada ponto exige treinar e validar uma configuração.</a:t>
            </a:r>
          </a:p>
        </p:txBody>
      </p:sp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9738ECF6-2041-4E72-8E21-0B05CD45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Espaço e amostras ilustrativos. Mesma quantidade de candidatos nos dois painéis.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F0A931DF-17A1-4FC4-B91E-ED8DC371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32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Comparação de modelos</a:t>
            </a:r>
          </a:p>
        </p:txBody>
      </p:sp>
      <p:pic>
        <p:nvPicPr>
          <p:cNvPr id="5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a6aab62144c59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C6921C01-3533-4177-A659-C136C04A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Validação temporal para comparar configurações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112776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764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4762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Divisão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2020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2021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2022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2023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2024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2025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762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Validar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762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Validar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762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Validar</a:t>
                      </a:r>
                    </a:p>
                  </a:txBody>
                  <a:tcPr marL="91440" marR="91440" marT="45720" marB="45720" anchor="ctr">
                    <a:solidFill>
                      <a:srgbClr val="0C556A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762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Final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 gridSpan="5"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Desenvolvimento para ajuste final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 hMerge="1"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Desenvolvimento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 hMerge="1"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Desenvolvimento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 hMerge="1"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Desenvolvimento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 hMerge="1"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Desenvolvimento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Teste</a:t>
                      </a:r>
                    </a:p>
                  </a:txBody>
                  <a:tcPr marL="91440" marR="91440" marT="45720" marB="45720" anchor="ctr">
                    <a:solidFill>
                      <a:srgbClr val="60472D"/>
                    </a:solidFill>
                  </a:tcPr>
                </a:tc>
              </a:tr>
            </a:tbl>
          </a:graphicData>
        </a:graphic>
      </p:graphicFrame>
      <p:sp>
        <p:nvSpPr>
          <p:cNvPr id="43" name="Summary">
            <a:extLst xmlns:a="http://schemas.openxmlformats.org/drawingml/2006/main">
              <a:ext uri="{FF2B5EF4-FFF2-40B4-BE49-F238E27FC236}">
                <a16:creationId xmlns:a16="http://schemas.microsoft.com/office/drawing/2014/main" id="{33AE96FE-3E85-4210-8D03-54E9736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11277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configuração deve funcionar em mais de um período.</a:t>
            </a:r>
          </a:p>
        </p:txBody>
      </p:sp>
      <p:sp>
        <p:nvSpPr>
          <p:cNvPr id="44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E833071D-CD6A-45B1-9F42-5BF6D35E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Esquema ilustrativo. O teste de 2025 fica separado da busca. Blocos e gaps dependem do problema.</a:t>
            </a:r>
          </a:p>
        </p:txBody>
      </p:sp>
      <p:sp>
        <p:nvSpPr>
          <p:cNvPr id="45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4D6290B2-1CAB-4D50-88E6-3CF38AF1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33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Comparação de modelos</a:t>
            </a:r>
          </a:p>
        </p:txBody>
      </p:sp>
      <p:pic>
        <p:nvPicPr>
          <p:cNvPr id="5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ed5abeb64f7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D1155C2C-702F-4E2C-AAE7-BD7055A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Registro de experimentos comparáveis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457200" y="2552700"/>
          <a:ext xmlns:a="http://schemas.openxmlformats.org/drawingml/2006/main" cx="11277600" cy="2676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81325"/>
                <a:gridCol w="1866900"/>
                <a:gridCol w="2105025"/>
                <a:gridCol w="2428875"/>
                <a:gridCol w="1895475"/>
              </a:tblGrid>
              <a:tr h="53530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Candidato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Entradas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RMSE médio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Desvio entre blocos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Custo relativo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53530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A: MLP inicial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Todas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12,4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2,1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530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B: MLP + MI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Top 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10,8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1,3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530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C: MLP + PCA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 componentes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11,1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1,5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0,7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53530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D: rede maior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Top 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10,7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2,2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3,5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Discussion">
            <a:extLst xmlns:a="http://schemas.openxmlformats.org/drawingml/2006/main">
              <a:ext uri="{FF2B5EF4-FFF2-40B4-BE49-F238E27FC236}">
                <a16:creationId xmlns:a16="http://schemas.microsoft.com/office/drawing/2014/main" id="{B08AD8F7-37D3-4BEB-A3F8-4699B105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A diferença entre B e D justifica mais custo e variabilidade?</a:t>
            </a:r>
          </a:p>
        </p:txBody>
      </p:sp>
      <p:sp>
        <p:nvSpPr>
          <p:cNvPr id="44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4A84CC9-9F67-41B8-90BB-DAC097C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Resultados hipotéticos para discussão. Mesmos blocos e unidades em todos os candidatos.</a:t>
            </a:r>
          </a:p>
        </p:txBody>
      </p:sp>
      <p:sp>
        <p:nvSpPr>
          <p:cNvPr id="45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38AF4CF-F93C-421D-ABEB-463EB62D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34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Comparação de modelos</a:t>
            </a:r>
          </a:p>
        </p:txBody>
      </p:sp>
      <p:pic>
        <p:nvPicPr>
          <p:cNvPr id="53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db82f618a4b0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0A825C50-FD7B-4E3D-AC99-C8D66EF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RMSE e R² na avaliação das previsões</a:t>
            </a:r>
          </a:p>
        </p:txBody>
      </p:sp>
      <p:graphicFrame>
        <p:nvGraphicFramePr>
          <p:cNvPr id="56" name=""/>
          <p:cNvGraphicFramePr/>
          <p:nvPr/>
        </p:nvGraphicFramePr>
        <p:xfrm>
          <a:off xmlns:a="http://schemas.openxmlformats.org/drawingml/2006/main" x="457200" y="2733675"/>
          <a:ext xmlns:a="http://schemas.openxmlformats.org/drawingml/2006/main" cx="4867275" cy="2371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28775"/>
                <a:gridCol w="1619250"/>
                <a:gridCol w="1619250"/>
              </a:tblGrid>
              <a:tr h="47434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Observado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Modelo 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Modelo B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7434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7434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7434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74345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43" name="A metric">
            <a:extLst xmlns:a="http://schemas.openxmlformats.org/drawingml/2006/main">
              <a:ext uri="{FF2B5EF4-FFF2-40B4-BE49-F238E27FC236}">
                <a16:creationId xmlns:a16="http://schemas.microsoft.com/office/drawing/2014/main" id="{6CF754CB-92EB-4131-A592-DA48F97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57475"/>
            <a:ext cx="5810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MODELO A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RMSE = 2 m³/s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R² = 0,968</a:t>
            </a:r>
          </a:p>
        </p:txBody>
      </p:sp>
      <p:sp>
        <p:nvSpPr>
          <p:cNvPr id="44" name="B metric">
            <a:extLst xmlns:a="http://schemas.openxmlformats.org/drawingml/2006/main">
              <a:ext uri="{FF2B5EF4-FFF2-40B4-BE49-F238E27FC236}">
                <a16:creationId xmlns:a16="http://schemas.microsoft.com/office/drawing/2014/main" id="{C33F831D-CC72-40A9-A6DE-10FD053A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05275"/>
            <a:ext cx="5810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MODELO B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RMSE = 20 m³/s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R² = −2,2</a:t>
            </a:r>
          </a:p>
        </p:txBody>
      </p:sp>
      <p:sp>
        <p:nvSpPr>
          <p:cNvPr id="45" name="Lesson">
            <a:extLst xmlns:a="http://schemas.openxmlformats.org/drawingml/2006/main">
              <a:ext uri="{FF2B5EF4-FFF2-40B4-BE49-F238E27FC236}">
                <a16:creationId xmlns:a16="http://schemas.microsoft.com/office/drawing/2014/main" id="{B45C36EA-3B83-4A55-8292-D7662BD1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O modelo B tem Pearson r = 1, mesmo com grande viés.</a:t>
            </a:r>
          </a:p>
        </p:txBody>
      </p:sp>
      <p:sp>
        <p:nvSpPr>
          <p:cNvPr id="4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01417E19-A9BE-4D91-8F2F-9086692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Dados hipotéticos em m³/s. R² = 1 − Σ(y − ŷ)² / Σ(y − média(y))².</a:t>
            </a:r>
          </a:p>
        </p:txBody>
      </p:sp>
      <p:sp>
        <p:nvSpPr>
          <p:cNvPr id="4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6CEBAB9-B15B-42F2-8C27-ABA4F44E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35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c8ff243864b87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D05CBA20-2379-4183-9F32-B225C1E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Incerteza epistêmica e aleatória</a:t>
            </a:r>
          </a:p>
        </p:txBody>
      </p:sp>
      <p:graphicFrame>
        <p:nvGraphicFramePr>
          <p:cNvPr id="65" name=""/>
          <p:cNvGraphicFramePr/>
          <p:nvPr/>
        </p:nvGraphicFramePr>
        <p:xfrm>
          <a:off xmlns:a="http://schemas.openxmlformats.org/drawingml/2006/main" x="457200" y="2581275"/>
          <a:ext xmlns:a="http://schemas.openxmlformats.org/drawingml/2006/main" cx="11277600" cy="2362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3876675"/>
                <a:gridCol w="5019675"/>
              </a:tblGrid>
              <a:tr h="4953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Fonte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representa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Exemplo na previsão de vazão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93345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Epistêmica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Conhecimento limitado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sobre o modelo.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Poucos eventos extremos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 conjunto de treino.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93345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Aleatória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(aleatoric)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Variabilidade de Y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para as mesmas entradas.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Ruído de medição e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processos não observados.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56" name="Epistemic reduction">
            <a:extLst xmlns:a="http://schemas.openxmlformats.org/drawingml/2006/main">
              <a:ext uri="{FF2B5EF4-FFF2-40B4-BE49-F238E27FC236}">
                <a16:creationId xmlns:a16="http://schemas.microsoft.com/office/drawing/2014/main" id="{13ABF194-949D-493F-99B6-09E2B778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8275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Dados informativos podem reduzir a incerteza epistêmica.</a:t>
            </a:r>
          </a:p>
        </p:txBody>
      </p:sp>
      <p:sp>
        <p:nvSpPr>
          <p:cNvPr id="5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6C6DBF65-A8F6-4E32-851F-6BFC6D9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A decomposição depende das entradas e do modelo. A variância residual pode misturar várias fontes.</a:t>
            </a:r>
          </a:p>
        </p:txBody>
      </p:sp>
      <p:sp>
        <p:nvSpPr>
          <p:cNvPr id="5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60ECFE87-100A-405E-A795-034AC8D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36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3df92cd674224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AE1BF12-52A1-4B51-BFAC-F6C9005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Disponibilidade de dados e dispersão das estimativas</a:t>
            </a:r>
          </a:p>
        </p:txBody>
      </p:sp>
      <p:sp>
        <p:nvSpPr>
          <p:cNvPr id="55" name="Represented">
            <a:extLst xmlns:a="http://schemas.openxmlformats.org/drawingml/2006/main">
              <a:ext uri="{FF2B5EF4-FFF2-40B4-BE49-F238E27FC236}">
                <a16:creationId xmlns:a16="http://schemas.microsoft.com/office/drawing/2014/main" id="{C371D2DF-7649-4094-B4D6-ED8907C1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907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Região com observações</a:t>
            </a:r>
          </a:p>
        </p:txBody>
      </p:sp>
      <p:sp>
        <p:nvSpPr>
          <p:cNvPr id="56" name="Sparse">
            <a:extLst xmlns:a="http://schemas.openxmlformats.org/drawingml/2006/main">
              <a:ext uri="{FF2B5EF4-FFF2-40B4-BE49-F238E27FC236}">
                <a16:creationId xmlns:a16="http://schemas.microsoft.com/office/drawing/2014/main" id="{ADE4CE7E-CABB-4FFD-B61B-D0F5C72D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90775"/>
            <a:ext cx="497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Região pouco representada</a:t>
            </a:r>
          </a:p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457200" y="2771775"/>
          <a:ext xmlns:a="http://schemas.openxmlformats.org/drawingml/2006/main" cx="1127760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498463197b4f08"/>
          </a:graphicData>
        </a:graphic>
      </p:graphicFrame>
      <p:sp>
        <p:nvSpPr>
          <p:cNvPr id="58" name="Reading">
            <a:extLst xmlns:a="http://schemas.openxmlformats.org/drawingml/2006/main">
              <a:ext uri="{FF2B5EF4-FFF2-40B4-BE49-F238E27FC236}">
                <a16:creationId xmlns:a16="http://schemas.microsoft.com/office/drawing/2014/main" id="{7BF192DE-6D0F-481E-95F6-0E092965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02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As curvas se afastam onde o treino oferece pouca informação.</a:t>
            </a:r>
          </a:p>
        </p:txBody>
      </p:sp>
      <p:sp>
        <p:nvSpPr>
          <p:cNvPr id="59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6EE7C607-76A4-4CB6-AC8E-DF131A8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Curvas e observações sintéticas. Cores: modelos. Pontos brancos: treino. Linha vertical: P = 55 mm.</a:t>
            </a:r>
          </a:p>
        </p:txBody>
      </p:sp>
      <p:sp>
        <p:nvSpPr>
          <p:cNvPr id="6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CC52784E-3CC9-4CBD-9DB3-C3CC1B61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37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1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9a7ebf870486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3BB47FCD-18F4-4B16-80A4-7BC13994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Métodos para representar a incerteza do modelo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457200" y="2505075"/>
          <a:ext xmlns:a="http://schemas.openxmlformats.org/drawingml/2006/main" cx="11277600" cy="3114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0350"/>
                <a:gridCol w="3657600"/>
                <a:gridCol w="4819650"/>
              </a:tblGrid>
              <a:tr h="48577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Método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 que varia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Procedimento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82867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Ensemble de redes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Inicialização 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ajuste dos pesos.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Treinar várias redes 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comparar suas previsões.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9144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Bootstrap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em blocos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Amostra de treino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 dependência temporal.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Reamostrar blocos 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refazer o ajuste.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8582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MC dropout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Máscaras de dropout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na mesma rede.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Treinar com dropout 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repetir inferências com ele ativo.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56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332C700-867E-45DA-8C57-7D17947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O significado do intervalo acompanha o método. A cobertura precisa de avaliação fora do treino.</a:t>
            </a:r>
          </a:p>
        </p:txBody>
      </p:sp>
      <p:sp>
        <p:nvSpPr>
          <p:cNvPr id="57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CA52DFAF-209A-4B2C-B055-0F94A345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38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5ca33a44b437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8F438A5-B252-4FAA-BE2D-13482BE9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Média e dispersão de um ensemble</a:t>
            </a:r>
          </a:p>
        </p:txBody>
      </p:sp>
      <p:graphicFrame>
        <p:nvGraphicFramePr>
          <p:cNvPr id="68" name=""/>
          <p:cNvGraphicFramePr/>
          <p:nvPr/>
        </p:nvGraphicFramePr>
        <p:xfrm>
          <a:off xmlns:a="http://schemas.openxmlformats.org/drawingml/2006/main" x="457200" y="2571750"/>
          <a:ext xmlns:a="http://schemas.openxmlformats.org/drawingml/2006/main" cx="462915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3152775"/>
              </a:tblGrid>
              <a:tr h="42862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Rede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Q̂(t+1), em m³/s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56" name="Ensemble mean">
            <a:extLst xmlns:a="http://schemas.openxmlformats.org/drawingml/2006/main">
              <a:ext uri="{FF2B5EF4-FFF2-40B4-BE49-F238E27FC236}">
                <a16:creationId xmlns:a16="http://schemas.microsoft.com/office/drawing/2014/main" id="{B533D3A5-D968-4E7C-BFA9-2797FC0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908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9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μ̂(x) = Σ Q̂ₘ(x) / M</a:t>
            </a:r>
          </a:p>
        </p:txBody>
      </p:sp>
      <p:sp>
        <p:nvSpPr>
          <p:cNvPr id="57" name="Ensemble variance">
            <a:extLst xmlns:a="http://schemas.openxmlformats.org/drawingml/2006/main">
              <a:ext uri="{FF2B5EF4-FFF2-40B4-BE49-F238E27FC236}">
                <a16:creationId xmlns:a16="http://schemas.microsoft.com/office/drawing/2014/main" id="{67A847E0-1D5B-4140-A871-038A3E00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67075"/>
            <a:ext cx="595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s²(x) = Σ[Q̂ₘ(x) − μ̂(x)]² / (M − 1)</a:t>
            </a:r>
          </a:p>
        </p:txBody>
      </p:sp>
      <p:sp>
        <p:nvSpPr>
          <p:cNvPr id="58" name="Result">
            <a:extLst xmlns:a="http://schemas.openxmlformats.org/drawingml/2006/main">
              <a:ext uri="{FF2B5EF4-FFF2-40B4-BE49-F238E27FC236}">
                <a16:creationId xmlns:a16="http://schemas.microsoft.com/office/drawing/2014/main" id="{8DE16909-741F-460D-A719-FC5E70F2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33875"/>
            <a:ext cx="5953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μ̂ = 21 m³/s</a:t>
            </a:r>
          </a:p>
          <a:p xmlns:a="http://schemas.openxmlformats.org/drawingml/2006/main">
            <a:pPr algn="l">
              <a:def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s = 2,24 m³/s</a:t>
            </a:r>
          </a:p>
        </p:txBody>
      </p:sp>
      <p:sp>
        <p:nvSpPr>
          <p:cNvPr id="59" name="Meaning">
            <a:extLst xmlns:a="http://schemas.openxmlformats.org/drawingml/2006/main">
              <a:ext uri="{FF2B5EF4-FFF2-40B4-BE49-F238E27FC236}">
                <a16:creationId xmlns:a16="http://schemas.microsoft.com/office/drawing/2014/main" id="{BC04FBA0-C4CF-4261-BB4B-DA4A21CD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9117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 resume a dispersão entre os ajustes.</a:t>
            </a:r>
          </a:p>
        </p:txBody>
      </p:sp>
      <p:sp>
        <p:nvSpPr>
          <p:cNvPr id="60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02624E25-826E-4B05-BB5F-8EF3EA8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hipotético com cinco redes. Essa dispersão representa uma aproximação da incerteza epistêmica.</a:t>
            </a:r>
          </a:p>
        </p:txBody>
      </p:sp>
      <p:sp>
        <p:nvSpPr>
          <p:cNvPr id="61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165F581D-2366-416D-8111-DA185DA1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39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34e1ae042495f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E5FACBE4-93B6-4DBF-8A61-3225C113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Confiança, credibilidade e previsão</a:t>
            </a:r>
          </a:p>
        </p:txBody>
      </p:sp>
      <p:graphicFrame>
        <p:nvGraphicFramePr>
          <p:cNvPr id="65" name=""/>
          <p:cNvGraphicFramePr/>
          <p:nvPr/>
        </p:nvGraphicFramePr>
        <p:xfrm>
          <a:off xmlns:a="http://schemas.openxmlformats.org/drawingml/2006/main" x="457200" y="2571750"/>
          <a:ext xmlns:a="http://schemas.openxmlformats.org/drawingml/2006/main" cx="112776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476625"/>
                <a:gridCol w="5038725"/>
              </a:tblGrid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Intervalo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Alvo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Interpretação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8001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Confiança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(frequentista)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Um parâmetro, como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 média condicional.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Cobertura do procedimento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em amostragens repetidas.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001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Credibilidade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(bayesiano)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Um parâmetro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 distribuição posterior.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Probabilidade posterior,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dado o modelo e os dados.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8001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Previsão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Uma nova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observação de vazão.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Cobertura de valores futuros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pelo procedimento preditivo.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56" name="Predictive variance">
            <a:extLst xmlns:a="http://schemas.openxmlformats.org/drawingml/2006/main">
              <a:ext uri="{FF2B5EF4-FFF2-40B4-BE49-F238E27FC236}">
                <a16:creationId xmlns:a16="http://schemas.microsoft.com/office/drawing/2014/main" id="{31A77E24-5518-48B8-82F9-811A29C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Var(Y* | x, D) = E[Var(Y* | x, θ)] + Var[E(Y* | x, θ)]</a:t>
            </a:r>
          </a:p>
        </p:txBody>
      </p:sp>
      <p:sp>
        <p:nvSpPr>
          <p:cNvPr id="5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7745E5DE-7C94-4B50-989D-58A1242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A previsão combina variabilidade da resposta e incerteza sobre a média, sob as hipóteses do modelo.</a:t>
            </a:r>
          </a:p>
        </p:txBody>
      </p:sp>
      <p:sp>
        <p:nvSpPr>
          <p:cNvPr id="5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4F02930D-618F-44E0-B2ED-D82DE2C2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40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aa5d6c7fc4afe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4F3BBE06-F8F4-46AE-A6F3-36C11FFB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significado de um intervalo de confiança de 95%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552700"/>
          <a:ext xmlns:a="http://schemas.openxmlformats.org/drawingml/2006/main" cx="6943725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0d7fcf20894edc"/>
          </a:graphicData>
        </a:graphic>
      </p:graphicFrame>
      <p:sp>
        <p:nvSpPr>
          <p:cNvPr id="56" name="True target">
            <a:extLst xmlns:a="http://schemas.openxmlformats.org/drawingml/2006/main">
              <a:ext uri="{FF2B5EF4-FFF2-40B4-BE49-F238E27FC236}">
                <a16:creationId xmlns:a16="http://schemas.microsoft.com/office/drawing/2014/main" id="{AC25ECF6-674E-46BB-8F31-69D4598C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μ = 100 m³/s</a:t>
            </a:r>
          </a:p>
        </p:txBody>
      </p:sp>
      <p:sp>
        <p:nvSpPr>
          <p:cNvPr id="57" name="Meaning">
            <a:extLst xmlns:a="http://schemas.openxmlformats.org/drawingml/2006/main">
              <a:ext uri="{FF2B5EF4-FFF2-40B4-BE49-F238E27FC236}">
                <a16:creationId xmlns:a16="http://schemas.microsoft.com/office/drawing/2014/main" id="{AA35FE14-88CD-4644-8399-47D331EE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790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Ao repetir a amostragem,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cerca de 95% dos intervalos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cobrem a média verdadeira.</a:t>
            </a:r>
          </a:p>
        </p:txBody>
      </p:sp>
      <p:sp>
        <p:nvSpPr>
          <p:cNvPr id="58" name="Simulation count">
            <a:extLst xmlns:a="http://schemas.openxmlformats.org/drawingml/2006/main">
              <a:ext uri="{FF2B5EF4-FFF2-40B4-BE49-F238E27FC236}">
                <a16:creationId xmlns:a16="http://schemas.microsoft.com/office/drawing/2014/main" id="{4B3D479F-DBC9-43DF-AF77-F83694E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62500"/>
            <a:ext cx="379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19 de 20 intervalos</a:t>
            </a:r>
          </a:p>
          <a:p xmlns:a="http://schemas.openxmlformats.org/drawingml/2006/main">
            <a:pPr algn="l">
              <a:def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cobriram μ nesta simulação.</a:t>
            </a:r>
          </a:p>
        </p:txBody>
      </p:sp>
      <p:sp>
        <p:nvSpPr>
          <p:cNvPr id="59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CE58CC11-C474-4EBF-84BA-27993C6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Simulação: amostras independentes de n = 25, normal, σ = 10 conhecido. Laranja: intervalo sem cobertura.</a:t>
            </a:r>
          </a:p>
        </p:txBody>
      </p:sp>
      <p:sp>
        <p:nvSpPr>
          <p:cNvPr id="6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431EBED9-CACD-4FF6-A24E-DB781542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41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9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caba021a64e06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4002F908-C156-46E9-A679-29DB154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Exemplo numérico: média e nova observação</a:t>
            </a:r>
          </a:p>
        </p:txBody>
      </p:sp>
      <p:sp>
        <p:nvSpPr>
          <p:cNvPr id="55" name="Assumptions">
            <a:extLst xmlns:a="http://schemas.openxmlformats.org/drawingml/2006/main">
              <a:ext uri="{FF2B5EF4-FFF2-40B4-BE49-F238E27FC236}">
                <a16:creationId xmlns:a16="http://schemas.microsoft.com/office/drawing/2014/main" id="{702B30D6-DC8C-4AD6-B14D-A26A4D06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n = 25, média = 100, s = 10 m³/s, t crítico ≈ 2,064</a:t>
            </a:r>
          </a:p>
        </p:txBody>
      </p:sp>
      <p:graphicFrame>
        <p:nvGraphicFramePr>
          <p:cNvPr id="73" name="Chart"/>
          <p:cNvGraphicFramePr/>
          <p:nvPr/>
        </p:nvGraphicFramePr>
        <p:xfrm>
          <a:off xmlns:a="http://schemas.openxmlformats.org/drawingml/2006/main" x="457200" y="2895600"/>
          <a:ext xmlns:a="http://schemas.openxmlformats.org/drawingml/2006/main" cx="6896100" cy="2457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a0ac3de20b45f3"/>
          </a:graphicData>
        </a:graphic>
      </p:graphicFrame>
      <p:sp>
        <p:nvSpPr>
          <p:cNvPr id="57" name="IC">
            <a:extLst xmlns:a="http://schemas.openxmlformats.org/drawingml/2006/main">
              <a:ext uri="{FF2B5EF4-FFF2-40B4-BE49-F238E27FC236}">
                <a16:creationId xmlns:a16="http://schemas.microsoft.com/office/drawing/2014/main" id="{8DC3B568-44C4-46D1-B540-6CBB9A8D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86075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IC 95% da média</a:t>
            </a:r>
          </a:p>
        </p:txBody>
      </p:sp>
      <p:sp>
        <p:nvSpPr>
          <p:cNvPr id="58" name="IC result">
            <a:extLst xmlns:a="http://schemas.openxmlformats.org/drawingml/2006/main">
              <a:ext uri="{FF2B5EF4-FFF2-40B4-BE49-F238E27FC236}">
                <a16:creationId xmlns:a16="http://schemas.microsoft.com/office/drawing/2014/main" id="{A6B8B2B0-A23C-48C4-A672-BE6ADAF1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43275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[95,87; 104,13] m³/s</a:t>
            </a:r>
          </a:p>
        </p:txBody>
      </p:sp>
      <p:sp>
        <p:nvSpPr>
          <p:cNvPr id="59" name="IC formula">
            <a:extLst xmlns:a="http://schemas.openxmlformats.org/drawingml/2006/main">
              <a:ext uri="{FF2B5EF4-FFF2-40B4-BE49-F238E27FC236}">
                <a16:creationId xmlns:a16="http://schemas.microsoft.com/office/drawing/2014/main" id="{92E11A51-77BA-4930-8E66-2BD35C04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média ± t · s / √n</a:t>
            </a:r>
          </a:p>
        </p:txBody>
      </p:sp>
      <p:sp>
        <p:nvSpPr>
          <p:cNvPr id="60" name="PI title">
            <a:extLst xmlns:a="http://schemas.openxmlformats.org/drawingml/2006/main">
              <a:ext uri="{FF2B5EF4-FFF2-40B4-BE49-F238E27FC236}">
                <a16:creationId xmlns:a16="http://schemas.microsoft.com/office/drawing/2014/main" id="{7BA3A33E-EEE0-4028-9FBE-4AECE376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3790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IP 95% de uma observação</a:t>
            </a:r>
          </a:p>
        </p:txBody>
      </p:sp>
      <p:sp>
        <p:nvSpPr>
          <p:cNvPr id="61" name="PI result">
            <a:extLst xmlns:a="http://schemas.openxmlformats.org/drawingml/2006/main">
              <a:ext uri="{FF2B5EF4-FFF2-40B4-BE49-F238E27FC236}">
                <a16:creationId xmlns:a16="http://schemas.microsoft.com/office/drawing/2014/main" id="{1ABEB0CD-038D-4FCF-A102-C976AA6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14875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[78,95; 121,05] m³/s</a:t>
            </a:r>
          </a:p>
        </p:txBody>
      </p:sp>
      <p:sp>
        <p:nvSpPr>
          <p:cNvPr id="62" name="PI formula">
            <a:extLst xmlns:a="http://schemas.openxmlformats.org/drawingml/2006/main">
              <a:ext uri="{FF2B5EF4-FFF2-40B4-BE49-F238E27FC236}">
                <a16:creationId xmlns:a16="http://schemas.microsoft.com/office/drawing/2014/main" id="{833CFE14-03F4-47CC-90BE-1CD99CD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24450"/>
            <a:ext cx="3790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média ± t · s · √(1 + 1/n)</a:t>
            </a:r>
          </a:p>
        </p:txBody>
      </p:sp>
      <p:sp>
        <p:nvSpPr>
          <p:cNvPr id="63" name="Independent setting">
            <a:extLst xmlns:a="http://schemas.openxmlformats.org/drawingml/2006/main">
              <a:ext uri="{FF2B5EF4-FFF2-40B4-BE49-F238E27FC236}">
                <a16:creationId xmlns:a16="http://schemas.microsoft.com/office/drawing/2014/main" id="{2DDCEC23-E25E-4292-8ADC-A0586768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0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Hipótese: repetições independentes e normais, na mesma condição.</a:t>
            </a:r>
          </a:p>
        </p:txBody>
      </p:sp>
      <p:sp>
        <p:nvSpPr>
          <p:cNvPr id="64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71E0663A-F906-4329-936A-6C6DED6C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Exemplo clássico de amostragem. A aplicação a um MLP requer um método de incerteza adequado.</a:t>
            </a:r>
          </a:p>
        </p:txBody>
      </p:sp>
      <p:sp>
        <p:nvSpPr>
          <p:cNvPr id="65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86B8A964-AAD0-4636-AEB4-6B8350BA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42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5b4e3120f4e36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E8D0FD8B-4EF9-441A-98CE-E804BD32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Bootstrap em blocos para séries hidrológicas</a:t>
            </a:r>
          </a:p>
        </p:txBody>
      </p:sp>
      <p:sp>
        <p:nvSpPr>
          <p:cNvPr id="55" name="Paired data">
            <a:extLst xmlns:a="http://schemas.openxmlformats.org/drawingml/2006/main">
              <a:ext uri="{FF2B5EF4-FFF2-40B4-BE49-F238E27FC236}">
                <a16:creationId xmlns:a16="http://schemas.microsoft.com/office/drawing/2014/main" id="{C7996D0D-1759-4B48-B5EA-F5C5AAA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Pares de treino: (xₜ, yₜ), com janelas já construídas</a:t>
            </a:r>
          </a:p>
        </p:txBody>
      </p:sp>
      <p:graphicFrame>
        <p:nvGraphicFramePr>
          <p:cNvPr id="69" name=""/>
          <p:cNvGraphicFramePr/>
          <p:nvPr/>
        </p:nvGraphicFramePr>
        <p:xfrm>
          <a:off xmlns:a="http://schemas.openxmlformats.org/drawingml/2006/main" x="457200" y="2914650"/>
          <a:ext xmlns:a="http://schemas.openxmlformats.org/drawingml/2006/main" cx="5772150" cy="2400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1809750"/>
                <a:gridCol w="1676400"/>
              </a:tblGrid>
              <a:tr h="45720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Bloco original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Dias ilustrativos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Uma reamostra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8577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 a 7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8577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 a 14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8577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15 a 21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85775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22 a 28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57" name="Dependence">
            <a:extLst xmlns:a="http://schemas.openxmlformats.org/drawingml/2006/main">
              <a:ext uri="{FF2B5EF4-FFF2-40B4-BE49-F238E27FC236}">
                <a16:creationId xmlns:a16="http://schemas.microsoft.com/office/drawing/2014/main" id="{06C59CB6-3C2B-4B3C-BF0C-0090B9D4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972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Blocos contíguos preservam</a:t>
            </a:r>
          </a:p>
          <a:p xmlns:a="http://schemas.openxmlformats.org/drawingml/2006/main">
            <a:pPr algn="l"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parte da dependência local.</a:t>
            </a:r>
          </a:p>
        </p:txBody>
      </p:sp>
      <p:sp>
        <p:nvSpPr>
          <p:cNvPr id="58" name="Block choice">
            <a:extLst xmlns:a="http://schemas.openxmlformats.org/drawingml/2006/main">
              <a:ext uri="{FF2B5EF4-FFF2-40B4-BE49-F238E27FC236}">
                <a16:creationId xmlns:a16="http://schemas.microsoft.com/office/drawing/2014/main" id="{E06C781F-54DD-47C1-BFA2-82444FC6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tamanho do bloco depende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da autocorrelação e da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duração dos eventos.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F186CAC1-02BF-4066-B3DE-FF1F53A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97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As janelas permanecem intactas</a:t>
            </a:r>
          </a:p>
          <a:p xmlns:a="http://schemas.openxmlformats.org/drawingml/2006/main">
            <a:pPr algn="l">
              <a:def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dentro dos pares reamostrados.</a:t>
            </a:r>
          </a:p>
        </p:txBody>
      </p:sp>
      <p:sp>
        <p:nvSpPr>
          <p:cNvPr id="60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7A330AD4-DF53-4522-AC75-819B40CB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Sete dias ilustram o procedimento. Tendência e sazonalidade exigem uma estratégia compatível.</a:t>
            </a:r>
          </a:p>
        </p:txBody>
      </p:sp>
      <p:sp>
        <p:nvSpPr>
          <p:cNvPr id="61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D40EFD8B-3504-4A62-BA89-4CA2FA01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43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7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dc2d6c44b4bd5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3999E6B1-7F2D-4718-8911-3C27455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IC bootstrap da média condicional</a:t>
            </a:r>
          </a:p>
        </p:txBody>
      </p:sp>
      <p:sp>
        <p:nvSpPr>
          <p:cNvPr id="55" name="Etapa 0">
            <a:extLst xmlns:a="http://schemas.openxmlformats.org/drawingml/2006/main">
              <a:ext uri="{FF2B5EF4-FFF2-40B4-BE49-F238E27FC236}">
                <a16:creationId xmlns:a16="http://schemas.microsoft.com/office/drawing/2014/main" id="{6ECA2FA6-54FF-453E-A30C-2A9402F3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Reamostrar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treino</a:t>
            </a:r>
          </a:p>
        </p:txBody>
      </p:sp>
      <p:sp>
        <p:nvSpPr>
          <p:cNvPr id="56" name="Etapa 1">
            <a:extLst xmlns:a="http://schemas.openxmlformats.org/drawingml/2006/main">
              <a:ext uri="{FF2B5EF4-FFF2-40B4-BE49-F238E27FC236}">
                <a16:creationId xmlns:a16="http://schemas.microsoft.com/office/drawing/2014/main" id="{848E1BA9-E832-4A45-A02A-8DD0F03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Refazer preparo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MLP</a:t>
            </a:r>
          </a:p>
        </p:txBody>
      </p:sp>
      <p:sp>
        <p:nvSpPr>
          <p:cNvPr id="57" name="Etapa 2">
            <a:extLst xmlns:a="http://schemas.openxmlformats.org/drawingml/2006/main">
              <a:ext uri="{FF2B5EF4-FFF2-40B4-BE49-F238E27FC236}">
                <a16:creationId xmlns:a16="http://schemas.microsoft.com/office/drawing/2014/main" id="{F03A06BE-893E-42CB-B238-BD8CA68A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Estimar μ̂ᵦ(x*)</a:t>
            </a:r>
          </a:p>
        </p:txBody>
      </p:sp>
      <p:sp>
        <p:nvSpPr>
          <p:cNvPr id="58" name="Etapa 3">
            <a:extLst xmlns:a="http://schemas.openxmlformats.org/drawingml/2006/main">
              <a:ext uri="{FF2B5EF4-FFF2-40B4-BE49-F238E27FC236}">
                <a16:creationId xmlns:a16="http://schemas.microsoft.com/office/drawing/2014/main" id="{01A540BB-71B3-4D00-A2A1-C9AFA500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98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 w="14288">
            <a:solidFill>
              <a:srgbClr val="83DFFF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Obter quantis</a:t>
            </a:r>
          </a:p>
        </p:txBody>
      </p:sp>
      <p:cxnSp>
        <p:nvCxnSpPr>
          <p:cNvPr id="79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933700" y="2781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80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867400" y="2781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8801100" y="2781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DFFF"/>
            </a:solidFill>
            <a:tailEnd type="triangle" w="med" len="med"/>
          </a:ln>
        </p:spPr>
      </p:cxnSp>
      <p:graphicFrame>
        <p:nvGraphicFramePr>
          <p:cNvPr id="82" name="Chart"/>
          <p:cNvGraphicFramePr/>
          <p:nvPr/>
        </p:nvGraphicFramePr>
        <p:xfrm>
          <a:off xmlns:a="http://schemas.openxmlformats.org/drawingml/2006/main" x="457200" y="3476625"/>
          <a:ext xmlns:a="http://schemas.openxmlformats.org/drawingml/2006/main" cx="7115175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2ca47803234e0a"/>
          </a:graphicData>
        </a:graphic>
      </p:graphicFrame>
      <p:sp>
        <p:nvSpPr>
          <p:cNvPr id="63" name="Percentile">
            <a:extLst xmlns:a="http://schemas.openxmlformats.org/drawingml/2006/main">
              <a:ext uri="{FF2B5EF4-FFF2-40B4-BE49-F238E27FC236}">
                <a16:creationId xmlns:a16="http://schemas.microsoft.com/office/drawing/2014/main" id="{F0E78597-B412-4D5D-A846-CDC4848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IC percentil de 95%</a:t>
            </a:r>
          </a:p>
        </p:txBody>
      </p:sp>
      <p:sp>
        <p:nvSpPr>
          <p:cNvPr id="64" name="Percentile formula">
            <a:extLst xmlns:a="http://schemas.openxmlformats.org/drawingml/2006/main">
              <a:ext uri="{FF2B5EF4-FFF2-40B4-BE49-F238E27FC236}">
                <a16:creationId xmlns:a16="http://schemas.microsoft.com/office/drawing/2014/main" id="{A81D8091-957A-4D3B-A7EF-2CA842EB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[q₂,₅%; q₉₇,₅%]</a:t>
            </a:r>
          </a:p>
        </p:txBody>
      </p:sp>
      <p:sp>
        <p:nvSpPr>
          <p:cNvPr id="65" name="Percentile result">
            <a:extLst xmlns:a="http://schemas.openxmlformats.org/drawingml/2006/main">
              <a:ext uri="{FF2B5EF4-FFF2-40B4-BE49-F238E27FC236}">
                <a16:creationId xmlns:a16="http://schemas.microsoft.com/office/drawing/2014/main" id="{6B195D14-65DB-4225-9A56-3CF7C9E8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43425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[89,31; 112,05]</a:t>
            </a:r>
          </a:p>
          <a:p xmlns:a="http://schemas.openxmlformats.org/drawingml/2006/main">
            <a:pPr algn="l">
              <a:def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2175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m³/s</a:t>
            </a:r>
          </a:p>
        </p:txBody>
      </p:sp>
      <p:sp>
        <p:nvSpPr>
          <p:cNvPr id="66" name="Fixed input">
            <a:extLst xmlns:a="http://schemas.openxmlformats.org/drawingml/2006/main">
              <a:ext uri="{FF2B5EF4-FFF2-40B4-BE49-F238E27FC236}">
                <a16:creationId xmlns:a16="http://schemas.microsoft.com/office/drawing/2014/main" id="{960DDBE8-CC12-4278-9567-97654B0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entrada x* é a mesma em todos os ajustes.</a:t>
            </a:r>
          </a:p>
        </p:txBody>
      </p:sp>
      <p:sp>
        <p:nvSpPr>
          <p:cNvPr id="6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BA37A163-6B46-47D1-9A74-B0CB81A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Distribuição didática de 500 estimativas simuladas. IC aproximado depende do desenho do bootstrap e do viés.</a:t>
            </a:r>
          </a:p>
        </p:txBody>
      </p:sp>
      <p:sp>
        <p:nvSpPr>
          <p:cNvPr id="6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8B9606B7-980B-46C1-AC63-2E99E79F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44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7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67be823a54a4d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8BD8265-8821-4426-A7A9-9318D21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Cobertura e largura dos intervalos de previsão</a:t>
            </a:r>
          </a:p>
        </p:txBody>
      </p:sp>
      <p:graphicFrame>
        <p:nvGraphicFramePr>
          <p:cNvPr id="73" name="Chart"/>
          <p:cNvGraphicFramePr/>
          <p:nvPr/>
        </p:nvGraphicFramePr>
        <p:xfrm>
          <a:off xmlns:a="http://schemas.openxmlformats.org/drawingml/2006/main" x="457200" y="2562225"/>
          <a:ext xmlns:a="http://schemas.openxmlformats.org/drawingml/2006/main" cx="6981825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eb52c46d1f4c0d"/>
          </a:graphicData>
        </a:graphic>
      </p:graphicFrame>
      <p:sp>
        <p:nvSpPr>
          <p:cNvPr id="56" name="PICP">
            <a:extLst xmlns:a="http://schemas.openxmlformats.org/drawingml/2006/main">
              <a:ext uri="{FF2B5EF4-FFF2-40B4-BE49-F238E27FC236}">
                <a16:creationId xmlns:a16="http://schemas.microsoft.com/office/drawing/2014/main" id="{DF5AC5C1-4D63-4281-BDC4-8D5DAB0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90800"/>
            <a:ext cx="3905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Cobertura = 100 × acertos / n</a:t>
            </a:r>
          </a:p>
        </p:txBody>
      </p:sp>
      <p:sp>
        <p:nvSpPr>
          <p:cNvPr id="57" name="MPIW">
            <a:extLst xmlns:a="http://schemas.openxmlformats.org/drawingml/2006/main">
              <a:ext uri="{FF2B5EF4-FFF2-40B4-BE49-F238E27FC236}">
                <a16:creationId xmlns:a16="http://schemas.microsoft.com/office/drawing/2014/main" id="{5EA61CFC-C6AA-4BE5-A8F5-93E0C240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052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Largura média = média(U − L)</a:t>
            </a:r>
          </a:p>
        </p:txBody>
      </p:sp>
      <p:sp>
        <p:nvSpPr>
          <p:cNvPr id="58" name="Target">
            <a:extLst xmlns:a="http://schemas.openxmlformats.org/drawingml/2006/main">
              <a:ext uri="{FF2B5EF4-FFF2-40B4-BE49-F238E27FC236}">
                <a16:creationId xmlns:a16="http://schemas.microsoft.com/office/drawing/2014/main" id="{D52FE527-BD8C-4D23-B165-9549A2E6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67175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20 casos sintéticos</a:t>
            </a:r>
          </a:p>
          <a:p xmlns:a="http://schemas.openxmlformats.org/drawingml/2006/main">
            <a:pPr algn="l">
              <a:def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Meta ilustrativa: 90%</a:t>
            </a:r>
          </a:p>
          <a:p xmlns:a="http://schemas.openxmlformats.org/drawingml/2006/main">
            <a:pPr algn="l">
              <a:def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B cobre 18 observações.</a:t>
            </a:r>
          </a:p>
        </p:txBody>
      </p:sp>
      <p:sp>
        <p:nvSpPr>
          <p:cNvPr id="59" name="Legenda Limites B">
            <a:extLst xmlns:a="http://schemas.openxmlformats.org/drawingml/2006/main">
              <a:ext uri="{FF2B5EF4-FFF2-40B4-BE49-F238E27FC236}">
                <a16:creationId xmlns:a16="http://schemas.microsoft.com/office/drawing/2014/main" id="{7600D91B-4F3E-427A-A50A-A15A3F42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3DFFF"/>
            </a:solidFill>
          </a:ln>
        </p:spPr>
      </p:sp>
      <p:sp>
        <p:nvSpPr>
          <p:cNvPr id="60" name="Texto da legenda Limites B">
            <a:extLst xmlns:a="http://schemas.openxmlformats.org/drawingml/2006/main">
              <a:ext uri="{FF2B5EF4-FFF2-40B4-BE49-F238E27FC236}">
                <a16:creationId xmlns:a16="http://schemas.microsoft.com/office/drawing/2014/main" id="{0D50A5C8-6064-4C09-9344-DBCDB41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Limites B</a:t>
            </a:r>
          </a:p>
        </p:txBody>
      </p:sp>
      <p:sp>
        <p:nvSpPr>
          <p:cNvPr id="61" name="Legenda Dentro">
            <a:extLst xmlns:a="http://schemas.openxmlformats.org/drawingml/2006/main">
              <a:ext uri="{FF2B5EF4-FFF2-40B4-BE49-F238E27FC236}">
                <a16:creationId xmlns:a16="http://schemas.microsoft.com/office/drawing/2014/main" id="{AB310F98-A360-4390-929B-2DDC5B7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672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E7BD"/>
            </a:solidFill>
          </a:ln>
        </p:spPr>
      </p:sp>
      <p:sp>
        <p:nvSpPr>
          <p:cNvPr id="62" name="Texto da legenda Dentro">
            <a:extLst xmlns:a="http://schemas.openxmlformats.org/drawingml/2006/main">
              <a:ext uri="{FF2B5EF4-FFF2-40B4-BE49-F238E27FC236}">
                <a16:creationId xmlns:a16="http://schemas.microsoft.com/office/drawing/2014/main" id="{D1C08847-3AFD-475C-849E-68A5D58F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720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Dentro</a:t>
            </a:r>
          </a:p>
        </p:txBody>
      </p:sp>
      <p:sp>
        <p:nvSpPr>
          <p:cNvPr id="63" name="Legenda Fora">
            <a:extLst xmlns:a="http://schemas.openxmlformats.org/drawingml/2006/main">
              <a:ext uri="{FF2B5EF4-FFF2-40B4-BE49-F238E27FC236}">
                <a16:creationId xmlns:a16="http://schemas.microsoft.com/office/drawing/2014/main" id="{477A2634-D080-4F42-BA17-4B06D61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D62"/>
            </a:solidFill>
          </a:ln>
        </p:spPr>
      </p:sp>
      <p:sp>
        <p:nvSpPr>
          <p:cNvPr id="64" name="Texto da legenda Fora">
            <a:extLst xmlns:a="http://schemas.openxmlformats.org/drawingml/2006/main">
              <a:ext uri="{FF2B5EF4-FFF2-40B4-BE49-F238E27FC236}">
                <a16:creationId xmlns:a16="http://schemas.microsoft.com/office/drawing/2014/main" id="{BA668DD2-CE13-4657-8E44-08702322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720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Fora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57200" y="4905375"/>
          <a:ext xmlns:a="http://schemas.openxmlformats.org/drawingml/2006/main" cx="11277600" cy="1200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86300"/>
                <a:gridCol w="2667000"/>
                <a:gridCol w="3924300"/>
              </a:tblGrid>
              <a:tr h="40005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Intervalos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Cobertura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Largura média</a:t>
                      </a:r>
                    </a:p>
                  </a:txBody>
                  <a:tcPr marL="91440" marR="91440" marT="45720" marB="45720" anchor="ctr">
                    <a:solidFill>
                      <a:srgbClr val="0053EB"/>
                    </a:solidFill>
                  </a:tcPr>
                </a:tc>
              </a:tr>
              <a:tr h="40005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 (mais estreitos)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50%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16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  <a:tr h="400050"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 (no gráfico)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90%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  <a:tc>
                  <a:txBody>
                    <a:bodyPr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40 m³/s</a:t>
                      </a:r>
                    </a:p>
                  </a:txBody>
                  <a:tcPr marL="91440" marR="91440" marT="45720" marB="45720" anchor="ctr">
                    <a:solidFill>
                      <a:srgbClr val="000F29"/>
                    </a:solidFill>
                  </a:tcPr>
                </a:tc>
              </a:tr>
            </a:tbl>
          </a:graphicData>
        </a:graphic>
      </p:graphicFrame>
      <p:sp>
        <p:nvSpPr>
          <p:cNvPr id="66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05D7D40-F2AF-4201-BD56-90E0B79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45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630d6b1454b31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7399C9B8-5CB0-49BB-9CB9-02151405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Cobertura por regime de vazão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457200" y="2686050"/>
          <a:ext xmlns:a="http://schemas.openxmlformats.org/drawingml/2006/main" cx="680085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025bd5385246d3"/>
          </a:graphicData>
        </a:graphic>
      </p:graphicFrame>
      <p:sp>
        <p:nvSpPr>
          <p:cNvPr id="56" name="Global">
            <a:extLst xmlns:a="http://schemas.openxmlformats.org/drawingml/2006/main">
              <a:ext uri="{FF2B5EF4-FFF2-40B4-BE49-F238E27FC236}">
                <a16:creationId xmlns:a16="http://schemas.microsoft.com/office/drawing/2014/main" id="{B3FB2745-0C6C-44AC-956D-280EC6CE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Cobertura global: 95,3%</a:t>
            </a:r>
          </a:p>
        </p:txBody>
      </p:sp>
      <p:sp>
        <p:nvSpPr>
          <p:cNvPr id="57" name="Peak warning">
            <a:extLst xmlns:a="http://schemas.openxmlformats.org/drawingml/2006/main">
              <a:ext uri="{FF2B5EF4-FFF2-40B4-BE49-F238E27FC236}">
                <a16:creationId xmlns:a16="http://schemas.microsoft.com/office/drawing/2014/main" id="{E6C8B28F-39AF-47E1-B2ED-FF64D25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3924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Nos picos: 3 de 10</a:t>
            </a:r>
          </a:p>
          <a:p xmlns:a="http://schemas.openxmlformats.org/drawingml/2006/main">
            <a:pPr algn="l">
              <a:def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0" i="0">
                <a:solidFill>
                  <a:srgbClr val="FFAD62"/>
                </a:solidFill>
                <a:latin typeface="JetBrains Mono"/>
                <a:ea typeface="JetBrains Mono"/>
                <a:cs typeface="JetBrains Mono"/>
              </a:rPr>
              <a:t>observações cobertas.</a:t>
            </a:r>
          </a:p>
        </p:txBody>
      </p:sp>
      <p:sp>
        <p:nvSpPr>
          <p:cNvPr id="58" name="Action">
            <a:extLst xmlns:a="http://schemas.openxmlformats.org/drawingml/2006/main">
              <a:ext uri="{FF2B5EF4-FFF2-40B4-BE49-F238E27FC236}">
                <a16:creationId xmlns:a16="http://schemas.microsoft.com/office/drawing/2014/main" id="{9C02FDAF-7507-4499-9E63-DF03CBA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3924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avaliação por regime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orienta ajustes e coleta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 novos dados.</a:t>
            </a:r>
          </a:p>
        </p:txBody>
      </p:sp>
      <p:sp>
        <p:nvSpPr>
          <p:cNvPr id="59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D44E3A57-3708-404E-BED1-F3BC31CA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Contagens hipotéticas: 143 de 150 no total. Os poucos picos tornam sua cobertura estimada imprecisa.</a:t>
            </a:r>
          </a:p>
        </p:txBody>
      </p:sp>
      <p:sp>
        <p:nvSpPr>
          <p:cNvPr id="6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99F7E3CC-22F1-4DCC-B3C8-D6519090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46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Incerteza e intervalos</a:t>
            </a:r>
          </a:p>
        </p:txBody>
      </p:sp>
      <p:pic>
        <p:nvPicPr>
          <p:cNvPr id="66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8313d03f14322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140B75CA-FE78-4B2C-889E-9FBB5234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Intervalo de confiança na comparação de modelos</a:t>
            </a:r>
          </a:p>
        </p:txBody>
      </p:sp>
      <p:sp>
        <p:nvSpPr>
          <p:cNvPr id="55" name="Definition">
            <a:extLst xmlns:a="http://schemas.openxmlformats.org/drawingml/2006/main">
              <a:ext uri="{FF2B5EF4-FFF2-40B4-BE49-F238E27FC236}">
                <a16:creationId xmlns:a16="http://schemas.microsoft.com/office/drawing/2014/main" id="{E04B6CEF-4DA3-4BAF-A391-49D4F72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ΔRMSE = RMSE(B) − RMSE(A)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457200" y="3019425"/>
          <a:ext xmlns:a="http://schemas.openxmlformats.org/drawingml/2006/main" cx="69532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31d9c1c76d4a4b"/>
          </a:graphicData>
        </a:graphic>
      </p:graphicFrame>
      <p:sp>
        <p:nvSpPr>
          <p:cNvPr id="57" name="Comparison 1">
            <a:extLst xmlns:a="http://schemas.openxmlformats.org/drawingml/2006/main">
              <a:ext uri="{FF2B5EF4-FFF2-40B4-BE49-F238E27FC236}">
                <a16:creationId xmlns:a16="http://schemas.microsoft.com/office/drawing/2014/main" id="{5502A24F-C978-4990-AA05-E55B72D8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Comparação 1: IC [−1,1; 0,3]</a:t>
            </a:r>
          </a:p>
        </p:txBody>
      </p:sp>
      <p:sp>
        <p:nvSpPr>
          <p:cNvPr id="58" name="Inconclusive">
            <a:extLst xmlns:a="http://schemas.openxmlformats.org/drawingml/2006/main">
              <a:ext uri="{FF2B5EF4-FFF2-40B4-BE49-F238E27FC236}">
                <a16:creationId xmlns:a16="http://schemas.microsoft.com/office/drawing/2014/main" id="{CF04CE91-93B1-44F4-8889-705F0D6A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00475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intervalo inclui zero.</a:t>
            </a:r>
          </a:p>
        </p:txBody>
      </p:sp>
      <p:sp>
        <p:nvSpPr>
          <p:cNvPr id="59" name="Comparison 2">
            <a:extLst xmlns:a="http://schemas.openxmlformats.org/drawingml/2006/main">
              <a:ext uri="{FF2B5EF4-FFF2-40B4-BE49-F238E27FC236}">
                <a16:creationId xmlns:a16="http://schemas.microsoft.com/office/drawing/2014/main" id="{4C65CB62-2AAD-4552-BC55-583F92BC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>
                <a:solidFill>
                  <a:srgbClr val="71E7BD"/>
                </a:solidFill>
                <a:latin typeface="JetBrains Mono"/>
                <a:ea typeface="JetBrains Mono"/>
                <a:cs typeface="JetBrains Mono"/>
              </a:rPr>
              <a:t>Comparação 2: IC [−1,8; −0,6]</a:t>
            </a:r>
          </a:p>
        </p:txBody>
      </p:sp>
      <p:sp>
        <p:nvSpPr>
          <p:cNvPr id="60" name="Evidence">
            <a:extLst xmlns:a="http://schemas.openxmlformats.org/drawingml/2006/main">
              <a:ext uri="{FF2B5EF4-FFF2-40B4-BE49-F238E27FC236}">
                <a16:creationId xmlns:a16="http://schemas.microsoft.com/office/drawing/2014/main" id="{5EF77FEA-C543-4AA2-A5A9-5715B0A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3924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O intervalo favorece B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sob o procedimento adotado.</a:t>
            </a:r>
          </a:p>
        </p:txBody>
      </p:sp>
      <p:sp>
        <p:nvSpPr>
          <p:cNvPr id="61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5B9CEFD8-B746-4987-8187-AE88BC44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ICs de 95% hipotéticos. Bootstrap pareado em blocos usa os mesmos casos para comparar A e B.</a:t>
            </a:r>
          </a:p>
        </p:txBody>
      </p:sp>
      <p:sp>
        <p:nvSpPr>
          <p:cNvPr id="62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932163DB-F839-4188-B734-DA2E7AF3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47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Discussão em sala</a:t>
            </a:r>
          </a:p>
        </p:txBody>
      </p:sp>
      <p:pic>
        <p:nvPicPr>
          <p:cNvPr id="54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649fd61414e8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BFE6C24D-6C0D-4B43-899B-A25DEE5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Atividade final: melhoria de um modelo de vazão</a:t>
            </a:r>
          </a:p>
        </p:txBody>
      </p:sp>
      <p:sp>
        <p:nvSpPr>
          <p:cNvPr id="42" name="Scenario">
            <a:extLst xmlns:a="http://schemas.openxmlformats.org/drawingml/2006/main">
              <a:ext uri="{FF2B5EF4-FFF2-40B4-BE49-F238E27FC236}">
                <a16:creationId xmlns:a16="http://schemas.microsoft.com/office/drawing/2014/main" id="{7243F99A-9EB0-4F7A-9E8B-9B34F7AF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Cenário: há 8 anos de dados diários, 24 entradas e um MLP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com erro baixo no treino e crescente na validação.</a:t>
            </a:r>
          </a:p>
        </p:txBody>
      </p:sp>
      <p:sp>
        <p:nvSpPr>
          <p:cNvPr id="43" name="Decisão 0">
            <a:extLst xmlns:a="http://schemas.openxmlformats.org/drawingml/2006/main">
              <a:ext uri="{FF2B5EF4-FFF2-40B4-BE49-F238E27FC236}">
                <a16:creationId xmlns:a16="http://schemas.microsoft.com/office/drawing/2014/main" id="{00F2EBEE-8364-4886-8A55-2DC4DEDC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1. Como separar os períodos para seleção e avaliação?</a:t>
            </a:r>
          </a:p>
        </p:txBody>
      </p:sp>
      <p:sp>
        <p:nvSpPr>
          <p:cNvPr id="44" name="Decisão 1">
            <a:extLst xmlns:a="http://schemas.openxmlformats.org/drawingml/2006/main">
              <a:ext uri="{FF2B5EF4-FFF2-40B4-BE49-F238E27FC236}">
                <a16:creationId xmlns:a16="http://schemas.microsoft.com/office/drawing/2014/main" id="{DEB4A8C5-4574-4964-98ED-3C5DA015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2. Qual diagnóstico as curvas sugerem?</a:t>
            </a:r>
          </a:p>
        </p:txBody>
      </p:sp>
      <p:sp>
        <p:nvSpPr>
          <p:cNvPr id="45" name="Decisão 2">
            <a:extLst xmlns:a="http://schemas.openxmlformats.org/drawingml/2006/main">
              <a:ext uri="{FF2B5EF4-FFF2-40B4-BE49-F238E27FC236}">
                <a16:creationId xmlns:a16="http://schemas.microsoft.com/office/drawing/2014/main" id="{822EF7C6-A4D7-41FC-B132-F5086A0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3. Que comparação de atributos vale testar primeiro?</a:t>
            </a:r>
          </a:p>
        </p:txBody>
      </p:sp>
      <p:sp>
        <p:nvSpPr>
          <p:cNvPr id="46" name="Decisão 3">
            <a:extLst xmlns:a="http://schemas.openxmlformats.org/drawingml/2006/main">
              <a:ext uri="{FF2B5EF4-FFF2-40B4-BE49-F238E27FC236}">
                <a16:creationId xmlns:a16="http://schemas.microsoft.com/office/drawing/2014/main" id="{226E910D-F953-4741-A345-34CA18A4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4. Como registrar a busca e decidir a configuração?</a:t>
            </a:r>
          </a:p>
        </p:txBody>
      </p:sp>
      <p:sp>
        <p:nvSpPr>
          <p:cNvPr id="4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85DE404E-134C-4DA3-A16D-788FCEF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7 minutos em pequenos grupos. Justificar disponibilidade, validação, custo e tipo de intervalo.</a:t>
            </a:r>
          </a:p>
        </p:txBody>
      </p:sp>
      <p:sp>
        <p:nvSpPr>
          <p:cNvPr id="4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85F25DF8-1FF7-425F-9549-FCF170E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48 / 51</a:t>
            </a:r>
          </a:p>
        </p:txBody>
      </p:sp>
      <p:sp>
        <p:nvSpPr>
          <p:cNvPr id="50" name="Decisão 4">
            <a:extLst xmlns:a="http://schemas.openxmlformats.org/drawingml/2006/main">
              <a:ext uri="{FF2B5EF4-FFF2-40B4-BE49-F238E27FC236}">
                <a16:creationId xmlns:a16="http://schemas.microsoft.com/office/drawing/2014/main" id="{F30FAA00-F503-44FB-8266-34DD4019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725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5. IC da média [98; 102] cobre 95% das vazões futuras?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Síntese da aula</a:t>
            </a:r>
          </a:p>
        </p:txBody>
      </p:sp>
      <p:pic>
        <p:nvPicPr>
          <p:cNvPr id="55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413867d074f3c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50E7D151-6FE4-4724-AE11-0052C43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Procedimento de melhoria do modelo</a:t>
            </a:r>
          </a:p>
        </p:txBody>
      </p:sp>
      <p:sp>
        <p:nvSpPr>
          <p:cNvPr id="42" name="Etapa final 0">
            <a:extLst xmlns:a="http://schemas.openxmlformats.org/drawingml/2006/main">
              <a:ext uri="{FF2B5EF4-FFF2-40B4-BE49-F238E27FC236}">
                <a16:creationId xmlns:a16="http://schemas.microsoft.com/office/drawing/2014/main" id="{440CF085-66C8-4CB0-8F30-48D87CA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Definição do problema</a:t>
            </a:r>
          </a:p>
        </p:txBody>
      </p:sp>
      <p:sp>
        <p:nvSpPr>
          <p:cNvPr id="43" name="Descrição final 0">
            <a:extLst xmlns:a="http://schemas.openxmlformats.org/drawingml/2006/main">
              <a:ext uri="{FF2B5EF4-FFF2-40B4-BE49-F238E27FC236}">
                <a16:creationId xmlns:a16="http://schemas.microsoft.com/office/drawing/2014/main" id="{8EC9CCBF-756B-42F5-951C-98936D85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5276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Horizonte, entradas disponíveis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referência de desempenho.</a:t>
            </a:r>
          </a:p>
        </p:txBody>
      </p:sp>
      <p:sp>
        <p:nvSpPr>
          <p:cNvPr id="44" name="Etapa final 1">
            <a:extLst xmlns:a="http://schemas.openxmlformats.org/drawingml/2006/main">
              <a:ext uri="{FF2B5EF4-FFF2-40B4-BE49-F238E27FC236}">
                <a16:creationId xmlns:a16="http://schemas.microsoft.com/office/drawing/2014/main" id="{D70814FD-7801-4190-A47F-05460FB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Diagnóstico do ajuste</a:t>
            </a:r>
          </a:p>
        </p:txBody>
      </p:sp>
      <p:sp>
        <p:nvSpPr>
          <p:cNvPr id="45" name="Descrição final 1">
            <a:extLst xmlns:a="http://schemas.openxmlformats.org/drawingml/2006/main">
              <a:ext uri="{FF2B5EF4-FFF2-40B4-BE49-F238E27FC236}">
                <a16:creationId xmlns:a16="http://schemas.microsoft.com/office/drawing/2014/main" id="{79AC2D65-AD5C-488A-994E-5CF05DF0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5276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Curvas de treino e validação,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erros por regime e qualidade dos dados.</a:t>
            </a:r>
          </a:p>
        </p:txBody>
      </p:sp>
      <p:sp>
        <p:nvSpPr>
          <p:cNvPr id="46" name="Etapa final 2">
            <a:extLst xmlns:a="http://schemas.openxmlformats.org/drawingml/2006/main">
              <a:ext uri="{FF2B5EF4-FFF2-40B4-BE49-F238E27FC236}">
                <a16:creationId xmlns:a16="http://schemas.microsoft.com/office/drawing/2014/main" id="{7ABFC8FC-B0B7-4C91-AC49-86DAA3B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Experimentos controlados</a:t>
            </a:r>
          </a:p>
        </p:txBody>
      </p:sp>
      <p:sp>
        <p:nvSpPr>
          <p:cNvPr id="47" name="Descrição final 2">
            <a:extLst xmlns:a="http://schemas.openxmlformats.org/drawingml/2006/main">
              <a:ext uri="{FF2B5EF4-FFF2-40B4-BE49-F238E27FC236}">
                <a16:creationId xmlns:a16="http://schemas.microsoft.com/office/drawing/2014/main" id="{591B57EE-6A5B-4E7E-8836-1BDEF35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276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Atributos, componentes, arquitetura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 treinamento em blocos comuns.</a:t>
            </a:r>
          </a:p>
        </p:txBody>
      </p:sp>
      <p:sp>
        <p:nvSpPr>
          <p:cNvPr id="48" name="Etapa final 3">
            <a:extLst xmlns:a="http://schemas.openxmlformats.org/drawingml/2006/main">
              <a:ext uri="{FF2B5EF4-FFF2-40B4-BE49-F238E27FC236}">
                <a16:creationId xmlns:a16="http://schemas.microsoft.com/office/drawing/2014/main" id="{9F3D4C03-8D24-4E77-AE58-8E541CD0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Decisão e avaliação final</a:t>
            </a:r>
          </a:p>
        </p:txBody>
      </p:sp>
      <p:sp>
        <p:nvSpPr>
          <p:cNvPr id="49" name="Descrição final 3">
            <a:extLst xmlns:a="http://schemas.openxmlformats.org/drawingml/2006/main">
              <a:ext uri="{FF2B5EF4-FFF2-40B4-BE49-F238E27FC236}">
                <a16:creationId xmlns:a16="http://schemas.microsoft.com/office/drawing/2014/main" id="{70C5FBB1-A2B0-42C0-8390-AFB3B7C2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5276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Erro, estabilidade, custo,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intervalos e teste reservado.</a:t>
            </a:r>
          </a:p>
        </p:txBody>
      </p:sp>
      <p:sp>
        <p:nvSpPr>
          <p:cNvPr id="50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78AA8344-FD72-4C6B-9CE1-421017B1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49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Referências</a:t>
            </a:r>
          </a:p>
        </p:txBody>
      </p:sp>
      <p:pic>
        <p:nvPicPr>
          <p:cNvPr id="60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f6b41d44143eb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F6FA3E46-5495-4CF9-B4DF-289F1C7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Referências para continuar o estudo</a:t>
            </a:r>
          </a:p>
        </p:txBody>
      </p:sp>
      <p:sp>
        <p:nvSpPr>
          <p:cNvPr id="42" name="Ref tema 0">
            <a:extLst xmlns:a="http://schemas.openxmlformats.org/drawingml/2006/main">
              <a:ext uri="{FF2B5EF4-FFF2-40B4-BE49-F238E27FC236}">
                <a16:creationId xmlns:a16="http://schemas.microsoft.com/office/drawing/2014/main" id="{C3CE9D38-8DC1-4C8A-85D8-38358CA0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MLP e treinamento</a:t>
            </a:r>
          </a:p>
        </p:txBody>
      </p:sp>
      <p:sp>
        <p:nvSpPr>
          <p:cNvPr id="43" name="Ref texto 0">
            <a:extLst xmlns:a="http://schemas.openxmlformats.org/drawingml/2006/main">
              <a:ext uri="{FF2B5EF4-FFF2-40B4-BE49-F238E27FC236}">
                <a16:creationId xmlns:a16="http://schemas.microsoft.com/office/drawing/2014/main" id="{62C50F8F-37B5-401F-8680-44E397F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76500"/>
            <a:ext cx="650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scikit-learn: Neural network models</a:t>
            </a:r>
          </a:p>
        </p:txBody>
      </p:sp>
      <p:sp>
        <p:nvSpPr>
          <p:cNvPr id="44" name="Ref tema 1">
            <a:extLst xmlns:a="http://schemas.openxmlformats.org/drawingml/2006/main">
              <a:ext uri="{FF2B5EF4-FFF2-40B4-BE49-F238E27FC236}">
                <a16:creationId xmlns:a16="http://schemas.microsoft.com/office/drawing/2014/main" id="{5DFBA143-4E08-446A-BD65-FD5A04EC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9425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Backpropagation</a:t>
            </a:r>
          </a:p>
        </p:txBody>
      </p:sp>
      <p:sp>
        <p:nvSpPr>
          <p:cNvPr id="45" name="Ref texto 1">
            <a:extLst xmlns:a="http://schemas.openxmlformats.org/drawingml/2006/main">
              <a:ext uri="{FF2B5EF4-FFF2-40B4-BE49-F238E27FC236}">
                <a16:creationId xmlns:a16="http://schemas.microsoft.com/office/drawing/2014/main" id="{7A9D8F21-4C97-4165-9242-AFA7863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19425"/>
            <a:ext cx="650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MIT: Foundations of Computer Vision, cap. 14</a:t>
            </a:r>
          </a:p>
        </p:txBody>
      </p:sp>
      <p:sp>
        <p:nvSpPr>
          <p:cNvPr id="46" name="Ref tema 2">
            <a:extLst xmlns:a="http://schemas.openxmlformats.org/drawingml/2006/main">
              <a:ext uri="{FF2B5EF4-FFF2-40B4-BE49-F238E27FC236}">
                <a16:creationId xmlns:a16="http://schemas.microsoft.com/office/drawing/2014/main" id="{8A257FCD-3D71-49BC-9228-788EA90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PCA</a:t>
            </a:r>
          </a:p>
        </p:txBody>
      </p:sp>
      <p:sp>
        <p:nvSpPr>
          <p:cNvPr id="47" name="Ref texto 2">
            <a:extLst xmlns:a="http://schemas.openxmlformats.org/drawingml/2006/main">
              <a:ext uri="{FF2B5EF4-FFF2-40B4-BE49-F238E27FC236}">
                <a16:creationId xmlns:a16="http://schemas.microsoft.com/office/drawing/2014/main" id="{B8D8D023-DAA2-4185-8676-BD0D4FB3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62350"/>
            <a:ext cx="650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scikit-learn: PCA e decomposição</a:t>
            </a:r>
          </a:p>
        </p:txBody>
      </p:sp>
      <p:sp>
        <p:nvSpPr>
          <p:cNvPr id="48" name="Ref tema 3">
            <a:extLst xmlns:a="http://schemas.openxmlformats.org/drawingml/2006/main">
              <a:ext uri="{FF2B5EF4-FFF2-40B4-BE49-F238E27FC236}">
                <a16:creationId xmlns:a16="http://schemas.microsoft.com/office/drawing/2014/main" id="{855A7242-9BD3-46D2-A37C-94166DC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Informação mútua e KNN</a:t>
            </a:r>
          </a:p>
        </p:txBody>
      </p:sp>
      <p:sp>
        <p:nvSpPr>
          <p:cNvPr id="49" name="Ref texto 3">
            <a:extLst xmlns:a="http://schemas.openxmlformats.org/drawingml/2006/main">
              <a:ext uri="{FF2B5EF4-FFF2-40B4-BE49-F238E27FC236}">
                <a16:creationId xmlns:a16="http://schemas.microsoft.com/office/drawing/2014/main" id="{EA5F8914-E598-4BFD-8E61-EB08AAC8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105275"/>
            <a:ext cx="650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scikit-learn: Feature selection e Nearest neighbors</a:t>
            </a:r>
          </a:p>
        </p:txBody>
      </p:sp>
      <p:sp>
        <p:nvSpPr>
          <p:cNvPr id="50" name="Ref tema 4">
            <a:extLst xmlns:a="http://schemas.openxmlformats.org/drawingml/2006/main">
              <a:ext uri="{FF2B5EF4-FFF2-40B4-BE49-F238E27FC236}">
                <a16:creationId xmlns:a16="http://schemas.microsoft.com/office/drawing/2014/main" id="{296ACDE6-4A95-4347-B651-0A6E6DC0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Busca e validação temporal</a:t>
            </a:r>
          </a:p>
        </p:txBody>
      </p:sp>
      <p:sp>
        <p:nvSpPr>
          <p:cNvPr id="51" name="Ref texto 4">
            <a:extLst xmlns:a="http://schemas.openxmlformats.org/drawingml/2006/main">
              <a:ext uri="{FF2B5EF4-FFF2-40B4-BE49-F238E27FC236}">
                <a16:creationId xmlns:a16="http://schemas.microsoft.com/office/drawing/2014/main" id="{78940205-1CAF-4A01-B6A7-39F563AB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648200"/>
            <a:ext cx="650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scikit-learn: Grid search e TimeSeriesSplit</a:t>
            </a:r>
          </a:p>
        </p:txBody>
      </p:sp>
      <p:sp>
        <p:nvSpPr>
          <p:cNvPr id="52" name="Ref tema 5">
            <a:extLst xmlns:a="http://schemas.openxmlformats.org/drawingml/2006/main">
              <a:ext uri="{FF2B5EF4-FFF2-40B4-BE49-F238E27FC236}">
                <a16:creationId xmlns:a16="http://schemas.microsoft.com/office/drawing/2014/main" id="{1CDAC84E-92F9-445C-B29F-30C2DD5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452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Preparo e métricas</a:t>
            </a:r>
          </a:p>
        </p:txBody>
      </p:sp>
      <p:sp>
        <p:nvSpPr>
          <p:cNvPr id="53" name="Ref texto 5">
            <a:extLst xmlns:a="http://schemas.openxmlformats.org/drawingml/2006/main">
              <a:ext uri="{FF2B5EF4-FFF2-40B4-BE49-F238E27FC236}">
                <a16:creationId xmlns:a16="http://schemas.microsoft.com/office/drawing/2014/main" id="{903EBFD9-D73E-41CE-A216-3639899B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191125"/>
            <a:ext cx="650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scikit-learn: Common pitfalls e r2_score</a:t>
            </a:r>
          </a:p>
        </p:txBody>
      </p:sp>
      <p:sp>
        <p:nvSpPr>
          <p:cNvPr id="54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A8C20058-777A-42BF-ADFC-63B7546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Links completos nas notas. Material-base: Quinta - parte 1. Identidade visual: Hydro-UAI Course.</a:t>
            </a:r>
          </a:p>
        </p:txBody>
      </p:sp>
      <p:sp>
        <p:nvSpPr>
          <p:cNvPr id="55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4B47175C-FE78-4188-840E-54BCA04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50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268E8AA4-B062-109F-3596-D3711A3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2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9EEB64A-0354-65B9-9836-94B4AF5621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1" y="6333257"/>
            <a:ext cx="10976290" cy="233267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05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BC572051-E270-F4B8-3C22-7EA5840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1" y="741631"/>
            <a:ext cx="11284591" cy="4855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  <a:def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2400" b="1" i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Referências</a:t>
            </a:r>
          </a:p>
        </p:txBody>
      </p:sp>
      <p:pic>
        <p:nvPicPr>
          <p:cNvPr id="72" name="Imagem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1e9fb6a6f46ba"/>
          <a:srcRect xmlns:a="http://schemas.openxmlformats.org/drawingml/2006/main" l="3570" t="0" r="8084" b="18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701" y="6294313"/>
            <a:ext cx="308300" cy="272211"/>
          </a:xfrm>
          <a:prstGeom xmlns:a="http://schemas.openxmlformats.org/drawingml/2006/main" prst="rect">
            <a:avLst/>
          </a:prstGeom>
        </p:spPr>
      </p:pic>
      <p:sp>
        <p:nvSpPr>
          <p:cNvPr id="39" name="Conector reto 38">
            <a:extLst xmlns:a="http://schemas.openxmlformats.org/drawingml/2006/main">
              <a:ext uri="{FF2B5EF4-FFF2-40B4-BE49-F238E27FC236}">
                <a16:creationId xmlns:a16="http://schemas.microsoft.com/office/drawing/2014/main" id="{0BD93AA2-BFA6-4A66-8577-5D784C3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308236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Tema do slide">
            <a:extLst xmlns:a="http://schemas.openxmlformats.org/drawingml/2006/main">
              <a:ext uri="{FF2B5EF4-FFF2-40B4-BE49-F238E27FC236}">
                <a16:creationId xmlns:a16="http://schemas.microsoft.com/office/drawing/2014/main" id="{996643C6-74B8-4708-956D-899BC66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025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Referências sobre incerteza e intervalos</a:t>
            </a:r>
          </a:p>
        </p:txBody>
      </p:sp>
      <p:sp>
        <p:nvSpPr>
          <p:cNvPr id="55" name="Referência tema 0">
            <a:extLst xmlns:a="http://schemas.openxmlformats.org/drawingml/2006/main">
              <a:ext uri="{FF2B5EF4-FFF2-40B4-BE49-F238E27FC236}">
                <a16:creationId xmlns:a16="http://schemas.microsoft.com/office/drawing/2014/main" id="{3579352E-A48F-4505-A26D-1BE16EF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Epistêmica e aleatória</a:t>
            </a:r>
          </a:p>
        </p:txBody>
      </p:sp>
      <p:sp>
        <p:nvSpPr>
          <p:cNvPr id="56" name="Referência obra 0">
            <a:extLst xmlns:a="http://schemas.openxmlformats.org/drawingml/2006/main">
              <a:ext uri="{FF2B5EF4-FFF2-40B4-BE49-F238E27FC236}">
                <a16:creationId xmlns:a16="http://schemas.microsoft.com/office/drawing/2014/main" id="{8D73D048-BAF6-45E7-94ED-C8CFAD5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76500"/>
            <a:ext cx="650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Kendall e Gal (2017), NeurIPS</a:t>
            </a:r>
          </a:p>
        </p:txBody>
      </p:sp>
      <p:sp>
        <p:nvSpPr>
          <p:cNvPr id="57" name="Referência tema 1">
            <a:extLst xmlns:a="http://schemas.openxmlformats.org/drawingml/2006/main">
              <a:ext uri="{FF2B5EF4-FFF2-40B4-BE49-F238E27FC236}">
                <a16:creationId xmlns:a16="http://schemas.microsoft.com/office/drawing/2014/main" id="{C2E5C8EE-BA54-4DE1-ABAC-054DE2D2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94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Ensemble de redes</a:t>
            </a:r>
          </a:p>
        </p:txBody>
      </p:sp>
      <p:sp>
        <p:nvSpPr>
          <p:cNvPr id="58" name="Referência obra 1">
            <a:extLst xmlns:a="http://schemas.openxmlformats.org/drawingml/2006/main">
              <a:ext uri="{FF2B5EF4-FFF2-40B4-BE49-F238E27FC236}">
                <a16:creationId xmlns:a16="http://schemas.microsoft.com/office/drawing/2014/main" id="{31CD06AC-6A76-4C6C-8CBD-7E6EF86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19425"/>
            <a:ext cx="650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Lakshminarayanan et al. (2017), NeurIPS</a:t>
            </a:r>
          </a:p>
        </p:txBody>
      </p:sp>
      <p:sp>
        <p:nvSpPr>
          <p:cNvPr id="59" name="Referência tema 2">
            <a:extLst xmlns:a="http://schemas.openxmlformats.org/drawingml/2006/main">
              <a:ext uri="{FF2B5EF4-FFF2-40B4-BE49-F238E27FC236}">
                <a16:creationId xmlns:a16="http://schemas.microsoft.com/office/drawing/2014/main" id="{477900DC-8421-40EB-B9FA-106E7114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MC dropout</a:t>
            </a:r>
          </a:p>
        </p:txBody>
      </p:sp>
      <p:sp>
        <p:nvSpPr>
          <p:cNvPr id="60" name="Referência obra 2">
            <a:extLst xmlns:a="http://schemas.openxmlformats.org/drawingml/2006/main">
              <a:ext uri="{FF2B5EF4-FFF2-40B4-BE49-F238E27FC236}">
                <a16:creationId xmlns:a16="http://schemas.microsoft.com/office/drawing/2014/main" id="{A7808B9E-6A13-4778-8B2F-CC3D01A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62350"/>
            <a:ext cx="650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Gal e Ghahramani (2016), ICML</a:t>
            </a:r>
          </a:p>
        </p:txBody>
      </p:sp>
      <p:sp>
        <p:nvSpPr>
          <p:cNvPr id="61" name="Referência tema 3">
            <a:extLst xmlns:a="http://schemas.openxmlformats.org/drawingml/2006/main">
              <a:ext uri="{FF2B5EF4-FFF2-40B4-BE49-F238E27FC236}">
                <a16:creationId xmlns:a16="http://schemas.microsoft.com/office/drawing/2014/main" id="{20DA2796-3275-4A2A-A33B-B1C8600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Confiança e previsão</a:t>
            </a:r>
          </a:p>
        </p:txBody>
      </p:sp>
      <p:sp>
        <p:nvSpPr>
          <p:cNvPr id="62" name="Referência obra 3">
            <a:extLst xmlns:a="http://schemas.openxmlformats.org/drawingml/2006/main">
              <a:ext uri="{FF2B5EF4-FFF2-40B4-BE49-F238E27FC236}">
                <a16:creationId xmlns:a16="http://schemas.microsoft.com/office/drawing/2014/main" id="{C37C017C-6B4F-41D8-AA4F-6CF2165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105275"/>
            <a:ext cx="650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NIST/SEMATECH e EnvStats</a:t>
            </a:r>
          </a:p>
        </p:txBody>
      </p:sp>
      <p:sp>
        <p:nvSpPr>
          <p:cNvPr id="63" name="Referência tema 4">
            <a:extLst xmlns:a="http://schemas.openxmlformats.org/drawingml/2006/main">
              <a:ext uri="{FF2B5EF4-FFF2-40B4-BE49-F238E27FC236}">
                <a16:creationId xmlns:a16="http://schemas.microsoft.com/office/drawing/2014/main" id="{D0DF7044-184A-4926-AD6E-1FBA83DD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Bootstrap temporal</a:t>
            </a:r>
          </a:p>
        </p:txBody>
      </p:sp>
      <p:sp>
        <p:nvSpPr>
          <p:cNvPr id="64" name="Referência obra 4">
            <a:extLst xmlns:a="http://schemas.openxmlformats.org/drawingml/2006/main">
              <a:ext uri="{FF2B5EF4-FFF2-40B4-BE49-F238E27FC236}">
                <a16:creationId xmlns:a16="http://schemas.microsoft.com/office/drawing/2014/main" id="{B7F5B314-A0DE-4A88-8C52-2AF9C15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648200"/>
            <a:ext cx="650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Hyndman e Athanasopoulos, FPP3, seção 12.5</a:t>
            </a:r>
          </a:p>
        </p:txBody>
      </p:sp>
      <p:sp>
        <p:nvSpPr>
          <p:cNvPr id="65" name="Referência tema 5">
            <a:extLst xmlns:a="http://schemas.openxmlformats.org/drawingml/2006/main">
              <a:ext uri="{FF2B5EF4-FFF2-40B4-BE49-F238E27FC236}">
                <a16:creationId xmlns:a16="http://schemas.microsoft.com/office/drawing/2014/main" id="{62994675-4EC1-413A-AFCF-AAF755A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Cobertura e largura</a:t>
            </a:r>
          </a:p>
        </p:txBody>
      </p:sp>
      <p:sp>
        <p:nvSpPr>
          <p:cNvPr id="66" name="Referência obra 5">
            <a:extLst xmlns:a="http://schemas.openxmlformats.org/drawingml/2006/main">
              <a:ext uri="{FF2B5EF4-FFF2-40B4-BE49-F238E27FC236}">
                <a16:creationId xmlns:a16="http://schemas.microsoft.com/office/drawing/2014/main" id="{52114A9B-5A7D-4D67-9036-805FA0C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191125"/>
            <a:ext cx="650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Chen et al. (2021), AISTATS</a:t>
            </a:r>
          </a:p>
        </p:txBody>
      </p:sp>
      <p:sp>
        <p:nvSpPr>
          <p:cNvPr id="67" name="Origem e contexto">
            <a:extLst xmlns:a="http://schemas.openxmlformats.org/drawingml/2006/main">
              <a:ext uri="{FF2B5EF4-FFF2-40B4-BE49-F238E27FC236}">
                <a16:creationId xmlns:a16="http://schemas.microsoft.com/office/drawing/2014/main" id="{A369B00A-B54B-438A-8000-0796365B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Links nas notas. Os valores das figuras deste bloco são exemplos sintéticos ou hipotéticos.</a:t>
            </a:r>
          </a:p>
        </p:txBody>
      </p:sp>
      <p:sp>
        <p:nvSpPr>
          <p:cNvPr id="68" name="Número do slide">
            <a:extLst xmlns:a="http://schemas.openxmlformats.org/drawingml/2006/main">
              <a:ext uri="{FF2B5EF4-FFF2-40B4-BE49-F238E27FC236}">
                <a16:creationId xmlns:a16="http://schemas.microsoft.com/office/drawing/2014/main" id="{2F26F5E4-7ABE-4611-8F3F-CD43BE9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91A4BD"/>
                </a:solidFill>
                <a:latin typeface="JetBrains Mono"/>
                <a:ea typeface="JetBrains Mono"/>
                <a:cs typeface="JetBrains Mono"/>
              </a:rPr>
              <a:t>51 / 51</a:t>
            </a:r>
          </a:p>
        </p:txBody>
      </p:sp>
    </p:spTree>
    <p:extLst>
      <p:ext uri="{BB962C8B-B14F-4D97-AF65-F5344CB8AC3E}">
        <p14:creationId xmlns:p14="http://schemas.microsoft.com/office/powerpoint/2010/main" val="3991283715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2026-10-06T22:38:08.5180000Z</dcterms:created>
  <dcterms:modified xsi:type="dcterms:W3CDTF">2026-10-06T22:38:08.5180000Z</dcterms:modified>
</coreProperties>
</file>